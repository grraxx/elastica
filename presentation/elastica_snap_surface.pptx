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7" r:id="rId3"/>
    <p:sldId id="258" r:id="rId4"/>
    <p:sldId id="259" r:id="rId5"/>
    <p:sldId id="260" r:id="rId6"/>
    <p:sldId id="261" r:id="rId7"/>
    <p:sldId id="263" r:id="rId8"/>
    <p:sldId id="290" r:id="rId9"/>
    <p:sldId id="291" r:id="rId10"/>
    <p:sldId id="262" r:id="rId11"/>
    <p:sldId id="265" r:id="rId12"/>
    <p:sldId id="292" r:id="rId13"/>
    <p:sldId id="293" r:id="rId14"/>
    <p:sldId id="302" r:id="rId33"/>
    <p:sldId id="303" r:id="rId34"/>
    <p:sldId id="304" r:id="rId35"/>
    <p:sldId id="305" r:id="rId36"/>
    <p:sldId id="306" r:id="rId37"/>
    <p:sldId id="307" r:id="rId38"/>
    <p:sldId id="308" r:id="rId39"/>
    <p:sldId id="309" r:id="rId40"/>
    <p:sldId id="266" r:id="rId15"/>
    <p:sldId id="267" r:id="rId16"/>
    <p:sldId id="294" r:id="rId17"/>
    <p:sldId id="295" r:id="rId18"/>
    <p:sldId id="289" r:id="rId19"/>
    <p:sldId id="268" r:id="rId20"/>
    <p:sldId id="272" r:id="rId21"/>
    <p:sldId id="296" r:id="rId22"/>
    <p:sldId id="297" r:id="rId23"/>
    <p:sldId id="298" r:id="rId24"/>
    <p:sldId id="299" r:id="rId25"/>
    <p:sldId id="300" r:id="rId26"/>
    <p:sldId id="301" r:id="rId27"/>
    <p:sldId id="310" r:id="rId41"/>
    <p:sldId id="311" r:id="rId42"/>
    <p:sldId id="313" r:id="rId44"/>
    <p:sldId id="314" r:id="rId45"/>
    <p:sldId id="312" r:id="rId43"/>
    <p:sldId id="315" r:id="rId46"/>
    <p:sldId id="316" r:id="rId4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and governing math" id="{C37E3601-C24F-C817-9963-7F95C32A3C61}">
          <p14:sldIdLst>
            <p14:sldId id="256"/>
            <p14:sldId id="257"/>
            <p14:sldId id="258"/>
            <p14:sldId id="259"/>
            <p14:sldId id="260"/>
          </p14:sldIdLst>
        </p14:section>
        <p14:section name="The snap surface" id="{8EC7598D-7973-6D1C-AB16-2878DA9877AD}">
          <p14:sldIdLst>
            <p14:sldId id="261"/>
            <p14:sldId id="263"/>
            <p14:sldId id="290"/>
            <p14:sldId id="291"/>
            <p14:sldId id="262"/>
            <p14:sldId id="265"/>
            <p14:sldId id="292"/>
            <p14:sldId id="293"/>
          </p14:sldIdLst>
        </p14:section>
        <p14:section name="The bistable region" id="{2B7E9A41-5C3D-4F68-8E1A-7D9C0B4F2E63}">
          <p14:sldIdLst>
            <p14:sldId id="302"/>
            <p14:sldId id="303"/>
            <p14:sldId id="304"/>
            <p14:sldId id="305"/>
            <p14:sldId id="306"/>
            <p14:sldId id="307"/>
            <p14:sldId id="308"/>
            <p14:sldId id="309"/>
          </p14:sldIdLst>
        </p14:section>
        <p14:section name="Continuation strategy" id="{95CDCF11-1B6B-B936-99DA-258805DCA0FC}">
          <p14:sldIdLst>
            <p14:sldId id="266"/>
            <p14:sldId id="267"/>
            <p14:sldId id="294"/>
            <p14:sldId id="295"/>
            <p14:sldId id="289"/>
            <p14:sldId id="268"/>
            <p14:sldId id="272"/>
          </p14:sldIdLst>
        </p14:section>
        <p14:section name="Production run" id="{3B1F6A52-8C0D-4E57-9A3C-5E2B7D4F9C61}">
          <p14:sldIdLst>
            <p14:sldId id="296"/>
            <p14:sldId id="297"/>
            <p14:sldId id="298"/>
            <p14:sldId id="299"/>
            <p14:sldId id="300"/>
            <p14:sldId id="301"/>
          </p14:sldIdLst>
        </p14:section>
        <p14:section name="Refined sampling" id="{6F2C1D84-3A57-4E9B-B1C2-8D7E5F3A9B10}">
          <p14:sldIdLst>
            <p14:sldId id="310"/>
            <p14:sldId id="311"/>
            <p14:sldId id="313"/>
            <p14:sldId id="314"/>
            <p14:sldId id="312"/>
            <p14:sldId id="315"/>
            <p14:sldId id="31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3" autoAdjust="0"/>
    <p:restoredTop sz="88429" autoAdjust="0"/>
  </p:normalViewPr>
  <p:slideViewPr>
    <p:cSldViewPr snapToGrid="0" snapToObjects="1">
      <p:cViewPr varScale="1">
        <p:scale>
          <a:sx n="107" d="100"/>
          <a:sy n="107" d="100"/>
        </p:scale>
        <p:origin x="1027" y="8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  <Relationship Id="rId41" Type="http://schemas.openxmlformats.org/officeDocument/2006/relationships/slide" Target="slides/slide35.xml"/>
  <Relationship Id="rId42" Type="http://schemas.openxmlformats.org/officeDocument/2006/relationships/slide" Target="slides/slide36.xml"/>
  <Relationship Id="rId43" Type="http://schemas.openxmlformats.org/officeDocument/2006/relationships/slide" Target="slides/slide37.xml"/>
  <Relationship Id="rId44" Type="http://schemas.openxmlformats.org/officeDocument/2006/relationships/slide" Target="slides/slide38.xml"/>
  <Relationship Id="rId45" Type="http://schemas.openxmlformats.org/officeDocument/2006/relationships/slide" Target="slides/slide39.xml"/>
  <Relationship Id="rId46" Type="http://schemas.openxmlformats.org/officeDocument/2006/relationships/slide" Target="slides/slide40.xml"/>
  <Relationship Id="rId47" Type="http://schemas.openxmlformats.org/officeDocument/2006/relationships/slide" Target="slides/slide4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989275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Today: how we map every stable equilibrium of a clamped rod as we change its end distance and its two clamp angles.</a:t>
            </a:r>
          </a:p>
          <a:p>
            <a:pPr marL="228600" indent="-228600">
              <a:buFont typeface="Arial"/>
              <a:buChar char="•"/>
            </a:pPr>
            <a:r>
              <a:rPr lang="en-US" dirty="0"/>
              <a:t>The hard part is the snap: at some settings the rod jumps to a different shape, and the solver has to notice.</a:t>
            </a:r>
          </a:p>
          <a:p>
            <a:pPr marL="228600" indent="-228600">
              <a:buFont typeface="Arial"/>
              <a:buChar char="•"/>
            </a:pPr>
            <a:r>
              <a:rPr lang="en-US" dirty="0"/>
              <a:t>Plan: the math, the snap surface, how the continuation handles it, and the full production map.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A thin rod of unit length, clamped at both ends; EI = 1.</a:t>
            </a:r>
          </a:p>
          <a:p>
            <a:pPr marL="228600" indent="-228600">
              <a:buFont typeface="Arial"/>
              <a:buChar char="•"/>
            </a:pPr>
            <a:r>
              <a:rPr lang="en-US" dirty="0"/>
              <a:t>Three controls: the clamp distance d and the two clamp angles φ₁ and φ₂.</a:t>
            </a:r>
          </a:p>
          <a:p>
            <a:pPr marL="228600" indent="-228600">
              <a:buFont typeface="Arial"/>
              <a:buChar char="•"/>
            </a:pPr>
            <a:r>
              <a:rPr lang="en-US" dirty="0"/>
              <a:t>At every grid point we solve for the shape and the end forces, then record the clamp moments and the bending energy.</a:t>
            </a:r>
          </a:p>
          <a:p>
            <a:pPr marL="228600" indent="-228600">
              <a:buFont typeface="Arial"/>
              <a:buChar char="•"/>
            </a:pPr>
            <a:r>
              <a:rPr lang="en-US" dirty="0"/>
              <a:t>The production grid has 30 d layers of 315 × 315 angle pairs: just under three million equilibria.</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The rod settles where its bending energy is stationary, with its ends held where we put them.</a:t>
            </a:r>
          </a:p>
          <a:p>
            <a:pPr marL="228600" indent="-228600">
              <a:buFont typeface="Arial"/>
              <a:buChar char="•"/>
            </a:pPr>
            <a:r>
              <a:rPr lang="en-US" dirty="0"/>
              <a:t>θ along the arc keeps the length fixed automatically.</a:t>
            </a:r>
          </a:p>
          <a:p>
            <a:pPr marL="228600" indent="-228600">
              <a:buFont typeface="Arial"/>
              <a:buChar char="•"/>
            </a:pPr>
            <a:r>
              <a:rPr lang="en-US" dirty="0"/>
              <a:t>The end position enters through two Lagrange multipliers, fx and fy: the reaction forces at the clamp.</a:t>
            </a:r>
          </a:p>
          <a:p>
            <a:pPr marL="228600" indent="-228600">
              <a:buFont typeface="Arial"/>
              <a:buChar char="•"/>
            </a:pPr>
            <a:r>
              <a:rPr lang="en-US" dirty="0"/>
              <a:t>Only stable stationary points are kept; the stability test comes later.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Setting the variation of the Lagrangian to zero gives the classic elastica equation.</a:t>
            </a:r>
          </a:p>
          <a:p>
            <a:pPr marL="228600" indent="-228600">
              <a:buFont typeface="Arial"/>
              <a:buChar char="•"/>
            </a:pPr>
            <a:r>
              <a:rPr lang="en-US" dirty="0"/>
              <a:t>In FEniCSx we solve the weak form: θ on 200 linear elements, refined towards the clamps, plus one global unknown each for fx and fy.</a:t>
            </a:r>
          </a:p>
          <a:p>
            <a:pPr marL="228600" indent="-228600">
              <a:buFont typeface="Arial"/>
              <a:buChar char="•"/>
            </a:pPr>
            <a:r>
              <a:rPr lang="en-US" dirty="0"/>
              <a:t>The grading matters near d = 1 with large clamp angles: the tension is huge and the rod turns inside thin boundary layers at the clamps.</a:t>
            </a:r>
          </a:p>
          <a:p>
            <a:pPr marL="228600" indent="-228600">
              <a:buFont typeface="Arial"/>
              <a:buChar char="•"/>
            </a:pPr>
            <a:r>
              <a:rPr lang="en-US" dirty="0"/>
              <a:t>Per point we store both clamp moments and the bending energy.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Each point of the map is a single Newton solve on 203 unknowns, so one solve is cheap: about 11 ms.</a:t>
            </a:r>
          </a:p>
          <a:p>
            <a:pPr marL="228600" indent="-228600">
              <a:buFont typeface="Arial"/>
              <a:buChar char="•"/>
            </a:pPr>
            <a:r>
              <a:rPr lang="en-US" dirty="0"/>
              <a:t>Direct LU solve, cubic backtracking line search, tight tolerances.</a:t>
            </a:r>
          </a:p>
          <a:p>
            <a:pPr marL="228600" indent="-228600">
              <a:buFont typeface="Arial"/>
              <a:buChar char="•"/>
            </a:pPr>
            <a:r>
              <a:rPr lang="en-US" dirty="0"/>
              <a:t>A warm start from a neighbour normally converges in a few iterations; 50 is the cap before we call it a failure.</a:t>
            </a:r>
          </a:p>
          <a:p>
            <a:pPr marL="228600" indent="-228600">
              <a:buFont typeface="Arial"/>
              <a:buChar char="•"/>
            </a:pPr>
            <a:r>
              <a:rPr lang="en-US" dirty="0"/>
              <a:t>The catch is the fold: the Jacobian goes singular exactly where the snap happens.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Now, what the snap looks like in the data.</a:t>
            </a:r>
          </a:p>
          <a:p>
            <a:pPr marL="228600" indent="-228600">
              <a:buFont typeface="Arial"/>
              <a:buChar char="•"/>
            </a:pPr>
            <a:r>
              <a:rPr lang="en-US" dirty="0"/>
              <a:t>This is the feature that makes the problem interesting, and hard.</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Two converged shapes only a hundredth of a radian apart in clamp angle, yet completely different.</a:t>
            </a:r>
          </a:p>
          <a:p>
            <a:pPr marL="228600" indent="-228600">
              <a:buFont typeface="Arial"/>
              <a:buChar char="•"/>
            </a:pPr>
            <a:r>
              <a:rPr lang="en-US" dirty="0"/>
              <a:t>On the left the rod is bent down with U = 2.27; one step on it is bent up with U = 6.11.</a:t>
            </a:r>
          </a:p>
          <a:p>
            <a:pPr marL="228600" indent="-228600">
              <a:buFont typeface="Arial"/>
              <a:buChar char="•"/>
            </a:pPr>
            <a:r>
              <a:rPr lang="en-US" dirty="0"/>
              <a:t>The branch the rod was on ends, so it jumps to another one.</a:t>
            </a:r>
          </a:p>
          <a:p>
            <a:pPr marL="228600" indent="-228600">
              <a:buFont typeface="Arial"/>
              <a:buChar char="•"/>
            </a:pPr>
            <a:r>
              <a:rPr lang="en-US" dirty="0"/>
              <a:t>Both solutions meet the tolerance, so convergence alone can't tell you a jump happened. We need a shape test.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To tell which branch a solution is on, we project its transverse shape onto the first clamped buckling mode.</a:t>
            </a:r>
          </a:p>
          <a:p>
            <a:pPr marL="228600" indent="-228600">
              <a:buFont typeface="Arial"/>
              <a:buChar char="•"/>
            </a:pPr>
            <a:r>
              <a:rPr lang="en-US" dirty="0"/>
              <a:t>y(s) is the deflection, w₁ = 1 − cos 2πs is the first mode; p is their normalised inner product.</a:t>
            </a:r>
          </a:p>
          <a:p>
            <a:pPr marL="228600" indent="-228600">
              <a:buFont typeface="Arial"/>
              <a:buChar char="•"/>
            </a:pPr>
            <a:r>
              <a:rPr lang="en-US" dirty="0"/>
              <a:t>Positive p means the rod bows up, negative means it bows down. The S-shape sits at p ≈ 0.</a:t>
            </a:r>
          </a:p>
          <a:p>
            <a:pPr marL="228600" indent="-228600">
              <a:buFont typeface="Arial"/>
              <a:buChar char="•"/>
            </a:pPr>
            <a:r>
              <a:rPr lang="en-US" dirty="0"/>
              <a:t>The second mode is antisymmetric, so it says nothing about up versus down; the first mode alone is enough.</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p itself shrinks as the rod straightens, so we compare q = p over a(d), the amplitude of the exact first mode at that d.</a:t>
            </a:r>
          </a:p>
          <a:p>
            <a:pPr marL="228600" indent="-228600">
              <a:buFont typeface="Arial"/>
              <a:buChar char="•"/>
            </a:pPr>
            <a:r>
              <a:rPr lang="en-US" dirty="0"/>
              <a:t>Between two neighbours, q jumps when it changes by more than 0.17 and by more than half its size.</a:t>
            </a:r>
          </a:p>
          <a:p>
            <a:pPr marL="228600" indent="-228600">
              <a:buFont typeface="Arial"/>
              <a:buChar char="•"/>
            </a:pPr>
            <a:r>
              <a:rPr lang="en-US" dirty="0"/>
              <a:t>Along this line at d = 0.90, q goes from −1.03 to +0.52 in one step: that is the snap. Normal neighbours differ by 0.003.</a:t>
            </a:r>
          </a:p>
          <a:p>
            <a:pPr marL="228600" indent="-228600">
              <a:buFont typeface="Arial"/>
              <a:buChar char="•"/>
            </a:pPr>
            <a:r>
              <a:rPr lang="en-US" dirty="0"/>
              <a:t>q can also pass through zero smoothly, through an S-shape near the diagonal. That is a crossing, not a snap.</a:t>
            </a:r>
          </a:p>
          <a:p>
            <a:pPr marL="228600" indent="-228600">
              <a:buFont typeface="Arial"/>
              <a:buChar char="•"/>
            </a:pPr>
            <a:r>
              <a:rPr lang="en-US" dirty="0"/>
              <a:t>The same rule also catches a jump onto the unstable S-shaped family without a sign change; the solver rejects those too.</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These are the fields on one layer, d = 0.90, over the full range of clamp angles.</a:t>
            </a:r>
          </a:p>
          <a:p>
            <a:pPr marL="228600" indent="-228600">
              <a:buFont typeface="Arial"/>
              <a:buChar char="•"/>
            </a:pPr>
            <a:r>
              <a:rPr lang="en-US" dirty="0"/>
              <a:t>Everything is smooth, except along an L-shaped edge where all the fields jump together.</a:t>
            </a:r>
          </a:p>
          <a:p>
            <a:pPr marL="228600" indent="-228600">
              <a:buFont typeface="Arial"/>
              <a:buChar char="•"/>
            </a:pPr>
            <a:r>
              <a:rPr lang="en-US" dirty="0"/>
              <a:t>The energy nearly triples and the axial force doubles in a single grid step.</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Colour is q: orange bent up, slate bent down. The jump rule on neighbouring grid points draws the snap in red.</a:t>
            </a:r>
          </a:p>
          <a:p>
            <a:pPr marL="228600" indent="-228600">
              <a:buFont typeface="Arial"/>
              <a:buChar char="•"/>
            </a:pPr>
            <a:r>
              <a:rPr lang="en-US" dirty="0"/>
              <a:t>The black lines along the diagonal are smooth zero crossings, where the rod passes through an S-shape.</a:t>
            </a:r>
          </a:p>
          <a:p>
            <a:pPr marL="228600" indent="-228600">
              <a:buFont typeface="Arial"/>
              <a:buChar char="•"/>
            </a:pPr>
            <a:r>
              <a:rPr lang="en-US" dirty="0"/>
              <a:t>Stacking the snap curves of several layers: the L-shape shrinks towards the origin as the rod straightens.</a:t>
            </a:r>
          </a:p>
          <a:p>
            <a:pPr marL="228600" indent="-228600">
              <a:buFont typeface="Arial"/>
              <a:buChar char="•"/>
            </a:pPr>
            <a:r>
              <a:rPr lang="en-US" dirty="0"/>
              <a:t>Its corner sits on the anti-diagonal φ₁ = −φ₂ and its ends on the diagonal.</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Stacking every layer gives the snap surface over the whole box.</a:t>
            </a:r>
          </a:p>
          <a:p>
            <a:pPr marL="228600" indent="-228600">
              <a:buFont typeface="Arial"/>
              <a:buChar char="•"/>
            </a:pPr>
            <a:r>
              <a:rPr lang="en-US" dirty="0"/>
              <a:t>It is the p = 0 contour of the tetrahedral grid, keeping only the part where p jumps, so smooth S-shape crossings are left out.</a:t>
            </a:r>
          </a:p>
          <a:p>
            <a:pPr marL="228600" indent="-228600">
              <a:buFont typeface="Arial"/>
              <a:buChar char="•"/>
            </a:pPr>
            <a:r>
              <a:rPr lang="en-US" dirty="0"/>
              <a:t>Seen down the d axis, each layer is the same L, and the sheet tilts in towards the origin as d approaches 1.</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Here the d = 0.90 layer is coloured by the axial force, and the snap sheet rises from it.</a:t>
            </a:r>
          </a:p>
          <a:p>
            <a:pPr marL="228600" indent="-228600">
              <a:buFont typeface="Arial"/>
              <a:buChar char="•"/>
            </a:pPr>
            <a:r>
              <a:rPr lang="en-US" dirty="0"/>
              <a:t>Across the sheet the compressive force roughly doubles, at every d.</a:t>
            </a:r>
          </a:p>
          <a:p>
            <a:pPr marL="228600" indent="-228600">
              <a:buFont typeface="Arial"/>
              <a:buChar char="•"/>
            </a:pPr>
            <a:r>
              <a:rPr lang="en-US" dirty="0"/>
              <a:t>The sheet comes from the shape alone, through p, and it sits exactly on that force step.</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Now the solver: how it covers the box without ever jumping across the snap.</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One cold start, at the angular origin and the smallest d. Then the solved region grows as a front, nearest grid distance first.</a:t>
            </a:r>
          </a:p>
          <a:p>
            <a:pPr marL="228600" indent="-228600">
              <a:buFont typeface="Arial"/>
              <a:buChar char="•"/>
            </a:pPr>
            <a:r>
              <a:rPr lang="en-US" dirty="0"/>
              <a:t>Each node is warm-started from a solved neighbour: its θ and both forces.</a:t>
            </a:r>
          </a:p>
          <a:p>
            <a:pPr marL="228600" indent="-228600">
              <a:buFont typeface="Arial"/>
              <a:buChar char="•"/>
            </a:pPr>
            <a:r>
              <a:rPr lang="en-US" dirty="0"/>
              <a:t>A result is kept only if q does not jump relative to that neighbour, and the equilibrium is stable.</a:t>
            </a:r>
          </a:p>
          <a:p>
            <a:pPr marL="228600" indent="-228600">
              <a:buFont typeface="Arial"/>
              <a:buChar char="•"/>
            </a:pPr>
            <a:r>
              <a:rPr lang="en-US" dirty="0"/>
              <a:t>Otherwise we try the next neighbour; after three failures from one branch, the node waits for the other branch.</a:t>
            </a:r>
          </a:p>
          <a:p>
            <a:pPr marL="228600" indent="-228600">
              <a:buFont typeface="Arial"/>
              <a:buChar char="•"/>
            </a:pPr>
            <a:r>
              <a:rPr lang="en-US" dirty="0"/>
              <a:t>Only half the box is solved; the mirror fills the rest.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The key rule: never accept a branch switch. A node that cannot be reached without a jump is deferred.</a:t>
            </a:r>
          </a:p>
          <a:p>
            <a:pPr marL="228600" indent="-228600">
              <a:buFont typeface="Arial"/>
              <a:buChar char="•"/>
            </a:pPr>
            <a:r>
              <a:rPr lang="en-US" dirty="0"/>
              <a:t>If three neighbours on one branch fail, the node only tries the other branch, so it waits for the front to arrive from the far side of the fold.</a:t>
            </a:r>
          </a:p>
          <a:p>
            <a:pPr marL="228600" indent="-228600">
              <a:buFont typeface="Arial"/>
              <a:buChar char="•"/>
            </a:pPr>
            <a:r>
              <a:rPr lang="en-US" dirty="0"/>
              <a:t>The front gets there the long way round, through the smooth crossings near the diagonal.</a:t>
            </a:r>
          </a:p>
          <a:p>
            <a:pPr marL="228600" indent="-228600">
              <a:buFont typeface="Arial"/>
              <a:buChar char="•"/>
            </a:pPr>
            <a:r>
              <a:rPr lang="en-US" dirty="0"/>
              <a:t>In the production run this happened only near d = 1; 1,155 nodes waited, and one extra cold start was needed.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Newton converges to unstable equilibria as happily as to stable ones.</a:t>
            </a:r>
          </a:p>
          <a:p>
            <a:pPr marL="228600" indent="-228600">
              <a:buFont typeface="Arial"/>
              <a:buChar char="•"/>
            </a:pPr>
            <a:r>
              <a:rPr lang="en-US" dirty="0"/>
              <a:t>Usually a jump in q gives that away, but not on the anti-diagonal: there the rod is symmetric and the bent-up branch loses stability at a bifurcation, without a jump.</a:t>
            </a:r>
          </a:p>
          <a:p>
            <a:pPr marL="228600" indent="-228600">
              <a:buFont typeface="Arial"/>
              <a:buChar char="•"/>
            </a:pPr>
            <a:r>
              <a:rPr lang="en-US" dirty="0"/>
              <a:t>So every candidate also gets a stability test: the constrained second variation must have no negative direction.</a:t>
            </a:r>
          </a:p>
          <a:p>
            <a:pPr marL="228600" indent="-228600">
              <a:buFont typeface="Arial"/>
              <a:buChar char="•"/>
            </a:pPr>
            <a:r>
              <a:rPr lang="en-US" dirty="0"/>
              <a:t>We count negative directions from the inertia of a bordered tridiagonal matrix, which is linear in the number of elements and costs about 0.2 ms.</a:t>
            </a:r>
          </a:p>
          <a:p>
            <a:pPr marL="228600" indent="-228600">
              <a:buFont typeface="Arial"/>
              <a:buChar char="•"/>
            </a:pPr>
            <a:r>
              <a:rPr lang="en-US" dirty="0"/>
              <a:t>In production 17 unstable results were rejected, and a re-test of the final map found none.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The cold start needs a solution we know exactly. At zero clamp angles the problem is symmetric, fy vanishes and the elastica is the pendulum equation.</a:t>
            </a:r>
          </a:p>
          <a:p>
            <a:pPr marL="228600" indent="-228600">
              <a:buFont typeface="Arial"/>
              <a:buChar char="•"/>
            </a:pPr>
            <a:r>
              <a:rPr lang="en-US" dirty="0"/>
              <a:t>Integrating once and substituting gives the Jacobi elliptic sn function; the modulus k is the sine of half the peak angle.</a:t>
            </a:r>
          </a:p>
          <a:p>
            <a:pPr marL="228600" indent="-228600">
              <a:buFont typeface="Arial"/>
              <a:buChar char="•"/>
            </a:pPr>
            <a:r>
              <a:rPr lang="en-US" dirty="0"/>
              <a:t>The clamp conditions need exactly one period of sn: four quarter-waves, which fixes λL = 4K(m) and the axial force.</a:t>
            </a:r>
          </a:p>
          <a:p>
            <a:pPr marL="228600" indent="-228600">
              <a:buFont typeface="Arial"/>
              <a:buChar char="•"/>
            </a:pPr>
            <a:r>
              <a:rPr lang="en-US" dirty="0"/>
              <a:t>The end distance then fixes m through a one-dimensional root-find. For a small bow it reduces to the familiar sine shape and the Euler load.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The exact mode at zero clamp angles converges in two Newton iterations at any d.</a:t>
            </a:r>
          </a:p>
          <a:p>
            <a:pPr marL="228600" indent="-228600">
              <a:buFont typeface="Arial"/>
              <a:buChar char="•"/>
            </a:pPr>
            <a:r>
              <a:rPr lang="en-US" dirty="0"/>
              <a:t>From there we ramp the clamp angles to the target, at most a quarter radian per step, halving a step that fails.</a:t>
            </a:r>
          </a:p>
          <a:p>
            <a:pPr marL="228600" indent="-228600">
              <a:buFont typeface="Arial"/>
              <a:buChar char="•"/>
            </a:pPr>
            <a:r>
              <a:rPr lang="en-US" dirty="0"/>
              <a:t>Both the hump-up and hump-down modes are continued and the lower energy kept.</a:t>
            </a:r>
          </a:p>
          <a:p>
            <a:pPr marL="228600" indent="-228600">
              <a:buFont typeface="Arial"/>
              <a:buChar char="•"/>
            </a:pPr>
            <a:r>
              <a:rPr lang="en-US" dirty="0"/>
              <a:t>This is used once at the start, and otherwise only as a last resort when the front stalls.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Reflecting the rod about mid-span maps the clamp angles (φ₁, φ₂) to (−φ₂, −φ₁).</a:t>
            </a:r>
          </a:p>
          <a:p>
            <a:pPr marL="228600" indent="-228600">
              <a:buFont typeface="Arial"/>
              <a:buChar char="•"/>
            </a:pPr>
            <a:r>
              <a:rPr lang="en-US" dirty="0"/>
              <a:t>So only the half φ₁ + φ₂ ≥ 0 is solved; every accepted solution also fills its mirror node.</a:t>
            </a:r>
          </a:p>
          <a:p>
            <a:pPr marL="228600" indent="-228600">
              <a:buFont typeface="Arial"/>
              <a:buChar char="•"/>
            </a:pPr>
            <a:r>
              <a:rPr lang="en-US" dirty="0"/>
              <a:t>The axial force, the energy and p carry over; fy flips sign and the two clamp moments swap.</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Finally, the full production map, and what it says about energy, force and moment.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Every one of the almost three million grid points is solved, in about four hours on one core.</a:t>
            </a:r>
          </a:p>
          <a:p>
            <a:pPr marL="228600" indent="-228600">
              <a:buFont typeface="Arial"/>
              <a:buChar char="•"/>
            </a:pPr>
            <a:r>
              <a:rPr lang="en-US" dirty="0"/>
              <a:t>Checks independent of the front: the mirror pairs, the exact first mode on every layer, and 300 random points re-solved with scipy's BVP solver, worst error 0.27 %.</a:t>
            </a:r>
          </a:p>
          <a:p>
            <a:pPr marL="228600" indent="-228600">
              <a:buFont typeface="Arial"/>
              <a:buChar char="•"/>
            </a:pPr>
            <a:r>
              <a:rPr lang="en-US" dirty="0"/>
              <a:t>A stability re-test of the whole map found no unstable equilibrium.</a:t>
            </a:r>
          </a:p>
          <a:p>
            <a:pPr marL="228600" indent="-228600">
              <a:buFont typeface="Arial"/>
              <a:buChar char="•"/>
            </a:pPr>
            <a:r>
              <a:rPr lang="en-US" dirty="0"/>
              <a:t>The bent-up share falls from 70 % to about half as the rod straightens.</a:t>
            </a:r>
          </a:p>
          <a:p>
            <a:pPr marL="228600" indent="-228600">
              <a:buFont typeface="Arial"/>
              <a:buChar char="•"/>
            </a:pPr>
            <a:r>
              <a:rPr lang="en-US" dirty="0"/>
              <a:t>Everything is in one VTU for ParaView.</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Surfaces of constant bending energy, coloured by d; the faint red sheet is the snap surface.</a:t>
            </a:r>
          </a:p>
          <a:p>
            <a:pPr marL="228600" indent="-228600">
              <a:buFont typeface="Arial"/>
              <a:buChar char="•"/>
            </a:pPr>
            <a:r>
              <a:rPr lang="en-US" dirty="0"/>
              <a:t>Low energy is a bowl around the nearly straight rod; higher levels wrap around it.</a:t>
            </a:r>
          </a:p>
          <a:p>
            <a:pPr marL="228600" indent="-228600">
              <a:buFont typeface="Arial"/>
              <a:buChar char="•"/>
            </a:pPr>
            <a:r>
              <a:rPr lang="en-US" dirty="0"/>
              <a:t>The level sets stop at the snap, because the energy jumps there.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Surfaces of constant axial force. Positive is compression.</a:t>
            </a:r>
          </a:p>
          <a:p>
            <a:pPr marL="228600" indent="-228600">
              <a:buFont typeface="Arial"/>
              <a:buChar char="•"/>
            </a:pPr>
            <a:r>
              <a:rPr lang="en-US" dirty="0"/>
              <a:t>Compression is bounded: it never reaches 100, and the high levels are small slivers inside the bent-up region.</a:t>
            </a:r>
          </a:p>
          <a:p>
            <a:pPr marL="228600" indent="-228600">
              <a:buFont typeface="Arial"/>
              <a:buChar char="•"/>
            </a:pPr>
            <a:r>
              <a:rPr lang="en-US" dirty="0"/>
              <a:t>Tension, by contrast, grows without bound as the rod is pulled straight with large clamp angles.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Surfaces of constant transverse force.</a:t>
            </a:r>
          </a:p>
          <a:p>
            <a:pPr marL="228600" indent="-228600">
              <a:buFont typeface="Arial"/>
              <a:buChar char="•"/>
            </a:pPr>
            <a:r>
              <a:rPr lang="en-US" dirty="0"/>
              <a:t>The mirror flips fy, so fy = 0 on the whole anti-diagonal plane, and each positive level has a negative twin.</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Surfaces of constant left clamp moment.</a:t>
            </a:r>
          </a:p>
          <a:p>
            <a:pPr marL="228600" indent="-228600">
              <a:buFont typeface="Arial"/>
              <a:buChar char="•"/>
            </a:pPr>
            <a:r>
              <a:rPr lang="en-US" dirty="0"/>
              <a:t>The right moment needs no separate plot: by the mirror it is the left moment at the reflected angles.</a:t>
            </a:r>
          </a:p>
          <a:p>
            <a:pPr marL="228600" indent="-228600">
              <a:buFont typeface="Arial"/>
              <a:buChar char="•"/>
            </a:pPr>
            <a:r>
              <a:rPr lang="en-US" dirty="0"/>
              <a:t>Both are in the VTU for exploration in ParaView.</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 far every map came from one bent-up cold start.</a:t>
            </a:r>
          </a:p>
          <a:p>
            <a:r>
              <a:t>Starting bent down gives a second map. Where the two disagree, the rod has two stable shapes for the same clamps.</a:t>
            </a:r>
          </a:p>
          <a:p>
            <a:r>
              <a:t>That region decides which snap a rod meets when the clamps are turned.</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Left is the production solve, grown from the bent-up cold start. Its snap curve, where the bent-up branch ends, runs through quadrants 1, 2 and 3.</a:t>
            </a:r>
          </a:p>
          <a:p>
            <a:r>
              <a:t>Turning every rod upside down gives the solve from a bent-down cold start. No new solves are needed: node (φ₁, φ₂) takes the rod at (−φ₁, −φ₂), upside down.</a:t>
            </a:r>
          </a:p>
          <a:p>
            <a:r>
              <a:t>Combined with the mirror symmetry this is a reflection in the diagonal with the colours swapped, so its snap curve runs through quadrants 1, 3 and 4.</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Swapping the two clamp angles is the same as walking the rod from the other end: θ(s) becomes θ(L − s), the rod turned 180° about its midpoint.</a:t>
            </a:r>
          </a:p>
          <a:p>
            <a:r>
              <a:t>That flips p, so bent up becomes bent down, and keeps the energy and both forces. The two clamp moments swap with a sign change.</a:t>
            </a:r>
          </a:p>
          <a:p>
            <a:r>
              <a:t>Where there is only one equilibrium the data obey this to round-off. Inside a square around the origin they do not: there the solve is bent up on both sides of the diagonal. That square is the bistable region.</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Definition: at a given d, the bistable region is where the rod has two distinct stable equilibria, one bent up and one bent down.</a:t>
            </a:r>
          </a:p>
          <a:p>
            <a:r>
              <a:t>In the data the two cold starts then hold different rods. Their q differs by at least 0.034 there, and agrees to 7e-4 everywhere else.</a:t>
            </a:r>
          </a:p>
          <a:p>
            <a:r>
              <a:t>In each layer it is a square around the origin with inward-bowing sides. Each side is a fold where one branch disappears, so the snap you meet depends on which side you leave by and on the branch you are on.</a:t>
            </a:r>
          </a:p>
          <a:p>
            <a:r>
              <a:t>At φ = (0.20, 0) the two rods have U = 6.39 and 8.58, and both pass the stability test.</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Walk the left clamp along φ₂ = 0. Starting bent up at the origin and turning φ₁ negative, the rod stays bent up through the whole band and snaps only where the bent-up branch ends, at −0.76.</a:t>
            </a:r>
          </a:p>
          <a:p>
            <a:r>
              <a:t>Turn it back: the rod is now bent down and stays so until +0.76, the far edge, where the bent-down branch ends.</a:t>
            </a:r>
          </a:p>
          <a:p>
            <a:r>
              <a:t>So the same clamp angles give different rods depending on the history. By the symmetry both snaps release the same energy.</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square shrinks steadily towards the origin as the rod straightens: a straighter rod has less room for two buckled states.</a:t>
            </a:r>
          </a:p>
          <a:p>
            <a:r>
              <a:t>Its corners follow the corners of the L-shaped snap curve on the earlier slides.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At small d the region does not stop at the corner of the square. The bent-up snap curve continues just below the diagonal, the bent-down one just above, and they close at a cusp further out.</a:t>
            </a:r>
          </a:p>
          <a:p>
            <a:r>
              <a:t>Inside that thin tip the two stable rods are both S-shaped, one the mirror of the other.</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One rod at d = 0.82, moved quasi-statically one grid step at a time. Each step it keeps the equilibrium continuous with the one it is on, and snaps only where that branch ends.</a:t>
            </a:r>
          </a:p>
          <a:p>
            <a:r>
              <a:t>Legs 1 and 2: across the region. The rod snaps at the far edge each way, and every snap changes the branch, and with it the snap curve and surface the rod can meet next.</a:t>
            </a:r>
          </a:p>
          <a:p>
            <a:r>
              <a:t>Leg 3 goes round the end of the snap curve instead. On the diagonal beyond the cusp the rod passes smoothly through an S-shape and comes out bent down.</a:t>
            </a:r>
          </a:p>
          <a:p>
            <a:r>
              <a:t>Legs 4 to 6 bring it back to the start, now bent down. Leg 6 repeats leg 1 and nothing snaps: going round the surface changed the branch without a snap.</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1554480"/>
            <a:ext cx="7498080" cy="201168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640080" y="3794760"/>
            <a:ext cx="7498080" cy="1005840"/>
          </a:xfrm>
          <a:prstGeom prst="rect">
            <a:avLst/>
          </a:prstGeom>
          <a:noFill/>
          <a:ln/>
        </p:spPr>
        <p:txBody>
          <a:bodyPr wrap="square" rtlCol="0"/>
          <a:lstStyle>
            <a:lvl1pPr marL="0" indent="0">
              <a:buNone/>
              <a:defRPr lang="en-US" sz="1800" dirty="0">
                <a:solidFill>
                  <a:schemeClr val="bg2"/>
                </a:solidFill>
              </a:defRPr>
            </a:lvl1pPr>
          </a:lstStyle>
          <a:p>
            <a:pPr marL="0" indent="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22960" y="2377440"/>
            <a:ext cx="10515600" cy="109728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822960" y="3657600"/>
            <a:ext cx="10515600" cy="822960"/>
          </a:xfrm>
          <a:prstGeom prst="rect">
            <a:avLst/>
          </a:prstGeom>
          <a:noFill/>
          <a:ln/>
        </p:spPr>
        <p:txBody>
          <a:bodyPr wrap="square" rtlCol="0"/>
          <a:lstStyle>
            <a:lvl1pPr marL="0" indent="0">
              <a:buNone/>
              <a:defRPr lang="en-US" sz="2000" dirty="0">
                <a:solidFill>
                  <a:schemeClr val="accent1"/>
                </a:solidFill>
              </a:defRPr>
            </a:lvl1pPr>
          </a:lstStyle>
          <a:p>
            <a:pPr marL="0" indent="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lstStyle>
            <a:lvl1pPr marL="0" indent="0" algn="l">
              <a:buNone/>
              <a:defRPr lang="en-US" sz="3000" b="1" dirty="0">
                <a:solidFill>
                  <a:schemeClr val="tx1"/>
                </a:solidFill>
              </a:defRPr>
            </a:lvl1pPr>
          </a:lstStyle>
          <a:p>
            <a:pPr marL="0" indent="0" algn="l">
              <a:buNone/>
            </a:pPr>
            <a:endParaRPr lang="en-US" sz="30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6"/>
                </a:solidFill>
              </a:rPr>
              <a:t>Elastica snap-surface study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86868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8" Type="http://schemas.openxmlformats.org/officeDocument/2006/relationships/image" Target="../media/new_eq1_88547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new_eq2_234338.png"/><Relationship Id="rId5" Type="http://schemas.openxmlformats.org/officeDocument/2006/relationships/image" Target="../media/new_eq3_4179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new_eq4_153151.png"/><Relationship Id="rId5" Type="http://schemas.openxmlformats.org/officeDocument/2006/relationships/image" Target="../media/new_eq5_70559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15.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 Id="rId3"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 Id="rId3"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 Id="rId3" Type="http://schemas.openxmlformats.org/officeDocument/2006/relationships/image" Target="../media/new_eq6_11137.png"/><Relationship Id="rId4" Type="http://schemas.openxmlformats.org/officeDocument/2006/relationships/image" Target="../media/new_eq7_131694.png"/><Relationship Id="rId5" Type="http://schemas.openxmlformats.org/officeDocument/2006/relationships/image" Target="../media/new_eq8_13657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 Id="rId3" Type="http://schemas.openxmlformats.org/officeDocument/2006/relationships/image" Target="../media/image21.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 Id="rId10" Type="http://schemas.openxmlformats.org/officeDocument/2006/relationships/image" Target="../media/new_eq9_240358.png"/><Relationship Id="rId11"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 Id="rId3" Type="http://schemas.openxmlformats.org/officeDocument/2006/relationships/image" Target="../media/image23.png"/><Relationship Id="rId5" Type="http://schemas.openxmlformats.org/officeDocument/2006/relationships/image" Target="../media/image230.png"/><Relationship Id="rId6" Type="http://schemas.openxmlformats.org/officeDocument/2006/relationships/image" Target="../media/image28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 Id="rId5" Type="http://schemas.openxmlformats.org/officeDocument/2006/relationships/image" Target="../media/new_eq11_433747.png"/><Relationship Id="rId6" Type="http://schemas.openxmlformats.org/officeDocument/2006/relationships/image" Target="../media/image2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 Id="rId3" Type="http://schemas.openxmlformats.org/officeDocument/2006/relationships/image" Target="../media/image29.png"/><Relationship Id="rId4" Type="http://schemas.openxmlformats.org/officeDocument/2006/relationships/image" Target="../media/image3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 Id="rId3" Type="http://schemas.openxmlformats.org/officeDocument/2006/relationships/image" Target="../media/image31.png"/><Relationship Id="rId4"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 Id="rId3" Type="http://schemas.openxmlformats.org/officeDocument/2006/relationships/image" Target="../media/image33.png"/><Relationship Id="rId4" Type="http://schemas.openxmlformats.org/officeDocument/2006/relationships/image" Target="../media/image3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 Id="rId3" Type="http://schemas.openxmlformats.org/officeDocument/2006/relationships/image" Target="../media/image35.png"/><Relationship Id="rId4" Type="http://schemas.openxmlformats.org/officeDocument/2006/relationships/image" Target="../media/image3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7.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4.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5.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46.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6" Type="http://schemas.openxmlformats.org/officeDocument/2006/relationships/image" Target="../media/refine_rule_eq.png"/><Relationship Id="rId7" Type="http://schemas.openxmlformats.org/officeDocument/2006/relationships/image" Target="../media/refine_rule.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image" Target="../media/refine_histograms.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image" Target="../media/refine_cell.png"/><Relationship Id="rId4" Type="http://schemas.openxmlformats.org/officeDocument/2006/relationships/image" Target="../media/refine_spread.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image" Target="../media/refine_solve.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image" Target="../media/refine_3d.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image" Target="../media/refine_3d_zoom.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1554480"/>
            <a:ext cx="7498080" cy="2011680"/>
          </a:xfrm>
          <a:prstGeom prst="rect">
            <a:avLst/>
          </a:prstGeom>
          <a:noFill/>
          <a:ln/>
        </p:spPr>
        <p:txBody>
          <a:bodyPr wrap="square" lIns="0" tIns="0" rIns="0" bIns="0" rtlCol="0" anchor="b"/>
          <a:lstStyle/>
          <a:p>
            <a:pPr marL="0" indent="0" algn="l">
              <a:buNone/>
            </a:pPr>
            <a:r>
              <a:rPr lang="en-US" sz="4000" dirty="0">
                <a:solidFill>
                  <a:schemeClr val="bg1"/>
                </a:solidFill>
              </a:rPr>
              <a:t>Mapping the clamped elastica across its snap surface</a:t>
            </a:r>
          </a:p>
        </p:txBody>
      </p:sp>
      <p:sp>
        <p:nvSpPr>
          <p:cNvPr id="3" name="Text 0"/>
          <p:cNvSpPr>
            <a:spLocks noGrp="1"/>
          </p:cNvSpPr>
          <p:nvPr>
            <p:ph type="body" idx="101" hasCustomPrompt="1"/>
          </p:nvPr>
        </p:nvSpPr>
        <p:spPr>
          <a:xfrm>
            <a:off x="640080" y="3794760"/>
            <a:ext cx="7498080" cy="1005840"/>
          </a:xfrm>
          <a:prstGeom prst="rect">
            <a:avLst/>
          </a:prstGeom>
          <a:noFill/>
          <a:ln/>
        </p:spPr>
        <p:txBody>
          <a:bodyPr wrap="square" lIns="0" tIns="0" rIns="0" bIns="0" rtlCol="0" anchor="t"/>
          <a:lstStyle/>
          <a:p>
            <a:pPr marL="0" indent="0">
              <a:buNone/>
            </a:pPr>
            <a:r>
              <a:rPr lang="en-US" sz="1800" dirty="0">
                <a:solidFill>
                  <a:schemeClr val="bg2"/>
                </a:solidFill>
              </a:rPr>
              <a:t>Continuation with buckling-mode branch tracking in FEniCSx / PETSc</a:t>
            </a:r>
            <a:endParaRPr lang="en-US" sz="1800" dirty="0"/>
          </a:p>
        </p:txBody>
      </p:sp>
      <p:pic>
        <p:nvPicPr>
          <p:cNvPr id="4" name="figure-1" descr="/tmp/claude-1000/-home-goraksh/bd4a8aa0-f932-4355-8328-b02b4cf010d1/scratchpad/deck/fig/family_dark.png"/>
          <p:cNvPicPr>
            <a:picLocks noChangeAspect="1"/>
          </p:cNvPicPr>
          <p:nvPr/>
        </p:nvPicPr>
        <p:blipFill>
          <a:blip r:embed="rId3"/>
          <a:stretch>
            <a:fillRect/>
          </a:stretch>
        </p:blipFill>
        <p:spPr>
          <a:xfrm>
            <a:off x="7223760" y="4892040"/>
            <a:ext cx="4480560" cy="125178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One rod, three parameters, a map of equilibria</a:t>
            </a:r>
            <a:endParaRPr lang="en-US" sz="3000" dirty="0"/>
          </a:p>
        </p:txBody>
      </p:sp>
      <p:pic>
        <p:nvPicPr>
          <p:cNvPr id="3" name="figure-2" descr="/tmp/claude-1000/-home-goraksh/bd4a8aa0-f932-4355-8328-b02b4cf010d1/scratchpad/deck/fig/schematic.png"/>
          <p:cNvPicPr>
            <a:picLocks noChangeAspect="1"/>
          </p:cNvPicPr>
          <p:nvPr/>
        </p:nvPicPr>
        <p:blipFill>
          <a:blip r:embed="rId3"/>
          <a:stretch>
            <a:fillRect/>
          </a:stretch>
        </p:blipFill>
        <p:spPr>
          <a:xfrm>
            <a:off x="457200" y="1371600"/>
            <a:ext cx="6217920" cy="3464770"/>
          </a:xfrm>
          <a:prstGeom prst="rect">
            <a:avLst/>
          </a:prstGeom>
        </p:spPr>
      </p:pic>
      <p:sp>
        <p:nvSpPr>
          <p:cNvPr id="4" name="text-3"/>
          <p:cNvSpPr txBox="1"/>
          <p:nvPr/>
        </p:nvSpPr>
        <p:spPr>
          <a:xfrm>
            <a:off x="548640" y="5064970"/>
            <a:ext cx="5852160" cy="914400"/>
          </a:xfrm>
          <a:prstGeom prst="rect">
            <a:avLst/>
          </a:prstGeom>
          <a:noFill/>
          <a:ln/>
        </p:spPr>
        <p:txBody>
          <a:bodyPr wrap="square" lIns="0" tIns="0" rIns="0" bIns="0" rtlCol="0" anchor="t"/>
          <a:lstStyle/>
          <a:p>
            <a:pPr marL="0" indent="0">
              <a:buNone/>
            </a:pPr>
            <a:r>
              <a:rPr lang="en-US" sz="1600" dirty="0">
                <a:solidFill>
                  <a:schemeClr val="tx1"/>
                </a:solidFill>
              </a:rPr>
              <a:t>For every point (d, φ₁, φ₂) solve for the tangent angle θ(s) and the end forces f</a:t>
            </a:r>
            <a:r>
              <a:rPr lang="en-US" sz="1600" baseline="-25000" dirty="0">
                <a:solidFill>
                  <a:schemeClr val="tx1"/>
                </a:solidFill>
              </a:rPr>
              <a:t>x</a:t>
            </a:r>
            <a:r>
              <a:rPr lang="en-US" sz="1600" dirty="0">
                <a:solidFill>
                  <a:schemeClr val="tx1"/>
                </a:solidFill>
              </a:rPr>
              <a:t>, f</a:t>
            </a:r>
            <a:r>
              <a:rPr lang="en-US" sz="1600" baseline="-25000" dirty="0">
                <a:solidFill>
                  <a:schemeClr val="tx1"/>
                </a:solidFill>
              </a:rPr>
              <a:t>y</a:t>
            </a:r>
            <a:r>
              <a:rPr lang="en-US" sz="1600" dirty="0">
                <a:solidFill>
                  <a:schemeClr val="tx1"/>
                </a:solidFill>
              </a:rPr>
              <a:t>; record both clamp moments and the bending energy U.</a:t>
            </a:r>
          </a:p>
        </p:txBody>
      </p:sp>
      <p:sp>
        <p:nvSpPr>
          <p:cNvPr id="5" name="card-4"/>
          <p:cNvSpPr/>
          <p:nvPr/>
        </p:nvSpPr>
        <p:spPr>
          <a:xfrm>
            <a:off x="6949440" y="1463040"/>
            <a:ext cx="4663440" cy="1371600"/>
          </a:xfrm>
          <a:prstGeom prst="roundRect">
            <a:avLst>
              <a:gd name="adj" fmla="val 5333"/>
            </a:avLst>
          </a:prstGeom>
          <a:solidFill>
            <a:schemeClr val="bg2"/>
          </a:solidFill>
          <a:ln/>
        </p:spPr>
        <p:txBody>
          <a:bodyPr/>
          <a:lstStyle/>
          <a:p>
            <a:endParaRPr lang="en-IN"/>
          </a:p>
        </p:txBody>
      </p:sp>
      <p:sp>
        <p:nvSpPr>
          <p:cNvPr id="6" name="badge-5"/>
          <p:cNvSpPr/>
          <p:nvPr/>
        </p:nvSpPr>
        <p:spPr>
          <a:xfrm>
            <a:off x="7178040" y="1828800"/>
            <a:ext cx="640080" cy="640080"/>
          </a:xfrm>
          <a:prstGeom prst="ellipse">
            <a:avLst/>
          </a:prstGeom>
          <a:solidFill>
            <a:schemeClr val="accent2"/>
          </a:solidFill>
          <a:ln/>
        </p:spPr>
        <p:txBody>
          <a:bodyPr/>
          <a:lstStyle/>
          <a:p>
            <a:endParaRPr lang="en-IN"/>
          </a:p>
        </p:txBody>
      </p:sp>
      <p:sp>
        <p:nvSpPr>
          <p:cNvPr id="7" name="badge-label-6"/>
          <p:cNvSpPr txBox="1"/>
          <p:nvPr/>
        </p:nvSpPr>
        <p:spPr>
          <a:xfrm>
            <a:off x="7178040" y="182880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d</a:t>
            </a:r>
            <a:endParaRPr lang="en-US" sz="1800" dirty="0"/>
          </a:p>
        </p:txBody>
      </p:sp>
      <p:sp>
        <p:nvSpPr>
          <p:cNvPr id="8" name="text-7"/>
          <p:cNvSpPr txBox="1"/>
          <p:nvPr/>
        </p:nvSpPr>
        <p:spPr>
          <a:xfrm>
            <a:off x="8046720" y="1691640"/>
            <a:ext cx="3383280" cy="365760"/>
          </a:xfrm>
          <a:prstGeom prst="rect">
            <a:avLst/>
          </a:prstGeom>
          <a:noFill/>
          <a:ln/>
        </p:spPr>
        <p:txBody>
          <a:bodyPr wrap="square" lIns="0" tIns="0" rIns="0" bIns="0" rtlCol="0" anchor="t"/>
          <a:lstStyle/>
          <a:p>
            <a:pPr marL="0" indent="0">
              <a:buNone/>
            </a:pPr>
            <a:r>
              <a:rPr lang="en-US" sz="1700" b="1" dirty="0">
                <a:solidFill>
                  <a:schemeClr val="tx1"/>
                </a:solidFill>
              </a:rPr>
              <a:t>End-to-end distance (L = 1)</a:t>
            </a:r>
            <a:endParaRPr lang="en-US" sz="1700" dirty="0"/>
          </a:p>
        </p:txBody>
      </p:sp>
      <p:sp>
        <p:nvSpPr>
          <p:cNvPr id="9" name="text-8"/>
          <p:cNvSpPr txBox="1"/>
          <p:nvPr/>
        </p:nvSpPr>
        <p:spPr>
          <a:xfrm>
            <a:off x="8046720" y="2103120"/>
            <a:ext cx="3383280" cy="594360"/>
          </a:xfrm>
          <a:prstGeom prst="rect">
            <a:avLst/>
          </a:prstGeom>
          <a:noFill/>
          <a:ln/>
        </p:spPr>
        <p:txBody>
          <a:bodyPr wrap="square" lIns="0" tIns="0" rIns="0" bIns="0" rtlCol="0" anchor="t"/>
          <a:lstStyle/>
          <a:p>
            <a:pPr marL="0" indent="0">
              <a:buNone/>
            </a:pPr>
            <a:r>
              <a:rPr lang="en-US" sz="1400" dirty="0">
                <a:solidFill>
                  <a:schemeClr val="tx2"/>
                </a:solidFill>
              </a:rPr>
              <a:t>0.70 – 0.99;  Δd = 0.01</a:t>
            </a:r>
          </a:p>
        </p:txBody>
      </p:sp>
      <p:sp>
        <p:nvSpPr>
          <p:cNvPr id="10" name="card-9"/>
          <p:cNvSpPr/>
          <p:nvPr/>
        </p:nvSpPr>
        <p:spPr>
          <a:xfrm>
            <a:off x="6949440" y="3063240"/>
            <a:ext cx="4663440" cy="1371600"/>
          </a:xfrm>
          <a:prstGeom prst="roundRect">
            <a:avLst>
              <a:gd name="adj" fmla="val 5333"/>
            </a:avLst>
          </a:prstGeom>
          <a:solidFill>
            <a:schemeClr val="bg2"/>
          </a:solidFill>
          <a:ln/>
        </p:spPr>
        <p:txBody>
          <a:bodyPr/>
          <a:lstStyle/>
          <a:p>
            <a:endParaRPr lang="en-IN"/>
          </a:p>
        </p:txBody>
      </p:sp>
      <p:sp>
        <p:nvSpPr>
          <p:cNvPr id="11" name="badge-10"/>
          <p:cNvSpPr/>
          <p:nvPr/>
        </p:nvSpPr>
        <p:spPr>
          <a:xfrm>
            <a:off x="7178040" y="3429000"/>
            <a:ext cx="640080" cy="640080"/>
          </a:xfrm>
          <a:prstGeom prst="ellipse">
            <a:avLst/>
          </a:prstGeom>
          <a:solidFill>
            <a:schemeClr val="accent1"/>
          </a:solidFill>
          <a:ln/>
        </p:spPr>
        <p:txBody>
          <a:bodyPr/>
          <a:lstStyle/>
          <a:p>
            <a:endParaRPr lang="en-IN"/>
          </a:p>
        </p:txBody>
      </p:sp>
      <p:sp>
        <p:nvSpPr>
          <p:cNvPr id="12" name="badge-label-11"/>
          <p:cNvSpPr txBox="1"/>
          <p:nvPr/>
        </p:nvSpPr>
        <p:spPr>
          <a:xfrm>
            <a:off x="7178040" y="342900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φ₁</a:t>
            </a:r>
            <a:endParaRPr lang="en-US" sz="1800" dirty="0"/>
          </a:p>
        </p:txBody>
      </p:sp>
      <p:sp>
        <p:nvSpPr>
          <p:cNvPr id="13" name="text-12"/>
          <p:cNvSpPr txBox="1"/>
          <p:nvPr/>
        </p:nvSpPr>
        <p:spPr>
          <a:xfrm>
            <a:off x="8046720" y="3291840"/>
            <a:ext cx="3383280" cy="365760"/>
          </a:xfrm>
          <a:prstGeom prst="rect">
            <a:avLst/>
          </a:prstGeom>
          <a:noFill/>
          <a:ln/>
        </p:spPr>
        <p:txBody>
          <a:bodyPr wrap="square" lIns="0" tIns="0" rIns="0" bIns="0" rtlCol="0" anchor="t"/>
          <a:lstStyle/>
          <a:p>
            <a:pPr marL="0" indent="0">
              <a:buNone/>
            </a:pPr>
            <a:r>
              <a:rPr lang="en-US" sz="1700" b="1" dirty="0">
                <a:solidFill>
                  <a:schemeClr val="tx1"/>
                </a:solidFill>
              </a:rPr>
              <a:t>Clamp angle at s = 0</a:t>
            </a:r>
            <a:endParaRPr lang="en-US" sz="1700" dirty="0"/>
          </a:p>
        </p:txBody>
      </p:sp>
      <p:sp>
        <p:nvSpPr>
          <p:cNvPr id="14" name="text-13"/>
          <p:cNvSpPr txBox="1"/>
          <p:nvPr/>
        </p:nvSpPr>
        <p:spPr>
          <a:xfrm>
            <a:off x="8046720" y="3703320"/>
            <a:ext cx="3383280" cy="594360"/>
          </a:xfrm>
          <a:prstGeom prst="rect">
            <a:avLst/>
          </a:prstGeom>
          <a:noFill/>
          <a:ln/>
        </p:spPr>
        <p:txBody>
          <a:bodyPr wrap="square" lIns="0" tIns="0" rIns="0" bIns="0" rtlCol="0" anchor="t"/>
          <a:lstStyle/>
          <a:p>
            <a:pPr marL="0" indent="0">
              <a:buNone/>
            </a:pPr>
            <a:r>
              <a:rPr lang="en-US" sz="1400" dirty="0">
                <a:solidFill>
                  <a:schemeClr val="tx2"/>
                </a:solidFill>
              </a:rPr>
              <a:t>−π/2 to π/2;  Δφ = π/314 ≈ 0.01</a:t>
            </a:r>
          </a:p>
        </p:txBody>
      </p:sp>
      <p:sp>
        <p:nvSpPr>
          <p:cNvPr id="15" name="card-14"/>
          <p:cNvSpPr/>
          <p:nvPr/>
        </p:nvSpPr>
        <p:spPr>
          <a:xfrm>
            <a:off x="6949440" y="4663440"/>
            <a:ext cx="4663440" cy="1371600"/>
          </a:xfrm>
          <a:prstGeom prst="roundRect">
            <a:avLst>
              <a:gd name="adj" fmla="val 5333"/>
            </a:avLst>
          </a:prstGeom>
          <a:solidFill>
            <a:schemeClr val="bg2"/>
          </a:solidFill>
          <a:ln/>
        </p:spPr>
        <p:txBody>
          <a:bodyPr/>
          <a:lstStyle/>
          <a:p>
            <a:endParaRPr lang="en-IN"/>
          </a:p>
        </p:txBody>
      </p:sp>
      <p:sp>
        <p:nvSpPr>
          <p:cNvPr id="16" name="badge-15"/>
          <p:cNvSpPr/>
          <p:nvPr/>
        </p:nvSpPr>
        <p:spPr>
          <a:xfrm>
            <a:off x="7178040" y="5029200"/>
            <a:ext cx="640080" cy="640080"/>
          </a:xfrm>
          <a:prstGeom prst="ellipse">
            <a:avLst/>
          </a:prstGeom>
          <a:solidFill>
            <a:schemeClr val="accent1"/>
          </a:solidFill>
          <a:ln/>
        </p:spPr>
        <p:txBody>
          <a:bodyPr/>
          <a:lstStyle/>
          <a:p>
            <a:endParaRPr lang="en-IN"/>
          </a:p>
        </p:txBody>
      </p:sp>
      <p:sp>
        <p:nvSpPr>
          <p:cNvPr id="17" name="badge-label-16"/>
          <p:cNvSpPr txBox="1"/>
          <p:nvPr/>
        </p:nvSpPr>
        <p:spPr>
          <a:xfrm>
            <a:off x="7178040" y="502920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φ₂</a:t>
            </a:r>
            <a:endParaRPr lang="en-US" sz="1800" dirty="0"/>
          </a:p>
        </p:txBody>
      </p:sp>
      <p:sp>
        <p:nvSpPr>
          <p:cNvPr id="18" name="text-17"/>
          <p:cNvSpPr txBox="1"/>
          <p:nvPr/>
        </p:nvSpPr>
        <p:spPr>
          <a:xfrm>
            <a:off x="8046720" y="4892040"/>
            <a:ext cx="3383280" cy="365760"/>
          </a:xfrm>
          <a:prstGeom prst="rect">
            <a:avLst/>
          </a:prstGeom>
          <a:noFill/>
          <a:ln/>
        </p:spPr>
        <p:txBody>
          <a:bodyPr wrap="square" lIns="0" tIns="0" rIns="0" bIns="0" rtlCol="0" anchor="t"/>
          <a:lstStyle/>
          <a:p>
            <a:pPr marL="0" indent="0">
              <a:buNone/>
            </a:pPr>
            <a:r>
              <a:rPr lang="en-US" sz="1700" b="1" dirty="0">
                <a:solidFill>
                  <a:schemeClr val="tx1"/>
                </a:solidFill>
              </a:rPr>
              <a:t>Clamp angle at s = L</a:t>
            </a:r>
            <a:endParaRPr lang="en-US" sz="1700" dirty="0"/>
          </a:p>
        </p:txBody>
      </p:sp>
      <p:sp>
        <p:nvSpPr>
          <p:cNvPr id="19" name="text-18"/>
          <p:cNvSpPr txBox="1"/>
          <p:nvPr/>
        </p:nvSpPr>
        <p:spPr>
          <a:xfrm>
            <a:off x="8046720" y="5303520"/>
            <a:ext cx="3383280" cy="594360"/>
          </a:xfrm>
          <a:prstGeom prst="rect">
            <a:avLst/>
          </a:prstGeom>
          <a:noFill/>
          <a:ln/>
        </p:spPr>
        <p:txBody>
          <a:bodyPr wrap="square" lIns="0" tIns="0" rIns="0" bIns="0" rtlCol="0" anchor="t"/>
          <a:lstStyle/>
          <a:p>
            <a:pPr marL="0" indent="0">
              <a:buNone/>
            </a:pPr>
            <a:r>
              <a:rPr lang="en-US" sz="1400" dirty="0">
                <a:solidFill>
                  <a:schemeClr val="tx2"/>
                </a:solidFill>
              </a:rPr>
              <a:t>Same range as φ₁; grid 30 × 315 × 315</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Equilibria are stationary points of the bending energy</a:t>
            </a:r>
            <a:endParaRPr lang="en-US" sz="3000" dirty="0"/>
          </a:p>
        </p:txBody>
      </p:sp>
      <p:sp>
        <p:nvSpPr>
          <p:cNvPr id="3" name="card-19"/>
          <p:cNvSpPr/>
          <p:nvPr/>
        </p:nvSpPr>
        <p:spPr>
          <a:xfrm>
            <a:off x="548640" y="1417320"/>
            <a:ext cx="11064240" cy="1143000"/>
          </a:xfrm>
          <a:prstGeom prst="roundRect">
            <a:avLst>
              <a:gd name="adj" fmla="val 6400"/>
            </a:avLst>
          </a:prstGeom>
          <a:solidFill>
            <a:schemeClr val="bg2"/>
          </a:solidFill>
          <a:ln/>
        </p:spPr>
        <p:txBody>
          <a:bodyPr/>
          <a:lstStyle/>
          <a:p>
            <a:endParaRPr lang="en-IN"/>
          </a:p>
        </p:txBody>
      </p:sp>
      <p:sp>
        <p:nvSpPr>
          <p:cNvPr id="4" name="text-20"/>
          <p:cNvSpPr txBox="1"/>
          <p:nvPr/>
        </p:nvSpPr>
        <p:spPr>
          <a:xfrm>
            <a:off x="777240" y="1691640"/>
            <a:ext cx="2194560" cy="365760"/>
          </a:xfrm>
          <a:prstGeom prst="rect">
            <a:avLst/>
          </a:prstGeom>
          <a:noFill/>
          <a:ln/>
        </p:spPr>
        <p:txBody>
          <a:bodyPr wrap="square" lIns="0" tIns="0" rIns="0" bIns="0" rtlCol="0" anchor="t"/>
          <a:lstStyle/>
          <a:p>
            <a:pPr marL="0" indent="0">
              <a:buNone/>
            </a:pPr>
            <a:r>
              <a:rPr lang="en-US" sz="1800" b="1" dirty="0">
                <a:solidFill>
                  <a:schemeClr val="accent1"/>
                </a:solidFill>
              </a:rPr>
              <a:t>Bending energy</a:t>
            </a:r>
            <a:endParaRPr lang="en-US" sz="1800" dirty="0"/>
          </a:p>
        </p:txBody>
      </p:sp>
      <p:sp>
        <p:nvSpPr>
          <p:cNvPr id="5" name="text-21"/>
          <p:cNvSpPr txBox="1"/>
          <p:nvPr/>
        </p:nvSpPr>
        <p:spPr>
          <a:xfrm>
            <a:off x="777240" y="2057400"/>
            <a:ext cx="2194560" cy="457200"/>
          </a:xfrm>
          <a:prstGeom prst="rect">
            <a:avLst/>
          </a:prstGeom>
          <a:noFill/>
          <a:ln/>
        </p:spPr>
        <p:txBody>
          <a:bodyPr wrap="square" lIns="0" tIns="0" rIns="0" bIns="0" rtlCol="0" anchor="t"/>
          <a:lstStyle/>
          <a:p>
            <a:pPr marL="0" indent="0">
              <a:buNone/>
            </a:pPr>
            <a:r>
              <a:rPr lang="en-US" sz="1100" dirty="0">
                <a:solidFill>
                  <a:schemeClr val="accent5"/>
                </a:solidFill>
              </a:rPr>
              <a:t>Inextensible Euler–Bernoulli rod, EI = 1</a:t>
            </a:r>
            <a:endParaRPr lang="en-US" sz="1100" dirty="0"/>
          </a:p>
        </p:txBody>
      </p:sp>
      <mc:AlternateContent xmlns:mc="http://schemas.openxmlformats.org/markup-compatibility/2006" xmlns:a14="http://schemas.microsoft.com/office/drawing/2010/main">
        <mc:Choice Requires="a14">
          <p:sp>
            <p:nvSpPr>
              <p:cNvPr id="6" name="latex-energy"/>
              <p:cNvSpPr txBox="1"/>
              <p:nvPr/>
            </p:nvSpPr>
            <p:spPr>
              <a:xfrm>
                <a:off x="3200400" y="1599286"/>
                <a:ext cx="8229600" cy="779069"/>
              </a:xfrm>
              <a:prstGeom prst="rect">
                <a:avLst/>
              </a:prstGeom>
              <a:noFill/>
              <a:ln/>
            </p:spPr>
            <p:txBody>
              <a:bodyPr wrap="square" lIns="0" tIns="0" rIns="0" bIns="0" rtlCol="0" anchor="ctr">
                <a:noAutofit/>
              </a:bodyPr>
              <a:lstStyle/>
              <a:p>
                <a:pPr marL="0" indent="0">
                  <a:buNone/>
                </a:pPr>
                <a14:m>
                  <m:oMathPara xmlns:m="http://schemas.openxmlformats.org/officeDocument/2006/math">
                    <m:oMathParaPr>
                      <m:jc m:val="left"/>
                    </m:oMathParaPr>
                    <m:oMath>
                      <m:r>
                        <m:rPr>
                          <m:sty m:val="p"/>
                        </m:rPr>
                        <a:rPr lang="en-US" sz="1600" dirty="0" smtClean="0">
                          <a:solidFill>
                            <a:schemeClr val="tx1"/>
                          </a:solidFill>
                          <a:latin typeface="Cambria Math" panose="02040503050406030204" pitchFamily="18" charset="0"/>
                        </a:rPr>
                        <m:t>Π</m:t>
                      </m:r>
                      <m:d>
                        <m:dPr>
                          <m:begChr m:val="["/>
                          <m:endChr m:val="]"/>
                          <m:ctrlPr>
                            <a:rPr lang="en-US" sz="1600" i="1" dirty="0" smtClean="0">
                              <a:solidFill>
                                <a:schemeClr val="tx1"/>
                              </a:solidFill>
                              <a:latin typeface="Cambria Math" panose="02040503050406030204" pitchFamily="18" charset="0"/>
                            </a:rPr>
                          </m:ctrlPr>
                        </m:dPr>
                        <m:e>
                          <m:r>
                            <a:rPr lang="en-US" sz="1600" i="1" dirty="0" smtClean="0">
                              <a:solidFill>
                                <a:schemeClr val="tx1"/>
                              </a:solidFill>
                              <a:latin typeface="Cambria Math" panose="02040503050406030204" pitchFamily="18" charset="0"/>
                            </a:rPr>
                            <m:t>𝜃</m:t>
                          </m:r>
                        </m:e>
                      </m:d>
                      <m:r>
                        <a:rPr lang="en-US" sz="1600" i="0" dirty="0" smtClean="0">
                          <a:solidFill>
                            <a:schemeClr val="tx1"/>
                          </a:solidFill>
                          <a:latin typeface="Cambria Math" panose="02040503050406030204" pitchFamily="18" charset="0"/>
                        </a:rPr>
                        <m:t>=</m:t>
                      </m:r>
                      <m:f>
                        <m:fPr>
                          <m:ctrlPr>
                            <a:rPr lang="en-US" sz="1600" i="0" dirty="0" smtClean="0">
                              <a:solidFill>
                                <a:schemeClr val="tx1"/>
                              </a:solidFill>
                              <a:latin typeface="Cambria Math" panose="02040503050406030204" pitchFamily="18" charset="0"/>
                            </a:rPr>
                          </m:ctrlPr>
                        </m:fPr>
                        <m:num>
                          <m:r>
                            <a:rPr lang="en-US" sz="1600" i="0" dirty="0" smtClean="0">
                              <a:solidFill>
                                <a:schemeClr val="tx1"/>
                              </a:solidFill>
                              <a:latin typeface="Cambria Math" panose="02040503050406030204" pitchFamily="18" charset="0"/>
                            </a:rPr>
                            <m:t>1</m:t>
                          </m:r>
                        </m:num>
                        <m:den>
                          <m:r>
                            <a:rPr lang="en-US" sz="1600" i="0" dirty="0" smtClean="0">
                              <a:solidFill>
                                <a:schemeClr val="tx1"/>
                              </a:solidFill>
                              <a:latin typeface="Cambria Math" panose="02040503050406030204" pitchFamily="18" charset="0"/>
                            </a:rPr>
                            <m:t>2</m:t>
                          </m:r>
                        </m:den>
                      </m:f>
                      <m:nary>
                        <m:naryPr>
                          <m:limLoc m:val="subSup"/>
                          <m:ctrlPr>
                            <a:rPr lang="en-US" sz="1600" i="0" dirty="0" smtClean="0">
                              <a:solidFill>
                                <a:schemeClr val="tx1"/>
                              </a:solidFill>
                              <a:latin typeface="Cambria Math" panose="02040503050406030204" pitchFamily="18" charset="0"/>
                            </a:rPr>
                          </m:ctrlPr>
                        </m:naryPr>
                        <m:sub>
                          <m:r>
                            <a:rPr lang="en-US" sz="1600" i="0" dirty="0" smtClean="0">
                              <a:solidFill>
                                <a:schemeClr val="tx1"/>
                              </a:solidFill>
                              <a:latin typeface="Cambria Math" panose="02040503050406030204" pitchFamily="18" charset="0"/>
                            </a:rPr>
                            <m:t>0</m:t>
                          </m:r>
                        </m:sub>
                        <m:sup>
                          <m:r>
                            <a:rPr lang="en-US" sz="1600" i="1" dirty="0" smtClean="0">
                              <a:solidFill>
                                <a:schemeClr val="tx1"/>
                              </a:solidFill>
                              <a:latin typeface="Cambria Math" panose="02040503050406030204" pitchFamily="18" charset="0"/>
                            </a:rPr>
                            <m:t>𝐿</m:t>
                          </m:r>
                        </m:sup>
                        <m:e>
                          <m:r>
                            <a:rPr lang="en-US" sz="1600" i="1" dirty="0" smtClean="0">
                              <a:solidFill>
                                <a:schemeClr val="tx1"/>
                              </a:solidFill>
                              <a:latin typeface="Cambria Math" panose="02040503050406030204" pitchFamily="18" charset="0"/>
                            </a:rPr>
                            <m:t>𝜃</m:t>
                          </m:r>
                        </m:e>
                      </m:nary>
                      <m:r>
                        <a:rPr lang="en-US" sz="1600" i="0" dirty="0" smtClean="0">
                          <a:solidFill>
                            <a:schemeClr val="tx1"/>
                          </a:solidFill>
                          <a:latin typeface="Cambria Math" panose="02040503050406030204" pitchFamily="18" charset="0"/>
                        </a:rPr>
                        <m:t>′</m:t>
                      </m:r>
                      <m:sSup>
                        <m:sSupPr>
                          <m:ctrlPr>
                            <a:rPr lang="en-US" sz="1600" i="1" dirty="0" smtClean="0">
                              <a:solidFill>
                                <a:schemeClr val="tx1"/>
                              </a:solidFill>
                              <a:latin typeface="Cambria Math" panose="02040503050406030204" pitchFamily="18" charset="0"/>
                            </a:rPr>
                          </m:ctrlPr>
                        </m:sSupPr>
                        <m:e>
                          <m:d>
                            <m:dPr>
                              <m:ctrlPr>
                                <a:rPr lang="en-US" sz="1600" i="1" dirty="0" smtClean="0">
                                  <a:solidFill>
                                    <a:schemeClr val="tx1"/>
                                  </a:solidFill>
                                  <a:latin typeface="Cambria Math" panose="02040503050406030204" pitchFamily="18" charset="0"/>
                                </a:rPr>
                              </m:ctrlPr>
                            </m:dPr>
                            <m:e>
                              <m:r>
                                <a:rPr lang="en-US" sz="1600" i="1" dirty="0" smtClean="0">
                                  <a:solidFill>
                                    <a:schemeClr val="tx1"/>
                                  </a:solidFill>
                                  <a:latin typeface="Cambria Math" panose="02040503050406030204" pitchFamily="18" charset="0"/>
                                </a:rPr>
                                <m:t>𝑠</m:t>
                              </m:r>
                            </m:e>
                          </m:d>
                        </m:e>
                        <m:sup>
                          <m:r>
                            <a:rPr lang="en-US" sz="1600" i="0" dirty="0" smtClean="0">
                              <a:solidFill>
                                <a:schemeClr val="tx1"/>
                              </a:solidFill>
                              <a:latin typeface="Cambria Math" panose="02040503050406030204" pitchFamily="18" charset="0"/>
                            </a:rPr>
                            <m:t>2</m:t>
                          </m:r>
                        </m:sup>
                      </m:sSup>
                      <m:r>
                        <a:rPr lang="en-US" sz="1600" i="0" dirty="0" smtClean="0">
                          <a:solidFill>
                            <a:schemeClr val="tx1"/>
                          </a:solidFill>
                          <a:latin typeface="Cambria Math" panose="02040503050406030204" pitchFamily="18" charset="0"/>
                        </a:rPr>
                        <m:t> </m:t>
                      </m:r>
                      <m:r>
                        <a:rPr lang="en-US" sz="1600" i="1" dirty="0" smtClean="0">
                          <a:solidFill>
                            <a:schemeClr val="tx1"/>
                          </a:solidFill>
                          <a:latin typeface="Cambria Math" panose="02040503050406030204" pitchFamily="18" charset="0"/>
                        </a:rPr>
                        <m:t>𝑑𝑠</m:t>
                      </m:r>
                    </m:oMath>
                  </m:oMathPara>
                </a14:m>
                <a:endParaRPr lang="en-US" sz="1600" dirty="0"/>
              </a:p>
            </p:txBody>
          </p:sp>
        </mc:Choice>
        <mc:Fallback xmlns="">
          <p:sp>
            <p:nvSpPr>
              <p:cNvPr id="6" name="latex-energy"/>
              <p:cNvSpPr txBox="1">
                <a:spLocks noRot="1" noChangeAspect="1" noMove="1" noResize="1" noEditPoints="1" noAdjustHandles="1" noChangeArrowheads="1" noChangeShapeType="1" noTextEdit="1"/>
              </p:cNvSpPr>
              <p:nvPr/>
            </p:nvSpPr>
            <p:spPr>
              <a:xfrm>
                <a:off x="3200400" y="1599286"/>
                <a:ext cx="8229600" cy="779069"/>
              </a:xfrm>
              <a:prstGeom prst="rect">
                <a:avLst/>
              </a:prstGeom>
              <a:blipFill>
                <a:blip r:embed="rId3"/>
                <a:stretch>
                  <a:fillRect/>
                </a:stretch>
              </a:blipFill>
              <a:ln/>
            </p:spPr>
            <p:txBody>
              <a:bodyPr/>
              <a:lstStyle/>
              <a:p>
                <a:r>
                  <a:rPr lang="en-IN">
                    <a:noFill/>
                  </a:rPr>
                  <a:t> </a:t>
                </a:r>
              </a:p>
            </p:txBody>
          </p:sp>
        </mc:Fallback>
      </mc:AlternateContent>
      <p:sp>
        <p:nvSpPr>
          <p:cNvPr id="7" name="card-23"/>
          <p:cNvSpPr/>
          <p:nvPr/>
        </p:nvSpPr>
        <p:spPr>
          <a:xfrm>
            <a:off x="548640" y="2743200"/>
            <a:ext cx="11064240" cy="1143000"/>
          </a:xfrm>
          <a:prstGeom prst="roundRect">
            <a:avLst>
              <a:gd name="adj" fmla="val 6400"/>
            </a:avLst>
          </a:prstGeom>
          <a:solidFill>
            <a:schemeClr val="bg2"/>
          </a:solidFill>
          <a:ln/>
        </p:spPr>
        <p:txBody>
          <a:bodyPr/>
          <a:lstStyle/>
          <a:p>
            <a:endParaRPr lang="en-IN"/>
          </a:p>
        </p:txBody>
      </p:sp>
      <p:sp>
        <p:nvSpPr>
          <p:cNvPr id="8" name="text-24"/>
          <p:cNvSpPr txBox="1"/>
          <p:nvPr/>
        </p:nvSpPr>
        <p:spPr>
          <a:xfrm>
            <a:off x="777240" y="3017520"/>
            <a:ext cx="2194560" cy="365760"/>
          </a:xfrm>
          <a:prstGeom prst="rect">
            <a:avLst/>
          </a:prstGeom>
          <a:noFill/>
          <a:ln/>
        </p:spPr>
        <p:txBody>
          <a:bodyPr wrap="square" lIns="0" tIns="0" rIns="0" bIns="0" rtlCol="0" anchor="t"/>
          <a:lstStyle/>
          <a:p>
            <a:pPr marL="0" indent="0">
              <a:buNone/>
            </a:pPr>
            <a:r>
              <a:rPr lang="en-US" sz="1800" b="1" dirty="0">
                <a:solidFill>
                  <a:schemeClr val="accent1"/>
                </a:solidFill>
              </a:rPr>
              <a:t>Constraints</a:t>
            </a:r>
            <a:endParaRPr lang="en-US" sz="1800" dirty="0"/>
          </a:p>
        </p:txBody>
      </p:sp>
      <p:sp>
        <p:nvSpPr>
          <p:cNvPr id="9" name="text-25"/>
          <p:cNvSpPr txBox="1"/>
          <p:nvPr/>
        </p:nvSpPr>
        <p:spPr>
          <a:xfrm>
            <a:off x="777240" y="3383280"/>
            <a:ext cx="2194560" cy="457200"/>
          </a:xfrm>
          <a:prstGeom prst="rect">
            <a:avLst/>
          </a:prstGeom>
          <a:noFill/>
          <a:ln/>
        </p:spPr>
        <p:txBody>
          <a:bodyPr wrap="square" lIns="0" tIns="0" rIns="0" bIns="0" rtlCol="0" anchor="t"/>
          <a:lstStyle/>
          <a:p>
            <a:pPr marL="0" indent="0">
              <a:buNone/>
            </a:pPr>
            <a:r>
              <a:rPr lang="en-US" sz="1100" dirty="0">
                <a:solidFill>
                  <a:schemeClr val="accent5"/>
                </a:solidFill>
              </a:rPr>
              <a:t>End position fixed, both ends clamped</a:t>
            </a:r>
            <a:endParaRPr lang="en-US" sz="1100" dirty="0"/>
          </a:p>
        </p:txBody>
      </p:sp>
      <mc:AlternateContent xmlns:mc="http://schemas.openxmlformats.org/markup-compatibility/2006" xmlns:a14="http://schemas.microsoft.com/office/drawing/2010/main">
        <mc:Choice Requires="a14">
          <p:sp>
            <p:nvSpPr>
              <p:cNvPr id="10" name="latex-constraints"/>
              <p:cNvSpPr txBox="1"/>
              <p:nvPr/>
            </p:nvSpPr>
            <p:spPr>
              <a:xfrm>
                <a:off x="3200400" y="2925166"/>
                <a:ext cx="8229600" cy="779069"/>
              </a:xfrm>
              <a:prstGeom prst="rect">
                <a:avLst/>
              </a:prstGeom>
              <a:noFill/>
              <a:ln/>
            </p:spPr>
            <p:txBody>
              <a:bodyPr wrap="square" lIns="0" tIns="0" rIns="0" bIns="0" rtlCol="0" anchor="ctr">
                <a:noAutofit/>
              </a:bodyPr>
              <a:lstStyle/>
              <a:p>
                <a:pPr marL="0" indent="0" algn="r">
                  <a:buNone/>
                </a:pPr>
                <a14:m>
                  <m:oMathPara xmlns:m="http://schemas.openxmlformats.org/officeDocument/2006/math">
                    <m:oMathParaPr>
                      <m:jc m:val="left"/>
                    </m:oMathParaPr>
                    <m:oMath>
                      <m:nary>
                        <m:naryPr>
                          <m:limLoc m:val="subSup"/>
                          <m:ctrlPr>
                            <a:rPr lang="en-US" sz="1600" dirty="0">
                              <a:solidFill>
                                <a:schemeClr val="tx1"/>
                              </a:solidFill>
                              <a:latin typeface="Cambria Math" panose="02040503050406030204" pitchFamily="18" charset="0"/>
                            </a:rPr>
                          </m:ctrlPr>
                        </m:naryPr>
                        <m:sub>
                          <m:r>
                            <a:rPr lang="en-US" sz="1600" dirty="0">
                              <a:solidFill>
                                <a:schemeClr val="tx1"/>
                              </a:solidFill>
                              <a:latin typeface="Cambria Math" panose="02040503050406030204" pitchFamily="18" charset="0"/>
                            </a:rPr>
                            <m:t>0</m:t>
                          </m:r>
                        </m:sub>
                        <m:sup>
                          <m:r>
                            <a:rPr lang="en-US" sz="1600" i="1" dirty="0">
                              <a:solidFill>
                                <a:schemeClr val="tx1"/>
                              </a:solidFill>
                              <a:latin typeface="Cambria Math" panose="02040503050406030204" pitchFamily="18" charset="0"/>
                            </a:rPr>
                            <m:t>𝐿</m:t>
                          </m:r>
                        </m:sup>
                        <m:e>
                          <m:func>
                            <m:funcPr>
                              <m:ctrlPr>
                                <a:rPr lang="en-US" sz="1600" i="0" dirty="0">
                                  <a:solidFill>
                                    <a:schemeClr val="tx1"/>
                                  </a:solidFill>
                                  <a:latin typeface="Cambria Math" panose="02040503050406030204" pitchFamily="18" charset="0"/>
                                </a:rPr>
                              </m:ctrlPr>
                            </m:funcPr>
                            <m:fName>
                              <m:r>
                                <m:rPr>
                                  <m:sty m:val="p"/>
                                </m:rPr>
                                <a:rPr lang="en-US" sz="1600" i="0" dirty="0">
                                  <a:solidFill>
                                    <a:schemeClr val="tx1"/>
                                  </a:solidFill>
                                  <a:latin typeface="Cambria Math" panose="02040503050406030204" pitchFamily="18" charset="0"/>
                                </a:rPr>
                                <m:t>cos</m:t>
                              </m:r>
                            </m:fName>
                            <m:e>
                              <m:r>
                                <a:rPr lang="en-US" sz="1600" i="1" dirty="0">
                                  <a:solidFill>
                                    <a:schemeClr val="tx1"/>
                                  </a:solidFill>
                                  <a:latin typeface="Cambria Math" panose="02040503050406030204" pitchFamily="18" charset="0"/>
                                </a:rPr>
                                <m:t>𝜃</m:t>
                              </m:r>
                            </m:e>
                          </m:func>
                        </m:e>
                      </m:nary>
                      <m:r>
                        <a:rPr lang="en-US" sz="1600" i="0"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𝑑𝑠</m:t>
                      </m:r>
                      <m:r>
                        <a:rPr lang="en-US" sz="1600" i="0" dirty="0">
                          <a:solidFill>
                            <a:schemeClr val="tx1"/>
                          </a:solidFill>
                          <a:latin typeface="Cambria Math" panose="02040503050406030204" pitchFamily="18" charset="0"/>
                        </a:rPr>
                        <m:t>=</m:t>
                      </m:r>
                      <m:r>
                        <a:rPr lang="en-US" sz="1600" i="1" dirty="0">
                          <a:solidFill>
                            <a:schemeClr val="tx1"/>
                          </a:solidFill>
                          <a:latin typeface="Cambria Math" panose="02040503050406030204" pitchFamily="18" charset="0"/>
                        </a:rPr>
                        <m:t>𝑑</m:t>
                      </m:r>
                      <m:r>
                        <a:rPr lang="en-US" sz="1600" i="0" dirty="0">
                          <a:solidFill>
                            <a:schemeClr val="tx1"/>
                          </a:solidFill>
                          <a:latin typeface="Cambria Math" panose="02040503050406030204" pitchFamily="18" charset="0"/>
                        </a:rPr>
                        <m:t>, </m:t>
                      </m:r>
                      <m:nary>
                        <m:naryPr>
                          <m:limLoc m:val="subSup"/>
                          <m:ctrlPr>
                            <a:rPr lang="en-US" sz="1600" i="0" dirty="0">
                              <a:solidFill>
                                <a:schemeClr val="tx1"/>
                              </a:solidFill>
                              <a:latin typeface="Cambria Math" panose="02040503050406030204" pitchFamily="18" charset="0"/>
                            </a:rPr>
                          </m:ctrlPr>
                        </m:naryPr>
                        <m:sub>
                          <m:r>
                            <a:rPr lang="en-US" sz="1600" i="0" dirty="0">
                              <a:solidFill>
                                <a:schemeClr val="tx1"/>
                              </a:solidFill>
                              <a:latin typeface="Cambria Math" panose="02040503050406030204" pitchFamily="18" charset="0"/>
                            </a:rPr>
                            <m:t>0</m:t>
                          </m:r>
                        </m:sub>
                        <m:sup>
                          <m:r>
                            <a:rPr lang="en-US" sz="1600" i="1" dirty="0">
                              <a:solidFill>
                                <a:schemeClr val="tx1"/>
                              </a:solidFill>
                              <a:latin typeface="Cambria Math" panose="02040503050406030204" pitchFamily="18" charset="0"/>
                            </a:rPr>
                            <m:t>𝐿</m:t>
                          </m:r>
                        </m:sup>
                        <m:e>
                          <m:func>
                            <m:funcPr>
                              <m:ctrlPr>
                                <a:rPr lang="en-US" sz="1600" i="0" dirty="0">
                                  <a:solidFill>
                                    <a:schemeClr val="tx1"/>
                                  </a:solidFill>
                                  <a:latin typeface="Cambria Math" panose="02040503050406030204" pitchFamily="18" charset="0"/>
                                </a:rPr>
                              </m:ctrlPr>
                            </m:funcPr>
                            <m:fName>
                              <m:r>
                                <m:rPr>
                                  <m:sty m:val="p"/>
                                </m:rPr>
                                <a:rPr lang="en-US" sz="1600" i="0" dirty="0">
                                  <a:solidFill>
                                    <a:schemeClr val="tx1"/>
                                  </a:solidFill>
                                  <a:latin typeface="Cambria Math" panose="02040503050406030204" pitchFamily="18" charset="0"/>
                                </a:rPr>
                                <m:t>sin</m:t>
                              </m:r>
                            </m:fName>
                            <m:e>
                              <m:r>
                                <a:rPr lang="en-US" sz="1600" i="1" dirty="0">
                                  <a:solidFill>
                                    <a:schemeClr val="tx1"/>
                                  </a:solidFill>
                                  <a:latin typeface="Cambria Math" panose="02040503050406030204" pitchFamily="18" charset="0"/>
                                </a:rPr>
                                <m:t>𝜃</m:t>
                              </m:r>
                            </m:e>
                          </m:func>
                        </m:e>
                      </m:nary>
                      <m:r>
                        <a:rPr lang="en-US" sz="1600" i="0"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𝑑𝑠</m:t>
                      </m:r>
                      <m:r>
                        <a:rPr lang="en-US" sz="1600" i="0" dirty="0">
                          <a:solidFill>
                            <a:schemeClr val="tx1"/>
                          </a:solidFill>
                          <a:latin typeface="Cambria Math" panose="02040503050406030204" pitchFamily="18" charset="0"/>
                        </a:rPr>
                        <m:t>=0, </m:t>
                      </m:r>
                      <m:r>
                        <a:rPr lang="en-US" sz="1600" i="1" dirty="0">
                          <a:solidFill>
                            <a:schemeClr val="tx1"/>
                          </a:solidFill>
                          <a:latin typeface="Cambria Math" panose="02040503050406030204" pitchFamily="18" charset="0"/>
                        </a:rPr>
                        <m:t>𝜃</m:t>
                      </m:r>
                      <m:d>
                        <m:dPr>
                          <m:ctrlPr>
                            <a:rPr lang="en-US" sz="1600" i="0" dirty="0">
                              <a:solidFill>
                                <a:schemeClr val="tx1"/>
                              </a:solidFill>
                              <a:latin typeface="Cambria Math" panose="02040503050406030204" pitchFamily="18" charset="0"/>
                            </a:rPr>
                          </m:ctrlPr>
                        </m:dPr>
                        <m:e>
                          <m:r>
                            <a:rPr lang="en-US" sz="1600" i="0" dirty="0">
                              <a:solidFill>
                                <a:schemeClr val="tx1"/>
                              </a:solidFill>
                              <a:latin typeface="Cambria Math" panose="02040503050406030204" pitchFamily="18" charset="0"/>
                            </a:rPr>
                            <m:t>0</m:t>
                          </m:r>
                        </m:e>
                      </m:d>
                      <m:r>
                        <a:rPr lang="en-US" sz="1600" i="0"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𝜑</m:t>
                          </m:r>
                        </m:e>
                        <m:sub>
                          <m:r>
                            <a:rPr lang="en-US" sz="1600" i="0" dirty="0">
                              <a:solidFill>
                                <a:schemeClr val="tx1"/>
                              </a:solidFill>
                              <a:latin typeface="Cambria Math" panose="02040503050406030204" pitchFamily="18" charset="0"/>
                            </a:rPr>
                            <m:t>1</m:t>
                          </m:r>
                        </m:sub>
                      </m:sSub>
                      <m:r>
                        <a:rPr lang="en-US" sz="1600" i="0"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𝜃</m:t>
                      </m:r>
                      <m:d>
                        <m:dPr>
                          <m:ctrlPr>
                            <a:rPr lang="en-US" sz="1600" i="1" dirty="0">
                              <a:solidFill>
                                <a:schemeClr val="tx1"/>
                              </a:solidFill>
                              <a:latin typeface="Cambria Math" panose="02040503050406030204" pitchFamily="18" charset="0"/>
                            </a:rPr>
                          </m:ctrlPr>
                        </m:dPr>
                        <m:e>
                          <m:r>
                            <a:rPr lang="en-US" sz="1600" i="1" dirty="0">
                              <a:solidFill>
                                <a:schemeClr val="tx1"/>
                              </a:solidFill>
                              <a:latin typeface="Cambria Math" panose="02040503050406030204" pitchFamily="18" charset="0"/>
                            </a:rPr>
                            <m:t>𝐿</m:t>
                          </m:r>
                        </m:e>
                      </m:d>
                      <m:r>
                        <a:rPr lang="en-US" sz="1600" i="0"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𝜑</m:t>
                          </m:r>
                        </m:e>
                        <m:sub>
                          <m:r>
                            <a:rPr lang="en-US" sz="1600" i="0" dirty="0">
                              <a:solidFill>
                                <a:schemeClr val="tx1"/>
                              </a:solidFill>
                              <a:latin typeface="Cambria Math" panose="02040503050406030204" pitchFamily="18" charset="0"/>
                            </a:rPr>
                            <m:t>2</m:t>
                          </m:r>
                        </m:sub>
                      </m:sSub>
                    </m:oMath>
                  </m:oMathPara>
                </a14:m>
                <a:endParaRPr lang="en-US" sz="1600" dirty="0"/>
              </a:p>
            </p:txBody>
          </p:sp>
        </mc:Choice>
        <mc:Fallback xmlns="">
          <p:sp>
            <p:nvSpPr>
              <p:cNvPr id="10" name="latex-constraints"/>
              <p:cNvSpPr txBox="1">
                <a:spLocks noRot="1" noChangeAspect="1" noMove="1" noResize="1" noEditPoints="1" noAdjustHandles="1" noChangeArrowheads="1" noChangeShapeType="1" noTextEdit="1"/>
              </p:cNvSpPr>
              <p:nvPr/>
            </p:nvSpPr>
            <p:spPr>
              <a:xfrm>
                <a:off x="3200400" y="2925166"/>
                <a:ext cx="8229600" cy="779069"/>
              </a:xfrm>
              <a:prstGeom prst="rect">
                <a:avLst/>
              </a:prstGeom>
              <a:blipFill>
                <a:blip r:embed="rId4"/>
                <a:stretch>
                  <a:fillRect/>
                </a:stretch>
              </a:blipFill>
              <a:ln/>
            </p:spPr>
            <p:txBody>
              <a:bodyPr/>
              <a:lstStyle/>
              <a:p>
                <a:r>
                  <a:rPr lang="en-IN">
                    <a:noFill/>
                  </a:rPr>
                  <a:t> </a:t>
                </a:r>
              </a:p>
            </p:txBody>
          </p:sp>
        </mc:Fallback>
      </mc:AlternateContent>
      <p:sp>
        <p:nvSpPr>
          <p:cNvPr id="11" name="card-27"/>
          <p:cNvSpPr/>
          <p:nvPr/>
        </p:nvSpPr>
        <p:spPr>
          <a:xfrm>
            <a:off x="548640" y="4069080"/>
            <a:ext cx="11064240" cy="1143000"/>
          </a:xfrm>
          <a:prstGeom prst="roundRect">
            <a:avLst>
              <a:gd name="adj" fmla="val 6400"/>
            </a:avLst>
          </a:prstGeom>
          <a:solidFill>
            <a:schemeClr val="bg2"/>
          </a:solidFill>
          <a:ln/>
        </p:spPr>
        <p:txBody>
          <a:bodyPr/>
          <a:lstStyle/>
          <a:p>
            <a:endParaRPr lang="en-IN"/>
          </a:p>
        </p:txBody>
      </p:sp>
      <p:sp>
        <p:nvSpPr>
          <p:cNvPr id="12" name="text-28"/>
          <p:cNvSpPr txBox="1"/>
          <p:nvPr/>
        </p:nvSpPr>
        <p:spPr>
          <a:xfrm>
            <a:off x="777240" y="4343400"/>
            <a:ext cx="2194560" cy="365760"/>
          </a:xfrm>
          <a:prstGeom prst="rect">
            <a:avLst/>
          </a:prstGeom>
          <a:noFill/>
          <a:ln/>
        </p:spPr>
        <p:txBody>
          <a:bodyPr wrap="square" lIns="0" tIns="0" rIns="0" bIns="0" rtlCol="0" anchor="t"/>
          <a:lstStyle/>
          <a:p>
            <a:pPr marL="0" indent="0">
              <a:buNone/>
            </a:pPr>
            <a:r>
              <a:rPr lang="en-US" sz="1800" b="1" dirty="0">
                <a:solidFill>
                  <a:schemeClr val="accent1"/>
                </a:solidFill>
              </a:rPr>
              <a:t>Lagrangian</a:t>
            </a:r>
            <a:endParaRPr lang="en-US" sz="1800" dirty="0"/>
          </a:p>
        </p:txBody>
      </p:sp>
      <p:sp>
        <p:nvSpPr>
          <p:cNvPr id="13" name="text-29"/>
          <p:cNvSpPr txBox="1"/>
          <p:nvPr/>
        </p:nvSpPr>
        <p:spPr>
          <a:xfrm>
            <a:off x="777240" y="4709160"/>
            <a:ext cx="2194560" cy="457200"/>
          </a:xfrm>
          <a:prstGeom prst="rect">
            <a:avLst/>
          </a:prstGeom>
          <a:noFill/>
          <a:ln/>
        </p:spPr>
        <p:txBody>
          <a:bodyPr wrap="square" lIns="0" tIns="0" rIns="0" bIns="0" rtlCol="0" anchor="t"/>
          <a:lstStyle/>
          <a:p>
            <a:pPr marL="0" indent="0">
              <a:buNone/>
            </a:pPr>
            <a:r>
              <a:rPr lang="en-US" sz="1100" dirty="0">
                <a:solidFill>
                  <a:schemeClr val="accent5"/>
                </a:solidFill>
              </a:rPr>
              <a:t>f</a:t>
            </a:r>
            <a:r>
              <a:rPr lang="en-US" sz="1100" baseline="-40000" dirty="0">
                <a:solidFill>
                  <a:schemeClr val="accent5"/>
                </a:solidFill>
              </a:rPr>
              <a:t>x</a:t>
            </a:r>
            <a:r>
              <a:rPr lang="en-US" sz="1100" dirty="0">
                <a:solidFill>
                  <a:schemeClr val="accent5"/>
                </a:solidFill>
              </a:rPr>
              <a:t>, f</a:t>
            </a:r>
            <a:r>
              <a:rPr lang="en-US" sz="1100" baseline="-40000" dirty="0">
                <a:solidFill>
                  <a:schemeClr val="accent5"/>
                </a:solidFill>
              </a:rPr>
              <a:t>y</a:t>
            </a:r>
            <a:r>
              <a:rPr lang="en-US" sz="1100" dirty="0">
                <a:solidFill>
                  <a:schemeClr val="accent5"/>
                </a:solidFill>
              </a:rPr>
              <a:t> enforce the two end-position integrals</a:t>
            </a:r>
            <a:endParaRPr lang="en-US" sz="1100" dirty="0"/>
          </a:p>
        </p:txBody>
      </p:sp>
      <mc:AlternateContent xmlns:mc="http://schemas.openxmlformats.org/markup-compatibility/2006" xmlns:a14="http://schemas.microsoft.com/office/drawing/2010/main">
        <mc:Choice Requires="a14">
          <p:sp>
            <p:nvSpPr>
              <p:cNvPr id="14" name="latex-lagrangian"/>
              <p:cNvSpPr txBox="1"/>
              <p:nvPr/>
            </p:nvSpPr>
            <p:spPr>
              <a:xfrm>
                <a:off x="3200400" y="4251046"/>
                <a:ext cx="8229600" cy="779069"/>
              </a:xfrm>
              <a:prstGeom prst="rect">
                <a:avLst/>
              </a:prstGeom>
              <a:noFill/>
              <a:ln/>
            </p:spPr>
            <p:txBody>
              <a:bodyPr wrap="square" lIns="0" tIns="0" rIns="0" bIns="0" rtlCol="0" anchor="ctr">
                <a:noAutofit/>
              </a:bodyPr>
              <a:lstStyle/>
              <a:p>
                <a:pPr marL="0" indent="0">
                  <a:buNone/>
                </a:pPr>
                <a14:m>
                  <m:oMathPara xmlns:m="http://schemas.openxmlformats.org/officeDocument/2006/math">
                    <m:oMathParaPr>
                      <m:jc m:val="left"/>
                    </m:oMathParaPr>
                    <m:oMath>
                      <m:r>
                        <a:rPr lang="en-US" sz="1600" dirty="0" smtClean="0">
                          <a:solidFill>
                            <a:schemeClr val="tx1"/>
                          </a:solidFill>
                          <a:latin typeface="Cambria Math" panose="02040503050406030204" pitchFamily="18" charset="0"/>
                        </a:rPr>
                        <m:t>ℒ</m:t>
                      </m:r>
                      <m:d>
                        <m:dPr>
                          <m:begChr m:val="["/>
                          <m:endChr m:val="]"/>
                          <m:ctrlPr>
                            <a:rPr lang="en-US" sz="1600" i="1" dirty="0">
                              <a:solidFill>
                                <a:schemeClr val="tx1"/>
                              </a:solidFill>
                              <a:latin typeface="Cambria Math" panose="02040503050406030204" pitchFamily="18" charset="0"/>
                            </a:rPr>
                          </m:ctrlPr>
                        </m:dPr>
                        <m:e>
                          <m:r>
                            <a:rPr lang="en-US" sz="1600" i="1" dirty="0">
                              <a:solidFill>
                                <a:schemeClr val="tx1"/>
                              </a:solidFill>
                              <a:latin typeface="Cambria Math" panose="02040503050406030204" pitchFamily="18" charset="0"/>
                            </a:rPr>
                            <m:t>𝜃</m:t>
                          </m:r>
                          <m:r>
                            <a:rPr lang="en-US" sz="1600" i="0"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𝑥</m:t>
                              </m:r>
                            </m:sub>
                          </m:sSub>
                          <m:r>
                            <a:rPr lang="en-US" sz="1600" i="0"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𝑦</m:t>
                              </m:r>
                            </m:sub>
                          </m:sSub>
                        </m:e>
                      </m:d>
                      <m:r>
                        <a:rPr lang="en-US" sz="1600" i="0" dirty="0">
                          <a:solidFill>
                            <a:schemeClr val="tx1"/>
                          </a:solidFill>
                          <a:latin typeface="Cambria Math" panose="02040503050406030204" pitchFamily="18" charset="0"/>
                        </a:rPr>
                        <m:t>=</m:t>
                      </m:r>
                      <m:f>
                        <m:fPr>
                          <m:ctrlPr>
                            <a:rPr lang="en-US" sz="1600" i="0" dirty="0">
                              <a:solidFill>
                                <a:schemeClr val="tx1"/>
                              </a:solidFill>
                              <a:latin typeface="Cambria Math" panose="02040503050406030204" pitchFamily="18" charset="0"/>
                            </a:rPr>
                          </m:ctrlPr>
                        </m:fPr>
                        <m:num>
                          <m:r>
                            <a:rPr lang="en-US" sz="1600" i="0" dirty="0">
                              <a:solidFill>
                                <a:schemeClr val="tx1"/>
                              </a:solidFill>
                              <a:latin typeface="Cambria Math" panose="02040503050406030204" pitchFamily="18" charset="0"/>
                            </a:rPr>
                            <m:t>1</m:t>
                          </m:r>
                        </m:num>
                        <m:den>
                          <m:r>
                            <a:rPr lang="en-US" sz="1600" i="0" dirty="0">
                              <a:solidFill>
                                <a:schemeClr val="tx1"/>
                              </a:solidFill>
                              <a:latin typeface="Cambria Math" panose="02040503050406030204" pitchFamily="18" charset="0"/>
                            </a:rPr>
                            <m:t>2</m:t>
                          </m:r>
                        </m:den>
                      </m:f>
                      <m:nary>
                        <m:naryPr>
                          <m:limLoc m:val="subSup"/>
                          <m:ctrlPr>
                            <a:rPr lang="en-US" sz="1600" i="0" dirty="0">
                              <a:solidFill>
                                <a:schemeClr val="tx1"/>
                              </a:solidFill>
                              <a:latin typeface="Cambria Math" panose="02040503050406030204" pitchFamily="18" charset="0"/>
                            </a:rPr>
                          </m:ctrlPr>
                        </m:naryPr>
                        <m:sub>
                          <m:r>
                            <a:rPr lang="en-US" sz="1600" i="0" dirty="0">
                              <a:solidFill>
                                <a:schemeClr val="tx1"/>
                              </a:solidFill>
                              <a:latin typeface="Cambria Math" panose="02040503050406030204" pitchFamily="18" charset="0"/>
                            </a:rPr>
                            <m:t>0</m:t>
                          </m:r>
                        </m:sub>
                        <m:sup>
                          <m:r>
                            <a:rPr lang="en-US" sz="1600" i="1" dirty="0">
                              <a:solidFill>
                                <a:schemeClr val="tx1"/>
                              </a:solidFill>
                              <a:latin typeface="Cambria Math" panose="02040503050406030204" pitchFamily="18" charset="0"/>
                            </a:rPr>
                            <m:t>𝐿</m:t>
                          </m:r>
                        </m:sup>
                        <m:e>
                          <m:r>
                            <a:rPr lang="en-US" sz="1600" i="1" dirty="0">
                              <a:solidFill>
                                <a:schemeClr val="tx1"/>
                              </a:solidFill>
                              <a:latin typeface="Cambria Math" panose="02040503050406030204" pitchFamily="18" charset="0"/>
                            </a:rPr>
                            <m:t>𝜃</m:t>
                          </m:r>
                        </m:e>
                      </m:nary>
                      <m:sSup>
                        <m:sSupPr>
                          <m:ctrlPr>
                            <a:rPr lang="en-US" sz="1600" i="0" dirty="0">
                              <a:solidFill>
                                <a:schemeClr val="tx1"/>
                              </a:solidFill>
                              <a:latin typeface="Cambria Math" panose="02040503050406030204" pitchFamily="18" charset="0"/>
                            </a:rPr>
                          </m:ctrlPr>
                        </m:sSupPr>
                        <m:e>
                          <m:r>
                            <a:rPr lang="en-US" sz="1600" i="0" dirty="0">
                              <a:solidFill>
                                <a:schemeClr val="tx1"/>
                              </a:solidFill>
                              <a:latin typeface="Cambria Math" panose="02040503050406030204" pitchFamily="18" charset="0"/>
                            </a:rPr>
                            <m:t>′</m:t>
                          </m:r>
                        </m:e>
                        <m:sup>
                          <m:r>
                            <a:rPr lang="en-US" sz="1600" i="0" dirty="0">
                              <a:solidFill>
                                <a:schemeClr val="tx1"/>
                              </a:solidFill>
                              <a:latin typeface="Cambria Math" panose="02040503050406030204" pitchFamily="18" charset="0"/>
                            </a:rPr>
                            <m:t>2</m:t>
                          </m:r>
                        </m:sup>
                      </m:sSup>
                      <m:r>
                        <a:rPr lang="en-US" sz="1600" i="0"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𝑑𝑠</m:t>
                      </m:r>
                      <m:r>
                        <a:rPr lang="en-US" sz="1600" i="0"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𝑥</m:t>
                          </m:r>
                        </m:sub>
                      </m:sSub>
                      <m:d>
                        <m:dPr>
                          <m:ctrlPr>
                            <a:rPr lang="en-US" sz="1600" i="1" dirty="0">
                              <a:solidFill>
                                <a:schemeClr val="tx1"/>
                              </a:solidFill>
                              <a:latin typeface="Cambria Math" panose="02040503050406030204" pitchFamily="18" charset="0"/>
                            </a:rPr>
                          </m:ctrlPr>
                        </m:dPr>
                        <m:e>
                          <m:nary>
                            <m:naryPr>
                              <m:limLoc m:val="subSup"/>
                              <m:ctrlPr>
                                <a:rPr lang="en-US" sz="1600" i="0" dirty="0">
                                  <a:solidFill>
                                    <a:schemeClr val="tx1"/>
                                  </a:solidFill>
                                  <a:latin typeface="Cambria Math" panose="02040503050406030204" pitchFamily="18" charset="0"/>
                                </a:rPr>
                              </m:ctrlPr>
                            </m:naryPr>
                            <m:sub>
                              <m:r>
                                <a:rPr lang="en-US" sz="1600" i="0" dirty="0">
                                  <a:solidFill>
                                    <a:schemeClr val="tx1"/>
                                  </a:solidFill>
                                  <a:latin typeface="Cambria Math" panose="02040503050406030204" pitchFamily="18" charset="0"/>
                                </a:rPr>
                                <m:t>0</m:t>
                              </m:r>
                            </m:sub>
                            <m:sup>
                              <m:r>
                                <a:rPr lang="en-US" sz="1600" i="1" dirty="0">
                                  <a:solidFill>
                                    <a:schemeClr val="tx1"/>
                                  </a:solidFill>
                                  <a:latin typeface="Cambria Math" panose="02040503050406030204" pitchFamily="18" charset="0"/>
                                </a:rPr>
                                <m:t>𝐿</m:t>
                              </m:r>
                            </m:sup>
                            <m:e>
                              <m:func>
                                <m:funcPr>
                                  <m:ctrlPr>
                                    <a:rPr lang="en-US" sz="1600" i="0" dirty="0">
                                      <a:solidFill>
                                        <a:schemeClr val="tx1"/>
                                      </a:solidFill>
                                      <a:latin typeface="Cambria Math" panose="02040503050406030204" pitchFamily="18" charset="0"/>
                                    </a:rPr>
                                  </m:ctrlPr>
                                </m:funcPr>
                                <m:fName>
                                  <m:r>
                                    <m:rPr>
                                      <m:sty m:val="p"/>
                                    </m:rPr>
                                    <a:rPr lang="en-US" sz="1600" i="0" dirty="0">
                                      <a:solidFill>
                                        <a:schemeClr val="tx1"/>
                                      </a:solidFill>
                                      <a:latin typeface="Cambria Math" panose="02040503050406030204" pitchFamily="18" charset="0"/>
                                    </a:rPr>
                                    <m:t>cos</m:t>
                                  </m:r>
                                </m:fName>
                                <m:e>
                                  <m:r>
                                    <a:rPr lang="en-US" sz="1600" i="1" dirty="0">
                                      <a:solidFill>
                                        <a:schemeClr val="tx1"/>
                                      </a:solidFill>
                                      <a:latin typeface="Cambria Math" panose="02040503050406030204" pitchFamily="18" charset="0"/>
                                    </a:rPr>
                                    <m:t>𝜃</m:t>
                                  </m:r>
                                </m:e>
                              </m:func>
                            </m:e>
                          </m:nary>
                          <m:r>
                            <a:rPr lang="en-US" sz="1600" i="0"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𝑑𝑠</m:t>
                          </m:r>
                          <m:r>
                            <a:rPr lang="en-US" sz="1600" i="0" dirty="0">
                              <a:solidFill>
                                <a:schemeClr val="tx1"/>
                              </a:solidFill>
                              <a:latin typeface="Cambria Math" panose="02040503050406030204" pitchFamily="18" charset="0"/>
                            </a:rPr>
                            <m:t>−</m:t>
                          </m:r>
                          <m:r>
                            <a:rPr lang="en-US" sz="1600" i="1" dirty="0">
                              <a:solidFill>
                                <a:schemeClr val="tx1"/>
                              </a:solidFill>
                              <a:latin typeface="Cambria Math" panose="02040503050406030204" pitchFamily="18" charset="0"/>
                            </a:rPr>
                            <m:t>𝑑</m:t>
                          </m:r>
                        </m:e>
                      </m:d>
                      <m:r>
                        <a:rPr lang="en-US" sz="1600" i="0"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𝑦</m:t>
                          </m:r>
                        </m:sub>
                      </m:sSub>
                      <m:nary>
                        <m:naryPr>
                          <m:limLoc m:val="subSup"/>
                          <m:ctrlPr>
                            <a:rPr lang="en-US" sz="1600" i="0" dirty="0">
                              <a:solidFill>
                                <a:schemeClr val="tx1"/>
                              </a:solidFill>
                              <a:latin typeface="Cambria Math" panose="02040503050406030204" pitchFamily="18" charset="0"/>
                            </a:rPr>
                          </m:ctrlPr>
                        </m:naryPr>
                        <m:sub>
                          <m:r>
                            <a:rPr lang="en-US" sz="1600" i="0" dirty="0">
                              <a:solidFill>
                                <a:schemeClr val="tx1"/>
                              </a:solidFill>
                              <a:latin typeface="Cambria Math" panose="02040503050406030204" pitchFamily="18" charset="0"/>
                            </a:rPr>
                            <m:t>0</m:t>
                          </m:r>
                        </m:sub>
                        <m:sup>
                          <m:r>
                            <a:rPr lang="en-US" sz="1600" i="1" dirty="0">
                              <a:solidFill>
                                <a:schemeClr val="tx1"/>
                              </a:solidFill>
                              <a:latin typeface="Cambria Math" panose="02040503050406030204" pitchFamily="18" charset="0"/>
                            </a:rPr>
                            <m:t>𝐿</m:t>
                          </m:r>
                        </m:sup>
                        <m:e>
                          <m:func>
                            <m:funcPr>
                              <m:ctrlPr>
                                <a:rPr lang="en-US" sz="1600" i="0" dirty="0">
                                  <a:solidFill>
                                    <a:schemeClr val="tx1"/>
                                  </a:solidFill>
                                  <a:latin typeface="Cambria Math" panose="02040503050406030204" pitchFamily="18" charset="0"/>
                                </a:rPr>
                              </m:ctrlPr>
                            </m:funcPr>
                            <m:fName>
                              <m:r>
                                <m:rPr>
                                  <m:sty m:val="p"/>
                                </m:rPr>
                                <a:rPr lang="en-US" sz="1600" i="0" dirty="0">
                                  <a:solidFill>
                                    <a:schemeClr val="tx1"/>
                                  </a:solidFill>
                                  <a:latin typeface="Cambria Math" panose="02040503050406030204" pitchFamily="18" charset="0"/>
                                </a:rPr>
                                <m:t>sin</m:t>
                              </m:r>
                            </m:fName>
                            <m:e>
                              <m:r>
                                <a:rPr lang="en-US" sz="1600" i="1" dirty="0">
                                  <a:solidFill>
                                    <a:schemeClr val="tx1"/>
                                  </a:solidFill>
                                  <a:latin typeface="Cambria Math" panose="02040503050406030204" pitchFamily="18" charset="0"/>
                                </a:rPr>
                                <m:t>𝜃</m:t>
                              </m:r>
                            </m:e>
                          </m:func>
                        </m:e>
                      </m:nary>
                      <m:r>
                        <a:rPr lang="en-US" sz="1600" i="0"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𝑑𝑠</m:t>
                      </m:r>
                    </m:oMath>
                  </m:oMathPara>
                </a14:m>
                <a:endParaRPr lang="en-US" sz="1600" dirty="0"/>
              </a:p>
            </p:txBody>
          </p:sp>
        </mc:Choice>
        <mc:Fallback xmlns="">
          <p:sp>
            <p:nvSpPr>
              <p:cNvPr id="14" name="latex-lagrangian"/>
              <p:cNvSpPr txBox="1">
                <a:spLocks noRot="1" noChangeAspect="1" noMove="1" noResize="1" noEditPoints="1" noAdjustHandles="1" noChangeArrowheads="1" noChangeShapeType="1" noTextEdit="1"/>
              </p:cNvSpPr>
              <p:nvPr/>
            </p:nvSpPr>
            <p:spPr>
              <a:xfrm>
                <a:off x="3200400" y="4251046"/>
                <a:ext cx="8229600" cy="779069"/>
              </a:xfrm>
              <a:prstGeom prst="rect">
                <a:avLst/>
              </a:prstGeom>
              <a:blipFill>
                <a:blip r:embed="rId5"/>
                <a:stretch>
                  <a:fillRect/>
                </a:stretch>
              </a:blipFill>
              <a:ln/>
            </p:spPr>
            <p:txBody>
              <a:bodyPr/>
              <a:lstStyle/>
              <a:p>
                <a:r>
                  <a:rPr lang="en-IN">
                    <a:noFill/>
                  </a:rPr>
                  <a:t> </a:t>
                </a:r>
              </a:p>
            </p:txBody>
          </p:sp>
        </mc:Fallback>
      </mc:AlternateContent>
      <p:sp>
        <p:nvSpPr>
          <p:cNvPr id="15" name="text-31"/>
          <p:cNvSpPr txBox="1"/>
          <p:nvPr/>
        </p:nvSpPr>
        <p:spPr>
          <a:xfrm>
            <a:off x="548640" y="5486400"/>
            <a:ext cx="11064240" cy="777240"/>
          </a:xfrm>
          <a:prstGeom prst="rect">
            <a:avLst/>
          </a:prstGeom>
          <a:noFill/>
          <a:ln/>
        </p:spPr>
        <p:txBody>
          <a:bodyPr wrap="square" lIns="0" tIns="0" rIns="0" bIns="0" rtlCol="0" anchor="t"/>
          <a:lstStyle/>
          <a:p>
            <a:pPr marL="0" indent="0">
              <a:buNone/>
            </a:pPr>
            <a:r>
              <a:rPr lang="en-US" sz="1500" dirty="0">
                <a:solidFill>
                  <a:schemeClr val="tx2"/>
                </a:solidFill>
              </a:rPr>
              <a:t>f</a:t>
            </a:r>
            <a:r>
              <a:rPr lang="en-US" sz="1500" baseline="-40000" dirty="0">
                <a:solidFill>
                  <a:schemeClr val="tx2"/>
                </a:solidFill>
              </a:rPr>
              <a:t>x</a:t>
            </a:r>
            <a:r>
              <a:rPr lang="en-US" sz="1500" dirty="0">
                <a:solidFill>
                  <a:schemeClr val="tx2"/>
                </a:solidFill>
              </a:rPr>
              <a:t> and f</a:t>
            </a:r>
            <a:r>
              <a:rPr lang="en-US" sz="1500" baseline="-40000" dirty="0">
                <a:solidFill>
                  <a:schemeClr val="tx2"/>
                </a:solidFill>
              </a:rPr>
              <a:t>y</a:t>
            </a:r>
            <a:r>
              <a:rPr lang="en-US" sz="1500" dirty="0">
                <a:solidFill>
                  <a:schemeClr val="tx2"/>
                </a:solidFill>
              </a:rPr>
              <a:t> are the Lagrange multipliers of the end-position constraints — physically, the reaction forces at the right clamp. The study maps every stable stationary point of ℒ the continuation reaches over the (d, φ₁, φ₂) box.</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Stationarity gives the elastica equation and a mixed weak form</a:t>
            </a:r>
            <a:endParaRPr lang="en-US" sz="3000" dirty="0"/>
          </a:p>
        </p:txBody>
      </p:sp>
      <p:sp>
        <p:nvSpPr>
          <p:cNvPr id="3" name="card-32"/>
          <p:cNvSpPr/>
          <p:nvPr/>
        </p:nvSpPr>
        <p:spPr>
          <a:xfrm>
            <a:off x="548640" y="1417320"/>
            <a:ext cx="4206240" cy="1737360"/>
          </a:xfrm>
          <a:prstGeom prst="roundRect">
            <a:avLst>
              <a:gd name="adj" fmla="val 4211"/>
            </a:avLst>
          </a:prstGeom>
          <a:solidFill>
            <a:schemeClr val="bg2"/>
          </a:solidFill>
          <a:ln/>
        </p:spPr>
        <p:txBody>
          <a:bodyPr/>
          <a:lstStyle/>
          <a:p>
            <a:endParaRPr lang="en-IN"/>
          </a:p>
        </p:txBody>
      </p:sp>
      <p:sp>
        <p:nvSpPr>
          <p:cNvPr id="4" name="text-33"/>
          <p:cNvSpPr txBox="1"/>
          <p:nvPr/>
        </p:nvSpPr>
        <p:spPr>
          <a:xfrm>
            <a:off x="777240" y="1554480"/>
            <a:ext cx="3749040" cy="365760"/>
          </a:xfrm>
          <a:prstGeom prst="rect">
            <a:avLst/>
          </a:prstGeom>
          <a:noFill/>
          <a:ln/>
        </p:spPr>
        <p:txBody>
          <a:bodyPr wrap="square" lIns="0" tIns="0" rIns="0" bIns="0" rtlCol="0" anchor="t"/>
          <a:lstStyle/>
          <a:p>
            <a:pPr marL="0" indent="0">
              <a:buNone/>
            </a:pPr>
            <a:r>
              <a:rPr lang="en-US" sz="1700" b="1" dirty="0">
                <a:solidFill>
                  <a:schemeClr val="accent1"/>
                </a:solidFill>
              </a:rPr>
              <a:t>Euler–Lagrange equation</a:t>
            </a:r>
            <a:endParaRPr lang="en-US" sz="1700" dirty="0"/>
          </a:p>
        </p:txBody>
      </p:sp>
      <mc:AlternateContent xmlns:mc="http://schemas.openxmlformats.org/markup-compatibility/2006" xmlns:a14="http://schemas.microsoft.com/office/drawing/2010/main">
        <mc:Choice Requires="a14">
          <p:sp>
            <p:nvSpPr>
              <p:cNvPr id="5" name="latex-strong"/>
              <p:cNvSpPr txBox="1"/>
              <p:nvPr/>
            </p:nvSpPr>
            <p:spPr>
              <a:xfrm>
                <a:off x="777240" y="2103120"/>
                <a:ext cx="3794760" cy="411480"/>
              </a:xfrm>
              <a:prstGeom prst="rect">
                <a:avLst/>
              </a:prstGeom>
              <a:noFill/>
              <a:ln/>
            </p:spPr>
            <p:txBody>
              <a:bodyPr wrap="square" lIns="0" tIns="0" rIns="0" bIns="0" rtlCol="0" anchor="ctr">
                <a:noAutofit/>
              </a:bodyPr>
              <a:lstStyle/>
              <a:p>
                <a:pPr marL="0" indent="0">
                  <a:buNone/>
                </a:pPr>
                <a14:m>
                  <m:oMathPara xmlns:m="http://schemas.openxmlformats.org/officeDocument/2006/math">
                    <m:oMathParaPr>
                      <m:jc m:val="left"/>
                    </m:oMathParaPr>
                    <m:oMath>
                      <m:r>
                        <a:rPr lang="en-US" sz="1600" i="1" dirty="0" smtClean="0">
                          <a:solidFill>
                            <a:schemeClr val="tx1"/>
                          </a:solidFill>
                          <a:latin typeface="Cambria Math" panose="02040503050406030204" pitchFamily="18" charset="0"/>
                        </a:rPr>
                        <m:t>𝜃</m:t>
                      </m:r>
                      <m:r>
                        <a:rPr lang="en-US" sz="1600" i="0"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𝑥</m:t>
                          </m:r>
                        </m:sub>
                      </m:sSub>
                      <m:func>
                        <m:funcPr>
                          <m:ctrlPr>
                            <a:rPr lang="en-US" sz="1600" i="0" dirty="0">
                              <a:solidFill>
                                <a:schemeClr val="tx1"/>
                              </a:solidFill>
                              <a:latin typeface="Cambria Math" panose="02040503050406030204" pitchFamily="18" charset="0"/>
                            </a:rPr>
                          </m:ctrlPr>
                        </m:funcPr>
                        <m:fName>
                          <m:r>
                            <m:rPr>
                              <m:sty m:val="p"/>
                            </m:rPr>
                            <a:rPr lang="en-US" sz="1600" i="0" dirty="0">
                              <a:solidFill>
                                <a:schemeClr val="tx1"/>
                              </a:solidFill>
                              <a:latin typeface="Cambria Math" panose="02040503050406030204" pitchFamily="18" charset="0"/>
                            </a:rPr>
                            <m:t>sin</m:t>
                          </m:r>
                        </m:fName>
                        <m:e>
                          <m:r>
                            <a:rPr lang="en-US" sz="1600" i="1" dirty="0">
                              <a:solidFill>
                                <a:schemeClr val="tx1"/>
                              </a:solidFill>
                              <a:latin typeface="Cambria Math" panose="02040503050406030204" pitchFamily="18" charset="0"/>
                            </a:rPr>
                            <m:t>𝜃</m:t>
                          </m:r>
                        </m:e>
                      </m:func>
                      <m:r>
                        <a:rPr lang="en-US" sz="1600" i="0"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𝑦</m:t>
                          </m:r>
                        </m:sub>
                      </m:sSub>
                      <m:func>
                        <m:funcPr>
                          <m:ctrlPr>
                            <a:rPr lang="en-US" sz="1600" i="0" dirty="0">
                              <a:solidFill>
                                <a:schemeClr val="tx1"/>
                              </a:solidFill>
                              <a:latin typeface="Cambria Math" panose="02040503050406030204" pitchFamily="18" charset="0"/>
                            </a:rPr>
                          </m:ctrlPr>
                        </m:funcPr>
                        <m:fName>
                          <m:r>
                            <m:rPr>
                              <m:sty m:val="p"/>
                            </m:rPr>
                            <a:rPr lang="en-US" sz="1600" i="0" dirty="0">
                              <a:solidFill>
                                <a:schemeClr val="tx1"/>
                              </a:solidFill>
                              <a:latin typeface="Cambria Math" panose="02040503050406030204" pitchFamily="18" charset="0"/>
                            </a:rPr>
                            <m:t>cos</m:t>
                          </m:r>
                        </m:fName>
                        <m:e>
                          <m:r>
                            <a:rPr lang="en-US" sz="1600" i="1" dirty="0">
                              <a:solidFill>
                                <a:schemeClr val="tx1"/>
                              </a:solidFill>
                              <a:latin typeface="Cambria Math" panose="02040503050406030204" pitchFamily="18" charset="0"/>
                            </a:rPr>
                            <m:t>𝜃</m:t>
                          </m:r>
                        </m:e>
                      </m:func>
                      <m:r>
                        <a:rPr lang="en-US" sz="1600" i="0" dirty="0">
                          <a:solidFill>
                            <a:schemeClr val="tx1"/>
                          </a:solidFill>
                          <a:latin typeface="Cambria Math" panose="02040503050406030204" pitchFamily="18" charset="0"/>
                        </a:rPr>
                        <m:t>=0</m:t>
                      </m:r>
                    </m:oMath>
                  </m:oMathPara>
                </a14:m>
                <a:endParaRPr lang="en-US" sz="1600" dirty="0"/>
              </a:p>
            </p:txBody>
          </p:sp>
        </mc:Choice>
        <mc:Fallback xmlns="">
          <p:sp>
            <p:nvSpPr>
              <p:cNvPr id="5" name="latex-strong"/>
              <p:cNvSpPr txBox="1">
                <a:spLocks noRot="1" noChangeAspect="1" noMove="1" noResize="1" noEditPoints="1" noAdjustHandles="1" noChangeArrowheads="1" noChangeShapeType="1" noTextEdit="1"/>
              </p:cNvSpPr>
              <p:nvPr/>
            </p:nvSpPr>
            <p:spPr>
              <a:xfrm>
                <a:off x="777240" y="2103120"/>
                <a:ext cx="3794760" cy="411480"/>
              </a:xfrm>
              <a:prstGeom prst="rect">
                <a:avLst/>
              </a:prstGeom>
              <a:blipFill>
                <a:blip r:embed="rId3"/>
                <a:stretch>
                  <a:fillRect l="-1929"/>
                </a:stretch>
              </a:blipFill>
              <a:ln/>
            </p:spPr>
            <p:txBody>
              <a:bodyPr/>
              <a:lstStyle/>
              <a:p>
                <a:r>
                  <a:rPr lang="en-IN">
                    <a:noFill/>
                  </a:rPr>
                  <a:t> </a:t>
                </a:r>
              </a:p>
            </p:txBody>
          </p:sp>
        </mc:Fallback>
      </mc:AlternateContent>
      <p:sp>
        <p:nvSpPr>
          <p:cNvPr id="6" name="text-35"/>
          <p:cNvSpPr txBox="1"/>
          <p:nvPr/>
        </p:nvSpPr>
        <p:spPr>
          <a:xfrm>
            <a:off x="777240" y="2606040"/>
            <a:ext cx="3749040" cy="365760"/>
          </a:xfrm>
          <a:prstGeom prst="rect">
            <a:avLst/>
          </a:prstGeom>
          <a:noFill/>
          <a:ln/>
        </p:spPr>
        <p:txBody>
          <a:bodyPr wrap="square" lIns="0" tIns="0" rIns="0" bIns="0" rtlCol="0" anchor="t"/>
          <a:lstStyle/>
          <a:p>
            <a:pPr marL="0" indent="0">
              <a:buNone/>
            </a:pPr>
            <a:r>
              <a:rPr lang="en-US" sz="1500" dirty="0">
                <a:solidFill>
                  <a:schemeClr val="tx2"/>
                </a:solidFill>
              </a:rPr>
              <a:t>θ(0) = φ₁,  θ(L) = φ₂</a:t>
            </a:r>
            <a:endParaRPr lang="en-US" sz="1500" dirty="0"/>
          </a:p>
        </p:txBody>
      </p:sp>
      <p:sp>
        <p:nvSpPr>
          <p:cNvPr id="7" name="card-36"/>
          <p:cNvSpPr/>
          <p:nvPr/>
        </p:nvSpPr>
        <p:spPr>
          <a:xfrm>
            <a:off x="5029200" y="1417320"/>
            <a:ext cx="6583680" cy="3566160"/>
          </a:xfrm>
          <a:prstGeom prst="roundRect">
            <a:avLst>
              <a:gd name="adj" fmla="val 2051"/>
            </a:avLst>
          </a:prstGeom>
          <a:solidFill>
            <a:schemeClr val="bg2"/>
          </a:solidFill>
          <a:ln/>
        </p:spPr>
        <p:txBody>
          <a:bodyPr/>
          <a:lstStyle/>
          <a:p>
            <a:endParaRPr lang="en-IN"/>
          </a:p>
        </p:txBody>
      </p:sp>
      <p:sp>
        <p:nvSpPr>
          <p:cNvPr id="8" name="text-37"/>
          <p:cNvSpPr txBox="1"/>
          <p:nvPr/>
        </p:nvSpPr>
        <p:spPr>
          <a:xfrm>
            <a:off x="5257800" y="1554480"/>
            <a:ext cx="6126480" cy="365760"/>
          </a:xfrm>
          <a:prstGeom prst="rect">
            <a:avLst/>
          </a:prstGeom>
          <a:noFill/>
          <a:ln/>
        </p:spPr>
        <p:txBody>
          <a:bodyPr wrap="square" lIns="0" tIns="0" rIns="0" bIns="0" rtlCol="0" anchor="t"/>
          <a:lstStyle/>
          <a:p>
            <a:pPr marL="0" indent="0">
              <a:buNone/>
            </a:pPr>
            <a:r>
              <a:rPr lang="en-US" sz="1700" b="1" dirty="0">
                <a:solidFill>
                  <a:schemeClr val="accent1"/>
                </a:solidFill>
              </a:rPr>
              <a:t>Residuals assembled by FEniCSx (solver.py)</a:t>
            </a:r>
            <a:endParaRPr lang="en-US" sz="1700" dirty="0"/>
          </a:p>
        </p:txBody>
      </p:sp>
      <mc:AlternateContent xmlns:mc="http://schemas.openxmlformats.org/markup-compatibility/2006" xmlns:a14="http://schemas.microsoft.com/office/drawing/2010/main">
        <mc:Choice Requires="a14">
          <p:sp>
            <p:nvSpPr>
              <p:cNvPr id="9" name="latex-w0"/>
              <p:cNvSpPr txBox="1"/>
              <p:nvPr/>
            </p:nvSpPr>
            <p:spPr>
              <a:xfrm>
                <a:off x="5257800" y="2057400"/>
                <a:ext cx="6172200" cy="759592"/>
              </a:xfrm>
              <a:prstGeom prst="rect">
                <a:avLst/>
              </a:prstGeom>
              <a:noFill/>
              <a:ln/>
            </p:spPr>
            <p:txBody>
              <a:bodyPr wrap="square" lIns="0" tIns="0" rIns="0" bIns="0" rtlCol="0" anchor="ctr">
                <a:noAutofit/>
              </a:bodyPr>
              <a:lstStyle/>
              <a:p>
                <a:pPr marL="0" indent="0">
                  <a:buNone/>
                </a:pPr>
                <a14:m>
                  <m:oMathPara xmlns:m="http://schemas.openxmlformats.org/officeDocument/2006/math">
                    <m:oMathParaPr>
                      <m:jc m:val="left"/>
                    </m:oMathParaPr>
                    <m:oMath>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𝐹</m:t>
                          </m:r>
                        </m:e>
                        <m:sub>
                          <m:r>
                            <a:rPr lang="en-US" sz="1600" i="0" dirty="0">
                              <a:solidFill>
                                <a:schemeClr val="tx1"/>
                              </a:solidFill>
                              <a:latin typeface="Cambria Math" panose="02040503050406030204" pitchFamily="18" charset="0"/>
                            </a:rPr>
                            <m:t>0</m:t>
                          </m:r>
                        </m:sub>
                      </m:sSub>
                      <m:r>
                        <a:rPr lang="en-US" sz="1600" i="0" dirty="0">
                          <a:solidFill>
                            <a:schemeClr val="tx1"/>
                          </a:solidFill>
                          <a:latin typeface="Cambria Math" panose="02040503050406030204" pitchFamily="18" charset="0"/>
                        </a:rPr>
                        <m:t>=</m:t>
                      </m:r>
                      <m:nary>
                        <m:naryPr>
                          <m:limLoc m:val="subSup"/>
                          <m:ctrlPr>
                            <a:rPr lang="en-US" sz="1600" i="0" dirty="0">
                              <a:solidFill>
                                <a:schemeClr val="tx1"/>
                              </a:solidFill>
                              <a:latin typeface="Cambria Math" panose="02040503050406030204" pitchFamily="18" charset="0"/>
                            </a:rPr>
                          </m:ctrlPr>
                        </m:naryPr>
                        <m:sub>
                          <m:r>
                            <a:rPr lang="en-US" sz="1600" i="0" dirty="0">
                              <a:solidFill>
                                <a:schemeClr val="tx1"/>
                              </a:solidFill>
                              <a:latin typeface="Cambria Math" panose="02040503050406030204" pitchFamily="18" charset="0"/>
                            </a:rPr>
                            <m:t>0</m:t>
                          </m:r>
                        </m:sub>
                        <m:sup>
                          <m:r>
                            <a:rPr lang="en-US" sz="1600" i="1" dirty="0">
                              <a:solidFill>
                                <a:schemeClr val="tx1"/>
                              </a:solidFill>
                              <a:latin typeface="Cambria Math" panose="02040503050406030204" pitchFamily="18" charset="0"/>
                            </a:rPr>
                            <m:t>𝐿</m:t>
                          </m:r>
                        </m:sup>
                        <m:e>
                          <m:d>
                            <m:dPr>
                              <m:ctrlPr>
                                <a:rPr lang="en-US" sz="1600" i="1" dirty="0">
                                  <a:solidFill>
                                    <a:schemeClr val="tx1"/>
                                  </a:solidFill>
                                  <a:latin typeface="Cambria Math" panose="02040503050406030204" pitchFamily="18" charset="0"/>
                                </a:rPr>
                              </m:ctrlPr>
                            </m:dPr>
                            <m:e>
                              <m:r>
                                <a:rPr lang="en-US" sz="1600" i="1" dirty="0">
                                  <a:solidFill>
                                    <a:schemeClr val="tx1"/>
                                  </a:solidFill>
                                  <a:latin typeface="Cambria Math" panose="02040503050406030204" pitchFamily="18" charset="0"/>
                                </a:rPr>
                                <m:t>𝜃</m:t>
                              </m:r>
                              <m:r>
                                <a:rPr lang="en-US" sz="1600" i="0" dirty="0">
                                  <a:solidFill>
                                    <a:schemeClr val="tx1"/>
                                  </a:solidFill>
                                  <a:latin typeface="Cambria Math" panose="02040503050406030204" pitchFamily="18" charset="0"/>
                                </a:rPr>
                                <m:t>′</m:t>
                              </m:r>
                              <m:r>
                                <a:rPr lang="en-US" sz="1600" i="1" dirty="0">
                                  <a:solidFill>
                                    <a:schemeClr val="tx1"/>
                                  </a:solidFill>
                                  <a:latin typeface="Cambria Math" panose="02040503050406030204" pitchFamily="18" charset="0"/>
                                </a:rPr>
                                <m:t>𝑣</m:t>
                              </m:r>
                              <m:r>
                                <a:rPr lang="en-US" sz="1600" i="0"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𝑥</m:t>
                                  </m:r>
                                </m:sub>
                              </m:sSub>
                              <m:func>
                                <m:funcPr>
                                  <m:ctrlPr>
                                    <a:rPr lang="en-US" sz="1600" i="0" dirty="0">
                                      <a:solidFill>
                                        <a:schemeClr val="tx1"/>
                                      </a:solidFill>
                                      <a:latin typeface="Cambria Math" panose="02040503050406030204" pitchFamily="18" charset="0"/>
                                    </a:rPr>
                                  </m:ctrlPr>
                                </m:funcPr>
                                <m:fName>
                                  <m:r>
                                    <m:rPr>
                                      <m:sty m:val="p"/>
                                    </m:rPr>
                                    <a:rPr lang="en-US" sz="1600" i="0" dirty="0">
                                      <a:solidFill>
                                        <a:schemeClr val="tx1"/>
                                      </a:solidFill>
                                      <a:latin typeface="Cambria Math" panose="02040503050406030204" pitchFamily="18" charset="0"/>
                                    </a:rPr>
                                    <m:t>sin</m:t>
                                  </m:r>
                                </m:fName>
                                <m:e>
                                  <m:r>
                                    <a:rPr lang="en-US" sz="1600" i="1" dirty="0">
                                      <a:solidFill>
                                        <a:schemeClr val="tx1"/>
                                      </a:solidFill>
                                      <a:latin typeface="Cambria Math" panose="02040503050406030204" pitchFamily="18" charset="0"/>
                                    </a:rPr>
                                    <m:t>𝜃</m:t>
                                  </m:r>
                                </m:e>
                              </m:func>
                              <m:r>
                                <a:rPr lang="en-US" sz="1600" i="0"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𝑣</m:t>
                              </m:r>
                              <m:r>
                                <a:rPr lang="en-US" sz="1600" i="0"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𝑦</m:t>
                                  </m:r>
                                </m:sub>
                              </m:sSub>
                              <m:func>
                                <m:funcPr>
                                  <m:ctrlPr>
                                    <a:rPr lang="en-US" sz="1600" i="0" dirty="0">
                                      <a:solidFill>
                                        <a:schemeClr val="tx1"/>
                                      </a:solidFill>
                                      <a:latin typeface="Cambria Math" panose="02040503050406030204" pitchFamily="18" charset="0"/>
                                    </a:rPr>
                                  </m:ctrlPr>
                                </m:funcPr>
                                <m:fName>
                                  <m:r>
                                    <m:rPr>
                                      <m:sty m:val="p"/>
                                    </m:rPr>
                                    <a:rPr lang="en-US" sz="1600" i="0" dirty="0">
                                      <a:solidFill>
                                        <a:schemeClr val="tx1"/>
                                      </a:solidFill>
                                      <a:latin typeface="Cambria Math" panose="02040503050406030204" pitchFamily="18" charset="0"/>
                                    </a:rPr>
                                    <m:t>cos</m:t>
                                  </m:r>
                                </m:fName>
                                <m:e>
                                  <m:r>
                                    <a:rPr lang="en-US" sz="1600" i="1" dirty="0">
                                      <a:solidFill>
                                        <a:schemeClr val="tx1"/>
                                      </a:solidFill>
                                      <a:latin typeface="Cambria Math" panose="02040503050406030204" pitchFamily="18" charset="0"/>
                                    </a:rPr>
                                    <m:t>𝜃</m:t>
                                  </m:r>
                                </m:e>
                              </m:func>
                              <m:r>
                                <a:rPr lang="en-US" sz="1600" i="0"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𝑣</m:t>
                              </m:r>
                            </m:e>
                          </m:d>
                        </m:e>
                      </m:nary>
                      <m:r>
                        <a:rPr lang="en-US" sz="1600" i="1" dirty="0">
                          <a:solidFill>
                            <a:schemeClr val="tx1"/>
                          </a:solidFill>
                          <a:latin typeface="Cambria Math" panose="02040503050406030204" pitchFamily="18" charset="0"/>
                        </a:rPr>
                        <m:t>𝑑𝑠</m:t>
                      </m:r>
                      <m:r>
                        <a:rPr lang="en-US" sz="1600" i="0" dirty="0">
                          <a:solidFill>
                            <a:schemeClr val="tx1"/>
                          </a:solidFill>
                          <a:latin typeface="Cambria Math" panose="02040503050406030204" pitchFamily="18" charset="0"/>
                        </a:rPr>
                        <m:t>=0 ∀</m:t>
                      </m:r>
                      <m:r>
                        <a:rPr lang="en-US" sz="1600" i="1" dirty="0">
                          <a:solidFill>
                            <a:schemeClr val="tx1"/>
                          </a:solidFill>
                          <a:latin typeface="Cambria Math" panose="02040503050406030204" pitchFamily="18" charset="0"/>
                        </a:rPr>
                        <m:t>𝑣</m:t>
                      </m:r>
                      <m:r>
                        <a:rPr lang="en-US" sz="1600" i="0"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𝑉</m:t>
                          </m:r>
                        </m:e>
                        <m:sub>
                          <m:r>
                            <a:rPr lang="en-US" sz="1600" i="0" dirty="0">
                              <a:solidFill>
                                <a:schemeClr val="tx1"/>
                              </a:solidFill>
                              <a:latin typeface="Cambria Math" panose="02040503050406030204" pitchFamily="18" charset="0"/>
                            </a:rPr>
                            <m:t>0</m:t>
                          </m:r>
                        </m:sub>
                      </m:sSub>
                    </m:oMath>
                  </m:oMathPara>
                </a14:m>
                <a:endParaRPr lang="en-US" sz="1600" dirty="0"/>
              </a:p>
            </p:txBody>
          </p:sp>
        </mc:Choice>
        <mc:Fallback xmlns="">
          <p:sp>
            <p:nvSpPr>
              <p:cNvPr id="9" name="latex-w0"/>
              <p:cNvSpPr txBox="1">
                <a:spLocks noRot="1" noChangeAspect="1" noMove="1" noResize="1" noEditPoints="1" noAdjustHandles="1" noChangeArrowheads="1" noChangeShapeType="1" noTextEdit="1"/>
              </p:cNvSpPr>
              <p:nvPr/>
            </p:nvSpPr>
            <p:spPr>
              <a:xfrm>
                <a:off x="5257800" y="2057400"/>
                <a:ext cx="6172200" cy="759592"/>
              </a:xfrm>
              <a:prstGeom prst="rect">
                <a:avLst/>
              </a:prstGeom>
              <a:blipFill>
                <a:blip r:embed="rId4"/>
                <a:stretch>
                  <a:fillRect/>
                </a:stretch>
              </a:blipFill>
              <a:ln/>
            </p:spPr>
            <p:txBody>
              <a:bodyPr/>
              <a:lstStyle/>
              <a:p>
                <a:r>
                  <a:rPr lang="en-IN">
                    <a:noFill/>
                  </a:rPr>
                  <a:t> </a:t>
                </a:r>
              </a:p>
            </p:txBody>
          </p:sp>
        </mc:Fallback>
      </mc:AlternateContent>
      <mc:AlternateContent xmlns:mc="http://schemas.openxmlformats.org/markup-compatibility/2006" xmlns:a14="http://schemas.microsoft.com/office/drawing/2010/main">
        <mc:Choice Requires="a14">
          <p:sp>
            <p:nvSpPr>
              <p:cNvPr id="10" name="latex-w1"/>
              <p:cNvSpPr txBox="1"/>
              <p:nvPr/>
            </p:nvSpPr>
            <p:spPr>
              <a:xfrm>
                <a:off x="5257800" y="2926080"/>
                <a:ext cx="6172200" cy="759592"/>
              </a:xfrm>
              <a:prstGeom prst="rect">
                <a:avLst/>
              </a:prstGeom>
              <a:noFill/>
              <a:ln/>
            </p:spPr>
            <p:txBody>
              <a:bodyPr wrap="square" lIns="0" tIns="0" rIns="0" bIns="0" rtlCol="0" anchor="ctr">
                <a:noAutofit/>
              </a:bodyPr>
              <a:lstStyle/>
              <a:p>
                <a:pPr marL="0" indent="0">
                  <a:buNone/>
                </a:pPr>
                <a14:m>
                  <m:oMathPara xmlns:m="http://schemas.openxmlformats.org/officeDocument/2006/math">
                    <m:oMathParaPr>
                      <m:jc m:val="left"/>
                    </m:oMathParaPr>
                    <m:oMath>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𝐹</m:t>
                          </m:r>
                        </m:e>
                        <m:sub>
                          <m:r>
                            <a:rPr lang="en-US" sz="1600" i="0" dirty="0">
                              <a:solidFill>
                                <a:schemeClr val="tx1"/>
                              </a:solidFill>
                              <a:latin typeface="Cambria Math" panose="02040503050406030204" pitchFamily="18" charset="0"/>
                            </a:rPr>
                            <m:t>1</m:t>
                          </m:r>
                        </m:sub>
                      </m:sSub>
                      <m:r>
                        <a:rPr lang="en-US" sz="1600" i="0" dirty="0">
                          <a:solidFill>
                            <a:schemeClr val="tx1"/>
                          </a:solidFill>
                          <a:latin typeface="Cambria Math" panose="02040503050406030204" pitchFamily="18" charset="0"/>
                        </a:rPr>
                        <m:t>=</m:t>
                      </m:r>
                      <m:nary>
                        <m:naryPr>
                          <m:limLoc m:val="subSup"/>
                          <m:ctrlPr>
                            <a:rPr lang="en-US" sz="1600" i="0" dirty="0">
                              <a:solidFill>
                                <a:schemeClr val="tx1"/>
                              </a:solidFill>
                              <a:latin typeface="Cambria Math" panose="02040503050406030204" pitchFamily="18" charset="0"/>
                            </a:rPr>
                          </m:ctrlPr>
                        </m:naryPr>
                        <m:sub>
                          <m:r>
                            <a:rPr lang="en-US" sz="1600" i="0" dirty="0">
                              <a:solidFill>
                                <a:schemeClr val="tx1"/>
                              </a:solidFill>
                              <a:latin typeface="Cambria Math" panose="02040503050406030204" pitchFamily="18" charset="0"/>
                            </a:rPr>
                            <m:t>0</m:t>
                          </m:r>
                        </m:sub>
                        <m:sup>
                          <m:r>
                            <a:rPr lang="en-US" sz="1600" i="1" dirty="0">
                              <a:solidFill>
                                <a:schemeClr val="tx1"/>
                              </a:solidFill>
                              <a:latin typeface="Cambria Math" panose="02040503050406030204" pitchFamily="18" charset="0"/>
                            </a:rPr>
                            <m:t>𝐿</m:t>
                          </m:r>
                        </m:sup>
                        <m:e>
                          <m:d>
                            <m:dPr>
                              <m:ctrlPr>
                                <a:rPr lang="en-US" sz="1600" i="1" dirty="0">
                                  <a:solidFill>
                                    <a:schemeClr val="tx1"/>
                                  </a:solidFill>
                                  <a:latin typeface="Cambria Math" panose="02040503050406030204" pitchFamily="18" charset="0"/>
                                </a:rPr>
                              </m:ctrlPr>
                            </m:dPr>
                            <m:e>
                              <m:func>
                                <m:funcPr>
                                  <m:ctrlPr>
                                    <a:rPr lang="en-US" sz="1600" i="0" dirty="0">
                                      <a:solidFill>
                                        <a:schemeClr val="tx1"/>
                                      </a:solidFill>
                                      <a:latin typeface="Cambria Math" panose="02040503050406030204" pitchFamily="18" charset="0"/>
                                    </a:rPr>
                                  </m:ctrlPr>
                                </m:funcPr>
                                <m:fName>
                                  <m:r>
                                    <m:rPr>
                                      <m:sty m:val="p"/>
                                    </m:rPr>
                                    <a:rPr lang="en-US" sz="1600" i="0" dirty="0">
                                      <a:solidFill>
                                        <a:schemeClr val="tx1"/>
                                      </a:solidFill>
                                      <a:latin typeface="Cambria Math" panose="02040503050406030204" pitchFamily="18" charset="0"/>
                                    </a:rPr>
                                    <m:t>cos</m:t>
                                  </m:r>
                                </m:fName>
                                <m:e>
                                  <m:r>
                                    <a:rPr lang="en-US" sz="1600" i="1" dirty="0">
                                      <a:solidFill>
                                        <a:schemeClr val="tx1"/>
                                      </a:solidFill>
                                      <a:latin typeface="Cambria Math" panose="02040503050406030204" pitchFamily="18" charset="0"/>
                                    </a:rPr>
                                    <m:t>𝜃</m:t>
                                  </m:r>
                                </m:e>
                              </m:func>
                              <m:r>
                                <a:rPr lang="en-US" sz="1600" i="0" dirty="0">
                                  <a:solidFill>
                                    <a:schemeClr val="tx1"/>
                                  </a:solidFill>
                                  <a:latin typeface="Cambria Math" panose="02040503050406030204" pitchFamily="18" charset="0"/>
                                </a:rPr>
                                <m:t>−</m:t>
                              </m:r>
                              <m:r>
                                <a:rPr lang="en-US" sz="1600" i="1" dirty="0">
                                  <a:solidFill>
                                    <a:schemeClr val="tx1"/>
                                  </a:solidFill>
                                  <a:latin typeface="Cambria Math" panose="02040503050406030204" pitchFamily="18" charset="0"/>
                                </a:rPr>
                                <m:t>𝑑</m:t>
                              </m:r>
                            </m:e>
                          </m:d>
                        </m:e>
                      </m:nary>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𝑞</m:t>
                          </m:r>
                        </m:e>
                        <m:sub>
                          <m:r>
                            <a:rPr lang="en-US" sz="1600" i="1" dirty="0">
                              <a:solidFill>
                                <a:schemeClr val="tx1"/>
                              </a:solidFill>
                              <a:latin typeface="Cambria Math" panose="02040503050406030204" pitchFamily="18" charset="0"/>
                            </a:rPr>
                            <m:t>𝑥</m:t>
                          </m:r>
                        </m:sub>
                      </m:sSub>
                      <m:r>
                        <a:rPr lang="en-US" sz="1600" i="0"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𝑑𝑠</m:t>
                      </m:r>
                      <m:r>
                        <a:rPr lang="en-US" sz="1600" i="0" dirty="0">
                          <a:solidFill>
                            <a:schemeClr val="tx1"/>
                          </a:solidFill>
                          <a:latin typeface="Cambria Math" panose="02040503050406030204" pitchFamily="18" charset="0"/>
                        </a:rPr>
                        <m:t>=0</m:t>
                      </m:r>
                    </m:oMath>
                  </m:oMathPara>
                </a14:m>
                <a:endParaRPr lang="en-US" sz="1600" dirty="0"/>
              </a:p>
            </p:txBody>
          </p:sp>
        </mc:Choice>
        <mc:Fallback xmlns="">
          <p:sp>
            <p:nvSpPr>
              <p:cNvPr id="10" name="latex-w1"/>
              <p:cNvSpPr txBox="1">
                <a:spLocks noRot="1" noChangeAspect="1" noMove="1" noResize="1" noEditPoints="1" noAdjustHandles="1" noChangeArrowheads="1" noChangeShapeType="1" noTextEdit="1"/>
              </p:cNvSpPr>
              <p:nvPr/>
            </p:nvSpPr>
            <p:spPr>
              <a:xfrm>
                <a:off x="5257800" y="2926080"/>
                <a:ext cx="6172200" cy="759592"/>
              </a:xfrm>
              <a:prstGeom prst="rect">
                <a:avLst/>
              </a:prstGeom>
              <a:blipFill>
                <a:blip r:embed="rId5"/>
                <a:stretch>
                  <a:fillRect/>
                </a:stretch>
              </a:blipFill>
              <a:ln/>
            </p:spPr>
            <p:txBody>
              <a:bodyPr/>
              <a:lstStyle/>
              <a:p>
                <a:r>
                  <a:rPr lang="en-IN">
                    <a:noFill/>
                  </a:rPr>
                  <a:t> </a:t>
                </a:r>
              </a:p>
            </p:txBody>
          </p:sp>
        </mc:Fallback>
      </mc:AlternateContent>
      <mc:AlternateContent xmlns:mc="http://schemas.openxmlformats.org/markup-compatibility/2006" xmlns:a14="http://schemas.microsoft.com/office/drawing/2010/main">
        <mc:Choice Requires="a14">
          <p:sp>
            <p:nvSpPr>
              <p:cNvPr id="11" name="latex-w2"/>
              <p:cNvSpPr txBox="1"/>
              <p:nvPr/>
            </p:nvSpPr>
            <p:spPr>
              <a:xfrm>
                <a:off x="5257800" y="3794760"/>
                <a:ext cx="6172200" cy="759592"/>
              </a:xfrm>
              <a:prstGeom prst="rect">
                <a:avLst/>
              </a:prstGeom>
              <a:noFill/>
              <a:ln/>
            </p:spPr>
            <p:txBody>
              <a:bodyPr wrap="square" lIns="0" tIns="0" rIns="0" bIns="0" rtlCol="0" anchor="ctr">
                <a:noAutofit/>
              </a:bodyPr>
              <a:lstStyle/>
              <a:p>
                <a:pPr marL="0" indent="0">
                  <a:buNone/>
                </a:pPr>
                <a14:m>
                  <m:oMathPara xmlns:m="http://schemas.openxmlformats.org/officeDocument/2006/math">
                    <m:oMathParaPr>
                      <m:jc m:val="left"/>
                    </m:oMathParaPr>
                    <m:oMath>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𝐹</m:t>
                          </m:r>
                        </m:e>
                        <m:sub>
                          <m:r>
                            <a:rPr lang="en-US" sz="1600" i="0" dirty="0">
                              <a:solidFill>
                                <a:schemeClr val="tx1"/>
                              </a:solidFill>
                              <a:latin typeface="Cambria Math" panose="02040503050406030204" pitchFamily="18" charset="0"/>
                            </a:rPr>
                            <m:t>2</m:t>
                          </m:r>
                        </m:sub>
                      </m:sSub>
                      <m:r>
                        <a:rPr lang="en-US" sz="1600" i="0" dirty="0">
                          <a:solidFill>
                            <a:schemeClr val="tx1"/>
                          </a:solidFill>
                          <a:latin typeface="Cambria Math" panose="02040503050406030204" pitchFamily="18" charset="0"/>
                        </a:rPr>
                        <m:t>=</m:t>
                      </m:r>
                      <m:nary>
                        <m:naryPr>
                          <m:limLoc m:val="subSup"/>
                          <m:ctrlPr>
                            <a:rPr lang="en-US" sz="1600" i="0" dirty="0">
                              <a:solidFill>
                                <a:schemeClr val="tx1"/>
                              </a:solidFill>
                              <a:latin typeface="Cambria Math" panose="02040503050406030204" pitchFamily="18" charset="0"/>
                            </a:rPr>
                          </m:ctrlPr>
                        </m:naryPr>
                        <m:sub>
                          <m:r>
                            <a:rPr lang="en-US" sz="1600" i="0" dirty="0">
                              <a:solidFill>
                                <a:schemeClr val="tx1"/>
                              </a:solidFill>
                              <a:latin typeface="Cambria Math" panose="02040503050406030204" pitchFamily="18" charset="0"/>
                            </a:rPr>
                            <m:t>0</m:t>
                          </m:r>
                        </m:sub>
                        <m:sup>
                          <m:r>
                            <a:rPr lang="en-US" sz="1600" i="1" dirty="0">
                              <a:solidFill>
                                <a:schemeClr val="tx1"/>
                              </a:solidFill>
                              <a:latin typeface="Cambria Math" panose="02040503050406030204" pitchFamily="18" charset="0"/>
                            </a:rPr>
                            <m:t>𝐿</m:t>
                          </m:r>
                        </m:sup>
                        <m:e>
                          <m:func>
                            <m:funcPr>
                              <m:ctrlPr>
                                <a:rPr lang="en-US" sz="1600" i="0" dirty="0">
                                  <a:solidFill>
                                    <a:schemeClr val="tx1"/>
                                  </a:solidFill>
                                  <a:latin typeface="Cambria Math" panose="02040503050406030204" pitchFamily="18" charset="0"/>
                                </a:rPr>
                              </m:ctrlPr>
                            </m:funcPr>
                            <m:fName>
                              <m:r>
                                <m:rPr>
                                  <m:sty m:val="p"/>
                                </m:rPr>
                                <a:rPr lang="en-US" sz="1600" i="0" dirty="0">
                                  <a:solidFill>
                                    <a:schemeClr val="tx1"/>
                                  </a:solidFill>
                                  <a:latin typeface="Cambria Math" panose="02040503050406030204" pitchFamily="18" charset="0"/>
                                </a:rPr>
                                <m:t>sin</m:t>
                              </m:r>
                            </m:fName>
                            <m:e>
                              <m:r>
                                <a:rPr lang="en-US" sz="1600" i="1" dirty="0">
                                  <a:solidFill>
                                    <a:schemeClr val="tx1"/>
                                  </a:solidFill>
                                  <a:latin typeface="Cambria Math" panose="02040503050406030204" pitchFamily="18" charset="0"/>
                                </a:rPr>
                                <m:t>𝜃</m:t>
                              </m:r>
                            </m:e>
                          </m:func>
                        </m:e>
                      </m:nary>
                      <m:r>
                        <a:rPr lang="en-US" sz="1600" i="0" dirty="0">
                          <a:solidFill>
                            <a:schemeClr val="tx1"/>
                          </a:solidFill>
                          <a:latin typeface="Cambria Math" panose="02040503050406030204" pitchFamily="18" charset="0"/>
                        </a:rPr>
                        <m:t> </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𝑞</m:t>
                          </m:r>
                        </m:e>
                        <m:sub>
                          <m:r>
                            <a:rPr lang="en-US" sz="1600" i="1" dirty="0">
                              <a:solidFill>
                                <a:schemeClr val="tx1"/>
                              </a:solidFill>
                              <a:latin typeface="Cambria Math" panose="02040503050406030204" pitchFamily="18" charset="0"/>
                            </a:rPr>
                            <m:t>𝑦</m:t>
                          </m:r>
                        </m:sub>
                      </m:sSub>
                      <m:r>
                        <a:rPr lang="en-US" sz="1600" i="0"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𝑑𝑠</m:t>
                      </m:r>
                      <m:r>
                        <a:rPr lang="en-US" sz="1600" i="0" dirty="0">
                          <a:solidFill>
                            <a:schemeClr val="tx1"/>
                          </a:solidFill>
                          <a:latin typeface="Cambria Math" panose="02040503050406030204" pitchFamily="18" charset="0"/>
                        </a:rPr>
                        <m:t>=0</m:t>
                      </m:r>
                    </m:oMath>
                  </m:oMathPara>
                </a14:m>
                <a:endParaRPr lang="en-US" sz="1600" dirty="0"/>
              </a:p>
            </p:txBody>
          </p:sp>
        </mc:Choice>
        <mc:Fallback xmlns="">
          <p:sp>
            <p:nvSpPr>
              <p:cNvPr id="11" name="latex-w2"/>
              <p:cNvSpPr txBox="1">
                <a:spLocks noRot="1" noChangeAspect="1" noMove="1" noResize="1" noEditPoints="1" noAdjustHandles="1" noChangeArrowheads="1" noChangeShapeType="1" noTextEdit="1"/>
              </p:cNvSpPr>
              <p:nvPr/>
            </p:nvSpPr>
            <p:spPr>
              <a:xfrm>
                <a:off x="5257800" y="3794760"/>
                <a:ext cx="6172200" cy="759592"/>
              </a:xfrm>
              <a:prstGeom prst="rect">
                <a:avLst/>
              </a:prstGeom>
              <a:blipFill>
                <a:blip r:embed="rId6"/>
                <a:stretch>
                  <a:fillRect/>
                </a:stretch>
              </a:blipFill>
              <a:ln/>
            </p:spPr>
            <p:txBody>
              <a:bodyPr/>
              <a:lstStyle/>
              <a:p>
                <a:r>
                  <a:rPr lang="en-IN">
                    <a:noFill/>
                  </a:rPr>
                  <a:t> </a:t>
                </a:r>
              </a:p>
            </p:txBody>
          </p:sp>
        </mc:Fallback>
      </mc:AlternateContent>
      <p:sp>
        <p:nvSpPr>
          <p:cNvPr id="12" name="badge-41"/>
          <p:cNvSpPr/>
          <p:nvPr/>
        </p:nvSpPr>
        <p:spPr>
          <a:xfrm>
            <a:off x="548640" y="3429000"/>
            <a:ext cx="384048" cy="384048"/>
          </a:xfrm>
          <a:prstGeom prst="ellipse">
            <a:avLst/>
          </a:prstGeom>
          <a:solidFill>
            <a:schemeClr val="accent1"/>
          </a:solidFill>
          <a:ln/>
        </p:spPr>
        <p:txBody>
          <a:bodyPr/>
          <a:lstStyle/>
          <a:p>
            <a:endParaRPr lang="en-IN"/>
          </a:p>
        </p:txBody>
      </p:sp>
      <p:sp>
        <p:nvSpPr>
          <p:cNvPr id="13" name="badge-label-42"/>
          <p:cNvSpPr txBox="1"/>
          <p:nvPr/>
        </p:nvSpPr>
        <p:spPr>
          <a:xfrm>
            <a:off x="548640" y="34290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4" name="text-43"/>
          <p:cNvSpPr txBox="1"/>
          <p:nvPr/>
        </p:nvSpPr>
        <p:spPr>
          <a:xfrm>
            <a:off x="1097280" y="3401568"/>
            <a:ext cx="3657600" cy="438912"/>
          </a:xfrm>
          <a:prstGeom prst="rect">
            <a:avLst/>
          </a:prstGeom>
          <a:noFill/>
          <a:ln/>
        </p:spPr>
        <p:txBody>
          <a:bodyPr wrap="square" lIns="0" tIns="0" rIns="0" bIns="0" rtlCol="0" anchor="t"/>
          <a:lstStyle/>
          <a:p>
            <a:pPr marL="0" indent="0">
              <a:buNone/>
            </a:pPr>
            <a:r>
              <a:rPr lang="en-US" sz="1400" dirty="0">
                <a:solidFill>
                  <a:schemeClr val="tx1"/>
                </a:solidFill>
              </a:rPr>
              <a:t>θ ∈ P1 Lagrange on 200 elements, graded towards both clamps</a:t>
            </a:r>
          </a:p>
        </p:txBody>
      </p:sp>
      <p:sp>
        <p:nvSpPr>
          <p:cNvPr id="15" name="badge-44"/>
          <p:cNvSpPr/>
          <p:nvPr/>
        </p:nvSpPr>
        <p:spPr>
          <a:xfrm>
            <a:off x="548640" y="3959352"/>
            <a:ext cx="384048" cy="384048"/>
          </a:xfrm>
          <a:prstGeom prst="ellipse">
            <a:avLst/>
          </a:prstGeom>
          <a:solidFill>
            <a:schemeClr val="accent1"/>
          </a:solidFill>
          <a:ln/>
        </p:spPr>
        <p:txBody>
          <a:bodyPr/>
          <a:lstStyle/>
          <a:p>
            <a:endParaRPr lang="en-IN"/>
          </a:p>
        </p:txBody>
      </p:sp>
      <p:sp>
        <p:nvSpPr>
          <p:cNvPr id="16" name="badge-label-45"/>
          <p:cNvSpPr txBox="1"/>
          <p:nvPr/>
        </p:nvSpPr>
        <p:spPr>
          <a:xfrm>
            <a:off x="548640" y="39593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7" name="text-46"/>
          <p:cNvSpPr txBox="1"/>
          <p:nvPr/>
        </p:nvSpPr>
        <p:spPr>
          <a:xfrm>
            <a:off x="1097280" y="3931920"/>
            <a:ext cx="3657600" cy="438912"/>
          </a:xfrm>
          <a:prstGeom prst="rect">
            <a:avLst/>
          </a:prstGeom>
          <a:noFill/>
          <a:ln/>
        </p:spPr>
        <p:txBody>
          <a:bodyPr wrap="square" lIns="0" tIns="0" rIns="0" bIns="0" rtlCol="0" anchor="t"/>
          <a:lstStyle/>
          <a:p>
            <a:pPr marL="0" indent="0">
              <a:buNone/>
            </a:pPr>
            <a:r>
              <a:rPr lang="en-US" sz="1400" dirty="0">
                <a:solidFill>
                  <a:schemeClr val="tx1"/>
                </a:solidFill>
              </a:rPr>
              <a:t>f</a:t>
            </a:r>
            <a:r>
              <a:rPr lang="en-US" sz="1400" baseline="-40000" dirty="0">
                <a:solidFill>
                  <a:schemeClr val="tx1"/>
                </a:solidFill>
              </a:rPr>
              <a:t>x</a:t>
            </a:r>
            <a:r>
              <a:rPr lang="en-US" sz="1400" dirty="0">
                <a:solidFill>
                  <a:schemeClr val="tx1"/>
                </a:solidFill>
              </a:rPr>
              <a:t>, f</a:t>
            </a:r>
            <a:r>
              <a:rPr lang="en-US" sz="1400" baseline="-40000" dirty="0">
                <a:solidFill>
                  <a:schemeClr val="tx1"/>
                </a:solidFill>
              </a:rPr>
              <a:t>y</a:t>
            </a:r>
            <a:r>
              <a:rPr lang="en-US" sz="1400" dirty="0">
                <a:solidFill>
                  <a:schemeClr val="tx1"/>
                </a:solidFill>
              </a:rPr>
              <a:t> ∈ “Real” space: one global DOF each</a:t>
            </a:r>
            <a:endParaRPr lang="en-US" sz="1400" dirty="0"/>
          </a:p>
        </p:txBody>
      </p:sp>
      <p:sp>
        <p:nvSpPr>
          <p:cNvPr id="18" name="badge-47"/>
          <p:cNvSpPr/>
          <p:nvPr/>
        </p:nvSpPr>
        <p:spPr>
          <a:xfrm>
            <a:off x="548640" y="4489704"/>
            <a:ext cx="384048" cy="384048"/>
          </a:xfrm>
          <a:prstGeom prst="ellipse">
            <a:avLst/>
          </a:prstGeom>
          <a:solidFill>
            <a:schemeClr val="accent1"/>
          </a:solidFill>
          <a:ln/>
        </p:spPr>
        <p:txBody>
          <a:bodyPr/>
          <a:lstStyle/>
          <a:p>
            <a:endParaRPr lang="en-IN"/>
          </a:p>
        </p:txBody>
      </p:sp>
      <p:sp>
        <p:nvSpPr>
          <p:cNvPr id="19" name="badge-label-48"/>
          <p:cNvSpPr txBox="1"/>
          <p:nvPr/>
        </p:nvSpPr>
        <p:spPr>
          <a:xfrm>
            <a:off x="548640" y="4489704"/>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0" name="text-49"/>
          <p:cNvSpPr txBox="1"/>
          <p:nvPr/>
        </p:nvSpPr>
        <p:spPr>
          <a:xfrm>
            <a:off x="1097280" y="4462272"/>
            <a:ext cx="3657600" cy="438912"/>
          </a:xfrm>
          <a:prstGeom prst="rect">
            <a:avLst/>
          </a:prstGeom>
          <a:noFill/>
          <a:ln/>
        </p:spPr>
        <p:txBody>
          <a:bodyPr wrap="square" lIns="0" tIns="0" rIns="0" bIns="0" rtlCol="0" anchor="t"/>
          <a:lstStyle/>
          <a:p>
            <a:pPr marL="0" indent="0">
              <a:buNone/>
            </a:pPr>
            <a:r>
              <a:rPr lang="en-US" sz="1400" dirty="0">
                <a:solidFill>
                  <a:schemeClr val="tx1"/>
                </a:solidFill>
              </a:rPr>
              <a:t>Clamp angles imposed as Dirichlet BCs on θ</a:t>
            </a:r>
            <a:endParaRPr lang="en-US" sz="1400" dirty="0"/>
          </a:p>
        </p:txBody>
      </p:sp>
      <p:sp>
        <p:nvSpPr>
          <p:cNvPr id="21" name="card-50"/>
          <p:cNvSpPr/>
          <p:nvPr/>
        </p:nvSpPr>
        <p:spPr>
          <a:xfrm>
            <a:off x="548640" y="5166360"/>
            <a:ext cx="11064240" cy="1097280"/>
          </a:xfrm>
          <a:prstGeom prst="roundRect">
            <a:avLst>
              <a:gd name="adj" fmla="val 6667"/>
            </a:avLst>
          </a:prstGeom>
          <a:solidFill>
            <a:schemeClr val="bg2"/>
          </a:solidFill>
          <a:ln/>
        </p:spPr>
        <p:txBody>
          <a:bodyPr/>
          <a:lstStyle/>
          <a:p>
            <a:endParaRPr lang="en-IN"/>
          </a:p>
        </p:txBody>
      </p:sp>
      <p:sp>
        <p:nvSpPr>
          <p:cNvPr id="22" name="text-51"/>
          <p:cNvSpPr txBox="1"/>
          <p:nvPr/>
        </p:nvSpPr>
        <p:spPr>
          <a:xfrm>
            <a:off x="777240" y="5440680"/>
            <a:ext cx="2743200" cy="548640"/>
          </a:xfrm>
          <a:prstGeom prst="rect">
            <a:avLst/>
          </a:prstGeom>
          <a:noFill/>
          <a:ln/>
        </p:spPr>
        <p:txBody>
          <a:bodyPr wrap="square" lIns="0" tIns="0" rIns="0" bIns="0" rtlCol="0" anchor="t"/>
          <a:lstStyle/>
          <a:p>
            <a:pPr marL="0" indent="0">
              <a:buNone/>
            </a:pPr>
            <a:r>
              <a:rPr lang="en-US" sz="1700" b="1" dirty="0">
                <a:solidFill>
                  <a:schemeClr val="accent1"/>
                </a:solidFill>
              </a:rPr>
              <a:t>Post-processed per point</a:t>
            </a:r>
            <a:endParaRPr lang="en-US" sz="1700" dirty="0"/>
          </a:p>
        </p:txBody>
      </p:sp>
      <mc:AlternateContent xmlns:mc="http://schemas.openxmlformats.org/markup-compatibility/2006" xmlns:a14="http://schemas.microsoft.com/office/drawing/2010/main">
        <mc:Choice Requires="a14">
          <p:sp>
            <p:nvSpPr>
              <p:cNvPr id="401" name="latex-outputs"/>
              <p:cNvSpPr txBox="1"/>
              <p:nvPr/>
            </p:nvSpPr>
            <p:spPr>
              <a:xfrm>
                <a:off x="3657600" y="5230368"/>
                <a:ext cx="3986030" cy="566928"/>
              </a:xfrm>
              <a:prstGeom prst="rect">
                <a:avLst/>
              </a:prstGeom>
              <a:noFill/>
            </p:spPr>
            <p:txBody>
              <a:bodyPr wrap="none" lIns="0" tIns="0" rIns="0" bIns="0" rtlCol="0" anchor="ctr">
                <a:noAutofit/>
              </a:bodyPr>
              <a:lstStyle/>
              <a:p>
                <a:pPr marL="0" indent="0">
                  <a:buNone/>
                </a:pPr>
                <a14:m>
                  <m:oMathPara xmlns:m="http://schemas.openxmlformats.org/officeDocument/2006/math">
                    <m:oMathParaPr>
                      <m:jc m:val="left"/>
                    </m:oMathParaPr>
                    <m:oMath>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𝑀</m:t>
                          </m:r>
                        </m:e>
                        <m:sub>
                          <m:r>
                            <a:rPr lang="en-US" sz="1600" i="1" dirty="0">
                              <a:solidFill>
                                <a:schemeClr val="tx1"/>
                              </a:solidFill>
                              <a:latin typeface="Cambria Math" panose="02040503050406030204" pitchFamily="18" charset="0"/>
                            </a:rPr>
                            <m:t>1</m:t>
                          </m:r>
                        </m:sub>
                      </m:sSub>
                      <m:r>
                        <a:rPr lang="en-US" sz="1600" i="1" dirty="0">
                          <a:solidFill>
                            <a:schemeClr val="tx1"/>
                          </a:solidFill>
                          <a:latin typeface="Cambria Math" panose="02040503050406030204" pitchFamily="18" charset="0"/>
                        </a:rPr>
                        <m:t>=</m:t>
                      </m:r>
                      <m:sSup>
                        <m:sSupPr>
                          <m:ctrlPr>
                            <a:rPr lang="en-US" sz="1600" i="1" dirty="0">
                              <a:solidFill>
                                <a:schemeClr val="tx1"/>
                              </a:solidFill>
                              <a:latin typeface="Cambria Math" panose="02040503050406030204" pitchFamily="18" charset="0"/>
                            </a:rPr>
                          </m:ctrlPr>
                        </m:sSupPr>
                        <m:e>
                          <m:r>
                            <a:rPr lang="en-US" sz="1600" i="1" dirty="0">
                              <a:solidFill>
                                <a:schemeClr val="tx1"/>
                              </a:solidFill>
                              <a:latin typeface="Cambria Math" panose="02040503050406030204" pitchFamily="18" charset="0"/>
                            </a:rPr>
                            <m:t>𝜃</m:t>
                          </m:r>
                        </m:e>
                        <m:sup>
                          <m:r>
                            <a:rPr lang="en-US" sz="1600" i="1" dirty="0">
                              <a:solidFill>
                                <a:schemeClr val="tx1"/>
                              </a:solidFill>
                              <a:latin typeface="Cambria Math" panose="02040503050406030204" pitchFamily="18" charset="0"/>
                            </a:rPr>
                            <m:t>′</m:t>
                          </m:r>
                        </m:sup>
                      </m:sSup>
                      <m:r>
                        <a:rPr lang="en-US" sz="1600" i="1" dirty="0">
                          <a:solidFill>
                            <a:schemeClr val="tx1"/>
                          </a:solidFill>
                          <a:latin typeface="Cambria Math" panose="02040503050406030204" pitchFamily="18" charset="0"/>
                        </a:rPr>
                        <m:t>(0), </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𝑀</m:t>
                          </m:r>
                        </m:e>
                        <m:sub>
                          <m:r>
                            <a:rPr lang="en-US" sz="1600" i="1" dirty="0">
                              <a:solidFill>
                                <a:schemeClr val="tx1"/>
                              </a:solidFill>
                              <a:latin typeface="Cambria Math" panose="02040503050406030204" pitchFamily="18" charset="0"/>
                            </a:rPr>
                            <m:t>2</m:t>
                          </m:r>
                        </m:sub>
                      </m:sSub>
                      <m:r>
                        <a:rPr lang="en-US" sz="1600" i="1" dirty="0">
                          <a:solidFill>
                            <a:schemeClr val="tx1"/>
                          </a:solidFill>
                          <a:latin typeface="Cambria Math" panose="02040503050406030204" pitchFamily="18" charset="0"/>
                        </a:rPr>
                        <m:t>=</m:t>
                      </m:r>
                      <m:sSup>
                        <m:sSupPr>
                          <m:ctrlPr>
                            <a:rPr lang="en-US" sz="1600" i="1" dirty="0">
                              <a:solidFill>
                                <a:schemeClr val="tx1"/>
                              </a:solidFill>
                              <a:latin typeface="Cambria Math" panose="02040503050406030204" pitchFamily="18" charset="0"/>
                            </a:rPr>
                          </m:ctrlPr>
                        </m:sSupPr>
                        <m:e>
                          <m:r>
                            <a:rPr lang="en-US" sz="1600" i="1" dirty="0">
                              <a:solidFill>
                                <a:schemeClr val="tx1"/>
                              </a:solidFill>
                              <a:latin typeface="Cambria Math" panose="02040503050406030204" pitchFamily="18" charset="0"/>
                            </a:rPr>
                            <m:t>𝜃</m:t>
                          </m:r>
                        </m:e>
                        <m:sup>
                          <m:r>
                            <a:rPr lang="en-US" sz="1600" i="1" dirty="0">
                              <a:solidFill>
                                <a:schemeClr val="tx1"/>
                              </a:solidFill>
                              <a:latin typeface="Cambria Math" panose="02040503050406030204" pitchFamily="18" charset="0"/>
                            </a:rPr>
                            <m:t>′</m:t>
                          </m:r>
                        </m:sup>
                      </m:sSup>
                      <m:r>
                        <a:rPr lang="en-US" sz="1600" i="1" dirty="0">
                          <a:solidFill>
                            <a:schemeClr val="tx1"/>
                          </a:solidFill>
                          <a:latin typeface="Cambria Math" panose="02040503050406030204" pitchFamily="18" charset="0"/>
                        </a:rPr>
                        <m:t>(</m:t>
                      </m:r>
                      <m:r>
                        <a:rPr lang="en-US" sz="1600" i="1" dirty="0">
                          <a:solidFill>
                            <a:schemeClr val="tx1"/>
                          </a:solidFill>
                          <a:latin typeface="Cambria Math" panose="02040503050406030204" pitchFamily="18" charset="0"/>
                        </a:rPr>
                        <m:t>𝐿</m:t>
                      </m:r>
                      <m:r>
                        <a:rPr lang="en-US" sz="1600" i="1"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𝑈</m:t>
                      </m:r>
                      <m:r>
                        <a:rPr lang="en-US" sz="1600" i="1" dirty="0">
                          <a:solidFill>
                            <a:schemeClr val="tx1"/>
                          </a:solidFill>
                          <a:latin typeface="Cambria Math" panose="02040503050406030204" pitchFamily="18" charset="0"/>
                        </a:rPr>
                        <m:t>=</m:t>
                      </m:r>
                      <m:f>
                        <m:fPr>
                          <m:ctrlPr>
                            <a:rPr lang="en-US" sz="1600" i="1" dirty="0">
                              <a:solidFill>
                                <a:schemeClr val="tx1"/>
                              </a:solidFill>
                              <a:latin typeface="Cambria Math" panose="02040503050406030204" pitchFamily="18" charset="0"/>
                            </a:rPr>
                          </m:ctrlPr>
                        </m:fPr>
                        <m:num>
                          <m:r>
                            <a:rPr lang="en-US" sz="1600" i="1" dirty="0">
                              <a:solidFill>
                                <a:schemeClr val="tx1"/>
                              </a:solidFill>
                              <a:latin typeface="Cambria Math" panose="02040503050406030204" pitchFamily="18" charset="0"/>
                            </a:rPr>
                            <m:t>1</m:t>
                          </m:r>
                        </m:num>
                        <m:den>
                          <m:r>
                            <a:rPr lang="en-US" sz="1600" i="1" dirty="0">
                              <a:solidFill>
                                <a:schemeClr val="tx1"/>
                              </a:solidFill>
                              <a:latin typeface="Cambria Math" panose="02040503050406030204" pitchFamily="18" charset="0"/>
                            </a:rPr>
                            <m:t>2</m:t>
                          </m:r>
                        </m:den>
                      </m:f>
                      <m:nary>
                        <m:naryPr>
                          <m:limLoc m:val="subSup"/>
                          <m:ctrlPr>
                            <a:rPr lang="en-US" sz="1600" i="1" dirty="0">
                              <a:solidFill>
                                <a:schemeClr val="tx1"/>
                              </a:solidFill>
                              <a:latin typeface="Cambria Math" panose="02040503050406030204" pitchFamily="18" charset="0"/>
                            </a:rPr>
                          </m:ctrlPr>
                        </m:naryPr>
                        <m:sub>
                          <m:r>
                            <a:rPr lang="en-US" sz="1600" i="1" dirty="0">
                              <a:solidFill>
                                <a:schemeClr val="tx1"/>
                              </a:solidFill>
                              <a:latin typeface="Cambria Math" panose="02040503050406030204" pitchFamily="18" charset="0"/>
                            </a:rPr>
                            <m:t>0</m:t>
                          </m:r>
                        </m:sub>
                        <m:sup>
                          <m:r>
                            <a:rPr lang="en-US" sz="1600" i="1" dirty="0">
                              <a:solidFill>
                                <a:schemeClr val="tx1"/>
                              </a:solidFill>
                              <a:latin typeface="Cambria Math" panose="02040503050406030204" pitchFamily="18" charset="0"/>
                            </a:rPr>
                            <m:t>𝐿</m:t>
                          </m:r>
                        </m:sup>
                        <m:e>
                          <m:sSup>
                            <m:sSupPr>
                              <m:ctrlPr>
                                <a:rPr lang="en-US" sz="1600" i="1" dirty="0">
                                  <a:solidFill>
                                    <a:schemeClr val="tx1"/>
                                  </a:solidFill>
                                  <a:latin typeface="Cambria Math" panose="02040503050406030204" pitchFamily="18" charset="0"/>
                                </a:rPr>
                              </m:ctrlPr>
                            </m:sSupPr>
                            <m:e>
                              <m:r>
                                <a:rPr lang="en-US" sz="1600" i="1" dirty="0">
                                  <a:solidFill>
                                    <a:schemeClr val="tx1"/>
                                  </a:solidFill>
                                  <a:latin typeface="Cambria Math" panose="02040503050406030204" pitchFamily="18" charset="0"/>
                                </a:rPr>
                                <m:t>𝜃</m:t>
                              </m:r>
                            </m:e>
                            <m:sup>
                              <m:r>
                                <a:rPr lang="en-US" sz="1600" i="1" dirty="0">
                                  <a:solidFill>
                                    <a:schemeClr val="tx1"/>
                                  </a:solidFill>
                                  <a:latin typeface="Cambria Math" panose="02040503050406030204" pitchFamily="18" charset="0"/>
                                </a:rPr>
                                <m:t>′</m:t>
                              </m:r>
                            </m:sup>
                          </m:sSup>
                        </m:e>
                      </m:nary>
                      <m:sSup>
                        <m:sSupPr>
                          <m:ctrlPr>
                            <a:rPr lang="en-US" sz="1600" i="1" dirty="0">
                              <a:solidFill>
                                <a:schemeClr val="tx1"/>
                              </a:solidFill>
                              <a:latin typeface="Cambria Math" panose="02040503050406030204" pitchFamily="18" charset="0"/>
                            </a:rPr>
                          </m:ctrlPr>
                        </m:sSupPr>
                        <m:e>
                          <m:r>
                            <a:rPr lang="en-US" sz="1600" i="1" dirty="0">
                              <a:solidFill>
                                <a:schemeClr val="tx1"/>
                              </a:solidFill>
                              <a:latin typeface="Cambria Math" panose="02040503050406030204" pitchFamily="18" charset="0"/>
                            </a:rPr>
                            <m:t>​</m:t>
                          </m:r>
                        </m:e>
                        <m:sup>
                          <m:r>
                            <a:rPr lang="en-US" sz="1600" i="1" dirty="0">
                              <a:solidFill>
                                <a:schemeClr val="tx1"/>
                              </a:solidFill>
                              <a:latin typeface="Cambria Math" panose="02040503050406030204" pitchFamily="18" charset="0"/>
                            </a:rPr>
                            <m:t>2</m:t>
                          </m:r>
                        </m:sup>
                      </m:sSup>
                      <m:r>
                        <a:rPr lang="en-US" sz="1600" i="1"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𝑑𝑠</m:t>
                      </m:r>
                    </m:oMath>
                  </m:oMathPara>
                </a14:m>
                <a:endParaRPr lang="en-US" sz="1600" dirty="0"/>
              </a:p>
            </p:txBody>
          </p:sp>
        </mc:Choice>
        <mc:Fallback xmlns="">
          <p:sp>
            <p:nvSpPr>
              <p:cNvPr id="401" name="latex-outputs"/>
              <p:cNvSpPr txBox="1">
                <a:spLocks noRot="1" noChangeAspect="1" noMove="1" noResize="1" noEditPoints="1" noAdjustHandles="1" noChangeArrowheads="1" noChangeShapeType="1" noTextEdit="1"/>
              </p:cNvSpPr>
              <p:nvPr/>
            </p:nvSpPr>
            <p:spPr>
              <a:xfrm>
                <a:off x="3657600" y="5230368"/>
                <a:ext cx="3986030" cy="566928"/>
              </a:xfrm>
              <a:prstGeom prst="rect">
                <a:avLst/>
              </a:prstGeom>
              <a:blipFill>
                <a:blip r:embed="rId8"/>
                <a:stretch>
                  <a:fillRect/>
                </a:stretch>
              </a:blipFill>
            </p:spPr>
            <p:txBody>
              <a:bodyPr/>
              <a:lstStyle/>
              <a:p>
                <a:r>
                  <a:rPr lang="en-US">
                    <a:noFill/>
                  </a:rPr>
                  <a:t> </a:t>
                </a:r>
              </a:p>
            </p:txBody>
          </p:sp>
        </mc:Fallback>
      </mc:AlternateContent>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4</a:t>
            </a:fld>
            <a:endParaRPr lang="en-US"/>
          </a:p>
        </p:txBody>
      </p:sp>
      <p:sp>
        <p:nvSpPr>
          <p:cNvPr id="402" name="caption-402"/>
          <p:cNvSpPr txBox="1"/>
          <p:nvPr/>
        </p:nvSpPr>
        <p:spPr>
          <a:xfrm>
            <a:off x="3657600" y="5815584"/>
            <a:ext cx="7772400" cy="274320"/>
          </a:xfrm>
          <a:prstGeom prst="rect">
            <a:avLst/>
          </a:prstGeom>
          <a:noFill/>
          <a:ln/>
        </p:spPr>
        <p:txBody>
          <a:bodyPr wrap="square" lIns="0" tIns="0" rIns="0" bIns="0" rtlCol="0" anchor="t">
            <a:normAutofit/>
          </a:bodyPr>
          <a:lstStyle/>
          <a:p>
            <a:pPr marL="0" indent="0" algn="l">
              <a:spcAft>
                <a:spcPts val="0"/>
              </a:spcAft>
              <a:buNone/>
            </a:pPr>
            <a:r>
              <a:rPr lang="en-US" sz="1100" dirty="0">
                <a:solidFill>
                  <a:schemeClr val="accent5"/>
                </a:solidFill>
              </a:rPr>
              <a:t>Moments: end-element slope plus a half-element Taylor correction (second order)</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Each parameter point is one Newton solve on 203 unknowns</a:t>
            </a:r>
          </a:p>
        </p:txBody>
      </p:sp>
      <p:sp>
        <p:nvSpPr>
          <p:cNvPr id="3" name="card-53"/>
          <p:cNvSpPr/>
          <p:nvPr/>
        </p:nvSpPr>
        <p:spPr>
          <a:xfrm>
            <a:off x="548640" y="1417320"/>
            <a:ext cx="11064240" cy="1005840"/>
          </a:xfrm>
          <a:prstGeom prst="roundRect">
            <a:avLst>
              <a:gd name="adj" fmla="val 7273"/>
            </a:avLst>
          </a:prstGeom>
          <a:solidFill>
            <a:schemeClr val="bg2"/>
          </a:solidFill>
          <a:ln/>
        </p:spPr>
        <p:txBody>
          <a:bodyPr/>
          <a:lstStyle/>
          <a:p>
            <a:endParaRPr lang="en-IN"/>
          </a:p>
        </p:txBody>
      </p:sp>
      <mc:AlternateContent xmlns:mc="http://schemas.openxmlformats.org/markup-compatibility/2006" xmlns:a14="http://schemas.microsoft.com/office/drawing/2010/main">
        <mc:Choice Requires="a14">
          <p:sp>
            <p:nvSpPr>
              <p:cNvPr id="4" name="latex-newton"/>
              <p:cNvSpPr txBox="1"/>
              <p:nvPr/>
            </p:nvSpPr>
            <p:spPr>
              <a:xfrm>
                <a:off x="822960" y="1508760"/>
                <a:ext cx="5440680" cy="822960"/>
              </a:xfrm>
              <a:prstGeom prst="rect">
                <a:avLst/>
              </a:prstGeom>
              <a:noFill/>
              <a:ln/>
            </p:spPr>
            <p:txBody>
              <a:bodyPr wrap="square" lIns="0" tIns="0" rIns="0" bIns="0" rtlCol="0" anchor="ctr">
                <a:noAutofit/>
              </a:bodyPr>
              <a:lstStyle/>
              <a:p>
                <a:pPr marL="0" indent="0">
                  <a:buNone/>
                </a:pPr>
                <a14:m>
                  <m:oMathPara xmlns:m="http://schemas.openxmlformats.org/officeDocument/2006/math">
                    <m:oMath>
                      <m:r>
                        <a:rPr lang="en-US" sz="1600" i="1" dirty="0" smtClean="0">
                          <a:solidFill>
                            <a:schemeClr val="tx1"/>
                          </a:solidFill>
                          <a:latin typeface="Cambria Math" panose="02040503050406030204" pitchFamily="18" charset="0"/>
                        </a:rPr>
                        <m:t>𝐽</m:t>
                      </m:r>
                      <m:d>
                        <m:dPr>
                          <m:ctrlPr>
                            <a:rPr lang="en-US" sz="1600" b="1" i="1" dirty="0">
                              <a:solidFill>
                                <a:schemeClr val="tx1"/>
                              </a:solidFill>
                              <a:latin typeface="Cambria Math" panose="02040503050406030204" pitchFamily="18" charset="0"/>
                            </a:rPr>
                          </m:ctrlPr>
                        </m:dPr>
                        <m:e>
                          <m:sSup>
                            <m:sSupPr>
                              <m:ctrlPr>
                                <a:rPr lang="en-US" sz="1600" b="1" i="0" dirty="0">
                                  <a:solidFill>
                                    <a:schemeClr val="tx1"/>
                                  </a:solidFill>
                                  <a:latin typeface="Cambria Math" panose="02040503050406030204" pitchFamily="18" charset="0"/>
                                </a:rPr>
                              </m:ctrlPr>
                            </m:sSupPr>
                            <m:e>
                              <m:r>
                                <a:rPr lang="en-US" sz="1600" b="1" i="0" dirty="0">
                                  <a:solidFill>
                                    <a:schemeClr val="tx1"/>
                                  </a:solidFill>
                                  <a:latin typeface="Cambria Math" panose="02040503050406030204" pitchFamily="18" charset="0"/>
                                </a:rPr>
                                <m:t>𝐮</m:t>
                              </m:r>
                            </m:e>
                            <m:sup>
                              <m:r>
                                <a:rPr lang="en-US" sz="1600" b="0" i="1" dirty="0">
                                  <a:solidFill>
                                    <a:schemeClr val="tx1"/>
                                  </a:solidFill>
                                  <a:latin typeface="Cambria Math" panose="02040503050406030204" pitchFamily="18" charset="0"/>
                                </a:rPr>
                                <m:t>𝑘</m:t>
                              </m:r>
                            </m:sup>
                          </m:sSup>
                        </m:e>
                      </m:d>
                      <m:r>
                        <a:rPr lang="en-US" sz="1600" b="0" i="0" dirty="0">
                          <a:solidFill>
                            <a:schemeClr val="tx1"/>
                          </a:solidFill>
                          <a:latin typeface="Cambria Math" panose="02040503050406030204" pitchFamily="18" charset="0"/>
                        </a:rPr>
                        <m:t> </m:t>
                      </m:r>
                      <m:r>
                        <a:rPr lang="en-US" sz="1600" b="0" i="1" dirty="0">
                          <a:solidFill>
                            <a:schemeClr val="tx1"/>
                          </a:solidFill>
                          <a:latin typeface="Cambria Math" panose="02040503050406030204" pitchFamily="18" charset="0"/>
                        </a:rPr>
                        <m:t>𝛿</m:t>
                      </m:r>
                      <m:r>
                        <a:rPr lang="en-US" sz="1600" b="1" i="0" dirty="0">
                          <a:solidFill>
                            <a:schemeClr val="tx1"/>
                          </a:solidFill>
                          <a:latin typeface="Cambria Math" panose="02040503050406030204" pitchFamily="18" charset="0"/>
                        </a:rPr>
                        <m:t>𝐮</m:t>
                      </m:r>
                      <m:r>
                        <a:rPr lang="en-US" sz="1600" b="0" i="0" dirty="0">
                          <a:solidFill>
                            <a:schemeClr val="tx1"/>
                          </a:solidFill>
                          <a:latin typeface="Cambria Math" panose="02040503050406030204" pitchFamily="18" charset="0"/>
                        </a:rPr>
                        <m:t>=−</m:t>
                      </m:r>
                      <m:r>
                        <a:rPr lang="en-US" sz="1600" b="1" i="0" dirty="0">
                          <a:solidFill>
                            <a:schemeClr val="tx1"/>
                          </a:solidFill>
                          <a:latin typeface="Cambria Math" panose="02040503050406030204" pitchFamily="18" charset="0"/>
                        </a:rPr>
                        <m:t>𝐅</m:t>
                      </m:r>
                      <m:d>
                        <m:dPr>
                          <m:ctrlPr>
                            <a:rPr lang="en-US" sz="1600" b="1" i="1" dirty="0">
                              <a:solidFill>
                                <a:schemeClr val="tx1"/>
                              </a:solidFill>
                              <a:latin typeface="Cambria Math" panose="02040503050406030204" pitchFamily="18" charset="0"/>
                            </a:rPr>
                          </m:ctrlPr>
                        </m:dPr>
                        <m:e>
                          <m:sSup>
                            <m:sSupPr>
                              <m:ctrlPr>
                                <a:rPr lang="en-US" sz="1600" b="1" i="0" dirty="0">
                                  <a:solidFill>
                                    <a:schemeClr val="tx1"/>
                                  </a:solidFill>
                                  <a:latin typeface="Cambria Math" panose="02040503050406030204" pitchFamily="18" charset="0"/>
                                </a:rPr>
                              </m:ctrlPr>
                            </m:sSupPr>
                            <m:e>
                              <m:r>
                                <a:rPr lang="en-US" sz="1600" b="1" i="0" dirty="0">
                                  <a:solidFill>
                                    <a:schemeClr val="tx1"/>
                                  </a:solidFill>
                                  <a:latin typeface="Cambria Math" panose="02040503050406030204" pitchFamily="18" charset="0"/>
                                </a:rPr>
                                <m:t>𝐮</m:t>
                              </m:r>
                            </m:e>
                            <m:sup>
                              <m:r>
                                <a:rPr lang="en-US" sz="1600" b="0" i="1" dirty="0">
                                  <a:solidFill>
                                    <a:schemeClr val="tx1"/>
                                  </a:solidFill>
                                  <a:latin typeface="Cambria Math" panose="02040503050406030204" pitchFamily="18" charset="0"/>
                                </a:rPr>
                                <m:t>𝑘</m:t>
                              </m:r>
                            </m:sup>
                          </m:sSup>
                        </m:e>
                      </m:d>
                      <m:r>
                        <a:rPr lang="en-US" sz="1600" b="0" i="0" dirty="0">
                          <a:solidFill>
                            <a:schemeClr val="tx1"/>
                          </a:solidFill>
                          <a:latin typeface="Cambria Math" panose="02040503050406030204" pitchFamily="18" charset="0"/>
                        </a:rPr>
                        <m:t>,  </m:t>
                      </m:r>
                      <m:sSup>
                        <m:sSupPr>
                          <m:ctrlPr>
                            <a:rPr lang="en-US" sz="1600" b="1" i="0" dirty="0">
                              <a:solidFill>
                                <a:schemeClr val="tx1"/>
                              </a:solidFill>
                              <a:latin typeface="Cambria Math" panose="02040503050406030204" pitchFamily="18" charset="0"/>
                            </a:rPr>
                          </m:ctrlPr>
                        </m:sSupPr>
                        <m:e>
                          <m:r>
                            <a:rPr lang="en-US" sz="1600" b="1" i="0" dirty="0">
                              <a:solidFill>
                                <a:schemeClr val="tx1"/>
                              </a:solidFill>
                              <a:latin typeface="Cambria Math" panose="02040503050406030204" pitchFamily="18" charset="0"/>
                            </a:rPr>
                            <m:t>𝐮</m:t>
                          </m:r>
                        </m:e>
                        <m:sup>
                          <m:r>
                            <a:rPr lang="en-US" sz="1600" b="0" i="1" dirty="0">
                              <a:solidFill>
                                <a:schemeClr val="tx1"/>
                              </a:solidFill>
                              <a:latin typeface="Cambria Math" panose="02040503050406030204" pitchFamily="18" charset="0"/>
                            </a:rPr>
                            <m:t>𝑘</m:t>
                          </m:r>
                          <m:r>
                            <a:rPr lang="en-US" sz="1600" b="0" i="0" dirty="0">
                              <a:solidFill>
                                <a:schemeClr val="tx1"/>
                              </a:solidFill>
                              <a:latin typeface="Cambria Math" panose="02040503050406030204" pitchFamily="18" charset="0"/>
                            </a:rPr>
                            <m:t>+1</m:t>
                          </m:r>
                        </m:sup>
                      </m:sSup>
                      <m:r>
                        <a:rPr lang="en-US" sz="1600" b="0" i="0" dirty="0">
                          <a:solidFill>
                            <a:schemeClr val="tx1"/>
                          </a:solidFill>
                          <a:latin typeface="Cambria Math" panose="02040503050406030204" pitchFamily="18" charset="0"/>
                        </a:rPr>
                        <m:t>=</m:t>
                      </m:r>
                      <m:sSup>
                        <m:sSupPr>
                          <m:ctrlPr>
                            <a:rPr lang="en-US" sz="1600" b="1" i="0" dirty="0">
                              <a:solidFill>
                                <a:schemeClr val="tx1"/>
                              </a:solidFill>
                              <a:latin typeface="Cambria Math" panose="02040503050406030204" pitchFamily="18" charset="0"/>
                            </a:rPr>
                          </m:ctrlPr>
                        </m:sSupPr>
                        <m:e>
                          <m:r>
                            <a:rPr lang="en-US" sz="1600" b="1" i="0" dirty="0">
                              <a:solidFill>
                                <a:schemeClr val="tx1"/>
                              </a:solidFill>
                              <a:latin typeface="Cambria Math" panose="02040503050406030204" pitchFamily="18" charset="0"/>
                            </a:rPr>
                            <m:t>𝐮</m:t>
                          </m:r>
                        </m:e>
                        <m:sup>
                          <m:r>
                            <a:rPr lang="en-US" sz="1600" b="0" i="1" dirty="0">
                              <a:solidFill>
                                <a:schemeClr val="tx1"/>
                              </a:solidFill>
                              <a:latin typeface="Cambria Math" panose="02040503050406030204" pitchFamily="18" charset="0"/>
                            </a:rPr>
                            <m:t>𝑘</m:t>
                          </m:r>
                        </m:sup>
                      </m:sSup>
                      <m:r>
                        <a:rPr lang="en-US" sz="1600" b="0" i="0" dirty="0">
                          <a:solidFill>
                            <a:schemeClr val="tx1"/>
                          </a:solidFill>
                          <a:latin typeface="Cambria Math" panose="02040503050406030204" pitchFamily="18" charset="0"/>
                        </a:rPr>
                        <m:t>+</m:t>
                      </m:r>
                      <m:sSub>
                        <m:sSubPr>
                          <m:ctrlPr>
                            <a:rPr lang="en-US" sz="1600" b="0" i="1" dirty="0">
                              <a:solidFill>
                                <a:schemeClr val="tx1"/>
                              </a:solidFill>
                              <a:latin typeface="Cambria Math" panose="02040503050406030204" pitchFamily="18" charset="0"/>
                            </a:rPr>
                          </m:ctrlPr>
                        </m:sSubPr>
                        <m:e>
                          <m:r>
                            <a:rPr lang="en-US" sz="1600" b="0" i="1" dirty="0">
                              <a:solidFill>
                                <a:schemeClr val="tx1"/>
                              </a:solidFill>
                              <a:latin typeface="Cambria Math" panose="02040503050406030204" pitchFamily="18" charset="0"/>
                            </a:rPr>
                            <m:t>𝛼</m:t>
                          </m:r>
                        </m:e>
                        <m:sub>
                          <m:r>
                            <a:rPr lang="en-US" sz="1600" b="0" i="1" dirty="0">
                              <a:solidFill>
                                <a:schemeClr val="tx1"/>
                              </a:solidFill>
                              <a:latin typeface="Cambria Math" panose="02040503050406030204" pitchFamily="18" charset="0"/>
                            </a:rPr>
                            <m:t>𝑘</m:t>
                          </m:r>
                        </m:sub>
                      </m:sSub>
                      <m:r>
                        <a:rPr lang="en-US" sz="1600" b="0" i="0" dirty="0">
                          <a:solidFill>
                            <a:schemeClr val="tx1"/>
                          </a:solidFill>
                          <a:latin typeface="Cambria Math" panose="02040503050406030204" pitchFamily="18" charset="0"/>
                        </a:rPr>
                        <m:t> </m:t>
                      </m:r>
                      <m:r>
                        <a:rPr lang="en-US" sz="1600" b="0" i="1" dirty="0">
                          <a:solidFill>
                            <a:schemeClr val="tx1"/>
                          </a:solidFill>
                          <a:latin typeface="Cambria Math" panose="02040503050406030204" pitchFamily="18" charset="0"/>
                        </a:rPr>
                        <m:t>𝛿</m:t>
                      </m:r>
                      <m:r>
                        <a:rPr lang="en-US" sz="1600" b="1" i="0" dirty="0">
                          <a:solidFill>
                            <a:schemeClr val="tx1"/>
                          </a:solidFill>
                          <a:latin typeface="Cambria Math" panose="02040503050406030204" pitchFamily="18" charset="0"/>
                        </a:rPr>
                        <m:t>𝐮</m:t>
                      </m:r>
                    </m:oMath>
                  </m:oMathPara>
                </a14:m>
                <a:endParaRPr lang="en-US" sz="1600" dirty="0"/>
              </a:p>
            </p:txBody>
          </p:sp>
        </mc:Choice>
        <mc:Fallback xmlns="">
          <p:sp>
            <p:nvSpPr>
              <p:cNvPr id="4" name="latex-newton"/>
              <p:cNvSpPr txBox="1">
                <a:spLocks noRot="1" noChangeAspect="1" noMove="1" noResize="1" noEditPoints="1" noAdjustHandles="1" noChangeArrowheads="1" noChangeShapeType="1" noTextEdit="1"/>
              </p:cNvSpPr>
              <p:nvPr/>
            </p:nvSpPr>
            <p:spPr>
              <a:xfrm>
                <a:off x="822960" y="1508760"/>
                <a:ext cx="5440680" cy="822960"/>
              </a:xfrm>
              <a:prstGeom prst="rect">
                <a:avLst/>
              </a:prstGeom>
              <a:blipFill>
                <a:blip r:embed="rId3"/>
                <a:stretch>
                  <a:fillRect/>
                </a:stretch>
              </a:blipFill>
              <a:ln/>
            </p:spPr>
            <p:txBody>
              <a:bodyPr/>
              <a:lstStyle/>
              <a:p>
                <a:r>
                  <a:rPr lang="en-IN">
                    <a:noFill/>
                  </a:rPr>
                  <a:t> </a:t>
                </a:r>
              </a:p>
            </p:txBody>
          </p:sp>
        </mc:Fallback>
      </mc:AlternateContent>
      <p:sp>
        <p:nvSpPr>
          <p:cNvPr id="5" name="text-55"/>
          <p:cNvSpPr txBox="1"/>
          <p:nvPr/>
        </p:nvSpPr>
        <p:spPr>
          <a:xfrm>
            <a:off x="6400800" y="1805940"/>
            <a:ext cx="5029200" cy="457200"/>
          </a:xfrm>
          <a:prstGeom prst="rect">
            <a:avLst/>
          </a:prstGeom>
          <a:noFill/>
          <a:ln/>
        </p:spPr>
        <p:txBody>
          <a:bodyPr wrap="square" lIns="0" tIns="0" rIns="0" bIns="0" rtlCol="0" anchor="t"/>
          <a:lstStyle/>
          <a:p>
            <a:pPr marL="0" indent="0">
              <a:buNone/>
            </a:pPr>
            <a:r>
              <a:rPr lang="en-US" sz="1500" dirty="0">
                <a:solidFill>
                  <a:schemeClr val="accent6">
                    <a:lumMod val="75000"/>
                  </a:schemeClr>
                </a:solidFill>
              </a:rPr>
              <a:t>u = (θ₀ … θ₂₀₀, f</a:t>
            </a:r>
            <a:r>
              <a:rPr lang="en-US" sz="1500" baseline="-40000" dirty="0">
                <a:solidFill>
                  <a:schemeClr val="accent6">
                    <a:lumMod val="75000"/>
                  </a:schemeClr>
                </a:solidFill>
              </a:rPr>
              <a:t>x</a:t>
            </a:r>
            <a:r>
              <a:rPr lang="en-US" sz="1500" dirty="0">
                <a:solidFill>
                  <a:schemeClr val="accent6">
                    <a:lumMod val="75000"/>
                  </a:schemeClr>
                </a:solidFill>
              </a:rPr>
              <a:t>, f</a:t>
            </a:r>
            <a:r>
              <a:rPr lang="en-US" sz="1500" baseline="-40000" dirty="0">
                <a:solidFill>
                  <a:schemeClr val="accent6">
                    <a:lumMod val="75000"/>
                  </a:schemeClr>
                </a:solidFill>
              </a:rPr>
              <a:t>y</a:t>
            </a:r>
            <a:r>
              <a:rPr lang="en-US" sz="1500" dirty="0">
                <a:solidFill>
                  <a:schemeClr val="accent6">
                    <a:lumMod val="75000"/>
                  </a:schemeClr>
                </a:solidFill>
              </a:rPr>
              <a:t>);  (0 &lt; α</a:t>
            </a:r>
            <a:r>
              <a:rPr lang="en-US" sz="1500" baseline="-40000" dirty="0">
                <a:solidFill>
                  <a:schemeClr val="accent6">
                    <a:lumMod val="75000"/>
                  </a:schemeClr>
                </a:solidFill>
              </a:rPr>
              <a:t>k</a:t>
            </a:r>
            <a:r>
              <a:rPr lang="en-US" sz="1500" dirty="0">
                <a:solidFill>
                  <a:schemeClr val="accent6">
                    <a:lumMod val="75000"/>
                  </a:schemeClr>
                </a:solidFill>
              </a:rPr>
              <a:t> &lt; 1) from cubic backtracking line search</a:t>
            </a:r>
          </a:p>
        </p:txBody>
      </p:sp>
      <p:sp>
        <p:nvSpPr>
          <p:cNvPr id="6" name="card-56"/>
          <p:cNvSpPr/>
          <p:nvPr/>
        </p:nvSpPr>
        <p:spPr>
          <a:xfrm>
            <a:off x="548640" y="2697480"/>
            <a:ext cx="2560320" cy="1920240"/>
          </a:xfrm>
          <a:prstGeom prst="roundRect">
            <a:avLst>
              <a:gd name="adj" fmla="val 3810"/>
            </a:avLst>
          </a:prstGeom>
          <a:solidFill>
            <a:schemeClr val="bg2"/>
          </a:solidFill>
          <a:ln/>
        </p:spPr>
        <p:txBody>
          <a:bodyPr/>
          <a:lstStyle/>
          <a:p>
            <a:endParaRPr lang="en-IN"/>
          </a:p>
        </p:txBody>
      </p:sp>
      <p:sp>
        <p:nvSpPr>
          <p:cNvPr id="7" name="text-57"/>
          <p:cNvSpPr txBox="1"/>
          <p:nvPr/>
        </p:nvSpPr>
        <p:spPr>
          <a:xfrm>
            <a:off x="777240" y="2834640"/>
            <a:ext cx="2103120" cy="777240"/>
          </a:xfrm>
          <a:prstGeom prst="rect">
            <a:avLst/>
          </a:prstGeom>
          <a:noFill/>
          <a:ln/>
        </p:spPr>
        <p:txBody>
          <a:bodyPr wrap="square" lIns="0" tIns="0" rIns="0" bIns="0" rtlCol="0" anchor="t"/>
          <a:lstStyle/>
          <a:p>
            <a:pPr marL="0" indent="0">
              <a:buNone/>
            </a:pPr>
            <a:r>
              <a:rPr lang="en-US" sz="3600" dirty="0">
                <a:solidFill>
                  <a:schemeClr val="accent1"/>
                </a:solidFill>
                <a:latin typeface="Cambria" pitchFamily="34" charset="0"/>
                <a:ea typeface="Cambria" pitchFamily="34" charset="-122"/>
                <a:cs typeface="Cambria" pitchFamily="34" charset="-120"/>
              </a:rPr>
              <a:t>203</a:t>
            </a:r>
          </a:p>
        </p:txBody>
      </p:sp>
      <p:sp>
        <p:nvSpPr>
          <p:cNvPr id="8" name="text-58"/>
          <p:cNvSpPr txBox="1"/>
          <p:nvPr/>
        </p:nvSpPr>
        <p:spPr>
          <a:xfrm>
            <a:off x="777240" y="3611880"/>
            <a:ext cx="2103120" cy="365760"/>
          </a:xfrm>
          <a:prstGeom prst="rect">
            <a:avLst/>
          </a:prstGeom>
          <a:noFill/>
          <a:ln/>
        </p:spPr>
        <p:txBody>
          <a:bodyPr wrap="square" lIns="0" tIns="0" rIns="0" bIns="0" rtlCol="0" anchor="t"/>
          <a:lstStyle/>
          <a:p>
            <a:pPr marL="0" indent="0">
              <a:buNone/>
            </a:pPr>
            <a:r>
              <a:rPr lang="en-US" sz="1500" b="1" dirty="0">
                <a:solidFill>
                  <a:schemeClr val="tx1"/>
                </a:solidFill>
              </a:rPr>
              <a:t>unknowns per point</a:t>
            </a:r>
            <a:endParaRPr lang="en-US" sz="1500" dirty="0"/>
          </a:p>
        </p:txBody>
      </p:sp>
      <p:sp>
        <p:nvSpPr>
          <p:cNvPr id="9" name="text-59"/>
          <p:cNvSpPr txBox="1"/>
          <p:nvPr/>
        </p:nvSpPr>
        <p:spPr>
          <a:xfrm>
            <a:off x="777240" y="3977640"/>
            <a:ext cx="2103120" cy="502920"/>
          </a:xfrm>
          <a:prstGeom prst="rect">
            <a:avLst/>
          </a:prstGeom>
          <a:noFill/>
          <a:ln/>
        </p:spPr>
        <p:txBody>
          <a:bodyPr wrap="square" lIns="0" tIns="0" rIns="0" bIns="0" rtlCol="0" anchor="t"/>
          <a:lstStyle/>
          <a:p>
            <a:pPr marL="0" indent="0">
              <a:buNone/>
            </a:pPr>
            <a:r>
              <a:rPr lang="en-US" sz="1200" dirty="0">
                <a:solidFill>
                  <a:schemeClr val="accent5"/>
                </a:solidFill>
              </a:rPr>
              <a:t>201 nodal angles + 2 multipliers</a:t>
            </a:r>
          </a:p>
        </p:txBody>
      </p:sp>
      <p:sp>
        <p:nvSpPr>
          <p:cNvPr id="10" name="card-60"/>
          <p:cNvSpPr/>
          <p:nvPr/>
        </p:nvSpPr>
        <p:spPr>
          <a:xfrm>
            <a:off x="3383280" y="2697480"/>
            <a:ext cx="2560320" cy="1920240"/>
          </a:xfrm>
          <a:prstGeom prst="roundRect">
            <a:avLst>
              <a:gd name="adj" fmla="val 3810"/>
            </a:avLst>
          </a:prstGeom>
          <a:solidFill>
            <a:schemeClr val="bg2"/>
          </a:solidFill>
          <a:ln/>
        </p:spPr>
        <p:txBody>
          <a:bodyPr/>
          <a:lstStyle/>
          <a:p>
            <a:endParaRPr lang="en-IN"/>
          </a:p>
        </p:txBody>
      </p:sp>
      <p:sp>
        <p:nvSpPr>
          <p:cNvPr id="11" name="text-61"/>
          <p:cNvSpPr txBox="1"/>
          <p:nvPr/>
        </p:nvSpPr>
        <p:spPr>
          <a:xfrm>
            <a:off x="3611880" y="2834640"/>
            <a:ext cx="2103120" cy="777240"/>
          </a:xfrm>
          <a:prstGeom prst="rect">
            <a:avLst/>
          </a:prstGeom>
          <a:noFill/>
          <a:ln/>
        </p:spPr>
        <p:txBody>
          <a:bodyPr wrap="square" lIns="0" tIns="0" rIns="0" bIns="0" rtlCol="0" anchor="t"/>
          <a:lstStyle/>
          <a:p>
            <a:pPr marL="0" indent="0">
              <a:buNone/>
            </a:pPr>
            <a:r>
              <a:rPr lang="en-US" sz="3600" b="1" dirty="0">
                <a:solidFill>
                  <a:schemeClr val="accent1"/>
                </a:solidFill>
                <a:latin typeface="Cambria" pitchFamily="34" charset="0"/>
                <a:ea typeface="Cambria" pitchFamily="34" charset="-122"/>
                <a:cs typeface="Cambria" pitchFamily="34" charset="-120"/>
              </a:rPr>
              <a:t>LU</a:t>
            </a:r>
            <a:endParaRPr lang="en-US" sz="3600" dirty="0"/>
          </a:p>
        </p:txBody>
      </p:sp>
      <p:sp>
        <p:nvSpPr>
          <p:cNvPr id="12" name="text-62"/>
          <p:cNvSpPr txBox="1"/>
          <p:nvPr/>
        </p:nvSpPr>
        <p:spPr>
          <a:xfrm>
            <a:off x="3611880" y="3611880"/>
            <a:ext cx="2103120" cy="365760"/>
          </a:xfrm>
          <a:prstGeom prst="rect">
            <a:avLst/>
          </a:prstGeom>
          <a:noFill/>
          <a:ln/>
        </p:spPr>
        <p:txBody>
          <a:bodyPr wrap="square" lIns="0" tIns="0" rIns="0" bIns="0" rtlCol="0" anchor="t"/>
          <a:lstStyle/>
          <a:p>
            <a:pPr marL="0" indent="0">
              <a:buNone/>
            </a:pPr>
            <a:r>
              <a:rPr lang="en-US" sz="1500" b="1" dirty="0">
                <a:solidFill>
                  <a:schemeClr val="tx1"/>
                </a:solidFill>
              </a:rPr>
              <a:t>MUMPS direct solve</a:t>
            </a:r>
            <a:endParaRPr lang="en-US" sz="1500" dirty="0"/>
          </a:p>
        </p:txBody>
      </p:sp>
      <p:sp>
        <p:nvSpPr>
          <p:cNvPr id="13" name="text-63"/>
          <p:cNvSpPr txBox="1"/>
          <p:nvPr/>
        </p:nvSpPr>
        <p:spPr>
          <a:xfrm>
            <a:off x="3611880" y="3977640"/>
            <a:ext cx="2103120" cy="502920"/>
          </a:xfrm>
          <a:prstGeom prst="rect">
            <a:avLst/>
          </a:prstGeom>
          <a:noFill/>
          <a:ln/>
        </p:spPr>
        <p:txBody>
          <a:bodyPr wrap="square" lIns="0" tIns="0" rIns="0" bIns="0" rtlCol="0" anchor="t"/>
          <a:lstStyle/>
          <a:p>
            <a:pPr marL="0" indent="0">
              <a:buNone/>
            </a:pPr>
            <a:r>
              <a:rPr lang="en-US" sz="1200" dirty="0">
                <a:solidFill>
                  <a:schemeClr val="accent5"/>
                </a:solidFill>
              </a:rPr>
              <a:t>KSP preonly: exact linear steps</a:t>
            </a:r>
            <a:endParaRPr lang="en-US" sz="1200" dirty="0"/>
          </a:p>
        </p:txBody>
      </p:sp>
      <p:sp>
        <p:nvSpPr>
          <p:cNvPr id="14" name="card-64"/>
          <p:cNvSpPr/>
          <p:nvPr/>
        </p:nvSpPr>
        <p:spPr>
          <a:xfrm>
            <a:off x="6217920" y="2697480"/>
            <a:ext cx="2560320" cy="1920240"/>
          </a:xfrm>
          <a:prstGeom prst="roundRect">
            <a:avLst>
              <a:gd name="adj" fmla="val 3810"/>
            </a:avLst>
          </a:prstGeom>
          <a:solidFill>
            <a:schemeClr val="bg2"/>
          </a:solidFill>
          <a:ln/>
        </p:spPr>
        <p:txBody>
          <a:bodyPr/>
          <a:lstStyle/>
          <a:p>
            <a:endParaRPr lang="en-IN"/>
          </a:p>
        </p:txBody>
      </p:sp>
      <p:sp>
        <p:nvSpPr>
          <p:cNvPr id="15" name="text-65"/>
          <p:cNvSpPr txBox="1"/>
          <p:nvPr/>
        </p:nvSpPr>
        <p:spPr>
          <a:xfrm>
            <a:off x="6446520" y="2834640"/>
            <a:ext cx="2103120" cy="777240"/>
          </a:xfrm>
          <a:prstGeom prst="rect">
            <a:avLst/>
          </a:prstGeom>
          <a:noFill/>
          <a:ln/>
        </p:spPr>
        <p:txBody>
          <a:bodyPr wrap="square" lIns="0" tIns="0" rIns="0" bIns="0" rtlCol="0" anchor="t"/>
          <a:lstStyle/>
          <a:p>
            <a:pPr marL="0" indent="0">
              <a:buNone/>
            </a:pPr>
            <a:r>
              <a:rPr lang="en-US" sz="3600" b="1" dirty="0">
                <a:solidFill>
                  <a:schemeClr val="accent1"/>
                </a:solidFill>
                <a:latin typeface="Cambria" pitchFamily="34" charset="0"/>
                <a:ea typeface="Cambria" pitchFamily="34" charset="-122"/>
                <a:cs typeface="Cambria" pitchFamily="34" charset="-120"/>
              </a:rPr>
              <a:t>10⁻¹⁰</a:t>
            </a:r>
            <a:endParaRPr lang="en-US" sz="3600" dirty="0"/>
          </a:p>
        </p:txBody>
      </p:sp>
      <p:sp>
        <p:nvSpPr>
          <p:cNvPr id="16" name="text-66"/>
          <p:cNvSpPr txBox="1"/>
          <p:nvPr/>
        </p:nvSpPr>
        <p:spPr>
          <a:xfrm>
            <a:off x="6446520" y="3611880"/>
            <a:ext cx="2103120" cy="365760"/>
          </a:xfrm>
          <a:prstGeom prst="rect">
            <a:avLst/>
          </a:prstGeom>
          <a:noFill/>
          <a:ln/>
        </p:spPr>
        <p:txBody>
          <a:bodyPr wrap="square" lIns="0" tIns="0" rIns="0" bIns="0" rtlCol="0" anchor="t"/>
          <a:lstStyle/>
          <a:p>
            <a:pPr marL="0" indent="0">
              <a:buNone/>
            </a:pPr>
            <a:r>
              <a:rPr lang="en-US" sz="1500" b="1" dirty="0">
                <a:solidFill>
                  <a:schemeClr val="tx1"/>
                </a:solidFill>
              </a:rPr>
              <a:t>relative tolerance</a:t>
            </a:r>
            <a:endParaRPr lang="en-US" sz="1500" dirty="0"/>
          </a:p>
        </p:txBody>
      </p:sp>
      <p:sp>
        <p:nvSpPr>
          <p:cNvPr id="17" name="text-67"/>
          <p:cNvSpPr txBox="1"/>
          <p:nvPr/>
        </p:nvSpPr>
        <p:spPr>
          <a:xfrm>
            <a:off x="6446520" y="3977640"/>
            <a:ext cx="2103120" cy="502920"/>
          </a:xfrm>
          <a:prstGeom prst="rect">
            <a:avLst/>
          </a:prstGeom>
          <a:noFill/>
          <a:ln/>
        </p:spPr>
        <p:txBody>
          <a:bodyPr wrap="square" lIns="0" tIns="0" rIns="0" bIns="0" rtlCol="0" anchor="t"/>
          <a:lstStyle/>
          <a:p>
            <a:pPr marL="0" indent="0">
              <a:buNone/>
            </a:pPr>
            <a:r>
              <a:rPr lang="en-US" sz="1200" dirty="0">
                <a:solidFill>
                  <a:schemeClr val="accent5"/>
                </a:solidFill>
              </a:rPr>
              <a:t>absolute 10⁻¹²</a:t>
            </a:r>
            <a:endParaRPr lang="en-US" sz="1200" dirty="0"/>
          </a:p>
        </p:txBody>
      </p:sp>
      <p:sp>
        <p:nvSpPr>
          <p:cNvPr id="18" name="card-68"/>
          <p:cNvSpPr/>
          <p:nvPr/>
        </p:nvSpPr>
        <p:spPr>
          <a:xfrm>
            <a:off x="9052560" y="2697480"/>
            <a:ext cx="2560320" cy="1920240"/>
          </a:xfrm>
          <a:prstGeom prst="roundRect">
            <a:avLst>
              <a:gd name="adj" fmla="val 3810"/>
            </a:avLst>
          </a:prstGeom>
          <a:solidFill>
            <a:schemeClr val="bg2"/>
          </a:solidFill>
          <a:ln/>
        </p:spPr>
        <p:txBody>
          <a:bodyPr/>
          <a:lstStyle/>
          <a:p>
            <a:endParaRPr lang="en-IN"/>
          </a:p>
        </p:txBody>
      </p:sp>
      <p:sp>
        <p:nvSpPr>
          <p:cNvPr id="19" name="text-69"/>
          <p:cNvSpPr txBox="1"/>
          <p:nvPr/>
        </p:nvSpPr>
        <p:spPr>
          <a:xfrm>
            <a:off x="9281160" y="2834640"/>
            <a:ext cx="2103120" cy="777240"/>
          </a:xfrm>
          <a:prstGeom prst="rect">
            <a:avLst/>
          </a:prstGeom>
          <a:noFill/>
          <a:ln/>
        </p:spPr>
        <p:txBody>
          <a:bodyPr wrap="square" lIns="0" tIns="0" rIns="0" bIns="0" rtlCol="0" anchor="t"/>
          <a:lstStyle/>
          <a:p>
            <a:pPr marL="0" indent="0">
              <a:buNone/>
            </a:pPr>
            <a:r>
              <a:rPr lang="en-US" sz="3600" dirty="0">
                <a:solidFill>
                  <a:schemeClr val="accent1"/>
                </a:solidFill>
                <a:latin typeface="Cambria" pitchFamily="34" charset="0"/>
                <a:ea typeface="Cambria" pitchFamily="34" charset="-122"/>
                <a:cs typeface="Cambria" pitchFamily="34" charset="-120"/>
              </a:rPr>
              <a:t>50</a:t>
            </a:r>
          </a:p>
        </p:txBody>
      </p:sp>
      <p:sp>
        <p:nvSpPr>
          <p:cNvPr id="20" name="text-70"/>
          <p:cNvSpPr txBox="1"/>
          <p:nvPr/>
        </p:nvSpPr>
        <p:spPr>
          <a:xfrm>
            <a:off x="9281160" y="3611880"/>
            <a:ext cx="2103120" cy="365760"/>
          </a:xfrm>
          <a:prstGeom prst="rect">
            <a:avLst/>
          </a:prstGeom>
          <a:noFill/>
          <a:ln/>
        </p:spPr>
        <p:txBody>
          <a:bodyPr wrap="square" lIns="0" tIns="0" rIns="0" bIns="0" rtlCol="0" anchor="t"/>
          <a:lstStyle/>
          <a:p>
            <a:pPr marL="0" indent="0">
              <a:buNone/>
            </a:pPr>
            <a:r>
              <a:rPr lang="en-US" sz="1500" dirty="0">
                <a:solidFill>
                  <a:schemeClr val="tx1"/>
                </a:solidFill>
              </a:rPr>
              <a:t>max Newton its</a:t>
            </a:r>
          </a:p>
        </p:txBody>
      </p:sp>
      <p:sp>
        <p:nvSpPr>
          <p:cNvPr id="21" name="text-71"/>
          <p:cNvSpPr txBox="1"/>
          <p:nvPr/>
        </p:nvSpPr>
        <p:spPr>
          <a:xfrm>
            <a:off x="9281160" y="3977640"/>
            <a:ext cx="2103120" cy="502920"/>
          </a:xfrm>
          <a:prstGeom prst="rect">
            <a:avLst/>
          </a:prstGeom>
          <a:noFill/>
          <a:ln/>
        </p:spPr>
        <p:txBody>
          <a:bodyPr wrap="square" lIns="0" tIns="0" rIns="0" bIns="0" rtlCol="0" anchor="t"/>
          <a:lstStyle>
            <a:lvl1pPr indent="0">
              <a:buNone/>
              <a:defRPr sz="1200">
                <a:solidFill>
                  <a:schemeClr val="accent5"/>
                </a:solidFill>
              </a:defRPr>
            </a:lvl1pPr>
          </a:lstStyle>
          <a:p>
            <a:r>
              <a:rPr lang="en-US" dirty="0"/>
              <a:t>per warm start; more counts as a failure</a:t>
            </a:r>
          </a:p>
        </p:txBody>
      </p:sp>
      <p:sp>
        <p:nvSpPr>
          <p:cNvPr id="22" name="text-72"/>
          <p:cNvSpPr txBox="1"/>
          <p:nvPr/>
        </p:nvSpPr>
        <p:spPr>
          <a:xfrm>
            <a:off x="548640" y="4892040"/>
            <a:ext cx="11064240" cy="1097280"/>
          </a:xfrm>
          <a:prstGeom prst="rect">
            <a:avLst/>
          </a:prstGeom>
          <a:noFill/>
          <a:ln/>
        </p:spPr>
        <p:txBody>
          <a:bodyPr wrap="square" lIns="0" tIns="0" rIns="0" bIns="0" rtlCol="0" anchor="t"/>
          <a:lstStyle/>
          <a:p>
            <a:pPr marL="0" indent="0">
              <a:buNone/>
            </a:pPr>
            <a:r>
              <a:rPr lang="en-US" sz="1600" dirty="0">
                <a:solidFill>
                  <a:schemeClr val="tx2"/>
                </a:solidFill>
              </a:rPr>
              <a:t>At a fold of the solution branch, the Jacobian becomes singular, so the snap surface is exactly where the Newton solver fails, and where the continuation logic has to take over.</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22960" y="2377440"/>
            <a:ext cx="10515600" cy="1097280"/>
          </a:xfrm>
          <a:prstGeom prst="rect">
            <a:avLst/>
          </a:prstGeom>
          <a:noFill/>
          <a:ln/>
        </p:spPr>
        <p:txBody>
          <a:bodyPr wrap="square" lIns="0" tIns="0" rIns="0" bIns="0" rtlCol="0" anchor="b"/>
          <a:lstStyle/>
          <a:p>
            <a:pPr marL="0" indent="0" algn="l">
              <a:buNone/>
            </a:pPr>
            <a:r>
              <a:rPr lang="en-US" sz="4000" b="1" dirty="0">
                <a:solidFill>
                  <a:schemeClr val="bg1"/>
                </a:solidFill>
              </a:rPr>
              <a:t>The snap surface</a:t>
            </a:r>
            <a:endParaRPr lang="en-US" sz="4000" dirty="0"/>
          </a:p>
        </p:txBody>
      </p:sp>
      <p:sp>
        <p:nvSpPr>
          <p:cNvPr id="3" name="Text 0"/>
          <p:cNvSpPr>
            <a:spLocks noGrp="1"/>
          </p:cNvSpPr>
          <p:nvPr>
            <p:ph type="body" idx="101" hasCustomPrompt="1"/>
          </p:nvPr>
        </p:nvSpPr>
        <p:spPr>
          <a:xfrm>
            <a:off x="822960" y="3657600"/>
            <a:ext cx="10515600" cy="822960"/>
          </a:xfrm>
          <a:prstGeom prst="rect">
            <a:avLst/>
          </a:prstGeom>
          <a:noFill/>
          <a:ln/>
        </p:spPr>
        <p:txBody>
          <a:bodyPr wrap="square" lIns="0" tIns="0" rIns="0" bIns="0" rtlCol="0" anchor="t"/>
          <a:lstStyle/>
          <a:p>
            <a:pPr marL="0" indent="0">
              <a:buNone/>
            </a:pPr>
            <a:r>
              <a:rPr lang="en-US" sz="2000" dirty="0">
                <a:solidFill>
                  <a:schemeClr val="accent1"/>
                </a:solidFill>
              </a:rPr>
              <a:t>Where the equilibrium jumps from one branch to another</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Two equilibria 0.01 rad apart: the rod has snapped</a:t>
            </a:r>
            <a:endParaRPr lang="en-US" sz="3000" dirty="0"/>
          </a:p>
        </p:txBody>
      </p:sp>
      <p:pic>
        <p:nvPicPr>
          <p:cNvPr id="3" name="figure-84" descr="Two rod shapes at d = 0.90, phi2 = 0, either side of the snap"/>
          <p:cNvPicPr>
            <a:picLocks noChangeAspect="1"/>
          </p:cNvPicPr>
          <p:nvPr/>
        </p:nvPicPr>
        <p:blipFill>
          <a:blip r:embed="rId3"/>
          <a:stretch>
            <a:fillRect/>
          </a:stretch>
        </p:blipFill>
        <p:spPr>
          <a:xfrm>
            <a:off x="365760" y="1762507"/>
            <a:ext cx="6035040" cy="3072733"/>
          </a:xfrm>
          <a:prstGeom prst="rect">
            <a:avLst/>
          </a:prstGeom>
        </p:spPr>
      </p:pic>
      <p:sp>
        <p:nvSpPr>
          <p:cNvPr id="4" name="text-85"/>
          <p:cNvSpPr txBox="1"/>
          <p:nvPr/>
        </p:nvSpPr>
        <p:spPr>
          <a:xfrm>
            <a:off x="548640" y="5394960"/>
            <a:ext cx="5669280" cy="365760"/>
          </a:xfrm>
          <a:prstGeom prst="rect">
            <a:avLst/>
          </a:prstGeom>
          <a:noFill/>
          <a:ln/>
        </p:spPr>
        <p:txBody>
          <a:bodyPr wrap="square" lIns="0" tIns="0" rIns="0" bIns="0" rtlCol="0" anchor="t"/>
          <a:lstStyle/>
          <a:p>
            <a:pPr marL="0" indent="0">
              <a:buNone/>
            </a:pPr>
            <a:r>
              <a:rPr lang="en-US" sz="1100" i="1" dirty="0">
                <a:solidFill>
                  <a:schemeClr val="accent5"/>
                </a:solidFill>
              </a:rPr>
              <a:t>d = 0.90, φ₂ = 0, production run. Converged solutions on either side of the jump.</a:t>
            </a:r>
          </a:p>
        </p:txBody>
      </p:sp>
      <p:sp>
        <p:nvSpPr>
          <p:cNvPr id="5" name="text-86"/>
          <p:cNvSpPr txBox="1"/>
          <p:nvPr/>
        </p:nvSpPr>
        <p:spPr>
          <a:xfrm>
            <a:off x="6766560" y="1463040"/>
            <a:ext cx="4846320" cy="411480"/>
          </a:xfrm>
          <a:prstGeom prst="rect">
            <a:avLst/>
          </a:prstGeom>
          <a:noFill/>
          <a:ln/>
        </p:spPr>
        <p:txBody>
          <a:bodyPr wrap="square" lIns="0" tIns="0" rIns="0" bIns="0" rtlCol="0" anchor="t"/>
          <a:lstStyle/>
          <a:p>
            <a:pPr marL="0" indent="0">
              <a:buNone/>
            </a:pPr>
            <a:r>
              <a:rPr lang="en-US" sz="1900" b="1" dirty="0">
                <a:solidFill>
                  <a:schemeClr val="accent1"/>
                </a:solidFill>
              </a:rPr>
              <a:t>Why Newton struggles here</a:t>
            </a:r>
            <a:endParaRPr lang="en-US" sz="1900" dirty="0"/>
          </a:p>
        </p:txBody>
      </p:sp>
      <p:sp>
        <p:nvSpPr>
          <p:cNvPr id="6" name="badge-87"/>
          <p:cNvSpPr/>
          <p:nvPr/>
        </p:nvSpPr>
        <p:spPr>
          <a:xfrm>
            <a:off x="6766560" y="2148840"/>
            <a:ext cx="384048" cy="384048"/>
          </a:xfrm>
          <a:prstGeom prst="ellipse">
            <a:avLst/>
          </a:prstGeom>
          <a:solidFill>
            <a:schemeClr val="accent1"/>
          </a:solidFill>
          <a:ln/>
        </p:spPr>
        <p:txBody>
          <a:bodyPr/>
          <a:lstStyle/>
          <a:p>
            <a:endParaRPr lang="en-IN"/>
          </a:p>
        </p:txBody>
      </p:sp>
      <p:sp>
        <p:nvSpPr>
          <p:cNvPr id="7" name="badge-label-88"/>
          <p:cNvSpPr txBox="1"/>
          <p:nvPr/>
        </p:nvSpPr>
        <p:spPr>
          <a:xfrm>
            <a:off x="6766560" y="214884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step-89"/>
          <p:cNvSpPr txBox="1"/>
          <p:nvPr/>
        </p:nvSpPr>
        <p:spPr>
          <a:xfrm>
            <a:off x="7315200" y="2121408"/>
            <a:ext cx="4297680" cy="1143000"/>
          </a:xfrm>
          <a:prstGeom prst="rect">
            <a:avLst/>
          </a:prstGeom>
          <a:noFill/>
          <a:ln/>
        </p:spPr>
        <p:txBody>
          <a:bodyPr wrap="square" lIns="0" tIns="0" rIns="0" bIns="0" rtlCol="0" anchor="t"/>
          <a:lstStyle/>
          <a:p>
            <a:pPr marL="0" indent="0">
              <a:spcAft>
                <a:spcPts val="200"/>
              </a:spcAft>
              <a:buNone/>
            </a:pPr>
            <a:r>
              <a:rPr lang="en-US" sz="1500" b="1" dirty="0">
                <a:solidFill>
                  <a:schemeClr val="tx1"/>
                </a:solidFill>
              </a:rPr>
              <a:t>Fold</a:t>
            </a:r>
            <a:endParaRPr lang="en-US" sz="1500" dirty="0"/>
          </a:p>
          <a:p>
            <a:pPr marL="0" indent="0">
              <a:spcAft>
                <a:spcPts val="200"/>
              </a:spcAft>
              <a:buNone/>
            </a:pPr>
            <a:r>
              <a:rPr lang="en-US" sz="1500" dirty="0">
                <a:solidFill>
                  <a:schemeClr val="tx1"/>
                </a:solidFill>
              </a:rPr>
              <a:t>The branch ends; the Jacobian goes singular and Newton steps blow up.</a:t>
            </a:r>
            <a:endParaRPr lang="en-US" sz="1500" dirty="0"/>
          </a:p>
        </p:txBody>
      </p:sp>
      <p:sp>
        <p:nvSpPr>
          <p:cNvPr id="9" name="badge-90"/>
          <p:cNvSpPr/>
          <p:nvPr/>
        </p:nvSpPr>
        <p:spPr>
          <a:xfrm>
            <a:off x="6766560" y="3383280"/>
            <a:ext cx="384048" cy="384048"/>
          </a:xfrm>
          <a:prstGeom prst="ellipse">
            <a:avLst/>
          </a:prstGeom>
          <a:solidFill>
            <a:schemeClr val="accent1"/>
          </a:solidFill>
          <a:ln/>
        </p:spPr>
        <p:txBody>
          <a:bodyPr/>
          <a:lstStyle/>
          <a:p>
            <a:endParaRPr lang="en-IN"/>
          </a:p>
        </p:txBody>
      </p:sp>
      <p:sp>
        <p:nvSpPr>
          <p:cNvPr id="10" name="badge-label-91"/>
          <p:cNvSpPr txBox="1"/>
          <p:nvPr/>
        </p:nvSpPr>
        <p:spPr>
          <a:xfrm>
            <a:off x="6766560" y="33832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step-92"/>
          <p:cNvSpPr txBox="1"/>
          <p:nvPr/>
        </p:nvSpPr>
        <p:spPr>
          <a:xfrm>
            <a:off x="7315200" y="3355848"/>
            <a:ext cx="4297680" cy="1143000"/>
          </a:xfrm>
          <a:prstGeom prst="rect">
            <a:avLst/>
          </a:prstGeom>
          <a:noFill/>
          <a:ln/>
        </p:spPr>
        <p:txBody>
          <a:bodyPr wrap="square" lIns="0" tIns="0" rIns="0" bIns="0" rtlCol="0" anchor="t"/>
          <a:lstStyle/>
          <a:p>
            <a:pPr marL="0" indent="0">
              <a:spcAft>
                <a:spcPts val="200"/>
              </a:spcAft>
              <a:buNone/>
            </a:pPr>
            <a:r>
              <a:rPr lang="en-US" sz="1500" b="1" dirty="0">
                <a:solidFill>
                  <a:schemeClr val="tx1"/>
                </a:solidFill>
              </a:rPr>
              <a:t>Silent branch switch</a:t>
            </a:r>
            <a:endParaRPr lang="en-US" sz="1500" dirty="0"/>
          </a:p>
          <a:p>
            <a:pPr marL="0" indent="0">
              <a:spcAft>
                <a:spcPts val="200"/>
              </a:spcAft>
              <a:buNone/>
            </a:pPr>
            <a:r>
              <a:rPr lang="en-US" sz="1500" dirty="0">
                <a:solidFill>
                  <a:schemeClr val="tx1"/>
                </a:solidFill>
              </a:rPr>
              <a:t>A warm start from one side converges, but to the other branch.</a:t>
            </a:r>
            <a:endParaRPr lang="en-US" sz="1500" dirty="0"/>
          </a:p>
        </p:txBody>
      </p:sp>
      <p:sp>
        <p:nvSpPr>
          <p:cNvPr id="12" name="badge-93"/>
          <p:cNvSpPr/>
          <p:nvPr/>
        </p:nvSpPr>
        <p:spPr>
          <a:xfrm>
            <a:off x="6766560" y="4617720"/>
            <a:ext cx="384048" cy="384048"/>
          </a:xfrm>
          <a:prstGeom prst="ellipse">
            <a:avLst/>
          </a:prstGeom>
          <a:solidFill>
            <a:schemeClr val="accent1"/>
          </a:solidFill>
          <a:ln/>
        </p:spPr>
        <p:txBody>
          <a:bodyPr/>
          <a:lstStyle/>
          <a:p>
            <a:endParaRPr lang="en-IN"/>
          </a:p>
        </p:txBody>
      </p:sp>
      <p:sp>
        <p:nvSpPr>
          <p:cNvPr id="13" name="badge-label-94"/>
          <p:cNvSpPr txBox="1"/>
          <p:nvPr/>
        </p:nvSpPr>
        <p:spPr>
          <a:xfrm>
            <a:off x="6766560" y="461772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step-95"/>
          <p:cNvSpPr txBox="1"/>
          <p:nvPr/>
        </p:nvSpPr>
        <p:spPr>
          <a:xfrm>
            <a:off x="7315200" y="4590288"/>
            <a:ext cx="4297680" cy="1143000"/>
          </a:xfrm>
          <a:prstGeom prst="rect">
            <a:avLst/>
          </a:prstGeom>
          <a:noFill/>
          <a:ln/>
        </p:spPr>
        <p:txBody>
          <a:bodyPr wrap="square" lIns="0" tIns="0" rIns="0" bIns="0" rtlCol="0" anchor="t"/>
          <a:lstStyle/>
          <a:p>
            <a:pPr marL="0" indent="0">
              <a:spcAft>
                <a:spcPts val="200"/>
              </a:spcAft>
              <a:buNone/>
            </a:pPr>
            <a:r>
              <a:rPr lang="en-US" sz="1500" b="1" dirty="0">
                <a:solidFill>
                  <a:schemeClr val="tx1"/>
                </a:solidFill>
              </a:rPr>
              <a:t>Residual can't tell</a:t>
            </a:r>
            <a:endParaRPr lang="en-US" sz="1500" dirty="0"/>
          </a:p>
          <a:p>
            <a:pPr marL="0" indent="0">
              <a:spcAft>
                <a:spcPts val="200"/>
              </a:spcAft>
              <a:buNone/>
            </a:pPr>
            <a:r>
              <a:rPr lang="en-US" sz="1500" dirty="0">
                <a:solidFill>
                  <a:schemeClr val="tx1"/>
                </a:solidFill>
              </a:rPr>
              <a:t>Both sides meet 10⁻¹⁰, so convergence alone says nothing about which branch you are on.</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Buckling-mode projection">
    <p:spTree>
      <p:nvGrpSpPr>
        <p:cNvPr id="1" name=""/>
        <p:cNvGrpSpPr/>
        <p:nvPr/>
      </p:nvGrpSpPr>
      <p:grpSpPr>
        <a:xfrm>
          <a:off x="0" y="0"/>
          <a:ext cx="0" cy="0"/>
          <a:chOff x="0" y="0"/>
          <a:chExt cx="0" cy="0"/>
        </a:xfrm>
      </p:grpSpPr>
      <p:sp>
        <p:nvSpPr>
          <p:cNvPr id="2" name="Title"/>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Bent up or bent down: the first buckling mode decides</a:t>
            </a:r>
            <a:endParaRPr lang="en-US" sz="3000" dirty="0"/>
          </a:p>
        </p:txBody>
      </p:sp>
      <p:pic>
        <p:nvPicPr>
          <p:cNvPr id="401" name="figure-401" descr="Bent-up, bent-down and S-shaped rods at d = 0.90 with their projection p, and the first mode"/>
          <p:cNvPicPr>
            <a:picLocks noChangeAspect="1"/>
          </p:cNvPicPr>
          <p:nvPr/>
        </p:nvPicPr>
        <p:blipFill>
          <a:blip r:embed="rId3"/>
          <a:stretch>
            <a:fillRect/>
          </a:stretch>
        </p:blipFill>
        <p:spPr>
          <a:xfrm>
            <a:off x="411480" y="1941694"/>
            <a:ext cx="5669280" cy="3660411"/>
          </a:xfrm>
          <a:prstGeom prst="rect">
            <a:avLst/>
          </a:prstGeom>
        </p:spPr>
      </p:pic>
      <p:sp>
        <p:nvSpPr>
          <p:cNvPr id="402" name="card-402"/>
          <p:cNvSpPr/>
          <p:nvPr/>
        </p:nvSpPr>
        <p:spPr>
          <a:xfrm>
            <a:off x="6355080" y="1417320"/>
            <a:ext cx="5257800" cy="1600200"/>
          </a:xfrm>
          <a:prstGeom prst="roundRect">
            <a:avLst>
              <a:gd name="adj" fmla="val 6000"/>
            </a:avLst>
          </a:prstGeom>
          <a:solidFill>
            <a:schemeClr val="bg2"/>
          </a:solidFill>
          <a:ln>
            <a:noFill/>
          </a:ln>
        </p:spPr>
        <p:txBody>
          <a:bodyPr/>
          <a:lstStyle/>
          <a:p>
            <a:endParaRPr lang="en-US"/>
          </a:p>
        </p:txBody>
      </p:sp>
      <mc:AlternateContent xmlns:mc="http://schemas.openxmlformats.org/markup-compatibility/2006" xmlns:a14="http://schemas.microsoft.com/office/drawing/2010/main">
        <mc:Choice Requires="a14">
          <p:sp>
            <p:nvSpPr>
              <p:cNvPr id="403" name="latex-p"/>
              <p:cNvSpPr txBox="1"/>
              <p:nvPr/>
            </p:nvSpPr>
            <p:spPr>
              <a:xfrm>
                <a:off x="6583680" y="1525524"/>
                <a:ext cx="2002536" cy="688848"/>
              </a:xfrm>
              <a:prstGeom prst="rect">
                <a:avLst/>
              </a:prstGeom>
              <a:noFill/>
            </p:spPr>
            <p:txBody>
              <a:bodyPr wrap="none" lIns="0" tIns="0" rIns="0" bIns="0" rtlCol="0" anchor="ctr">
                <a:noAutofit/>
              </a:bodyPr>
              <a:lstStyle/>
              <a:p>
                <a:pPr marL="0" indent="0">
                  <a:buNone/>
                </a:pPr>
                <a14:m>
                  <m:oMathPara xmlns:m="http://schemas.openxmlformats.org/officeDocument/2006/math">
                    <m:oMathParaPr>
                      <m:jc m:val="left"/>
                    </m:oMathParaPr>
                    <m:oMath>
                      <m:r>
                        <a:rPr lang="en-US" sz="1800" i="1" dirty="0">
                          <a:solidFill>
                            <a:schemeClr val="tx1"/>
                          </a:solidFill>
                          <a:latin typeface="Cambria Math" panose="02040503050406030204" pitchFamily="18" charset="0"/>
                        </a:rPr>
                        <m:t>𝑝</m:t>
                      </m:r>
                      <m:r>
                        <a:rPr lang="en-US" sz="1800" i="1" dirty="0">
                          <a:solidFill>
                            <a:schemeClr val="tx1"/>
                          </a:solidFill>
                          <a:latin typeface="Cambria Math" panose="02040503050406030204" pitchFamily="18" charset="0"/>
                        </a:rPr>
                        <m:t>=</m:t>
                      </m:r>
                      <m:f>
                        <m:fPr>
                          <m:ctrlPr>
                            <a:rPr lang="en-US" sz="1800" i="1" dirty="0">
                              <a:solidFill>
                                <a:schemeClr val="tx1"/>
                              </a:solidFill>
                              <a:latin typeface="Cambria Math" panose="02040503050406030204" pitchFamily="18" charset="0"/>
                            </a:rPr>
                          </m:ctrlPr>
                        </m:fPr>
                        <m:num>
                          <m:r>
                            <a:rPr lang="en-US" sz="1800" i="1" dirty="0">
                              <a:solidFill>
                                <a:schemeClr val="tx1"/>
                              </a:solidFill>
                              <a:latin typeface="Cambria Math" panose="02040503050406030204" pitchFamily="18" charset="0"/>
                            </a:rPr>
                            <m:t>1</m:t>
                          </m:r>
                        </m:num>
                        <m:den>
                          <m:r>
                            <a:rPr lang="en-US" sz="1800" i="1" dirty="0">
                              <a:solidFill>
                                <a:schemeClr val="tx1"/>
                              </a:solidFill>
                              <a:latin typeface="Cambria Math" panose="02040503050406030204" pitchFamily="18" charset="0"/>
                            </a:rPr>
                            <m:t>‖</m:t>
                          </m:r>
                          <m:sSub>
                            <m:sSubPr>
                              <m:ctrlPr>
                                <a:rPr lang="en-US" sz="1800" i="1" dirty="0">
                                  <a:solidFill>
                                    <a:schemeClr val="tx1"/>
                                  </a:solidFill>
                                  <a:latin typeface="Cambria Math" panose="02040503050406030204" pitchFamily="18" charset="0"/>
                                </a:rPr>
                              </m:ctrlPr>
                            </m:sSubPr>
                            <m:e>
                              <m:r>
                                <a:rPr lang="en-US" sz="1800" i="1" dirty="0">
                                  <a:solidFill>
                                    <a:schemeClr val="tx1"/>
                                  </a:solidFill>
                                  <a:latin typeface="Cambria Math" panose="02040503050406030204" pitchFamily="18" charset="0"/>
                                </a:rPr>
                                <m:t>𝑤</m:t>
                              </m:r>
                            </m:e>
                            <m:sub>
                              <m:r>
                                <a:rPr lang="en-US" sz="1800" i="1" dirty="0">
                                  <a:solidFill>
                                    <a:schemeClr val="tx1"/>
                                  </a:solidFill>
                                  <a:latin typeface="Cambria Math" panose="02040503050406030204" pitchFamily="18" charset="0"/>
                                </a:rPr>
                                <m:t>1</m:t>
                              </m:r>
                            </m:sub>
                          </m:sSub>
                          <m:r>
                            <a:rPr lang="en-US" sz="1800" i="1" dirty="0">
                              <a:solidFill>
                                <a:schemeClr val="tx1"/>
                              </a:solidFill>
                              <a:latin typeface="Cambria Math" panose="02040503050406030204" pitchFamily="18" charset="0"/>
                            </a:rPr>
                            <m:t>‖</m:t>
                          </m:r>
                        </m:den>
                      </m:f>
                      <m:nary>
                        <m:naryPr>
                          <m:limLoc m:val="subSup"/>
                          <m:ctrlPr>
                            <a:rPr lang="en-US" sz="1800" i="1" dirty="0">
                              <a:solidFill>
                                <a:schemeClr val="tx1"/>
                              </a:solidFill>
                              <a:latin typeface="Cambria Math" panose="02040503050406030204" pitchFamily="18" charset="0"/>
                            </a:rPr>
                          </m:ctrlPr>
                        </m:naryPr>
                        <m:sub>
                          <m:r>
                            <a:rPr lang="en-US" sz="1800" i="1" dirty="0">
                              <a:solidFill>
                                <a:schemeClr val="tx1"/>
                              </a:solidFill>
                              <a:latin typeface="Cambria Math" panose="02040503050406030204" pitchFamily="18" charset="0"/>
                            </a:rPr>
                            <m:t>0</m:t>
                          </m:r>
                        </m:sub>
                        <m:sup>
                          <m:r>
                            <a:rPr lang="en-US" sz="1800" i="1" dirty="0">
                              <a:solidFill>
                                <a:schemeClr val="tx1"/>
                              </a:solidFill>
                              <a:latin typeface="Cambria Math" panose="02040503050406030204" pitchFamily="18" charset="0"/>
                            </a:rPr>
                            <m:t>𝐿</m:t>
                          </m:r>
                        </m:sup>
                        <m:e>
                          <m:r>
                            <a:rPr lang="en-US" sz="1800" i="1" dirty="0">
                              <a:solidFill>
                                <a:schemeClr val="tx1"/>
                              </a:solidFill>
                              <a:latin typeface="Cambria Math" panose="02040503050406030204" pitchFamily="18" charset="0"/>
                            </a:rPr>
                            <m:t>𝑦</m:t>
                          </m:r>
                        </m:e>
                      </m:nary>
                      <m:r>
                        <a:rPr lang="en-US" sz="1800" i="1" dirty="0">
                          <a:solidFill>
                            <a:schemeClr val="tx1"/>
                          </a:solidFill>
                          <a:latin typeface="Cambria Math" panose="02040503050406030204" pitchFamily="18" charset="0"/>
                        </a:rPr>
                        <m:t> </m:t>
                      </m:r>
                      <m:sSub>
                        <m:sSubPr>
                          <m:ctrlPr>
                            <a:rPr lang="en-US" sz="1800" i="1" dirty="0">
                              <a:solidFill>
                                <a:schemeClr val="tx1"/>
                              </a:solidFill>
                              <a:latin typeface="Cambria Math" panose="02040503050406030204" pitchFamily="18" charset="0"/>
                            </a:rPr>
                          </m:ctrlPr>
                        </m:sSubPr>
                        <m:e>
                          <m:r>
                            <a:rPr lang="en-US" sz="1800" i="1" dirty="0">
                              <a:solidFill>
                                <a:schemeClr val="tx1"/>
                              </a:solidFill>
                              <a:latin typeface="Cambria Math" panose="02040503050406030204" pitchFamily="18" charset="0"/>
                            </a:rPr>
                            <m:t>𝑤</m:t>
                          </m:r>
                        </m:e>
                        <m:sub>
                          <m:r>
                            <a:rPr lang="en-US" sz="1800" i="1" dirty="0">
                              <a:solidFill>
                                <a:schemeClr val="tx1"/>
                              </a:solidFill>
                              <a:latin typeface="Cambria Math" panose="02040503050406030204" pitchFamily="18" charset="0"/>
                            </a:rPr>
                            <m:t>1</m:t>
                          </m:r>
                        </m:sub>
                      </m:sSub>
                      <m:r>
                        <a:rPr lang="en-US" sz="1800" i="1" dirty="0">
                          <a:solidFill>
                            <a:schemeClr val="tx1"/>
                          </a:solidFill>
                          <a:latin typeface="Cambria Math" panose="02040503050406030204" pitchFamily="18" charset="0"/>
                        </a:rPr>
                        <m:t> </m:t>
                      </m:r>
                      <m:r>
                        <a:rPr lang="en-US" sz="1800" i="1" dirty="0">
                          <a:solidFill>
                            <a:schemeClr val="tx1"/>
                          </a:solidFill>
                          <a:latin typeface="Cambria Math" panose="02040503050406030204" pitchFamily="18" charset="0"/>
                        </a:rPr>
                        <m:t>𝑑𝑠</m:t>
                      </m:r>
                    </m:oMath>
                  </m:oMathPara>
                </a14:m>
                <a:endParaRPr lang="en-US" sz="1800" dirty="0"/>
              </a:p>
            </p:txBody>
          </p:sp>
        </mc:Choice>
        <mc:Fallback xmlns="">
          <p:sp>
            <p:nvSpPr>
              <p:cNvPr id="403" name="latex-p"/>
              <p:cNvSpPr txBox="1">
                <a:spLocks noRot="1" noChangeAspect="1" noMove="1" noResize="1" noEditPoints="1" noAdjustHandles="1" noChangeArrowheads="1" noChangeShapeType="1" noTextEdit="1"/>
              </p:cNvSpPr>
              <p:nvPr/>
            </p:nvSpPr>
            <p:spPr>
              <a:xfrm>
                <a:off x="6583680" y="1525524"/>
                <a:ext cx="2002536" cy="688848"/>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4" name="latex-yw"/>
              <p:cNvSpPr txBox="1"/>
              <p:nvPr/>
            </p:nvSpPr>
            <p:spPr>
              <a:xfrm>
                <a:off x="6583680" y="2321052"/>
                <a:ext cx="3520440" cy="524256"/>
              </a:xfrm>
              <a:prstGeom prst="rect">
                <a:avLst/>
              </a:prstGeom>
              <a:noFill/>
            </p:spPr>
            <p:txBody>
              <a:bodyPr wrap="none" lIns="0" tIns="0" rIns="0" bIns="0" rtlCol="0" anchor="ctr">
                <a:noAutofit/>
              </a:bodyPr>
              <a:lstStyle/>
              <a:p>
                <a:pPr marL="0" indent="0">
                  <a:buNone/>
                </a:pPr>
                <a14:m>
                  <m:oMathPara xmlns:m="http://schemas.openxmlformats.org/officeDocument/2006/math">
                    <m:oMathParaPr>
                      <m:jc m:val="left"/>
                    </m:oMathParaPr>
                    <m:oMath>
                      <m:r>
                        <a:rPr lang="en-US" sz="1500" i="1" dirty="0">
                          <a:solidFill>
                            <a:schemeClr val="tx1"/>
                          </a:solidFill>
                          <a:latin typeface="Cambria Math" panose="02040503050406030204" pitchFamily="18" charset="0"/>
                        </a:rPr>
                        <m:t>𝑦</m:t>
                      </m:r>
                      <m:r>
                        <a:rPr lang="en-US" sz="1500" i="1" dirty="0">
                          <a:solidFill>
                            <a:schemeClr val="tx1"/>
                          </a:solidFill>
                          <a:latin typeface="Cambria Math" panose="02040503050406030204" pitchFamily="18" charset="0"/>
                        </a:rPr>
                        <m:t>(</m:t>
                      </m:r>
                      <m:r>
                        <a:rPr lang="en-US" sz="1500" i="1" dirty="0">
                          <a:solidFill>
                            <a:schemeClr val="tx1"/>
                          </a:solidFill>
                          <a:latin typeface="Cambria Math" panose="02040503050406030204" pitchFamily="18" charset="0"/>
                        </a:rPr>
                        <m:t>𝑠</m:t>
                      </m:r>
                      <m:r>
                        <a:rPr lang="en-US" sz="1500" i="1" dirty="0">
                          <a:solidFill>
                            <a:schemeClr val="tx1"/>
                          </a:solidFill>
                          <a:latin typeface="Cambria Math" panose="02040503050406030204" pitchFamily="18" charset="0"/>
                        </a:rPr>
                        <m:t>)=</m:t>
                      </m:r>
                      <m:nary>
                        <m:naryPr>
                          <m:limLoc m:val="subSup"/>
                          <m:ctrlPr>
                            <a:rPr lang="en-US" sz="1500" i="1" dirty="0">
                              <a:solidFill>
                                <a:schemeClr val="tx1"/>
                              </a:solidFill>
                              <a:latin typeface="Cambria Math" panose="02040503050406030204" pitchFamily="18" charset="0"/>
                            </a:rPr>
                          </m:ctrlPr>
                        </m:naryPr>
                        <m:sub>
                          <m:r>
                            <a:rPr lang="en-US" sz="1500" i="1" dirty="0">
                              <a:solidFill>
                                <a:schemeClr val="tx1"/>
                              </a:solidFill>
                              <a:latin typeface="Cambria Math" panose="02040503050406030204" pitchFamily="18" charset="0"/>
                            </a:rPr>
                            <m:t>0</m:t>
                          </m:r>
                        </m:sub>
                        <m:sup>
                          <m:r>
                            <a:rPr lang="en-US" sz="1500" i="1" dirty="0">
                              <a:solidFill>
                                <a:schemeClr val="tx1"/>
                              </a:solidFill>
                              <a:latin typeface="Cambria Math" panose="02040503050406030204" pitchFamily="18" charset="0"/>
                            </a:rPr>
                            <m:t>𝑠</m:t>
                          </m:r>
                        </m:sup>
                        <m:e>
                          <m:r>
                            <m:rPr>
                              <m:sty m:val="p"/>
                            </m:rPr>
                            <a:rPr lang="en-US" sz="1500" i="1" dirty="0">
                              <a:solidFill>
                                <a:schemeClr val="tx1"/>
                              </a:solidFill>
                              <a:latin typeface="Cambria Math" panose="02040503050406030204" pitchFamily="18" charset="0"/>
                            </a:rPr>
                            <m:t>sin</m:t>
                          </m:r>
                        </m:e>
                      </m:nary>
                      <m:r>
                        <a:rPr lang="en-US" sz="1500" i="1" dirty="0">
                          <a:solidFill>
                            <a:schemeClr val="tx1"/>
                          </a:solidFill>
                          <a:latin typeface="Cambria Math" panose="02040503050406030204" pitchFamily="18" charset="0"/>
                        </a:rPr>
                        <m:t>𝜃</m:t>
                      </m:r>
                      <m:r>
                        <a:rPr lang="en-US" sz="1500" i="1" dirty="0">
                          <a:solidFill>
                            <a:schemeClr val="tx1"/>
                          </a:solidFill>
                          <a:latin typeface="Cambria Math" panose="02040503050406030204" pitchFamily="18" charset="0"/>
                        </a:rPr>
                        <m:t> </m:t>
                      </m:r>
                      <m:r>
                        <a:rPr lang="en-US" sz="1500" i="1" dirty="0">
                          <a:solidFill>
                            <a:schemeClr val="tx1"/>
                          </a:solidFill>
                          <a:latin typeface="Cambria Math" panose="02040503050406030204" pitchFamily="18" charset="0"/>
                        </a:rPr>
                        <m:t>𝑑𝑡</m:t>
                      </m:r>
                      <m:r>
                        <a:rPr lang="en-US" sz="1500" i="1" dirty="0">
                          <a:solidFill>
                            <a:schemeClr val="tx1"/>
                          </a:solidFill>
                          <a:latin typeface="Cambria Math" panose="02040503050406030204" pitchFamily="18" charset="0"/>
                        </a:rPr>
                        <m:t>,  </m:t>
                      </m:r>
                      <m:sSub>
                        <m:sSubPr>
                          <m:ctrlPr>
                            <a:rPr lang="en-US" sz="1500" i="1" dirty="0">
                              <a:solidFill>
                                <a:schemeClr val="tx1"/>
                              </a:solidFill>
                              <a:latin typeface="Cambria Math" panose="02040503050406030204" pitchFamily="18" charset="0"/>
                            </a:rPr>
                          </m:ctrlPr>
                        </m:sSubPr>
                        <m:e>
                          <m:r>
                            <a:rPr lang="en-US" sz="1500" i="1" dirty="0">
                              <a:solidFill>
                                <a:schemeClr val="tx1"/>
                              </a:solidFill>
                              <a:latin typeface="Cambria Math" panose="02040503050406030204" pitchFamily="18" charset="0"/>
                            </a:rPr>
                            <m:t>𝑤</m:t>
                          </m:r>
                        </m:e>
                        <m:sub>
                          <m:r>
                            <a:rPr lang="en-US" sz="1500" i="1" dirty="0">
                              <a:solidFill>
                                <a:schemeClr val="tx1"/>
                              </a:solidFill>
                              <a:latin typeface="Cambria Math" panose="02040503050406030204" pitchFamily="18" charset="0"/>
                            </a:rPr>
                            <m:t>1</m:t>
                          </m:r>
                        </m:sub>
                      </m:sSub>
                      <m:r>
                        <a:rPr lang="en-US" sz="1500" i="1" dirty="0">
                          <a:solidFill>
                            <a:schemeClr val="tx1"/>
                          </a:solidFill>
                          <a:latin typeface="Cambria Math" panose="02040503050406030204" pitchFamily="18" charset="0"/>
                        </a:rPr>
                        <m:t>(</m:t>
                      </m:r>
                      <m:r>
                        <a:rPr lang="en-US" sz="1500" i="1" dirty="0">
                          <a:solidFill>
                            <a:schemeClr val="tx1"/>
                          </a:solidFill>
                          <a:latin typeface="Cambria Math" panose="02040503050406030204" pitchFamily="18" charset="0"/>
                        </a:rPr>
                        <m:t>𝑠</m:t>
                      </m:r>
                      <m:r>
                        <a:rPr lang="en-US" sz="1500" i="1" dirty="0">
                          <a:solidFill>
                            <a:schemeClr val="tx1"/>
                          </a:solidFill>
                          <a:latin typeface="Cambria Math" panose="02040503050406030204" pitchFamily="18" charset="0"/>
                        </a:rPr>
                        <m:t>)=1−</m:t>
                      </m:r>
                      <m:r>
                        <m:rPr>
                          <m:sty m:val="p"/>
                        </m:rPr>
                        <a:rPr lang="en-US" sz="1500" i="1" dirty="0">
                          <a:solidFill>
                            <a:schemeClr val="tx1"/>
                          </a:solidFill>
                          <a:latin typeface="Cambria Math" panose="02040503050406030204" pitchFamily="18" charset="0"/>
                        </a:rPr>
                        <m:t>cos</m:t>
                      </m:r>
                      <m:f>
                        <m:fPr>
                          <m:ctrlPr>
                            <a:rPr lang="en-US" sz="1500" i="1" dirty="0">
                              <a:solidFill>
                                <a:schemeClr val="tx1"/>
                              </a:solidFill>
                              <a:latin typeface="Cambria Math" panose="02040503050406030204" pitchFamily="18" charset="0"/>
                            </a:rPr>
                          </m:ctrlPr>
                        </m:fPr>
                        <m:num>
                          <m:r>
                            <a:rPr lang="en-US" sz="1500" i="1" dirty="0">
                              <a:solidFill>
                                <a:schemeClr val="tx1"/>
                              </a:solidFill>
                              <a:latin typeface="Cambria Math" panose="02040503050406030204" pitchFamily="18" charset="0"/>
                            </a:rPr>
                            <m:t>2</m:t>
                          </m:r>
                          <m:r>
                            <a:rPr lang="en-US" sz="1500" i="1" dirty="0">
                              <a:solidFill>
                                <a:schemeClr val="tx1"/>
                              </a:solidFill>
                              <a:latin typeface="Cambria Math" panose="02040503050406030204" pitchFamily="18" charset="0"/>
                            </a:rPr>
                            <m:t>𝜋</m:t>
                          </m:r>
                          <m:r>
                            <a:rPr lang="en-US" sz="1500" i="1" dirty="0">
                              <a:solidFill>
                                <a:schemeClr val="tx1"/>
                              </a:solidFill>
                              <a:latin typeface="Cambria Math" panose="02040503050406030204" pitchFamily="18" charset="0"/>
                            </a:rPr>
                            <m:t>𝑠</m:t>
                          </m:r>
                        </m:num>
                        <m:den>
                          <m:r>
                            <a:rPr lang="en-US" sz="1500" i="1" dirty="0">
                              <a:solidFill>
                                <a:schemeClr val="tx1"/>
                              </a:solidFill>
                              <a:latin typeface="Cambria Math" panose="02040503050406030204" pitchFamily="18" charset="0"/>
                            </a:rPr>
                            <m:t>𝐿</m:t>
                          </m:r>
                        </m:den>
                      </m:f>
                    </m:oMath>
                  </m:oMathPara>
                </a14:m>
                <a:endParaRPr lang="en-US" sz="1500" dirty="0"/>
              </a:p>
            </p:txBody>
          </p:sp>
        </mc:Choice>
        <mc:Fallback xmlns="">
          <p:sp>
            <p:nvSpPr>
              <p:cNvPr id="404" name="latex-yw"/>
              <p:cNvSpPr txBox="1">
                <a:spLocks noRot="1" noChangeAspect="1" noMove="1" noResize="1" noEditPoints="1" noAdjustHandles="1" noChangeArrowheads="1" noChangeShapeType="1" noTextEdit="1"/>
              </p:cNvSpPr>
              <p:nvPr/>
            </p:nvSpPr>
            <p:spPr>
              <a:xfrm>
                <a:off x="6583680" y="2321052"/>
                <a:ext cx="3520440" cy="524256"/>
              </a:xfrm>
              <a:prstGeom prst="rect">
                <a:avLst/>
              </a:prstGeom>
              <a:blipFill>
                <a:blip r:embed="rId5"/>
                <a:stretch>
                  <a:fillRect/>
                </a:stretch>
              </a:blipFill>
            </p:spPr>
            <p:txBody>
              <a:bodyPr/>
              <a:lstStyle/>
              <a:p>
                <a:r>
                  <a:rPr lang="en-US">
                    <a:noFill/>
                  </a:rPr>
                  <a:t> </a:t>
                </a:r>
              </a:p>
            </p:txBody>
          </p:sp>
        </mc:Fallback>
      </mc:AlternateContent>
      <p:sp>
        <p:nvSpPr>
          <p:cNvPr id="405" name="badge-405"/>
          <p:cNvSpPr/>
          <p:nvPr/>
        </p:nvSpPr>
        <p:spPr>
          <a:xfrm>
            <a:off x="6355080" y="331927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1</a:t>
            </a:r>
          </a:p>
        </p:txBody>
      </p:sp>
      <p:sp>
        <p:nvSpPr>
          <p:cNvPr id="406" name="step-406"/>
          <p:cNvSpPr txBox="1"/>
          <p:nvPr/>
        </p:nvSpPr>
        <p:spPr>
          <a:xfrm>
            <a:off x="6903720" y="3291840"/>
            <a:ext cx="4709160" cy="86868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First clamped buckling mode</a:t>
            </a:r>
            <a:endParaRPr lang="en-US" sz="1300" dirty="0"/>
          </a:p>
          <a:p>
            <a:pPr marL="0" indent="0" algn="l">
              <a:spcAft>
                <a:spcPts val="200"/>
              </a:spcAft>
              <a:buNone/>
            </a:pPr>
            <a:r>
              <a:rPr lang="en-US" sz="1300" dirty="0">
                <a:solidFill>
                  <a:schemeClr val="tx1"/>
                </a:solidFill>
              </a:rPr>
              <a:t>w₁ is the symmetric hump; the second mode is antisymmetric and carries no up/down information.</a:t>
            </a:r>
            <a:endParaRPr lang="en-US" sz="1300" dirty="0"/>
          </a:p>
        </p:txBody>
      </p:sp>
      <p:sp>
        <p:nvSpPr>
          <p:cNvPr id="407" name="badge-407"/>
          <p:cNvSpPr/>
          <p:nvPr/>
        </p:nvSpPr>
        <p:spPr>
          <a:xfrm>
            <a:off x="6355080" y="427939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2</a:t>
            </a:r>
          </a:p>
        </p:txBody>
      </p:sp>
      <p:sp>
        <p:nvSpPr>
          <p:cNvPr id="408" name="step-408"/>
          <p:cNvSpPr txBox="1"/>
          <p:nvPr/>
        </p:nvSpPr>
        <p:spPr>
          <a:xfrm>
            <a:off x="6903720" y="4251960"/>
            <a:ext cx="4709160" cy="86868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Sign = branch</a:t>
            </a:r>
            <a:endParaRPr lang="en-US" sz="1300" dirty="0"/>
          </a:p>
          <a:p>
            <a:pPr marL="0" indent="0" algn="l">
              <a:spcAft>
                <a:spcPts val="200"/>
              </a:spcAft>
              <a:buNone/>
            </a:pPr>
            <a:r>
              <a:rPr lang="en-US" sz="1300" dirty="0">
                <a:solidFill>
                  <a:schemeClr val="tx1"/>
                </a:solidFill>
              </a:rPr>
              <a:t>p &gt; 0: bent up.  p &lt; 0: bent down.  The S-shape has p ≈ 0.</a:t>
            </a:r>
            <a:endParaRPr lang="en-US" sz="1300" dirty="0"/>
          </a:p>
        </p:txBody>
      </p:sp>
      <p:sp>
        <p:nvSpPr>
          <p:cNvPr id="409" name="badge-409"/>
          <p:cNvSpPr/>
          <p:nvPr/>
        </p:nvSpPr>
        <p:spPr>
          <a:xfrm>
            <a:off x="6355080" y="523951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3</a:t>
            </a:r>
          </a:p>
        </p:txBody>
      </p:sp>
      <p:sp>
        <p:nvSpPr>
          <p:cNvPr id="410" name="step-410"/>
          <p:cNvSpPr txBox="1"/>
          <p:nvPr/>
        </p:nvSpPr>
        <p:spPr>
          <a:xfrm>
            <a:off x="6903720" y="5212080"/>
            <a:ext cx="4709160" cy="86868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Built-in symmetry</a:t>
            </a:r>
            <a:endParaRPr lang="en-US" sz="1300" dirty="0"/>
          </a:p>
          <a:p>
            <a:pPr marL="0" indent="0" algn="l">
              <a:spcAft>
                <a:spcPts val="200"/>
              </a:spcAft>
              <a:buNone/>
            </a:pPr>
            <a:r>
              <a:rPr lang="en-US" sz="1300" dirty="0">
                <a:solidFill>
                  <a:schemeClr val="tx1"/>
                </a:solidFill>
              </a:rPr>
              <a:t>p is unchanged by the mirror (φ₁, φ₂) → (−φ₂, −φ₁) and flips under (φ₁, φ₂) → (−φ₁, −φ₂).</a:t>
            </a:r>
            <a:endParaRPr lang="en-US" sz="1300" dirty="0"/>
          </a:p>
        </p:txBody>
      </p:sp>
      <p:sp>
        <p:nvSpPr>
          <p:cNvPr id="9" name="Slide Number"/>
          <p:cNvSpPr>
            <a:spLocks noGrp="1"/>
          </p:cNvSpPr>
          <p:nvPr>
            <p:ph type="sldNum" sz="quarter" idx="4294967295"/>
          </p:nvPr>
        </p:nvSpPr>
        <p:spPr>
          <a:xfrm>
            <a:off x="11155680" y="6400800"/>
            <a:ext cx="457200" cy="274320"/>
          </a:xfrm>
          <a:prstGeom prst="rect">
            <a:avLst/>
          </a:prstGeom>
        </p:spPr>
        <p:txBody>
          <a:bodyPr/>
          <a:lstStyle>
            <a:lvl1pPr>
              <a:defRPr sz="1000">
                <a:solidFill>
                  <a:schemeClr val="accent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Jump rule">
    <p:spTree>
      <p:nvGrpSpPr>
        <p:cNvPr id="1" name=""/>
        <p:cNvGrpSpPr/>
        <p:nvPr/>
      </p:nvGrpSpPr>
      <p:grpSpPr>
        <a:xfrm>
          <a:off x="0" y="0"/>
          <a:ext cx="0" cy="0"/>
          <a:chOff x="0" y="0"/>
          <a:chExt cx="0" cy="0"/>
        </a:xfrm>
      </p:grpSpPr>
      <p:sp>
        <p:nvSpPr>
          <p:cNvPr id="2" name="Title"/>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A snap is a sign change of p with a jump</a:t>
            </a:r>
            <a:endParaRPr lang="en-US" sz="3000" dirty="0"/>
          </a:p>
        </p:txBody>
      </p:sp>
      <p:pic>
        <p:nvPicPr>
          <p:cNvPr id="401" name="figure-401" descr="Energy and q along phi1 at d = 0.90, phi2 = 0; q jumps from -1.03 to +0.52 at the snap"/>
          <p:cNvPicPr>
            <a:picLocks noChangeAspect="1"/>
          </p:cNvPicPr>
          <p:nvPr/>
        </p:nvPicPr>
        <p:blipFill>
          <a:blip r:embed="rId3"/>
          <a:stretch>
            <a:fillRect/>
          </a:stretch>
        </p:blipFill>
        <p:spPr>
          <a:xfrm>
            <a:off x="411480" y="1502786"/>
            <a:ext cx="5669280" cy="4538228"/>
          </a:xfrm>
          <a:prstGeom prst="rect">
            <a:avLst/>
          </a:prstGeom>
        </p:spPr>
      </p:pic>
      <p:sp>
        <p:nvSpPr>
          <p:cNvPr id="402" name="card-402"/>
          <p:cNvSpPr/>
          <p:nvPr/>
        </p:nvSpPr>
        <p:spPr>
          <a:xfrm>
            <a:off x="6355080" y="1417320"/>
            <a:ext cx="5257800" cy="1600200"/>
          </a:xfrm>
          <a:prstGeom prst="roundRect">
            <a:avLst>
              <a:gd name="adj" fmla="val 6000"/>
            </a:avLst>
          </a:prstGeom>
          <a:solidFill>
            <a:schemeClr val="bg2"/>
          </a:solidFill>
          <a:ln>
            <a:noFill/>
          </a:ln>
        </p:spPr>
        <p:txBody>
          <a:bodyPr/>
          <a:lstStyle/>
          <a:p>
            <a:endParaRPr lang="en-US"/>
          </a:p>
        </p:txBody>
      </p:sp>
      <mc:AlternateContent xmlns:mc="http://schemas.openxmlformats.org/markup-compatibility/2006" xmlns:a14="http://schemas.microsoft.com/office/drawing/2010/main">
        <mc:Choice Requires="a14">
          <p:sp>
            <p:nvSpPr>
              <p:cNvPr id="403" name="latex-q"/>
              <p:cNvSpPr txBox="1"/>
              <p:nvPr/>
            </p:nvSpPr>
            <p:spPr>
              <a:xfrm>
                <a:off x="6583680" y="1543812"/>
                <a:ext cx="853440" cy="515112"/>
              </a:xfrm>
              <a:prstGeom prst="rect">
                <a:avLst/>
              </a:prstGeom>
              <a:noFill/>
            </p:spPr>
            <p:txBody>
              <a:bodyPr wrap="none" lIns="0" tIns="0" rIns="0" bIns="0" rtlCol="0" anchor="ctr">
                <a:noAutofit/>
              </a:bodyPr>
              <a:lstStyle/>
              <a:p>
                <a:pPr marL="0" indent="0">
                  <a:buNone/>
                </a:pPr>
                <a14:m>
                  <m:oMathPara xmlns:m="http://schemas.openxmlformats.org/officeDocument/2006/math">
                    <m:oMathParaPr>
                      <m:jc m:val="left"/>
                    </m:oMathParaPr>
                    <m:oMath>
                      <m:r>
                        <a:rPr lang="en-US" sz="1800" i="1" dirty="0">
                          <a:solidFill>
                            <a:schemeClr val="tx1"/>
                          </a:solidFill>
                          <a:latin typeface="Cambria Math" panose="02040503050406030204" pitchFamily="18" charset="0"/>
                        </a:rPr>
                        <m:t>𝑞</m:t>
                      </m:r>
                      <m:r>
                        <a:rPr lang="en-US" sz="1800" i="1" dirty="0">
                          <a:solidFill>
                            <a:schemeClr val="tx1"/>
                          </a:solidFill>
                          <a:latin typeface="Cambria Math" panose="02040503050406030204" pitchFamily="18" charset="0"/>
                        </a:rPr>
                        <m:t>=</m:t>
                      </m:r>
                      <m:f>
                        <m:fPr>
                          <m:ctrlPr>
                            <a:rPr lang="en-US" sz="1800" i="1" dirty="0">
                              <a:solidFill>
                                <a:schemeClr val="tx1"/>
                              </a:solidFill>
                              <a:latin typeface="Cambria Math" panose="02040503050406030204" pitchFamily="18" charset="0"/>
                            </a:rPr>
                          </m:ctrlPr>
                        </m:fPr>
                        <m:num>
                          <m:r>
                            <a:rPr lang="en-US" sz="1800" i="1" dirty="0">
                              <a:solidFill>
                                <a:schemeClr val="tx1"/>
                              </a:solidFill>
                              <a:latin typeface="Cambria Math" panose="02040503050406030204" pitchFamily="18" charset="0"/>
                            </a:rPr>
                            <m:t>𝑝</m:t>
                          </m:r>
                        </m:num>
                        <m:den>
                          <m:r>
                            <a:rPr lang="en-US" sz="1800" i="1" dirty="0">
                              <a:solidFill>
                                <a:schemeClr val="tx1"/>
                              </a:solidFill>
                              <a:latin typeface="Cambria Math" panose="02040503050406030204" pitchFamily="18" charset="0"/>
                            </a:rPr>
                            <m:t>𝑎</m:t>
                          </m:r>
                          <m:r>
                            <a:rPr lang="en-US" sz="1800" i="1" dirty="0">
                              <a:solidFill>
                                <a:schemeClr val="tx1"/>
                              </a:solidFill>
                              <a:latin typeface="Cambria Math" panose="02040503050406030204" pitchFamily="18" charset="0"/>
                            </a:rPr>
                            <m:t>(</m:t>
                          </m:r>
                          <m:r>
                            <a:rPr lang="en-US" sz="1800" i="1" dirty="0">
                              <a:solidFill>
                                <a:schemeClr val="tx1"/>
                              </a:solidFill>
                              <a:latin typeface="Cambria Math" panose="02040503050406030204" pitchFamily="18" charset="0"/>
                            </a:rPr>
                            <m:t>𝑑</m:t>
                          </m:r>
                          <m:r>
                            <a:rPr lang="en-US" sz="1800" i="1" dirty="0">
                              <a:solidFill>
                                <a:schemeClr val="tx1"/>
                              </a:solidFill>
                              <a:latin typeface="Cambria Math" panose="02040503050406030204" pitchFamily="18" charset="0"/>
                            </a:rPr>
                            <m:t>)</m:t>
                          </m:r>
                        </m:den>
                      </m:f>
                    </m:oMath>
                  </m:oMathPara>
                </a14:m>
                <a:endParaRPr lang="en-US" sz="1800" dirty="0"/>
              </a:p>
            </p:txBody>
          </p:sp>
        </mc:Choice>
        <mc:Fallback xmlns="">
          <p:sp>
            <p:nvSpPr>
              <p:cNvPr id="403" name="latex-q"/>
              <p:cNvSpPr txBox="1">
                <a:spLocks noRot="1" noChangeAspect="1" noMove="1" noResize="1" noEditPoints="1" noAdjustHandles="1" noChangeArrowheads="1" noChangeShapeType="1" noTextEdit="1"/>
              </p:cNvSpPr>
              <p:nvPr/>
            </p:nvSpPr>
            <p:spPr>
              <a:xfrm>
                <a:off x="6583680" y="1543812"/>
                <a:ext cx="853440" cy="51511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4" name="latex-jump"/>
              <p:cNvSpPr txBox="1"/>
              <p:nvPr/>
            </p:nvSpPr>
            <p:spPr>
              <a:xfrm>
                <a:off x="6583680" y="2302764"/>
                <a:ext cx="3453384" cy="423672"/>
              </a:xfrm>
              <a:prstGeom prst="rect">
                <a:avLst/>
              </a:prstGeom>
              <a:noFill/>
            </p:spPr>
            <p:txBody>
              <a:bodyPr wrap="none" lIns="0" tIns="0" rIns="0" bIns="0" rtlCol="0" anchor="ctr">
                <a:noAutofit/>
              </a:bodyPr>
              <a:lstStyle/>
              <a:p>
                <a:pPr marL="0" indent="0">
                  <a:buNone/>
                </a:pPr>
                <a14:m>
                  <m:oMathPara xmlns:m="http://schemas.openxmlformats.org/officeDocument/2006/math">
                    <m:oMathParaPr>
                      <m:jc m:val="left"/>
                    </m:oMathParaPr>
                    <m:oMath>
                      <m:r>
                        <a:rPr lang="en-US" sz="1500" i="1" dirty="0">
                          <a:solidFill>
                            <a:schemeClr val="tx1"/>
                          </a:solidFill>
                          <a:latin typeface="Cambria Math" panose="02040503050406030204" pitchFamily="18" charset="0"/>
                        </a:rPr>
                        <m:t>|</m:t>
                      </m:r>
                      <m:r>
                        <m:rPr>
                          <m:sty m:val="p"/>
                        </m:rPr>
                        <a:rPr lang="en-US" sz="1500" i="1" dirty="0">
                          <a:solidFill>
                            <a:schemeClr val="tx1"/>
                          </a:solidFill>
                          <a:latin typeface="Cambria Math" panose="02040503050406030204" pitchFamily="18" charset="0"/>
                        </a:rPr>
                        <m:t>Δ</m:t>
                      </m:r>
                      <m:r>
                        <a:rPr lang="en-US" sz="1500" i="1" dirty="0">
                          <a:solidFill>
                            <a:schemeClr val="tx1"/>
                          </a:solidFill>
                          <a:latin typeface="Cambria Math" panose="02040503050406030204" pitchFamily="18" charset="0"/>
                        </a:rPr>
                        <m:t>𝑞</m:t>
                      </m:r>
                      <m:r>
                        <a:rPr lang="en-US" sz="1500" i="1" dirty="0">
                          <a:solidFill>
                            <a:schemeClr val="tx1"/>
                          </a:solidFill>
                          <a:latin typeface="Cambria Math" panose="02040503050406030204" pitchFamily="18" charset="0"/>
                        </a:rPr>
                        <m:t>|&gt;0.17 </m:t>
                      </m:r>
                      <m:r>
                        <m:rPr>
                          <m:sty m:val="p"/>
                        </m:rPr>
                        <a:rPr lang="en-US" sz="1500" i="1" dirty="0">
                          <a:solidFill>
                            <a:schemeClr val="tx1"/>
                          </a:solidFill>
                          <a:latin typeface="Cambria Math" panose="02040503050406030204" pitchFamily="18" charset="0"/>
                        </a:rPr>
                        <m:t>and</m:t>
                      </m:r>
                      <m:r>
                        <a:rPr lang="en-US" sz="1500" i="1" dirty="0">
                          <a:solidFill>
                            <a:schemeClr val="tx1"/>
                          </a:solidFill>
                          <a:latin typeface="Cambria Math" panose="02040503050406030204" pitchFamily="18" charset="0"/>
                        </a:rPr>
                        <m:t> |</m:t>
                      </m:r>
                      <m:r>
                        <m:rPr>
                          <m:sty m:val="p"/>
                        </m:rPr>
                        <a:rPr lang="en-US" sz="1500" i="1" dirty="0">
                          <a:solidFill>
                            <a:schemeClr val="tx1"/>
                          </a:solidFill>
                          <a:latin typeface="Cambria Math" panose="02040503050406030204" pitchFamily="18" charset="0"/>
                        </a:rPr>
                        <m:t>Δ</m:t>
                      </m:r>
                      <m:r>
                        <a:rPr lang="en-US" sz="1500" i="1" dirty="0">
                          <a:solidFill>
                            <a:schemeClr val="tx1"/>
                          </a:solidFill>
                          <a:latin typeface="Cambria Math" panose="02040503050406030204" pitchFamily="18" charset="0"/>
                        </a:rPr>
                        <m:t>𝑞</m:t>
                      </m:r>
                      <m:r>
                        <a:rPr lang="en-US" sz="1500" i="1" dirty="0">
                          <a:solidFill>
                            <a:schemeClr val="tx1"/>
                          </a:solidFill>
                          <a:latin typeface="Cambria Math" panose="02040503050406030204" pitchFamily="18" charset="0"/>
                        </a:rPr>
                        <m:t>|&gt;</m:t>
                      </m:r>
                      <m:f>
                        <m:fPr>
                          <m:ctrlPr>
                            <a:rPr lang="en-US" sz="1500" i="1" dirty="0">
                              <a:solidFill>
                                <a:schemeClr val="tx1"/>
                              </a:solidFill>
                              <a:latin typeface="Cambria Math" panose="02040503050406030204" pitchFamily="18" charset="0"/>
                            </a:rPr>
                          </m:ctrlPr>
                        </m:fPr>
                        <m:num>
                          <m:r>
                            <a:rPr lang="en-US" sz="1500" i="1" dirty="0">
                              <a:solidFill>
                                <a:schemeClr val="tx1"/>
                              </a:solidFill>
                              <a:latin typeface="Cambria Math" panose="02040503050406030204" pitchFamily="18" charset="0"/>
                            </a:rPr>
                            <m:t>1</m:t>
                          </m:r>
                        </m:num>
                        <m:den>
                          <m:r>
                            <a:rPr lang="en-US" sz="1500" i="1" dirty="0">
                              <a:solidFill>
                                <a:schemeClr val="tx1"/>
                              </a:solidFill>
                              <a:latin typeface="Cambria Math" panose="02040503050406030204" pitchFamily="18" charset="0"/>
                            </a:rPr>
                            <m:t>2</m:t>
                          </m:r>
                        </m:den>
                      </m:f>
                      <m:r>
                        <m:rPr>
                          <m:sty m:val="p"/>
                        </m:rPr>
                        <a:rPr lang="en-US" sz="1500" i="1" dirty="0">
                          <a:solidFill>
                            <a:schemeClr val="tx1"/>
                          </a:solidFill>
                          <a:latin typeface="Cambria Math" panose="02040503050406030204" pitchFamily="18" charset="0"/>
                        </a:rPr>
                        <m:t>max</m:t>
                      </m:r>
                      <m:r>
                        <a:rPr lang="en-US" sz="1500" i="1" dirty="0">
                          <a:solidFill>
                            <a:schemeClr val="tx1"/>
                          </a:solidFill>
                          <a:latin typeface="Cambria Math" panose="02040503050406030204" pitchFamily="18" charset="0"/>
                        </a:rPr>
                        <m:t>(|</m:t>
                      </m:r>
                      <m:sSub>
                        <m:sSubPr>
                          <m:ctrlPr>
                            <a:rPr lang="en-US" sz="1500" i="1" dirty="0">
                              <a:solidFill>
                                <a:schemeClr val="tx1"/>
                              </a:solidFill>
                              <a:latin typeface="Cambria Math" panose="02040503050406030204" pitchFamily="18" charset="0"/>
                            </a:rPr>
                          </m:ctrlPr>
                        </m:sSubPr>
                        <m:e>
                          <m:r>
                            <a:rPr lang="en-US" sz="1500" i="1" dirty="0">
                              <a:solidFill>
                                <a:schemeClr val="tx1"/>
                              </a:solidFill>
                              <a:latin typeface="Cambria Math" panose="02040503050406030204" pitchFamily="18" charset="0"/>
                            </a:rPr>
                            <m:t>𝑞</m:t>
                          </m:r>
                        </m:e>
                        <m:sub>
                          <m:r>
                            <a:rPr lang="en-US" sz="1500" i="1" dirty="0">
                              <a:solidFill>
                                <a:schemeClr val="tx1"/>
                              </a:solidFill>
                              <a:latin typeface="Cambria Math" panose="02040503050406030204" pitchFamily="18" charset="0"/>
                            </a:rPr>
                            <m:t>𝑎</m:t>
                          </m:r>
                        </m:sub>
                      </m:sSub>
                      <m:r>
                        <a:rPr lang="en-US" sz="1500" i="1" dirty="0">
                          <a:solidFill>
                            <a:schemeClr val="tx1"/>
                          </a:solidFill>
                          <a:latin typeface="Cambria Math" panose="02040503050406030204" pitchFamily="18" charset="0"/>
                        </a:rPr>
                        <m:t>|,|</m:t>
                      </m:r>
                      <m:sSub>
                        <m:sSubPr>
                          <m:ctrlPr>
                            <a:rPr lang="en-US" sz="1500" i="1" dirty="0">
                              <a:solidFill>
                                <a:schemeClr val="tx1"/>
                              </a:solidFill>
                              <a:latin typeface="Cambria Math" panose="02040503050406030204" pitchFamily="18" charset="0"/>
                            </a:rPr>
                          </m:ctrlPr>
                        </m:sSubPr>
                        <m:e>
                          <m:r>
                            <a:rPr lang="en-US" sz="1500" i="1" dirty="0">
                              <a:solidFill>
                                <a:schemeClr val="tx1"/>
                              </a:solidFill>
                              <a:latin typeface="Cambria Math" panose="02040503050406030204" pitchFamily="18" charset="0"/>
                            </a:rPr>
                            <m:t>𝑞</m:t>
                          </m:r>
                        </m:e>
                        <m:sub>
                          <m:r>
                            <a:rPr lang="en-US" sz="1500" i="1" dirty="0">
                              <a:solidFill>
                                <a:schemeClr val="tx1"/>
                              </a:solidFill>
                              <a:latin typeface="Cambria Math" panose="02040503050406030204" pitchFamily="18" charset="0"/>
                            </a:rPr>
                            <m:t>𝑏</m:t>
                          </m:r>
                        </m:sub>
                      </m:sSub>
                      <m:r>
                        <a:rPr lang="en-US" sz="1500" i="1" dirty="0">
                          <a:solidFill>
                            <a:schemeClr val="tx1"/>
                          </a:solidFill>
                          <a:latin typeface="Cambria Math" panose="02040503050406030204" pitchFamily="18" charset="0"/>
                        </a:rPr>
                        <m:t>|)</m:t>
                      </m:r>
                    </m:oMath>
                  </m:oMathPara>
                </a14:m>
                <a:endParaRPr lang="en-US" sz="1500" dirty="0"/>
              </a:p>
            </p:txBody>
          </p:sp>
        </mc:Choice>
        <mc:Fallback xmlns="">
          <p:sp>
            <p:nvSpPr>
              <p:cNvPr id="404" name="latex-jump"/>
              <p:cNvSpPr txBox="1">
                <a:spLocks noRot="1" noChangeAspect="1" noMove="1" noResize="1" noEditPoints="1" noAdjustHandles="1" noChangeArrowheads="1" noChangeShapeType="1" noTextEdit="1"/>
              </p:cNvSpPr>
              <p:nvPr/>
            </p:nvSpPr>
            <p:spPr>
              <a:xfrm>
                <a:off x="6583680" y="2302764"/>
                <a:ext cx="3453384" cy="423672"/>
              </a:xfrm>
              <a:prstGeom prst="rect">
                <a:avLst/>
              </a:prstGeom>
              <a:blipFill>
                <a:blip r:embed="rId5"/>
                <a:stretch>
                  <a:fillRect/>
                </a:stretch>
              </a:blipFill>
            </p:spPr>
            <p:txBody>
              <a:bodyPr/>
              <a:lstStyle/>
              <a:p>
                <a:r>
                  <a:rPr lang="en-US">
                    <a:noFill/>
                  </a:rPr>
                  <a:t> </a:t>
                </a:r>
              </a:p>
            </p:txBody>
          </p:sp>
        </mc:Fallback>
      </mc:AlternateContent>
      <p:sp>
        <p:nvSpPr>
          <p:cNvPr id="405" name="badge-405"/>
          <p:cNvSpPr/>
          <p:nvPr/>
        </p:nvSpPr>
        <p:spPr>
          <a:xfrm>
            <a:off x="6355080" y="331927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1</a:t>
            </a:r>
          </a:p>
        </p:txBody>
      </p:sp>
      <p:sp>
        <p:nvSpPr>
          <p:cNvPr id="406" name="step-406"/>
          <p:cNvSpPr txBox="1"/>
          <p:nvPr/>
        </p:nvSpPr>
        <p:spPr>
          <a:xfrm>
            <a:off x="6903720" y="3291840"/>
            <a:ext cx="4709160" cy="86868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Scale out d</a:t>
            </a:r>
            <a:endParaRPr lang="en-US" sz="1300" dirty="0"/>
          </a:p>
          <a:p>
            <a:pPr marL="0" indent="0" algn="l">
              <a:spcAft>
                <a:spcPts val="200"/>
              </a:spcAft>
              <a:buNone/>
            </a:pPr>
            <a:r>
              <a:rPr lang="en-US" sz="1300" dirty="0">
                <a:solidFill>
                  <a:schemeClr val="tx1"/>
                </a:solidFill>
              </a:rPr>
              <a:t>p shrinks like √(1 − d); a(d) is |p| of the exact first mode at (d, 0, 0), so q = ±1 there at every d.</a:t>
            </a:r>
            <a:endParaRPr lang="en-US" sz="1300" dirty="0"/>
          </a:p>
        </p:txBody>
      </p:sp>
      <p:sp>
        <p:nvSpPr>
          <p:cNvPr id="407" name="badge-407"/>
          <p:cNvSpPr/>
          <p:nvPr/>
        </p:nvSpPr>
        <p:spPr>
          <a:xfrm>
            <a:off x="6355080" y="427939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2</a:t>
            </a:r>
          </a:p>
        </p:txBody>
      </p:sp>
      <p:sp>
        <p:nvSpPr>
          <p:cNvPr id="408" name="step-408"/>
          <p:cNvSpPr txBox="1"/>
          <p:nvPr/>
        </p:nvSpPr>
        <p:spPr>
          <a:xfrm>
            <a:off x="6903720" y="4251960"/>
            <a:ext cx="4709160" cy="86868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Snap</a:t>
            </a:r>
            <a:endParaRPr lang="en-US" sz="1300" dirty="0"/>
          </a:p>
          <a:p>
            <a:pPr marL="0" indent="0" algn="l">
              <a:spcAft>
                <a:spcPts val="200"/>
              </a:spcAft>
              <a:buNone/>
            </a:pPr>
            <a:r>
              <a:rPr lang="en-US" sz="1300" dirty="0">
                <a:solidFill>
                  <a:schemeClr val="tx1"/>
                </a:solidFill>
              </a:rPr>
              <a:t>Sign change with a jump: q goes −1.03 → +0.52 in one 0.01 step. Smooth neighbours differ by about 0.003.</a:t>
            </a:r>
            <a:endParaRPr lang="en-US" sz="1300" dirty="0"/>
          </a:p>
        </p:txBody>
      </p:sp>
      <p:sp>
        <p:nvSpPr>
          <p:cNvPr id="409" name="badge-409"/>
          <p:cNvSpPr/>
          <p:nvPr/>
        </p:nvSpPr>
        <p:spPr>
          <a:xfrm>
            <a:off x="6355080" y="523951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3</a:t>
            </a:r>
          </a:p>
        </p:txBody>
      </p:sp>
      <p:sp>
        <p:nvSpPr>
          <p:cNvPr id="410" name="step-410"/>
          <p:cNvSpPr txBox="1"/>
          <p:nvPr/>
        </p:nvSpPr>
        <p:spPr>
          <a:xfrm>
            <a:off x="6903720" y="5212080"/>
            <a:ext cx="4709160" cy="86868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Smooth crossing</a:t>
            </a:r>
            <a:endParaRPr lang="en-US" sz="1300" dirty="0"/>
          </a:p>
          <a:p>
            <a:pPr marL="0" indent="0" algn="l">
              <a:spcAft>
                <a:spcPts val="200"/>
              </a:spcAft>
              <a:buNone/>
            </a:pPr>
            <a:r>
              <a:rPr lang="en-US" sz="1300" dirty="0">
                <a:solidFill>
                  <a:schemeClr val="tx1"/>
                </a:solidFill>
              </a:rPr>
              <a:t>Sign change without a jump, through the S-shape near φ₁ = φ₂. Not a snap.</a:t>
            </a:r>
            <a:endParaRPr lang="en-US" sz="1300" dirty="0"/>
          </a:p>
        </p:txBody>
      </p:sp>
      <p:sp>
        <p:nvSpPr>
          <p:cNvPr id="9" name="Slide Number"/>
          <p:cNvSpPr>
            <a:spLocks noGrp="1"/>
          </p:cNvSpPr>
          <p:nvPr>
            <p:ph type="sldNum" sz="quarter" idx="4294967295"/>
          </p:nvPr>
        </p:nvSpPr>
        <p:spPr>
          <a:xfrm>
            <a:off x="11155680" y="6400800"/>
            <a:ext cx="457200" cy="274320"/>
          </a:xfrm>
          <a:prstGeom prst="rect">
            <a:avLst/>
          </a:prstGeom>
        </p:spPr>
        <p:txBody>
          <a:bodyPr/>
          <a:lstStyle>
            <a:lvl1pPr>
              <a:defRPr sz="1000">
                <a:solidFill>
                  <a:schemeClr val="accent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Smooth fields, then a jump across an L-shaped surface</a:t>
            </a:r>
            <a:endParaRPr lang="en-US" sz="3000" dirty="0"/>
          </a:p>
        </p:txBody>
      </p:sp>
      <p:pic>
        <p:nvPicPr>
          <p:cNvPr id="3" name="figure-73" descr="Bending energy and axial force on the d = 0.90 layer"/>
          <p:cNvPicPr>
            <a:picLocks noChangeAspect="1"/>
          </p:cNvPicPr>
          <p:nvPr/>
        </p:nvPicPr>
        <p:blipFill>
          <a:blip r:embed="rId3"/>
          <a:stretch>
            <a:fillRect/>
          </a:stretch>
        </p:blipFill>
        <p:spPr>
          <a:xfrm>
            <a:off x="457200" y="1390270"/>
            <a:ext cx="8412480" cy="3633559"/>
          </a:xfrm>
          <a:prstGeom prst="rect">
            <a:avLst/>
          </a:prstGeom>
        </p:spPr>
      </p:pic>
      <p:sp>
        <p:nvSpPr>
          <p:cNvPr id="4" name="text-74"/>
          <p:cNvSpPr txBox="1"/>
          <p:nvPr/>
        </p:nvSpPr>
        <p:spPr>
          <a:xfrm>
            <a:off x="548640" y="5166360"/>
            <a:ext cx="8229600" cy="365760"/>
          </a:xfrm>
          <a:prstGeom prst="rect">
            <a:avLst/>
          </a:prstGeom>
          <a:noFill/>
          <a:ln/>
        </p:spPr>
        <p:txBody>
          <a:bodyPr wrap="square" lIns="0" tIns="0" rIns="0" bIns="0" rtlCol="0" anchor="t"/>
          <a:lstStyle/>
          <a:p>
            <a:pPr marL="0" indent="0">
              <a:buNone/>
            </a:pPr>
            <a:r>
              <a:rPr lang="en-US" sz="1100" i="1" dirty="0">
                <a:solidFill>
                  <a:schemeClr val="accent5"/>
                </a:solidFill>
              </a:rPr>
              <a:t>Production run, d = 0.90 layer: φ₁, φ₂ ∈ [−π/2, π/2], Δφ ≈ 0.01, 99,225 points.</a:t>
            </a:r>
          </a:p>
        </p:txBody>
      </p:sp>
      <p:sp>
        <p:nvSpPr>
          <p:cNvPr id="5" name="card-75"/>
          <p:cNvSpPr/>
          <p:nvPr/>
        </p:nvSpPr>
        <p:spPr>
          <a:xfrm>
            <a:off x="9098280" y="1463040"/>
            <a:ext cx="2514600" cy="1143000"/>
          </a:xfrm>
          <a:prstGeom prst="roundRect">
            <a:avLst>
              <a:gd name="adj" fmla="val 6400"/>
            </a:avLst>
          </a:prstGeom>
          <a:solidFill>
            <a:schemeClr val="bg2"/>
          </a:solidFill>
          <a:ln/>
        </p:spPr>
        <p:txBody>
          <a:bodyPr/>
          <a:lstStyle/>
          <a:p>
            <a:endParaRPr lang="en-IN"/>
          </a:p>
        </p:txBody>
      </p:sp>
      <p:sp>
        <p:nvSpPr>
          <p:cNvPr id="6" name="text-76"/>
          <p:cNvSpPr txBox="1"/>
          <p:nvPr/>
        </p:nvSpPr>
        <p:spPr>
          <a:xfrm>
            <a:off x="9281160" y="1600200"/>
            <a:ext cx="2194560" cy="320040"/>
          </a:xfrm>
          <a:prstGeom prst="rect">
            <a:avLst/>
          </a:prstGeom>
          <a:noFill/>
          <a:ln/>
        </p:spPr>
        <p:txBody>
          <a:bodyPr wrap="square" lIns="0" tIns="0" rIns="0" bIns="0" rtlCol="0" anchor="t"/>
          <a:lstStyle/>
          <a:p>
            <a:pPr marL="0" indent="0">
              <a:buNone/>
            </a:pPr>
            <a:r>
              <a:rPr lang="en-US" sz="1500" b="1" dirty="0">
                <a:solidFill>
                  <a:schemeClr val="accent1"/>
                </a:solidFill>
              </a:rPr>
              <a:t>Smooth interior</a:t>
            </a:r>
            <a:endParaRPr lang="en-US" sz="1500" dirty="0"/>
          </a:p>
        </p:txBody>
      </p:sp>
      <p:sp>
        <p:nvSpPr>
          <p:cNvPr id="7" name="text-77"/>
          <p:cNvSpPr txBox="1"/>
          <p:nvPr/>
        </p:nvSpPr>
        <p:spPr>
          <a:xfrm>
            <a:off x="9281160" y="1920240"/>
            <a:ext cx="2194560" cy="640080"/>
          </a:xfrm>
          <a:prstGeom prst="rect">
            <a:avLst/>
          </a:prstGeom>
          <a:noFill/>
          <a:ln/>
        </p:spPr>
        <p:txBody>
          <a:bodyPr wrap="square" lIns="0" tIns="0" rIns="0" bIns="0" rtlCol="0" anchor="t"/>
          <a:lstStyle/>
          <a:p>
            <a:pPr marL="0" indent="0">
              <a:buNone/>
            </a:pPr>
            <a:r>
              <a:rPr lang="en-US" sz="1300" dirty="0">
                <a:solidFill>
                  <a:schemeClr val="tx1"/>
                </a:solidFill>
              </a:rPr>
              <a:t>Grid neighbours differ by |Δq| ≈ 0.003</a:t>
            </a:r>
          </a:p>
        </p:txBody>
      </p:sp>
      <p:sp>
        <p:nvSpPr>
          <p:cNvPr id="8" name="card-78"/>
          <p:cNvSpPr/>
          <p:nvPr/>
        </p:nvSpPr>
        <p:spPr>
          <a:xfrm>
            <a:off x="9098280" y="2788920"/>
            <a:ext cx="2514600" cy="1143000"/>
          </a:xfrm>
          <a:prstGeom prst="roundRect">
            <a:avLst>
              <a:gd name="adj" fmla="val 6400"/>
            </a:avLst>
          </a:prstGeom>
          <a:solidFill>
            <a:schemeClr val="bg2"/>
          </a:solidFill>
          <a:ln/>
        </p:spPr>
        <p:txBody>
          <a:bodyPr/>
          <a:lstStyle/>
          <a:p>
            <a:endParaRPr lang="en-IN"/>
          </a:p>
        </p:txBody>
      </p:sp>
      <p:sp>
        <p:nvSpPr>
          <p:cNvPr id="9" name="text-79"/>
          <p:cNvSpPr txBox="1"/>
          <p:nvPr/>
        </p:nvSpPr>
        <p:spPr>
          <a:xfrm>
            <a:off x="9281160" y="2926080"/>
            <a:ext cx="2194560" cy="320040"/>
          </a:xfrm>
          <a:prstGeom prst="rect">
            <a:avLst/>
          </a:prstGeom>
          <a:noFill/>
          <a:ln/>
        </p:spPr>
        <p:txBody>
          <a:bodyPr wrap="square" lIns="0" tIns="0" rIns="0" bIns="0" rtlCol="0" anchor="t"/>
          <a:lstStyle/>
          <a:p>
            <a:pPr marL="0" indent="0">
              <a:buNone/>
            </a:pPr>
            <a:r>
              <a:rPr lang="en-US" sz="1500" b="1" dirty="0">
                <a:solidFill>
                  <a:schemeClr val="accent1"/>
                </a:solidFill>
              </a:rPr>
              <a:t>Sharp edge</a:t>
            </a:r>
            <a:endParaRPr lang="en-US" sz="1500" dirty="0"/>
          </a:p>
        </p:txBody>
      </p:sp>
      <p:sp>
        <p:nvSpPr>
          <p:cNvPr id="10" name="text-80"/>
          <p:cNvSpPr txBox="1"/>
          <p:nvPr/>
        </p:nvSpPr>
        <p:spPr>
          <a:xfrm>
            <a:off x="9281160" y="3246120"/>
            <a:ext cx="2194560" cy="640080"/>
          </a:xfrm>
          <a:prstGeom prst="rect">
            <a:avLst/>
          </a:prstGeom>
          <a:noFill/>
          <a:ln/>
        </p:spPr>
        <p:txBody>
          <a:bodyPr wrap="square" lIns="0" tIns="0" rIns="0" bIns="0" rtlCol="0" anchor="t"/>
          <a:lstStyle/>
          <a:p>
            <a:pPr marL="0" indent="0">
              <a:buNone/>
            </a:pPr>
            <a:r>
              <a:rPr lang="en-US" sz="1300" dirty="0">
                <a:solidFill>
                  <a:schemeClr val="tx1"/>
                </a:solidFill>
              </a:rPr>
              <a:t>Jump at φ₁ ≈ −0.57 and, by symmetry, φ₂ ≈ +0.57</a:t>
            </a:r>
            <a:endParaRPr lang="en-US" sz="1300" dirty="0"/>
          </a:p>
        </p:txBody>
      </p:sp>
      <p:sp>
        <p:nvSpPr>
          <p:cNvPr id="11" name="card-81"/>
          <p:cNvSpPr/>
          <p:nvPr/>
        </p:nvSpPr>
        <p:spPr>
          <a:xfrm>
            <a:off x="9098280" y="4114800"/>
            <a:ext cx="2514600" cy="1143000"/>
          </a:xfrm>
          <a:prstGeom prst="roundRect">
            <a:avLst>
              <a:gd name="adj" fmla="val 6400"/>
            </a:avLst>
          </a:prstGeom>
          <a:solidFill>
            <a:schemeClr val="bg2"/>
          </a:solidFill>
          <a:ln/>
        </p:spPr>
        <p:txBody>
          <a:bodyPr/>
          <a:lstStyle/>
          <a:p>
            <a:endParaRPr lang="en-IN"/>
          </a:p>
        </p:txBody>
      </p:sp>
      <p:sp>
        <p:nvSpPr>
          <p:cNvPr id="12" name="text-82"/>
          <p:cNvSpPr txBox="1"/>
          <p:nvPr/>
        </p:nvSpPr>
        <p:spPr>
          <a:xfrm>
            <a:off x="9281160" y="4251960"/>
            <a:ext cx="2194560" cy="320040"/>
          </a:xfrm>
          <a:prstGeom prst="rect">
            <a:avLst/>
          </a:prstGeom>
          <a:noFill/>
          <a:ln/>
        </p:spPr>
        <p:txBody>
          <a:bodyPr wrap="square" lIns="0" tIns="0" rIns="0" bIns="0" rtlCol="0" anchor="t"/>
          <a:lstStyle/>
          <a:p>
            <a:pPr marL="0" indent="0">
              <a:buNone/>
            </a:pPr>
            <a:r>
              <a:rPr lang="en-US" sz="1500" b="1" dirty="0">
                <a:solidFill>
                  <a:schemeClr val="accent1"/>
                </a:solidFill>
              </a:rPr>
              <a:t>Large jump</a:t>
            </a:r>
            <a:endParaRPr lang="en-US" sz="1500" dirty="0"/>
          </a:p>
        </p:txBody>
      </p:sp>
      <p:sp>
        <p:nvSpPr>
          <p:cNvPr id="13" name="text-83"/>
          <p:cNvSpPr txBox="1"/>
          <p:nvPr/>
        </p:nvSpPr>
        <p:spPr>
          <a:xfrm>
            <a:off x="9281160" y="4572000"/>
            <a:ext cx="2194560" cy="640080"/>
          </a:xfrm>
          <a:prstGeom prst="rect">
            <a:avLst/>
          </a:prstGeom>
          <a:noFill/>
          <a:ln/>
        </p:spPr>
        <p:txBody>
          <a:bodyPr wrap="square" lIns="0" tIns="0" rIns="0" bIns="0" rtlCol="0" anchor="t"/>
          <a:lstStyle/>
          <a:p>
            <a:pPr marL="0" indent="0">
              <a:buNone/>
            </a:pPr>
            <a:r>
              <a:rPr lang="en-US" sz="1300" dirty="0">
                <a:solidFill>
                  <a:schemeClr val="tx1"/>
                </a:solidFill>
              </a:rPr>
              <a:t>U 2.27 → 6.11 and f</a:t>
            </a:r>
            <a:r>
              <a:rPr lang="en-US" sz="1300" baseline="-25000" dirty="0">
                <a:solidFill>
                  <a:schemeClr val="tx1"/>
                </a:solidFill>
              </a:rPr>
              <a:t>x</a:t>
            </a:r>
            <a:r>
              <a:rPr lang="en-US" sz="1300" dirty="0">
                <a:solidFill>
                  <a:schemeClr val="tx1"/>
                </a:solidFill>
              </a:rPr>
              <a:t> 28 → 59 in a single 0.01 step</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The sign of p traces the snap surface</a:t>
            </a:r>
          </a:p>
        </p:txBody>
      </p:sp>
      <p:pic>
        <p:nvPicPr>
          <p:cNvPr id="3" name="figure-101" descr="q on the d = 0.90 layer with snap and smooth-crossing edges"/>
          <p:cNvPicPr>
            <a:picLocks noChangeAspect="1"/>
          </p:cNvPicPr>
          <p:nvPr/>
        </p:nvPicPr>
        <p:blipFill>
          <a:blip r:embed="rId3"/>
          <a:stretch>
            <a:fillRect/>
          </a:stretch>
        </p:blipFill>
        <p:spPr>
          <a:xfrm>
            <a:off x="548640" y="1435714"/>
            <a:ext cx="5120640" cy="4169453"/>
          </a:xfrm>
          <a:prstGeom prst="rect">
            <a:avLst/>
          </a:prstGeom>
        </p:spPr>
      </p:pic>
      <p:pic>
        <p:nvPicPr>
          <p:cNvPr id="4" name="figure-102" descr="Snap curves on seven d layers from 0.70 to 0.99"/>
          <p:cNvPicPr>
            <a:picLocks noChangeAspect="1"/>
          </p:cNvPicPr>
          <p:nvPr/>
        </p:nvPicPr>
        <p:blipFill>
          <a:blip r:embed="rId4"/>
          <a:stretch>
            <a:fillRect/>
          </a:stretch>
        </p:blipFill>
        <p:spPr>
          <a:xfrm>
            <a:off x="6796448" y="1325880"/>
            <a:ext cx="4512224" cy="4389120"/>
          </a:xfrm>
          <a:prstGeom prst="rect">
            <a:avLst/>
          </a:prstGeom>
        </p:spPr>
      </p:pic>
      <p:sp>
        <p:nvSpPr>
          <p:cNvPr id="5" name="text-103"/>
          <p:cNvSpPr txBox="1"/>
          <p:nvPr/>
        </p:nvSpPr>
        <p:spPr>
          <a:xfrm>
            <a:off x="548640" y="5760720"/>
            <a:ext cx="5120640" cy="502920"/>
          </a:xfrm>
          <a:prstGeom prst="rect">
            <a:avLst/>
          </a:prstGeom>
          <a:noFill/>
          <a:ln/>
        </p:spPr>
        <p:txBody>
          <a:bodyPr wrap="square" lIns="0" tIns="0" rIns="0" bIns="0" rtlCol="0" anchor="t"/>
          <a:lstStyle/>
          <a:p>
            <a:pPr marL="0" indent="0">
              <a:buNone/>
            </a:pPr>
            <a:r>
              <a:rPr lang="en-US" sz="1100" i="1" dirty="0">
                <a:solidFill>
                  <a:schemeClr val="accent5"/>
                </a:solidFill>
              </a:rPr>
              <a:t>Red: snap edges, where p changes sign with a jump. Black: smooth crossings through the S-shape.</a:t>
            </a:r>
          </a:p>
        </p:txBody>
      </p:sp>
      <p:sp>
        <p:nvSpPr>
          <p:cNvPr id="6" name="text-104"/>
          <p:cNvSpPr txBox="1"/>
          <p:nvPr/>
        </p:nvSpPr>
        <p:spPr>
          <a:xfrm>
            <a:off x="6492240" y="5760720"/>
            <a:ext cx="5120640" cy="502920"/>
          </a:xfrm>
          <a:prstGeom prst="rect">
            <a:avLst/>
          </a:prstGeom>
          <a:noFill/>
          <a:ln/>
        </p:spPr>
        <p:txBody>
          <a:bodyPr wrap="square" lIns="0" tIns="0" rIns="0" bIns="0" rtlCol="0" anchor="t"/>
          <a:lstStyle/>
          <a:p>
            <a:pPr marL="0" indent="0">
              <a:buNone/>
            </a:pPr>
            <a:r>
              <a:rPr lang="en-US" sz="1100" i="1" dirty="0">
                <a:solidFill>
                  <a:schemeClr val="accent5"/>
                </a:solidFill>
              </a:rPr>
              <a:t>As d → 1 the L closes in: at φ₂ = 0 the snap sits at φ₁ ≈ −0.98 (d = 0.70), −0.57 (0.90) and −0.18 (0.99).</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nap surface 3D">
    <p:spTree>
      <p:nvGrpSpPr>
        <p:cNvPr id="1" name=""/>
        <p:cNvGrpSpPr/>
        <p:nvPr/>
      </p:nvGrpSpPr>
      <p:grpSpPr>
        <a:xfrm>
          <a:off x="0" y="0"/>
          <a:ext cx="0" cy="0"/>
          <a:chOff x="0" y="0"/>
          <a:chExt cx="0" cy="0"/>
        </a:xfrm>
      </p:grpSpPr>
      <p:sp>
        <p:nvSpPr>
          <p:cNvPr id="2" name="Title"/>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The snap surface in 3D</a:t>
            </a:r>
            <a:endParaRPr lang="en-US" sz="3000" dirty="0"/>
          </a:p>
        </p:txBody>
      </p:sp>
      <p:pic>
        <p:nvPicPr>
          <p:cNvPr id="401" name="figure-401" descr="Snap surface over (phi1, phi2, d), coloured by d"/>
          <p:cNvPicPr>
            <a:picLocks noChangeAspect="1"/>
          </p:cNvPicPr>
          <p:nvPr/>
        </p:nvPicPr>
        <p:blipFill>
          <a:blip r:embed="rId3"/>
          <a:stretch>
            <a:fillRect/>
          </a:stretch>
        </p:blipFill>
        <p:spPr>
          <a:xfrm>
            <a:off x="954115" y="1280160"/>
            <a:ext cx="4812609" cy="4297680"/>
          </a:xfrm>
          <a:prstGeom prst="rect">
            <a:avLst/>
          </a:prstGeom>
        </p:spPr>
      </p:pic>
      <p:pic>
        <p:nvPicPr>
          <p:cNvPr id="402" name="figure-402" descr="Snap surface seen down the d axis, coloured by d"/>
          <p:cNvPicPr>
            <a:picLocks noChangeAspect="1"/>
          </p:cNvPicPr>
          <p:nvPr/>
        </p:nvPicPr>
        <p:blipFill>
          <a:blip r:embed="rId4"/>
          <a:stretch>
            <a:fillRect/>
          </a:stretch>
        </p:blipFill>
        <p:spPr>
          <a:xfrm>
            <a:off x="6660910" y="1280160"/>
            <a:ext cx="4646141" cy="4297680"/>
          </a:xfrm>
          <a:prstGeom prst="rect">
            <a:avLst/>
          </a:prstGeom>
        </p:spPr>
      </p:pic>
      <p:sp>
        <p:nvSpPr>
          <p:cNvPr id="403" name="caption-403"/>
          <p:cNvSpPr txBox="1"/>
          <p:nvPr/>
        </p:nvSpPr>
        <p:spPr>
          <a:xfrm>
            <a:off x="548640" y="5669280"/>
            <a:ext cx="5577840" cy="548640"/>
          </a:xfrm>
          <a:prstGeom prst="rect">
            <a:avLst/>
          </a:prstGeom>
          <a:noFill/>
          <a:ln/>
        </p:spPr>
        <p:txBody>
          <a:bodyPr wrap="square" lIns="0" tIns="0" rIns="0" bIns="0" rtlCol="0" anchor="t">
            <a:normAutofit/>
          </a:bodyPr>
          <a:lstStyle/>
          <a:p>
            <a:pPr marL="0" indent="0" algn="l">
              <a:spcAft>
                <a:spcPts val="0"/>
              </a:spcAft>
              <a:buNone/>
            </a:pPr>
            <a:r>
              <a:rPr lang="en-US" sz="1100" dirty="0">
                <a:solidFill>
                  <a:schemeClr val="accent5"/>
                </a:solidFill>
              </a:rPr>
              <a:t>Oblique view, d stretched ×8. The p = 0 contour of the 17.2 M-tetrahedron grid, kept where p jumps: 30,081 snap edges, area 2.64.</a:t>
            </a:r>
            <a:endParaRPr lang="en-US" sz="1100" dirty="0"/>
          </a:p>
        </p:txBody>
      </p:sp>
      <p:sp>
        <p:nvSpPr>
          <p:cNvPr id="404" name="caption-404"/>
          <p:cNvSpPr txBox="1"/>
          <p:nvPr/>
        </p:nvSpPr>
        <p:spPr>
          <a:xfrm>
            <a:off x="6355080" y="5669280"/>
            <a:ext cx="5257800" cy="548640"/>
          </a:xfrm>
          <a:prstGeom prst="rect">
            <a:avLst/>
          </a:prstGeom>
          <a:noFill/>
          <a:ln/>
        </p:spPr>
        <p:txBody>
          <a:bodyPr wrap="square" lIns="0" tIns="0" rIns="0" bIns="0" rtlCol="0" anchor="t">
            <a:normAutofit/>
          </a:bodyPr>
          <a:lstStyle/>
          <a:p>
            <a:pPr marL="0" indent="0" algn="l">
              <a:spcAft>
                <a:spcPts val="0"/>
              </a:spcAft>
              <a:buNone/>
            </a:pPr>
            <a:r>
              <a:rPr lang="en-US" sz="1100" dirty="0">
                <a:solidFill>
                  <a:schemeClr val="accent5"/>
                </a:solidFill>
              </a:rPr>
              <a:t>Down the d axis: every layer is the L-shape, and the sheet closes in on the origin as d → 1. Colour: d.</a:t>
            </a:r>
            <a:endParaRPr lang="en-US" sz="1100" dirty="0"/>
          </a:p>
        </p:txBody>
      </p:sp>
      <p:sp>
        <p:nvSpPr>
          <p:cNvPr id="9" name="Slide Number"/>
          <p:cNvSpPr>
            <a:spLocks noGrp="1"/>
          </p:cNvSpPr>
          <p:nvPr>
            <p:ph type="sldNum" sz="quarter" idx="4294967295"/>
          </p:nvPr>
        </p:nvSpPr>
        <p:spPr>
          <a:xfrm>
            <a:off x="11155680" y="6400800"/>
            <a:ext cx="457200" cy="274320"/>
          </a:xfrm>
          <a:prstGeom prst="rect">
            <a:avLst/>
          </a:prstGeom>
        </p:spPr>
        <p:txBody>
          <a:bodyPr/>
          <a:lstStyle>
            <a:lvl1pPr>
              <a:defRPr sz="1000">
                <a:solidFill>
                  <a:schemeClr val="accent6"/>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Axial force step">
    <p:spTree>
      <p:nvGrpSpPr>
        <p:cNvPr id="1" name=""/>
        <p:cNvGrpSpPr/>
        <p:nvPr/>
      </p:nvGrpSpPr>
      <p:grpSpPr>
        <a:xfrm>
          <a:off x="0" y="0"/>
          <a:ext cx="0" cy="0"/>
          <a:chOff x="0" y="0"/>
          <a:chExt cx="0" cy="0"/>
        </a:xfrm>
      </p:grpSpPr>
      <p:sp>
        <p:nvSpPr>
          <p:cNvPr id="2" name="Title"/>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The sheet rises from the step in axial force</a:t>
            </a:r>
            <a:endParaRPr lang="en-US" sz="3000" dirty="0"/>
          </a:p>
        </p:txBody>
      </p:sp>
      <p:pic>
        <p:nvPicPr>
          <p:cNvPr id="401" name="figure-401" descr="The d = 0.90 layer coloured by fx with the snap sheet above it"/>
          <p:cNvPicPr>
            <a:picLocks noChangeAspect="1"/>
          </p:cNvPicPr>
          <p:nvPr/>
        </p:nvPicPr>
        <p:blipFill>
          <a:blip r:embed="rId3"/>
          <a:stretch>
            <a:fillRect/>
          </a:stretch>
        </p:blipFill>
        <p:spPr>
          <a:xfrm>
            <a:off x="671990" y="1280160"/>
            <a:ext cx="5514019" cy="4572000"/>
          </a:xfrm>
          <a:prstGeom prst="rect">
            <a:avLst/>
          </a:prstGeom>
        </p:spPr>
      </p:pic>
      <p:sp>
        <p:nvSpPr>
          <p:cNvPr id="402" name="caption-402"/>
          <p:cNvSpPr txBox="1"/>
          <p:nvPr/>
        </p:nvSpPr>
        <p:spPr>
          <a:xfrm>
            <a:off x="548640" y="5897880"/>
            <a:ext cx="5852160" cy="320040"/>
          </a:xfrm>
          <a:prstGeom prst="rect">
            <a:avLst/>
          </a:prstGeom>
          <a:noFill/>
          <a:ln/>
        </p:spPr>
        <p:txBody>
          <a:bodyPr wrap="square" lIns="0" tIns="0" rIns="0" bIns="0" rtlCol="0" anchor="t">
            <a:normAutofit/>
          </a:bodyPr>
          <a:lstStyle/>
          <a:p>
            <a:pPr marL="0" indent="0" algn="l">
              <a:spcAft>
                <a:spcPts val="0"/>
              </a:spcAft>
              <a:buNone/>
            </a:pPr>
            <a:r>
              <a:rPr lang="en-US" sz="1100" dirty="0">
                <a:solidFill>
                  <a:schemeClr val="accent5"/>
                </a:solidFill>
              </a:rPr>
              <a:t>Layer d = 0.90 coloured by f</a:t>
            </a:r>
            <a:r>
              <a:rPr lang="en-US" sz="1100" baseline="-25000" dirty="0">
                <a:solidFill>
                  <a:schemeClr val="accent5"/>
                </a:solidFill>
              </a:rPr>
              <a:t>x</a:t>
            </a:r>
            <a:r>
              <a:rPr lang="en-US" sz="1100" dirty="0">
                <a:solidFill>
                  <a:schemeClr val="accent5"/>
                </a:solidFill>
              </a:rPr>
              <a:t> (clipped at ±80); the snap sheet above it is translucent.</a:t>
            </a:r>
            <a:endParaRPr lang="en-US" sz="1100" dirty="0"/>
          </a:p>
        </p:txBody>
      </p:sp>
      <p:sp>
        <p:nvSpPr>
          <p:cNvPr id="403" name="text-403"/>
          <p:cNvSpPr txBox="1"/>
          <p:nvPr/>
        </p:nvSpPr>
        <p:spPr>
          <a:xfrm>
            <a:off x="6766560" y="1371600"/>
            <a:ext cx="4846320" cy="365760"/>
          </a:xfrm>
          <a:prstGeom prst="rect">
            <a:avLst/>
          </a:prstGeom>
          <a:noFill/>
          <a:ln/>
        </p:spPr>
        <p:txBody>
          <a:bodyPr wrap="square" lIns="0" tIns="0" rIns="0" bIns="0" rtlCol="0" anchor="t">
            <a:normAutofit/>
          </a:bodyPr>
          <a:lstStyle/>
          <a:p>
            <a:pPr marL="0" indent="0" algn="l">
              <a:spcAft>
                <a:spcPts val="0"/>
              </a:spcAft>
              <a:buNone/>
            </a:pPr>
            <a:r>
              <a:rPr lang="en-US" sz="1400" dirty="0">
                <a:solidFill>
                  <a:schemeClr val="tx1"/>
                </a:solidFill>
              </a:rPr>
              <a:t>Across the snap at φ₂ = 0, f</a:t>
            </a:r>
            <a:r>
              <a:rPr lang="en-US" sz="1400" baseline="-25000" dirty="0">
                <a:solidFill>
                  <a:schemeClr val="tx1"/>
                </a:solidFill>
              </a:rPr>
              <a:t>x</a:t>
            </a:r>
            <a:r>
              <a:rPr lang="en-US" sz="1400" dirty="0">
                <a:solidFill>
                  <a:schemeClr val="tx1"/>
                </a:solidFill>
              </a:rPr>
              <a:t> roughly doubles at every d:</a:t>
            </a:r>
            <a:endParaRPr lang="en-US" sz="1400" dirty="0"/>
          </a:p>
        </p:txBody>
      </p:sp>
      <p:sp>
        <p:nvSpPr>
          <p:cNvPr id="404" name="card-404"/>
          <p:cNvSpPr/>
          <p:nvPr/>
        </p:nvSpPr>
        <p:spPr>
          <a:xfrm>
            <a:off x="6766560" y="1874520"/>
            <a:ext cx="4846320" cy="914400"/>
          </a:xfrm>
          <a:prstGeom prst="roundRect">
            <a:avLst>
              <a:gd name="adj" fmla="val 6000"/>
            </a:avLst>
          </a:prstGeom>
          <a:solidFill>
            <a:schemeClr val="bg2"/>
          </a:solidFill>
          <a:ln>
            <a:noFill/>
          </a:ln>
        </p:spPr>
        <p:txBody>
          <a:bodyPr/>
          <a:lstStyle/>
          <a:p>
            <a:endParaRPr lang="en-US"/>
          </a:p>
        </p:txBody>
      </p:sp>
      <p:sp>
        <p:nvSpPr>
          <p:cNvPr id="405" name="big-405"/>
          <p:cNvSpPr txBox="1"/>
          <p:nvPr/>
        </p:nvSpPr>
        <p:spPr>
          <a:xfrm>
            <a:off x="6995160" y="1874520"/>
            <a:ext cx="2377440" cy="914400"/>
          </a:xfrm>
          <a:prstGeom prst="rect">
            <a:avLst/>
          </a:prstGeom>
          <a:noFill/>
          <a:ln/>
        </p:spPr>
        <p:txBody>
          <a:bodyPr wrap="square" lIns="0" tIns="0" rIns="0" bIns="0" rtlCol="0" anchor="ctr">
            <a:normAutofit/>
          </a:bodyPr>
          <a:lstStyle/>
          <a:p>
            <a:pPr marL="0" indent="0" algn="l">
              <a:spcAft>
                <a:spcPts val="0"/>
              </a:spcAft>
              <a:buNone/>
            </a:pPr>
            <a:r>
              <a:rPr lang="en-US" sz="2400" b="1" dirty="0">
                <a:solidFill>
                  <a:schemeClr val="accent1"/>
                </a:solidFill>
              </a:rPr>
              <a:t>30.1 → 61.5</a:t>
            </a:r>
            <a:endParaRPr lang="en-US" sz="2400" dirty="0"/>
          </a:p>
        </p:txBody>
      </p:sp>
      <p:sp>
        <p:nvSpPr>
          <p:cNvPr id="406" name="where-406"/>
          <p:cNvSpPr txBox="1"/>
          <p:nvPr/>
        </p:nvSpPr>
        <p:spPr>
          <a:xfrm>
            <a:off x="9418320" y="1874520"/>
            <a:ext cx="2103120" cy="914400"/>
          </a:xfrm>
          <a:prstGeom prst="rect">
            <a:avLst/>
          </a:prstGeom>
          <a:noFill/>
          <a:ln/>
        </p:spPr>
        <p:txBody>
          <a:bodyPr wrap="square" lIns="0" tIns="0" rIns="0" bIns="0" rtlCol="0" anchor="ctr">
            <a:normAutofit/>
          </a:bodyPr>
          <a:lstStyle/>
          <a:p>
            <a:pPr marL="0" indent="0" algn="l">
              <a:spcAft>
                <a:spcPts val="0"/>
              </a:spcAft>
              <a:buNone/>
            </a:pPr>
            <a:r>
              <a:rPr lang="en-US" sz="1150" dirty="0">
                <a:solidFill>
                  <a:schemeClr val="accent5"/>
                </a:solidFill>
              </a:rPr>
              <a:t>d = 0.80, jump at φ₁ ≈ −0.80</a:t>
            </a:r>
            <a:endParaRPr lang="en-US" sz="1150" dirty="0"/>
          </a:p>
        </p:txBody>
      </p:sp>
      <p:sp>
        <p:nvSpPr>
          <p:cNvPr id="407" name="card-407"/>
          <p:cNvSpPr/>
          <p:nvPr/>
        </p:nvSpPr>
        <p:spPr>
          <a:xfrm>
            <a:off x="6766560" y="2971800"/>
            <a:ext cx="4846320" cy="914400"/>
          </a:xfrm>
          <a:prstGeom prst="roundRect">
            <a:avLst>
              <a:gd name="adj" fmla="val 6000"/>
            </a:avLst>
          </a:prstGeom>
          <a:solidFill>
            <a:schemeClr val="bg2"/>
          </a:solidFill>
          <a:ln>
            <a:noFill/>
          </a:ln>
        </p:spPr>
        <p:txBody>
          <a:bodyPr/>
          <a:lstStyle/>
          <a:p>
            <a:endParaRPr lang="en-US"/>
          </a:p>
        </p:txBody>
      </p:sp>
      <p:sp>
        <p:nvSpPr>
          <p:cNvPr id="408" name="big-408"/>
          <p:cNvSpPr txBox="1"/>
          <p:nvPr/>
        </p:nvSpPr>
        <p:spPr>
          <a:xfrm>
            <a:off x="6995160" y="2971800"/>
            <a:ext cx="2377440" cy="914400"/>
          </a:xfrm>
          <a:prstGeom prst="rect">
            <a:avLst/>
          </a:prstGeom>
          <a:noFill/>
          <a:ln/>
        </p:spPr>
        <p:txBody>
          <a:bodyPr wrap="square" lIns="0" tIns="0" rIns="0" bIns="0" rtlCol="0" anchor="ctr">
            <a:normAutofit/>
          </a:bodyPr>
          <a:lstStyle/>
          <a:p>
            <a:pPr marL="0" indent="0" algn="l">
              <a:spcAft>
                <a:spcPts val="0"/>
              </a:spcAft>
              <a:buNone/>
            </a:pPr>
            <a:r>
              <a:rPr lang="en-US" sz="2400" b="1" dirty="0">
                <a:solidFill>
                  <a:schemeClr val="accent1"/>
                </a:solidFill>
              </a:rPr>
              <a:t>28.3 → 58.7</a:t>
            </a:r>
            <a:endParaRPr lang="en-US" sz="2400" dirty="0"/>
          </a:p>
        </p:txBody>
      </p:sp>
      <p:sp>
        <p:nvSpPr>
          <p:cNvPr id="409" name="where-409"/>
          <p:cNvSpPr txBox="1"/>
          <p:nvPr/>
        </p:nvSpPr>
        <p:spPr>
          <a:xfrm>
            <a:off x="9418320" y="2971800"/>
            <a:ext cx="2103120" cy="914400"/>
          </a:xfrm>
          <a:prstGeom prst="rect">
            <a:avLst/>
          </a:prstGeom>
          <a:noFill/>
          <a:ln/>
        </p:spPr>
        <p:txBody>
          <a:bodyPr wrap="square" lIns="0" tIns="0" rIns="0" bIns="0" rtlCol="0" anchor="ctr">
            <a:normAutofit/>
          </a:bodyPr>
          <a:lstStyle/>
          <a:p>
            <a:pPr marL="0" indent="0" algn="l">
              <a:spcAft>
                <a:spcPts val="0"/>
              </a:spcAft>
              <a:buNone/>
            </a:pPr>
            <a:r>
              <a:rPr lang="en-US" sz="1150" dirty="0">
                <a:solidFill>
                  <a:schemeClr val="accent5"/>
                </a:solidFill>
              </a:rPr>
              <a:t>d = 0.90, jump at φ₁ ≈ −0.57</a:t>
            </a:r>
            <a:endParaRPr lang="en-US" sz="1150" dirty="0"/>
          </a:p>
        </p:txBody>
      </p:sp>
      <p:sp>
        <p:nvSpPr>
          <p:cNvPr id="410" name="card-410"/>
          <p:cNvSpPr/>
          <p:nvPr/>
        </p:nvSpPr>
        <p:spPr>
          <a:xfrm>
            <a:off x="6766560" y="4069080"/>
            <a:ext cx="4846320" cy="914400"/>
          </a:xfrm>
          <a:prstGeom prst="roundRect">
            <a:avLst>
              <a:gd name="adj" fmla="val 6000"/>
            </a:avLst>
          </a:prstGeom>
          <a:solidFill>
            <a:schemeClr val="bg2"/>
          </a:solidFill>
          <a:ln>
            <a:noFill/>
          </a:ln>
        </p:spPr>
        <p:txBody>
          <a:bodyPr/>
          <a:lstStyle/>
          <a:p>
            <a:endParaRPr lang="en-US"/>
          </a:p>
        </p:txBody>
      </p:sp>
      <p:sp>
        <p:nvSpPr>
          <p:cNvPr id="411" name="big-411"/>
          <p:cNvSpPr txBox="1"/>
          <p:nvPr/>
        </p:nvSpPr>
        <p:spPr>
          <a:xfrm>
            <a:off x="6995160" y="4069080"/>
            <a:ext cx="2377440" cy="914400"/>
          </a:xfrm>
          <a:prstGeom prst="rect">
            <a:avLst/>
          </a:prstGeom>
          <a:noFill/>
          <a:ln/>
        </p:spPr>
        <p:txBody>
          <a:bodyPr wrap="square" lIns="0" tIns="0" rIns="0" bIns="0" rtlCol="0" anchor="ctr">
            <a:normAutofit/>
          </a:bodyPr>
          <a:lstStyle/>
          <a:p>
            <a:pPr marL="0" indent="0" algn="l">
              <a:spcAft>
                <a:spcPts val="0"/>
              </a:spcAft>
              <a:buNone/>
            </a:pPr>
            <a:r>
              <a:rPr lang="en-US" sz="2400" b="1" dirty="0">
                <a:solidFill>
                  <a:schemeClr val="accent1"/>
                </a:solidFill>
              </a:rPr>
              <a:t>27.4 → 55.4</a:t>
            </a:r>
            <a:endParaRPr lang="en-US" sz="2400" dirty="0"/>
          </a:p>
        </p:txBody>
      </p:sp>
      <p:sp>
        <p:nvSpPr>
          <p:cNvPr id="412" name="where-412"/>
          <p:cNvSpPr txBox="1"/>
          <p:nvPr/>
        </p:nvSpPr>
        <p:spPr>
          <a:xfrm>
            <a:off x="9418320" y="4069080"/>
            <a:ext cx="2103120" cy="914400"/>
          </a:xfrm>
          <a:prstGeom prst="rect">
            <a:avLst/>
          </a:prstGeom>
          <a:noFill/>
          <a:ln/>
        </p:spPr>
        <p:txBody>
          <a:bodyPr wrap="square" lIns="0" tIns="0" rIns="0" bIns="0" rtlCol="0" anchor="ctr">
            <a:normAutofit/>
          </a:bodyPr>
          <a:lstStyle/>
          <a:p>
            <a:pPr marL="0" indent="0" algn="l">
              <a:spcAft>
                <a:spcPts val="0"/>
              </a:spcAft>
              <a:buNone/>
            </a:pPr>
            <a:r>
              <a:rPr lang="en-US" sz="1150" dirty="0">
                <a:solidFill>
                  <a:schemeClr val="accent5"/>
                </a:solidFill>
              </a:rPr>
              <a:t>d = 0.97, jump at φ₁ ≈ −0.31</a:t>
            </a:r>
            <a:endParaRPr lang="en-US" sz="1150" dirty="0"/>
          </a:p>
        </p:txBody>
      </p:sp>
      <p:sp>
        <p:nvSpPr>
          <p:cNvPr id="413" name="text-413"/>
          <p:cNvSpPr txBox="1"/>
          <p:nvPr/>
        </p:nvSpPr>
        <p:spPr>
          <a:xfrm>
            <a:off x="6766560" y="5212080"/>
            <a:ext cx="4846320" cy="731520"/>
          </a:xfrm>
          <a:prstGeom prst="rect">
            <a:avLst/>
          </a:prstGeom>
          <a:noFill/>
          <a:ln/>
        </p:spPr>
        <p:txBody>
          <a:bodyPr wrap="square" lIns="0" tIns="0" rIns="0" bIns="0" rtlCol="0" anchor="t">
            <a:normAutofit/>
          </a:bodyPr>
          <a:lstStyle/>
          <a:p>
            <a:pPr marL="0" indent="0" algn="l">
              <a:spcAft>
                <a:spcPts val="0"/>
              </a:spcAft>
              <a:buNone/>
            </a:pPr>
            <a:r>
              <a:rPr lang="en-US" sz="1300" dirty="0">
                <a:solidFill>
                  <a:schemeClr val="tx1"/>
                </a:solidFill>
              </a:rPr>
              <a:t>The surface is built from the shape alone, through the sign of p, yet it lands exactly on the step the forces see.</a:t>
            </a:r>
            <a:endParaRPr lang="en-US" sz="1300" dirty="0"/>
          </a:p>
        </p:txBody>
      </p:sp>
      <p:sp>
        <p:nvSpPr>
          <p:cNvPr id="9" name="Slide Number"/>
          <p:cNvSpPr>
            <a:spLocks noGrp="1"/>
          </p:cNvSpPr>
          <p:nvPr>
            <p:ph type="sldNum" sz="quarter" idx="4294967295"/>
          </p:nvPr>
        </p:nvSpPr>
        <p:spPr>
          <a:xfrm>
            <a:off x="11155680" y="6400800"/>
            <a:ext cx="457200" cy="274320"/>
          </a:xfrm>
          <a:prstGeom prst="rect">
            <a:avLst/>
          </a:prstGeom>
        </p:spPr>
        <p:txBody>
          <a:bodyPr/>
          <a:lstStyle>
            <a:lvl1pPr>
              <a:defRPr sz="1000">
                <a:solidFill>
                  <a:schemeClr val="accent6"/>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22960" y="2377440"/>
            <a:ext cx="10515600" cy="1097280"/>
          </a:xfrm>
          <a:prstGeom prst="rect">
            <a:avLst/>
          </a:prstGeom>
          <a:noFill/>
          <a:ln/>
        </p:spPr>
        <p:txBody>
          <a:bodyPr wrap="square" lIns="0" tIns="0" rIns="0" bIns="0" rtlCol="0" anchor="b"/>
          <a:lstStyle/>
          <a:p>
            <a:pPr marL="0" indent="0" algn="l">
              <a:buNone/>
            </a:pPr>
            <a:r>
              <a:rPr lang="en-US" sz="4000" dirty="0">
                <a:solidFill>
                  <a:schemeClr val="bg1"/>
                </a:solidFill>
              </a:rPr>
              <a:t>Continuation strategy</a:t>
            </a:r>
          </a:p>
        </p:txBody>
      </p:sp>
      <p:sp>
        <p:nvSpPr>
          <p:cNvPr id="3" name="Text 0"/>
          <p:cNvSpPr>
            <a:spLocks noGrp="1"/>
          </p:cNvSpPr>
          <p:nvPr>
            <p:ph type="body" idx="101" hasCustomPrompt="1"/>
          </p:nvPr>
        </p:nvSpPr>
        <p:spPr>
          <a:xfrm>
            <a:off x="822960" y="3657600"/>
            <a:ext cx="10515600" cy="822960"/>
          </a:xfrm>
          <a:prstGeom prst="rect">
            <a:avLst/>
          </a:prstGeom>
          <a:noFill/>
          <a:ln/>
        </p:spPr>
        <p:txBody>
          <a:bodyPr wrap="square" lIns="0" tIns="0" rIns="0" bIns="0" rtlCol="0" anchor="t"/>
          <a:lstStyle/>
          <a:p>
            <a:pPr marL="0" indent="0">
              <a:buNone/>
            </a:pPr>
            <a:r>
              <a:rPr lang="en-US" sz="2000" dirty="0">
                <a:solidFill>
                  <a:schemeClr val="accent1"/>
                </a:solidFill>
              </a:rPr>
              <a:t>How the solver walks the parameter space and guards against branch switches</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Traverse the grid; reject jumps and unstable results</a:t>
            </a:r>
          </a:p>
        </p:txBody>
      </p:sp>
      <p:sp>
        <p:nvSpPr>
          <p:cNvPr id="3" name="flow-box-105"/>
          <p:cNvSpPr/>
          <p:nvPr/>
        </p:nvSpPr>
        <p:spPr>
          <a:xfrm>
            <a:off x="548640" y="1508760"/>
            <a:ext cx="1965960" cy="1325880"/>
          </a:xfrm>
          <a:prstGeom prst="roundRect">
            <a:avLst>
              <a:gd name="adj" fmla="val 5517"/>
            </a:avLst>
          </a:prstGeom>
          <a:solidFill>
            <a:schemeClr val="bg2"/>
          </a:solidFill>
          <a:ln/>
        </p:spPr>
        <p:txBody>
          <a:bodyPr/>
          <a:lstStyle/>
          <a:p>
            <a:endParaRPr lang="en-IN"/>
          </a:p>
        </p:txBody>
      </p:sp>
      <p:sp>
        <p:nvSpPr>
          <p:cNvPr id="4" name="text-106"/>
          <p:cNvSpPr txBox="1"/>
          <p:nvPr/>
        </p:nvSpPr>
        <p:spPr>
          <a:xfrm>
            <a:off x="685800" y="1600200"/>
            <a:ext cx="1691640" cy="1143000"/>
          </a:xfrm>
          <a:prstGeom prst="rect">
            <a:avLst/>
          </a:prstGeom>
          <a:noFill/>
          <a:ln/>
        </p:spPr>
        <p:txBody>
          <a:bodyPr wrap="square" lIns="0" tIns="0" rIns="0" bIns="0" rtlCol="0" anchor="ctr"/>
          <a:lstStyle/>
          <a:p>
            <a:pPr marL="0" indent="0" algn="ctr">
              <a:buNone/>
            </a:pPr>
            <a:r>
              <a:rPr lang="en-US" sz="1400" dirty="0">
                <a:solidFill>
                  <a:schemeClr val="tx1"/>
                </a:solidFill>
              </a:rPr>
              <a:t>Cold-start once at φ₁ = φ₂ = 0, smallest d; visit nodes by grid distance from it</a:t>
            </a:r>
            <a:endParaRPr lang="en-US" sz="1400" dirty="0"/>
          </a:p>
        </p:txBody>
      </p:sp>
      <p:sp>
        <p:nvSpPr>
          <p:cNvPr id="5" name="flow-arrow-107"/>
          <p:cNvSpPr/>
          <p:nvPr/>
        </p:nvSpPr>
        <p:spPr>
          <a:xfrm>
            <a:off x="2542032" y="2171700"/>
            <a:ext cx="256032" cy="0"/>
          </a:xfrm>
          <a:prstGeom prst="line">
            <a:avLst/>
          </a:prstGeom>
          <a:noFill/>
          <a:ln w="22225">
            <a:solidFill>
              <a:schemeClr val="accent5"/>
            </a:solidFill>
            <a:prstDash val="solid"/>
            <a:tailEnd type="triangle"/>
          </a:ln>
        </p:spPr>
        <p:txBody>
          <a:bodyPr/>
          <a:lstStyle/>
          <a:p>
            <a:endParaRPr lang="en-IN"/>
          </a:p>
        </p:txBody>
      </p:sp>
      <p:sp>
        <p:nvSpPr>
          <p:cNvPr id="6" name="flow-box-108"/>
          <p:cNvSpPr/>
          <p:nvPr/>
        </p:nvSpPr>
        <p:spPr>
          <a:xfrm>
            <a:off x="2825496" y="1508760"/>
            <a:ext cx="1965960" cy="1325880"/>
          </a:xfrm>
          <a:prstGeom prst="roundRect">
            <a:avLst>
              <a:gd name="adj" fmla="val 5517"/>
            </a:avLst>
          </a:prstGeom>
          <a:solidFill>
            <a:schemeClr val="bg2"/>
          </a:solidFill>
          <a:ln/>
        </p:spPr>
        <p:txBody>
          <a:bodyPr/>
          <a:lstStyle/>
          <a:p>
            <a:endParaRPr lang="en-IN"/>
          </a:p>
        </p:txBody>
      </p:sp>
      <p:sp>
        <p:nvSpPr>
          <p:cNvPr id="7" name="text-109"/>
          <p:cNvSpPr txBox="1"/>
          <p:nvPr/>
        </p:nvSpPr>
        <p:spPr>
          <a:xfrm>
            <a:off x="2962656" y="1600200"/>
            <a:ext cx="1691640" cy="1143000"/>
          </a:xfrm>
          <a:prstGeom prst="rect">
            <a:avLst/>
          </a:prstGeom>
          <a:noFill/>
          <a:ln/>
        </p:spPr>
        <p:txBody>
          <a:bodyPr wrap="square" lIns="0" tIns="0" rIns="0" bIns="0" rtlCol="0" anchor="ctr"/>
          <a:lstStyle/>
          <a:p>
            <a:pPr marL="0" indent="0" algn="ctr">
              <a:buNone/>
            </a:pPr>
            <a:r>
              <a:rPr lang="en-US" sz="1400" dirty="0">
                <a:solidFill>
                  <a:schemeClr val="tx1"/>
                </a:solidFill>
              </a:rPr>
              <a:t>Warm-start θ, f</a:t>
            </a:r>
            <a:r>
              <a:rPr lang="en-US" sz="1400" baseline="-40000" dirty="0">
                <a:solidFill>
                  <a:schemeClr val="tx1"/>
                </a:solidFill>
              </a:rPr>
              <a:t>x</a:t>
            </a:r>
            <a:r>
              <a:rPr lang="en-US" sz="1400" dirty="0">
                <a:solidFill>
                  <a:schemeClr val="tx1"/>
                </a:solidFill>
              </a:rPr>
              <a:t>, f</a:t>
            </a:r>
            <a:r>
              <a:rPr lang="en-US" sz="1400" baseline="-40000" dirty="0">
                <a:solidFill>
                  <a:schemeClr val="tx1"/>
                </a:solidFill>
              </a:rPr>
              <a:t>y</a:t>
            </a:r>
            <a:r>
              <a:rPr lang="en-US" sz="1400" dirty="0">
                <a:solidFill>
                  <a:schemeClr val="tx1"/>
                </a:solidFill>
              </a:rPr>
              <a:t> from a solved grid neighbour: bent-up ones first, then nearest</a:t>
            </a:r>
            <a:endParaRPr lang="en-US" sz="1400" dirty="0"/>
          </a:p>
        </p:txBody>
      </p:sp>
      <p:sp>
        <p:nvSpPr>
          <p:cNvPr id="8" name="flow-arrow-110"/>
          <p:cNvSpPr/>
          <p:nvPr/>
        </p:nvSpPr>
        <p:spPr>
          <a:xfrm>
            <a:off x="4818888" y="2171700"/>
            <a:ext cx="256032" cy="0"/>
          </a:xfrm>
          <a:prstGeom prst="line">
            <a:avLst/>
          </a:prstGeom>
          <a:noFill/>
          <a:ln w="22225">
            <a:solidFill>
              <a:schemeClr val="accent5"/>
            </a:solidFill>
            <a:prstDash val="solid"/>
            <a:tailEnd type="triangle"/>
          </a:ln>
        </p:spPr>
        <p:txBody>
          <a:bodyPr/>
          <a:lstStyle/>
          <a:p>
            <a:endParaRPr lang="en-IN"/>
          </a:p>
        </p:txBody>
      </p:sp>
      <p:sp>
        <p:nvSpPr>
          <p:cNvPr id="9" name="flow-box-111"/>
          <p:cNvSpPr/>
          <p:nvPr/>
        </p:nvSpPr>
        <p:spPr>
          <a:xfrm>
            <a:off x="5102352" y="1508760"/>
            <a:ext cx="1965960" cy="1325880"/>
          </a:xfrm>
          <a:prstGeom prst="roundRect">
            <a:avLst>
              <a:gd name="adj" fmla="val 5517"/>
            </a:avLst>
          </a:prstGeom>
          <a:solidFill>
            <a:schemeClr val="bg2"/>
          </a:solidFill>
          <a:ln/>
        </p:spPr>
        <p:txBody>
          <a:bodyPr/>
          <a:lstStyle/>
          <a:p>
            <a:endParaRPr lang="en-IN"/>
          </a:p>
        </p:txBody>
      </p:sp>
      <p:sp>
        <p:nvSpPr>
          <p:cNvPr id="10" name="text-112"/>
          <p:cNvSpPr txBox="1"/>
          <p:nvPr/>
        </p:nvSpPr>
        <p:spPr>
          <a:xfrm>
            <a:off x="5239512" y="1600200"/>
            <a:ext cx="1691640" cy="1143000"/>
          </a:xfrm>
          <a:prstGeom prst="rect">
            <a:avLst/>
          </a:prstGeom>
          <a:noFill/>
          <a:ln/>
        </p:spPr>
        <p:txBody>
          <a:bodyPr wrap="square" lIns="0" tIns="0" rIns="0" bIns="0" rtlCol="0" anchor="ctr"/>
          <a:lstStyle/>
          <a:p>
            <a:pPr marL="0" indent="0" algn="ctr">
              <a:buNone/>
            </a:pPr>
            <a:r>
              <a:rPr lang="en-US" sz="1400" dirty="0">
                <a:solidFill>
                  <a:schemeClr val="tx1"/>
                </a:solidFill>
              </a:rPr>
              <a:t>Newton solve (SNES, at most 50 iterations)</a:t>
            </a:r>
            <a:endParaRPr lang="en-US" sz="1400" dirty="0"/>
          </a:p>
        </p:txBody>
      </p:sp>
      <p:sp>
        <p:nvSpPr>
          <p:cNvPr id="11" name="flow-arrow-113"/>
          <p:cNvSpPr/>
          <p:nvPr/>
        </p:nvSpPr>
        <p:spPr>
          <a:xfrm>
            <a:off x="7095744" y="2171700"/>
            <a:ext cx="256032" cy="0"/>
          </a:xfrm>
          <a:prstGeom prst="line">
            <a:avLst/>
          </a:prstGeom>
          <a:noFill/>
          <a:ln w="22225">
            <a:solidFill>
              <a:schemeClr val="accent5"/>
            </a:solidFill>
            <a:prstDash val="solid"/>
            <a:tailEnd type="triangle"/>
          </a:ln>
        </p:spPr>
        <p:txBody>
          <a:bodyPr/>
          <a:lstStyle/>
          <a:p>
            <a:endParaRPr lang="en-IN"/>
          </a:p>
        </p:txBody>
      </p:sp>
      <p:sp>
        <p:nvSpPr>
          <p:cNvPr id="12" name="flow-box-114"/>
          <p:cNvSpPr/>
          <p:nvPr/>
        </p:nvSpPr>
        <p:spPr>
          <a:xfrm>
            <a:off x="7379208" y="1508760"/>
            <a:ext cx="1965960" cy="1325880"/>
          </a:xfrm>
          <a:prstGeom prst="roundRect">
            <a:avLst>
              <a:gd name="adj" fmla="val 5517"/>
            </a:avLst>
          </a:prstGeom>
          <a:solidFill>
            <a:schemeClr val="accent1"/>
          </a:solidFill>
          <a:ln/>
        </p:spPr>
        <p:txBody>
          <a:bodyPr/>
          <a:lstStyle/>
          <a:p>
            <a:endParaRPr lang="en-IN"/>
          </a:p>
        </p:txBody>
      </p:sp>
      <p:sp>
        <p:nvSpPr>
          <p:cNvPr id="13" name="text-115"/>
          <p:cNvSpPr txBox="1"/>
          <p:nvPr/>
        </p:nvSpPr>
        <p:spPr>
          <a:xfrm>
            <a:off x="7516368" y="1600200"/>
            <a:ext cx="1691640" cy="1143000"/>
          </a:xfrm>
          <a:prstGeom prst="rect">
            <a:avLst/>
          </a:prstGeom>
          <a:noFill/>
          <a:ln/>
        </p:spPr>
        <p:txBody>
          <a:bodyPr wrap="square" lIns="0" tIns="0" rIns="0" bIns="0" rtlCol="0" anchor="ctr"/>
          <a:lstStyle/>
          <a:p>
            <a:pPr marL="0" indent="0" algn="ctr">
              <a:buNone/>
            </a:pPr>
            <a:r>
              <a:rPr lang="en-US" sz="1400" dirty="0">
                <a:solidFill>
                  <a:schemeClr val="bg1"/>
                </a:solidFill>
              </a:rPr>
              <a:t>No jump in q, and stable?</a:t>
            </a:r>
          </a:p>
        </p:txBody>
      </p:sp>
      <p:sp>
        <p:nvSpPr>
          <p:cNvPr id="14" name="flow-arrow-116"/>
          <p:cNvSpPr/>
          <p:nvPr/>
        </p:nvSpPr>
        <p:spPr>
          <a:xfrm>
            <a:off x="9372600" y="2171700"/>
            <a:ext cx="256032" cy="0"/>
          </a:xfrm>
          <a:prstGeom prst="line">
            <a:avLst/>
          </a:prstGeom>
          <a:noFill/>
          <a:ln w="22225">
            <a:solidFill>
              <a:schemeClr val="accent5"/>
            </a:solidFill>
            <a:prstDash val="solid"/>
            <a:tailEnd type="triangle"/>
          </a:ln>
        </p:spPr>
        <p:txBody>
          <a:bodyPr/>
          <a:lstStyle/>
          <a:p>
            <a:endParaRPr lang="en-IN"/>
          </a:p>
        </p:txBody>
      </p:sp>
      <p:sp>
        <p:nvSpPr>
          <p:cNvPr id="15" name="flow-box-117"/>
          <p:cNvSpPr/>
          <p:nvPr/>
        </p:nvSpPr>
        <p:spPr>
          <a:xfrm>
            <a:off x="9656064" y="1508760"/>
            <a:ext cx="1965960" cy="1325880"/>
          </a:xfrm>
          <a:prstGeom prst="roundRect">
            <a:avLst>
              <a:gd name="adj" fmla="val 5517"/>
            </a:avLst>
          </a:prstGeom>
          <a:solidFill>
            <a:schemeClr val="bg2"/>
          </a:solidFill>
          <a:ln/>
        </p:spPr>
        <p:txBody>
          <a:bodyPr/>
          <a:lstStyle/>
          <a:p>
            <a:endParaRPr lang="en-IN"/>
          </a:p>
        </p:txBody>
      </p:sp>
      <p:sp>
        <p:nvSpPr>
          <p:cNvPr id="16" name="text-118"/>
          <p:cNvSpPr txBox="1"/>
          <p:nvPr/>
        </p:nvSpPr>
        <p:spPr>
          <a:xfrm>
            <a:off x="9793224" y="1600200"/>
            <a:ext cx="1691640" cy="1143000"/>
          </a:xfrm>
          <a:prstGeom prst="rect">
            <a:avLst/>
          </a:prstGeom>
          <a:noFill/>
          <a:ln/>
        </p:spPr>
        <p:txBody>
          <a:bodyPr wrap="square" lIns="0" tIns="0" rIns="0" bIns="0" rtlCol="0" anchor="ctr"/>
          <a:lstStyle/>
          <a:p>
            <a:pPr marL="0" indent="0" algn="ctr">
              <a:buNone/>
            </a:pPr>
            <a:r>
              <a:rPr lang="en-US" sz="1400" dirty="0">
                <a:solidFill>
                  <a:schemeClr val="tx1"/>
                </a:solidFill>
              </a:rPr>
              <a:t>Accept, store, and write the mirror point</a:t>
            </a:r>
            <a:endParaRPr lang="en-US" sz="1400" dirty="0"/>
          </a:p>
        </p:txBody>
      </p:sp>
      <p:sp>
        <p:nvSpPr>
          <p:cNvPr id="17" name="text-119"/>
          <p:cNvSpPr txBox="1"/>
          <p:nvPr/>
        </p:nvSpPr>
        <p:spPr>
          <a:xfrm>
            <a:off x="9345168" y="1805940"/>
            <a:ext cx="310896" cy="274320"/>
          </a:xfrm>
          <a:prstGeom prst="rect">
            <a:avLst/>
          </a:prstGeom>
          <a:noFill/>
          <a:ln/>
        </p:spPr>
        <p:txBody>
          <a:bodyPr wrap="square" lIns="0" tIns="0" rIns="0" bIns="0" rtlCol="0" anchor="t"/>
          <a:lstStyle/>
          <a:p>
            <a:pPr marL="0" indent="0" algn="ctr">
              <a:buNone/>
            </a:pPr>
            <a:r>
              <a:rPr lang="en-US" sz="1200" b="1" dirty="0">
                <a:solidFill>
                  <a:schemeClr val="accent2"/>
                </a:solidFill>
              </a:rPr>
              <a:t>yes</a:t>
            </a:r>
            <a:endParaRPr lang="en-US" sz="1200" dirty="0"/>
          </a:p>
        </p:txBody>
      </p:sp>
      <p:sp>
        <p:nvSpPr>
          <p:cNvPr id="18" name="flow-arrow-120"/>
          <p:cNvSpPr/>
          <p:nvPr/>
        </p:nvSpPr>
        <p:spPr>
          <a:xfrm>
            <a:off x="8362188" y="2862072"/>
            <a:ext cx="0" cy="548640"/>
          </a:xfrm>
          <a:prstGeom prst="line">
            <a:avLst/>
          </a:prstGeom>
          <a:noFill/>
          <a:ln w="22225">
            <a:solidFill>
              <a:schemeClr val="accent3"/>
            </a:solidFill>
            <a:prstDash val="solid"/>
            <a:tailEnd type="triangle"/>
          </a:ln>
        </p:spPr>
        <p:txBody>
          <a:bodyPr/>
          <a:lstStyle/>
          <a:p>
            <a:endParaRPr lang="en-IN"/>
          </a:p>
        </p:txBody>
      </p:sp>
      <p:sp>
        <p:nvSpPr>
          <p:cNvPr id="19" name="text-121"/>
          <p:cNvSpPr txBox="1"/>
          <p:nvPr/>
        </p:nvSpPr>
        <p:spPr>
          <a:xfrm>
            <a:off x="8453628" y="2944368"/>
            <a:ext cx="457200" cy="274320"/>
          </a:xfrm>
          <a:prstGeom prst="rect">
            <a:avLst/>
          </a:prstGeom>
          <a:noFill/>
          <a:ln/>
        </p:spPr>
        <p:txBody>
          <a:bodyPr wrap="square" lIns="0" tIns="0" rIns="0" bIns="0" rtlCol="0" anchor="t"/>
          <a:lstStyle/>
          <a:p>
            <a:pPr marL="0" indent="0">
              <a:buNone/>
            </a:pPr>
            <a:r>
              <a:rPr lang="en-US" sz="1200" b="1" dirty="0">
                <a:solidFill>
                  <a:schemeClr val="accent3"/>
                </a:solidFill>
              </a:rPr>
              <a:t>no</a:t>
            </a:r>
            <a:endParaRPr lang="en-US" sz="1200" dirty="0"/>
          </a:p>
        </p:txBody>
      </p:sp>
      <p:sp>
        <p:nvSpPr>
          <p:cNvPr id="20" name="flow-box-122"/>
          <p:cNvSpPr/>
          <p:nvPr/>
        </p:nvSpPr>
        <p:spPr>
          <a:xfrm>
            <a:off x="5618988" y="3429000"/>
            <a:ext cx="4206240" cy="960120"/>
          </a:xfrm>
          <a:prstGeom prst="roundRect">
            <a:avLst>
              <a:gd name="adj" fmla="val 7619"/>
            </a:avLst>
          </a:prstGeom>
          <a:solidFill>
            <a:schemeClr val="bg1"/>
          </a:solidFill>
          <a:ln w="19050">
            <a:solidFill>
              <a:schemeClr val="accent3"/>
            </a:solidFill>
            <a:prstDash val="solid"/>
          </a:ln>
        </p:spPr>
        <p:txBody>
          <a:bodyPr/>
          <a:lstStyle/>
          <a:p>
            <a:endParaRPr lang="en-IN"/>
          </a:p>
        </p:txBody>
      </p:sp>
      <p:sp>
        <p:nvSpPr>
          <p:cNvPr id="21" name="text-123"/>
          <p:cNvSpPr txBox="1"/>
          <p:nvPr/>
        </p:nvSpPr>
        <p:spPr>
          <a:xfrm>
            <a:off x="5756148" y="3474720"/>
            <a:ext cx="3931920" cy="868680"/>
          </a:xfrm>
          <a:prstGeom prst="rect">
            <a:avLst/>
          </a:prstGeom>
          <a:noFill/>
          <a:ln/>
        </p:spPr>
        <p:txBody>
          <a:bodyPr wrap="square" lIns="0" tIns="0" rIns="0" bIns="0" rtlCol="0" anchor="ctr"/>
          <a:lstStyle/>
          <a:p>
            <a:pPr marL="0" indent="0">
              <a:buNone/>
            </a:pPr>
            <a:r>
              <a:rPr lang="en-US" sz="1400" dirty="0">
                <a:solidFill>
                  <a:schemeClr val="tx1"/>
                </a:solidFill>
              </a:rPr>
              <a:t>Rejected or diverged: try the next neighbour. After 3 failures from one branch, wait for the other; a waiting node retries whenever a neighbour is solved.</a:t>
            </a:r>
          </a:p>
        </p:txBody>
      </p:sp>
      <p:sp>
        <p:nvSpPr>
          <p:cNvPr id="22" name="card-124"/>
          <p:cNvSpPr/>
          <p:nvPr/>
        </p:nvSpPr>
        <p:spPr>
          <a:xfrm>
            <a:off x="548640" y="4663440"/>
            <a:ext cx="3493008" cy="1508760"/>
          </a:xfrm>
          <a:prstGeom prst="roundRect">
            <a:avLst>
              <a:gd name="adj" fmla="val 4848"/>
            </a:avLst>
          </a:prstGeom>
          <a:solidFill>
            <a:schemeClr val="bg2"/>
          </a:solidFill>
          <a:ln/>
        </p:spPr>
        <p:txBody>
          <a:bodyPr/>
          <a:lstStyle/>
          <a:p>
            <a:endParaRPr lang="en-IN"/>
          </a:p>
        </p:txBody>
      </p:sp>
      <p:sp>
        <p:nvSpPr>
          <p:cNvPr id="23" name="text-125"/>
          <p:cNvSpPr txBox="1"/>
          <p:nvPr/>
        </p:nvSpPr>
        <p:spPr>
          <a:xfrm>
            <a:off x="731520" y="4773168"/>
            <a:ext cx="3108960" cy="320040"/>
          </a:xfrm>
          <a:prstGeom prst="rect">
            <a:avLst/>
          </a:prstGeom>
          <a:noFill/>
          <a:ln/>
        </p:spPr>
        <p:txBody>
          <a:bodyPr wrap="square" lIns="0" tIns="0" rIns="0" bIns="0" rtlCol="0" anchor="t"/>
          <a:lstStyle/>
          <a:p>
            <a:pPr marL="0" indent="0">
              <a:buNone/>
            </a:pPr>
            <a:r>
              <a:rPr lang="en-US" sz="1500" b="1" dirty="0">
                <a:solidFill>
                  <a:schemeClr val="accent1"/>
                </a:solidFill>
              </a:rPr>
              <a:t>Grid</a:t>
            </a:r>
            <a:endParaRPr lang="en-US" sz="1500" dirty="0"/>
          </a:p>
        </p:txBody>
      </p:sp>
      <p:sp>
        <p:nvSpPr>
          <p:cNvPr id="24" name="text-126"/>
          <p:cNvSpPr txBox="1"/>
          <p:nvPr/>
        </p:nvSpPr>
        <p:spPr>
          <a:xfrm>
            <a:off x="731520" y="5120640"/>
            <a:ext cx="3108960" cy="960120"/>
          </a:xfrm>
          <a:prstGeom prst="rect">
            <a:avLst/>
          </a:prstGeom>
          <a:noFill/>
          <a:ln/>
        </p:spPr>
        <p:txBody>
          <a:bodyPr wrap="square" lIns="0" tIns="0" rIns="0" bIns="0" rtlCol="0" anchor="t"/>
          <a:lstStyle/>
          <a:p>
            <a:pPr marL="0" indent="0">
              <a:buNone/>
            </a:pPr>
            <a:r>
              <a:rPr lang="en-US" sz="1300" dirty="0">
                <a:solidFill>
                  <a:schemeClr val="tx1"/>
                </a:solidFill>
              </a:rPr>
              <a:t>Rectilinear (d, φ₁, φ₂) grid split into 6 tetrahedra per cell; warm starts come from the 26 grid neighbours</a:t>
            </a:r>
            <a:endParaRPr lang="en-US" sz="1300" dirty="0"/>
          </a:p>
        </p:txBody>
      </p:sp>
      <p:sp>
        <p:nvSpPr>
          <p:cNvPr id="25" name="card-127"/>
          <p:cNvSpPr/>
          <p:nvPr/>
        </p:nvSpPr>
        <p:spPr>
          <a:xfrm>
            <a:off x="4334256" y="4663440"/>
            <a:ext cx="3493008" cy="1508760"/>
          </a:xfrm>
          <a:prstGeom prst="roundRect">
            <a:avLst>
              <a:gd name="adj" fmla="val 4848"/>
            </a:avLst>
          </a:prstGeom>
          <a:solidFill>
            <a:schemeClr val="bg2"/>
          </a:solidFill>
          <a:ln/>
        </p:spPr>
        <p:txBody>
          <a:bodyPr/>
          <a:lstStyle/>
          <a:p>
            <a:endParaRPr lang="en-IN"/>
          </a:p>
        </p:txBody>
      </p:sp>
      <p:sp>
        <p:nvSpPr>
          <p:cNvPr id="26" name="text-128"/>
          <p:cNvSpPr txBox="1"/>
          <p:nvPr/>
        </p:nvSpPr>
        <p:spPr>
          <a:xfrm>
            <a:off x="4517136" y="4773168"/>
            <a:ext cx="3108960" cy="320040"/>
          </a:xfrm>
          <a:prstGeom prst="rect">
            <a:avLst/>
          </a:prstGeom>
          <a:noFill/>
          <a:ln/>
        </p:spPr>
        <p:txBody>
          <a:bodyPr wrap="square" lIns="0" tIns="0" rIns="0" bIns="0" rtlCol="0" anchor="t"/>
          <a:lstStyle/>
          <a:p>
            <a:pPr marL="0" indent="0">
              <a:buNone/>
            </a:pPr>
            <a:r>
              <a:rPr lang="en-US" sz="1500" b="1" dirty="0">
                <a:solidFill>
                  <a:schemeClr val="accent1"/>
                </a:solidFill>
              </a:rPr>
              <a:t>Restartable</a:t>
            </a:r>
            <a:endParaRPr lang="en-US" sz="1500" dirty="0"/>
          </a:p>
        </p:txBody>
      </p:sp>
      <p:sp>
        <p:nvSpPr>
          <p:cNvPr id="27" name="text-129"/>
          <p:cNvSpPr txBox="1"/>
          <p:nvPr/>
        </p:nvSpPr>
        <p:spPr>
          <a:xfrm>
            <a:off x="4517136" y="5120640"/>
            <a:ext cx="3108960" cy="960120"/>
          </a:xfrm>
          <a:prstGeom prst="rect">
            <a:avLst/>
          </a:prstGeom>
          <a:noFill/>
          <a:ln/>
        </p:spPr>
        <p:txBody>
          <a:bodyPr wrap="square" lIns="0" tIns="0" rIns="0" bIns="0" rtlCol="0" anchor="t"/>
          <a:lstStyle/>
          <a:p>
            <a:pPr marL="0" indent="0">
              <a:buNone/>
            </a:pPr>
            <a:r>
              <a:rPr lang="en-US" sz="1300" dirty="0">
                <a:solidFill>
                  <a:schemeClr val="tx1"/>
                </a:solidFill>
              </a:rPr>
              <a:t>Live NPZ checkpoints, also on Ctrl-C; a resume reloads every stored θ as a warm-start source</a:t>
            </a:r>
          </a:p>
        </p:txBody>
      </p:sp>
      <p:sp>
        <p:nvSpPr>
          <p:cNvPr id="28" name="card-130"/>
          <p:cNvSpPr/>
          <p:nvPr/>
        </p:nvSpPr>
        <p:spPr>
          <a:xfrm>
            <a:off x="8119872" y="4663440"/>
            <a:ext cx="3493008" cy="1508760"/>
          </a:xfrm>
          <a:prstGeom prst="roundRect">
            <a:avLst>
              <a:gd name="adj" fmla="val 4848"/>
            </a:avLst>
          </a:prstGeom>
          <a:solidFill>
            <a:schemeClr val="bg2"/>
          </a:solidFill>
          <a:ln/>
        </p:spPr>
        <p:txBody>
          <a:bodyPr/>
          <a:lstStyle/>
          <a:p>
            <a:endParaRPr lang="en-IN"/>
          </a:p>
        </p:txBody>
      </p:sp>
      <p:sp>
        <p:nvSpPr>
          <p:cNvPr id="29" name="text-131"/>
          <p:cNvSpPr txBox="1"/>
          <p:nvPr/>
        </p:nvSpPr>
        <p:spPr>
          <a:xfrm>
            <a:off x="8302752" y="4773168"/>
            <a:ext cx="3108960" cy="320040"/>
          </a:xfrm>
          <a:prstGeom prst="rect">
            <a:avLst/>
          </a:prstGeom>
          <a:noFill/>
          <a:ln/>
        </p:spPr>
        <p:txBody>
          <a:bodyPr wrap="square" lIns="0" tIns="0" rIns="0" bIns="0" rtlCol="0" anchor="t"/>
          <a:lstStyle/>
          <a:p>
            <a:pPr marL="0" indent="0">
              <a:buNone/>
            </a:pPr>
            <a:r>
              <a:rPr lang="en-US" sz="1500" b="1" dirty="0">
                <a:solidFill>
                  <a:schemeClr val="accent1"/>
                </a:solidFill>
              </a:rPr>
              <a:t>Half domain</a:t>
            </a:r>
            <a:endParaRPr lang="en-US" sz="1500" dirty="0"/>
          </a:p>
        </p:txBody>
      </p:sp>
      <p:sp>
        <p:nvSpPr>
          <p:cNvPr id="30" name="text-132"/>
          <p:cNvSpPr txBox="1"/>
          <p:nvPr/>
        </p:nvSpPr>
        <p:spPr>
          <a:xfrm>
            <a:off x="8302752" y="5120640"/>
            <a:ext cx="3108960" cy="960120"/>
          </a:xfrm>
          <a:prstGeom prst="rect">
            <a:avLst/>
          </a:prstGeom>
          <a:noFill/>
          <a:ln/>
        </p:spPr>
        <p:txBody>
          <a:bodyPr wrap="square" lIns="0" tIns="0" rIns="0" bIns="0" rtlCol="0" anchor="t"/>
          <a:lstStyle/>
          <a:p>
            <a:pPr marL="0" indent="0">
              <a:buNone/>
            </a:pPr>
            <a:r>
              <a:rPr lang="en-US" sz="1300" dirty="0">
                <a:solidFill>
                  <a:schemeClr val="tx1"/>
                </a:solidFill>
              </a:rPr>
              <a:t>Only φ₁ + φ₂ ≥ 0 is solved; a precomputed mirror index fills the other half</a:t>
            </a:r>
            <a:endParaRPr lang="en-US" sz="1300" dirty="0"/>
          </a:p>
        </p:txBody>
      </p:sp>
      <p:sp>
        <p:nvSpPr>
          <p:cNvPr id="31"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Deferral">
    <p:spTree>
      <p:nvGrpSpPr>
        <p:cNvPr id="1" name=""/>
        <p:cNvGrpSpPr/>
        <p:nvPr/>
      </p:nvGrpSpPr>
      <p:grpSpPr>
        <a:xfrm>
          <a:off x="0" y="0"/>
          <a:ext cx="0" cy="0"/>
          <a:chOff x="0" y="0"/>
          <a:chExt cx="0" cy="0"/>
        </a:xfrm>
      </p:grpSpPr>
      <p:sp>
        <p:nvSpPr>
          <p:cNvPr id="2" name="Title"/>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Going around a fold: defer, never jump</a:t>
            </a:r>
            <a:endParaRPr lang="en-US" sz="3000" dirty="0"/>
          </a:p>
        </p:txBody>
      </p:sp>
      <p:pic>
        <p:nvPicPr>
          <p:cNvPr id="401" name="figure-401" descr="Order in which the d = 0.99 layer was solved, with the deferred nodes highlighted"/>
          <p:cNvPicPr>
            <a:picLocks noChangeAspect="1"/>
          </p:cNvPicPr>
          <p:nvPr/>
        </p:nvPicPr>
        <p:blipFill>
          <a:blip r:embed="rId3"/>
          <a:stretch>
            <a:fillRect/>
          </a:stretch>
        </p:blipFill>
        <p:spPr>
          <a:xfrm>
            <a:off x="411480" y="1280622"/>
            <a:ext cx="5486400" cy="4525356"/>
          </a:xfrm>
          <a:prstGeom prst="rect">
            <a:avLst/>
          </a:prstGeom>
        </p:spPr>
      </p:pic>
      <p:sp>
        <p:nvSpPr>
          <p:cNvPr id="402" name="caption-402"/>
          <p:cNvSpPr txBox="1"/>
          <p:nvPr/>
        </p:nvSpPr>
        <p:spPr>
          <a:xfrm>
            <a:off x="548640" y="5852160"/>
            <a:ext cx="5303520" cy="411480"/>
          </a:xfrm>
          <a:prstGeom prst="rect">
            <a:avLst/>
          </a:prstGeom>
          <a:noFill/>
          <a:ln/>
        </p:spPr>
        <p:txBody>
          <a:bodyPr wrap="square" lIns="0" tIns="0" rIns="0" bIns="0" rtlCol="0" anchor="t">
            <a:normAutofit/>
          </a:bodyPr>
          <a:lstStyle/>
          <a:p>
            <a:pPr marL="0" indent="0" algn="l">
              <a:spcAft>
                <a:spcPts val="0"/>
              </a:spcAft>
              <a:buNone/>
            </a:pPr>
            <a:r>
              <a:rPr lang="en-US" sz="1100" dirty="0">
                <a:solidFill>
                  <a:schemeClr val="accent5"/>
                </a:solidFill>
              </a:rPr>
              <a:t>d = 0.99 layer: the front grows outward; orange nodes had to wait for a neighbour on the other branch.</a:t>
            </a:r>
            <a:endParaRPr lang="en-US" sz="1100" dirty="0"/>
          </a:p>
        </p:txBody>
      </p:sp>
      <p:sp>
        <p:nvSpPr>
          <p:cNvPr id="403" name="badge-403"/>
          <p:cNvSpPr/>
          <p:nvPr/>
        </p:nvSpPr>
        <p:spPr>
          <a:xfrm>
            <a:off x="6263640" y="144475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1</a:t>
            </a:r>
          </a:p>
        </p:txBody>
      </p:sp>
      <p:sp>
        <p:nvSpPr>
          <p:cNvPr id="404" name="step-404"/>
          <p:cNvSpPr txBox="1"/>
          <p:nvPr/>
        </p:nvSpPr>
        <p:spPr>
          <a:xfrm>
            <a:off x="6812280" y="1417320"/>
            <a:ext cx="4800600" cy="932688"/>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Defer</a:t>
            </a:r>
            <a:endParaRPr lang="en-US" sz="1300" dirty="0"/>
          </a:p>
          <a:p>
            <a:pPr marL="0" indent="0" algn="l">
              <a:spcAft>
                <a:spcPts val="200"/>
              </a:spcAft>
              <a:buNone/>
            </a:pPr>
            <a:r>
              <a:rPr lang="en-US" sz="1300" dirty="0">
                <a:solidFill>
                  <a:schemeClr val="tx1"/>
                </a:solidFill>
              </a:rPr>
              <a:t>A node with no acceptable warm start is set aside, not forced; it is retried each time a new neighbour is solved.</a:t>
            </a:r>
            <a:endParaRPr lang="en-US" sz="1300" dirty="0"/>
          </a:p>
        </p:txBody>
      </p:sp>
      <p:sp>
        <p:nvSpPr>
          <p:cNvPr id="405" name="badge-405"/>
          <p:cNvSpPr/>
          <p:nvPr/>
        </p:nvSpPr>
        <p:spPr>
          <a:xfrm>
            <a:off x="6263640" y="2468880"/>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2</a:t>
            </a:r>
          </a:p>
        </p:txBody>
      </p:sp>
      <p:sp>
        <p:nvSpPr>
          <p:cNvPr id="406" name="step-406"/>
          <p:cNvSpPr txBox="1"/>
          <p:nvPr/>
        </p:nvSpPr>
        <p:spPr>
          <a:xfrm>
            <a:off x="6812280" y="2441448"/>
            <a:ext cx="4800600" cy="932688"/>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Wait for the other branch</a:t>
            </a:r>
            <a:endParaRPr lang="en-US" sz="1300" dirty="0"/>
          </a:p>
          <a:p>
            <a:pPr marL="0" indent="0" algn="l">
              <a:spcAft>
                <a:spcPts val="200"/>
              </a:spcAft>
              <a:buNone/>
            </a:pPr>
            <a:r>
              <a:rPr lang="en-US" sz="1300" dirty="0">
                <a:solidFill>
                  <a:schemeClr val="tx1"/>
                </a:solidFill>
              </a:rPr>
              <a:t>After 3 failures from neighbours on one branch it only tries the other, so a node past a fold waits for the far side.</a:t>
            </a:r>
            <a:endParaRPr lang="en-US" sz="1300" dirty="0"/>
          </a:p>
        </p:txBody>
      </p:sp>
      <p:sp>
        <p:nvSpPr>
          <p:cNvPr id="407" name="badge-407"/>
          <p:cNvSpPr/>
          <p:nvPr/>
        </p:nvSpPr>
        <p:spPr>
          <a:xfrm>
            <a:off x="6263640" y="3493008"/>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3</a:t>
            </a:r>
          </a:p>
        </p:txBody>
      </p:sp>
      <p:sp>
        <p:nvSpPr>
          <p:cNvPr id="408" name="step-408"/>
          <p:cNvSpPr txBox="1"/>
          <p:nvPr/>
        </p:nvSpPr>
        <p:spPr>
          <a:xfrm>
            <a:off x="6812280" y="3465576"/>
            <a:ext cx="4800600" cy="932688"/>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The long way round</a:t>
            </a:r>
            <a:endParaRPr lang="en-US" sz="1300" dirty="0"/>
          </a:p>
          <a:p>
            <a:pPr marL="0" indent="0" algn="l">
              <a:spcAft>
                <a:spcPts val="200"/>
              </a:spcAft>
              <a:buNone/>
            </a:pPr>
            <a:r>
              <a:rPr lang="en-US" sz="1300" dirty="0">
                <a:solidFill>
                  <a:schemeClr val="tx1"/>
                </a:solidFill>
              </a:rPr>
              <a:t>The front reaches the cut-off region through the smooth crossings and approaches it from the far side.</a:t>
            </a:r>
            <a:endParaRPr lang="en-US" sz="1300" dirty="0"/>
          </a:p>
        </p:txBody>
      </p:sp>
      <p:sp>
        <p:nvSpPr>
          <p:cNvPr id="409" name="badge-409"/>
          <p:cNvSpPr/>
          <p:nvPr/>
        </p:nvSpPr>
        <p:spPr>
          <a:xfrm>
            <a:off x="6263640" y="4517136"/>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4</a:t>
            </a:r>
          </a:p>
        </p:txBody>
      </p:sp>
      <p:sp>
        <p:nvSpPr>
          <p:cNvPr id="410" name="step-410"/>
          <p:cNvSpPr txBox="1"/>
          <p:nvPr/>
        </p:nvSpPr>
        <p:spPr>
          <a:xfrm>
            <a:off x="6812280" y="4489704"/>
            <a:ext cx="4800600" cy="932688"/>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Last resort</a:t>
            </a:r>
            <a:endParaRPr lang="en-US" sz="1300" dirty="0"/>
          </a:p>
          <a:p>
            <a:pPr marL="0" indent="0" algn="l">
              <a:spcAft>
                <a:spcPts val="200"/>
              </a:spcAft>
              <a:buNone/>
            </a:pPr>
            <a:r>
              <a:rPr lang="en-US" sz="1300" dirty="0">
                <a:solidFill>
                  <a:schemeClr val="tx1"/>
                </a:solidFill>
              </a:rPr>
              <a:t>Only if the whole front stalls is the nearest waiting node cold-started.</a:t>
            </a:r>
            <a:endParaRPr lang="en-US" sz="1300" dirty="0"/>
          </a:p>
        </p:txBody>
      </p:sp>
      <p:sp>
        <p:nvSpPr>
          <p:cNvPr id="411" name="caption-411"/>
          <p:cNvSpPr txBox="1"/>
          <p:nvPr/>
        </p:nvSpPr>
        <p:spPr>
          <a:xfrm>
            <a:off x="6263640" y="5623560"/>
            <a:ext cx="5349240" cy="548640"/>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Production run: 1,155 nodes waited (all at d ≥ 0.97); one extra cold start, at (0.99, 0.20, 0.20). A final promotion pass gave the bent-up rod to 1,571 bistable nodes the front had filled bent down.</a:t>
            </a:r>
            <a:endParaRPr lang="en-US" sz="1150" dirty="0"/>
          </a:p>
        </p:txBody>
      </p:sp>
      <p:sp>
        <p:nvSpPr>
          <p:cNvPr id="9" name="Slide Number"/>
          <p:cNvSpPr>
            <a:spLocks noGrp="1"/>
          </p:cNvSpPr>
          <p:nvPr>
            <p:ph type="sldNum" sz="quarter" idx="4294967295"/>
          </p:nvPr>
        </p:nvSpPr>
        <p:spPr>
          <a:xfrm>
            <a:off x="11155680" y="6400800"/>
            <a:ext cx="457200" cy="274320"/>
          </a:xfrm>
          <a:prstGeom prst="rect">
            <a:avLst/>
          </a:prstGeom>
        </p:spPr>
        <p:txBody>
          <a:bodyPr/>
          <a:lstStyle>
            <a:lvl1pPr>
              <a:defRPr sz="1000">
                <a:solidFill>
                  <a:schemeClr val="accent6"/>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tability test">
    <p:spTree>
      <p:nvGrpSpPr>
        <p:cNvPr id="1" name=""/>
        <p:cNvGrpSpPr/>
        <p:nvPr/>
      </p:nvGrpSpPr>
      <p:grpSpPr>
        <a:xfrm>
          <a:off x="0" y="0"/>
          <a:ext cx="0" cy="0"/>
          <a:chOff x="0" y="0"/>
          <a:chExt cx="0" cy="0"/>
        </a:xfrm>
      </p:grpSpPr>
      <p:sp>
        <p:nvSpPr>
          <p:cNvPr id="2" name="Title"/>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A stability test catches what the jump test misses</a:t>
            </a:r>
            <a:endParaRPr lang="en-US" sz="3000" dirty="0"/>
          </a:p>
        </p:txBody>
      </p:sp>
      <p:sp>
        <p:nvSpPr>
          <p:cNvPr id="401" name="card-401"/>
          <p:cNvSpPr/>
          <p:nvPr/>
        </p:nvSpPr>
        <p:spPr>
          <a:xfrm>
            <a:off x="548640" y="1417320"/>
            <a:ext cx="5760720" cy="2834640"/>
          </a:xfrm>
          <a:prstGeom prst="roundRect">
            <a:avLst>
              <a:gd name="adj" fmla="val 6000"/>
            </a:avLst>
          </a:prstGeom>
          <a:solidFill>
            <a:schemeClr val="bg2"/>
          </a:solidFill>
          <a:ln>
            <a:noFill/>
          </a:ln>
        </p:spPr>
        <p:txBody>
          <a:bodyPr/>
          <a:lstStyle/>
          <a:p>
            <a:endParaRPr lang="en-US"/>
          </a:p>
        </p:txBody>
      </p:sp>
      <p:sp>
        <p:nvSpPr>
          <p:cNvPr id="402" name="card-head-402"/>
          <p:cNvSpPr txBox="1"/>
          <p:nvPr/>
        </p:nvSpPr>
        <p:spPr>
          <a:xfrm>
            <a:off x="777240" y="1536192"/>
            <a:ext cx="5303520" cy="320040"/>
          </a:xfrm>
          <a:prstGeom prst="rect">
            <a:avLst/>
          </a:prstGeom>
          <a:noFill/>
          <a:ln/>
        </p:spPr>
        <p:txBody>
          <a:bodyPr wrap="square" lIns="0" tIns="0" rIns="0" bIns="0" rtlCol="0" anchor="t">
            <a:normAutofit/>
          </a:bodyPr>
          <a:lstStyle/>
          <a:p>
            <a:pPr marL="0" indent="0" algn="l">
              <a:spcAft>
                <a:spcPts val="0"/>
              </a:spcAft>
              <a:buNone/>
            </a:pPr>
            <a:r>
              <a:rPr lang="en-US" sz="1500" b="1" dirty="0">
                <a:solidFill>
                  <a:schemeClr val="accent1"/>
                </a:solidFill>
              </a:rPr>
              <a:t>Constrained second variation</a:t>
            </a:r>
            <a:endParaRPr lang="en-US" sz="1500" dirty="0"/>
          </a:p>
        </p:txBody>
      </p:sp>
      <mc:AlternateContent xmlns:mc="http://schemas.openxmlformats.org/markup-compatibility/2006" xmlns:a14="http://schemas.microsoft.com/office/drawing/2010/main">
        <mc:Choice Requires="a14">
          <p:sp>
            <p:nvSpPr>
              <p:cNvPr id="403" name="latex-Q"/>
              <p:cNvSpPr txBox="1"/>
              <p:nvPr/>
            </p:nvSpPr>
            <p:spPr>
              <a:xfrm>
                <a:off x="777240" y="1944624"/>
                <a:ext cx="3526536" cy="591312"/>
              </a:xfrm>
              <a:prstGeom prst="rect">
                <a:avLst/>
              </a:prstGeom>
              <a:noFill/>
            </p:spPr>
            <p:txBody>
              <a:bodyPr wrap="none" lIns="0" tIns="0" rIns="0" bIns="0" rtlCol="0" anchor="ctr">
                <a:noAutofit/>
              </a:bodyPr>
              <a:lstStyle/>
              <a:p>
                <a:pPr marL="0" indent="0">
                  <a:buNone/>
                </a:pPr>
                <a14:m>
                  <m:oMathPara xmlns:m="http://schemas.openxmlformats.org/officeDocument/2006/math">
                    <m:oMathParaPr>
                      <m:jc m:val="left"/>
                    </m:oMathParaPr>
                    <m:oMath>
                      <m:r>
                        <a:rPr lang="en-US" sz="1600" i="1" dirty="0">
                          <a:solidFill>
                            <a:schemeClr val="tx1"/>
                          </a:solidFill>
                          <a:latin typeface="Cambria Math" panose="02040503050406030204" pitchFamily="18" charset="0"/>
                        </a:rPr>
                        <m:t>𝑄</m:t>
                      </m:r>
                      <m:r>
                        <a:rPr lang="en-US" sz="1600" i="1" dirty="0">
                          <a:solidFill>
                            <a:schemeClr val="tx1"/>
                          </a:solidFill>
                          <a:latin typeface="Cambria Math" panose="02040503050406030204" pitchFamily="18" charset="0"/>
                        </a:rPr>
                        <m:t>[</m:t>
                      </m:r>
                      <m:r>
                        <a:rPr lang="en-US" sz="1600" i="1" dirty="0">
                          <a:solidFill>
                            <a:schemeClr val="tx1"/>
                          </a:solidFill>
                          <a:latin typeface="Cambria Math" panose="02040503050406030204" pitchFamily="18" charset="0"/>
                        </a:rPr>
                        <m:t>𝑣</m:t>
                      </m:r>
                      <m:r>
                        <a:rPr lang="en-US" sz="1600" i="1" dirty="0">
                          <a:solidFill>
                            <a:schemeClr val="tx1"/>
                          </a:solidFill>
                          <a:latin typeface="Cambria Math" panose="02040503050406030204" pitchFamily="18" charset="0"/>
                        </a:rPr>
                        <m:t>]=</m:t>
                      </m:r>
                      <m:nary>
                        <m:naryPr>
                          <m:limLoc m:val="subSup"/>
                          <m:ctrlPr>
                            <a:rPr lang="en-US" sz="1600" i="1" dirty="0">
                              <a:solidFill>
                                <a:schemeClr val="tx1"/>
                              </a:solidFill>
                              <a:latin typeface="Cambria Math" panose="02040503050406030204" pitchFamily="18" charset="0"/>
                            </a:rPr>
                          </m:ctrlPr>
                        </m:naryPr>
                        <m:sub>
                          <m:r>
                            <a:rPr lang="en-US" sz="1600" i="1" dirty="0">
                              <a:solidFill>
                                <a:schemeClr val="tx1"/>
                              </a:solidFill>
                              <a:latin typeface="Cambria Math" panose="02040503050406030204" pitchFamily="18" charset="0"/>
                            </a:rPr>
                            <m:t>0</m:t>
                          </m:r>
                        </m:sub>
                        <m:sup>
                          <m:r>
                            <a:rPr lang="en-US" sz="1600" i="1" dirty="0">
                              <a:solidFill>
                                <a:schemeClr val="tx1"/>
                              </a:solidFill>
                              <a:latin typeface="Cambria Math" panose="02040503050406030204" pitchFamily="18" charset="0"/>
                            </a:rPr>
                            <m:t>𝐿</m:t>
                          </m:r>
                        </m:sup>
                        <m:e>
                          <m:sSup>
                            <m:sSupPr>
                              <m:ctrlPr>
                                <a:rPr lang="en-US" sz="1600" i="1" dirty="0">
                                  <a:solidFill>
                                    <a:schemeClr val="tx1"/>
                                  </a:solidFill>
                                  <a:latin typeface="Cambria Math" panose="02040503050406030204" pitchFamily="18" charset="0"/>
                                </a:rPr>
                              </m:ctrlPr>
                            </m:sSupPr>
                            <m:e>
                              <m:r>
                                <a:rPr lang="en-US" sz="1600" i="1" dirty="0">
                                  <a:solidFill>
                                    <a:schemeClr val="tx1"/>
                                  </a:solidFill>
                                  <a:latin typeface="Cambria Math" panose="02040503050406030204" pitchFamily="18" charset="0"/>
                                </a:rPr>
                                <m:t>𝑣</m:t>
                              </m:r>
                            </m:e>
                            <m:sup>
                              <m:r>
                                <a:rPr lang="en-US" sz="1600" i="1" dirty="0">
                                  <a:solidFill>
                                    <a:schemeClr val="tx1"/>
                                  </a:solidFill>
                                  <a:latin typeface="Cambria Math" panose="02040503050406030204" pitchFamily="18" charset="0"/>
                                </a:rPr>
                                <m:t>′</m:t>
                              </m:r>
                            </m:sup>
                          </m:sSup>
                        </m:e>
                      </m:nary>
                      <m:sSup>
                        <m:sSupPr>
                          <m:ctrlPr>
                            <a:rPr lang="en-US" sz="1600" i="1" dirty="0">
                              <a:solidFill>
                                <a:schemeClr val="tx1"/>
                              </a:solidFill>
                              <a:latin typeface="Cambria Math" panose="02040503050406030204" pitchFamily="18" charset="0"/>
                            </a:rPr>
                          </m:ctrlPr>
                        </m:sSupPr>
                        <m:e>
                          <m:r>
                            <a:rPr lang="en-US" sz="1600" i="1" dirty="0">
                              <a:solidFill>
                                <a:schemeClr val="tx1"/>
                              </a:solidFill>
                              <a:latin typeface="Cambria Math" panose="02040503050406030204" pitchFamily="18" charset="0"/>
                            </a:rPr>
                            <m:t>​</m:t>
                          </m:r>
                        </m:e>
                        <m:sup>
                          <m:r>
                            <a:rPr lang="en-US" sz="1600" i="1" dirty="0">
                              <a:solidFill>
                                <a:schemeClr val="tx1"/>
                              </a:solidFill>
                              <a:latin typeface="Cambria Math" panose="02040503050406030204" pitchFamily="18" charset="0"/>
                            </a:rPr>
                            <m:t>2</m:t>
                          </m:r>
                        </m:sup>
                      </m:sSup>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𝑥</m:t>
                          </m:r>
                        </m:sub>
                      </m:sSub>
                      <m:r>
                        <m:rPr>
                          <m:sty m:val="p"/>
                        </m:rPr>
                        <a:rPr lang="en-US" sz="1600" i="1" dirty="0">
                          <a:solidFill>
                            <a:schemeClr val="tx1"/>
                          </a:solidFill>
                          <a:latin typeface="Cambria Math" panose="02040503050406030204" pitchFamily="18" charset="0"/>
                        </a:rPr>
                        <m:t>cos</m:t>
                      </m:r>
                      <m:r>
                        <a:rPr lang="en-US" sz="1600" i="1" dirty="0">
                          <a:solidFill>
                            <a:schemeClr val="tx1"/>
                          </a:solidFill>
                          <a:latin typeface="Cambria Math" panose="02040503050406030204" pitchFamily="18" charset="0"/>
                        </a:rPr>
                        <m:t>𝜃</m:t>
                      </m:r>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𝑦</m:t>
                          </m:r>
                        </m:sub>
                      </m:sSub>
                      <m:r>
                        <m:rPr>
                          <m:sty m:val="p"/>
                        </m:rPr>
                        <a:rPr lang="en-US" sz="1600" i="1" dirty="0">
                          <a:solidFill>
                            <a:schemeClr val="tx1"/>
                          </a:solidFill>
                          <a:latin typeface="Cambria Math" panose="02040503050406030204" pitchFamily="18" charset="0"/>
                        </a:rPr>
                        <m:t>sin</m:t>
                      </m:r>
                      <m:r>
                        <a:rPr lang="en-US" sz="1600" i="1" dirty="0">
                          <a:solidFill>
                            <a:schemeClr val="tx1"/>
                          </a:solidFill>
                          <a:latin typeface="Cambria Math" panose="02040503050406030204" pitchFamily="18" charset="0"/>
                        </a:rPr>
                        <m:t>𝜃</m:t>
                      </m:r>
                      <m:r>
                        <a:rPr lang="en-US" sz="1600" i="1" dirty="0">
                          <a:solidFill>
                            <a:schemeClr val="tx1"/>
                          </a:solidFill>
                          <a:latin typeface="Cambria Math" panose="02040503050406030204" pitchFamily="18" charset="0"/>
                        </a:rPr>
                        <m:t>) </m:t>
                      </m:r>
                      <m:sSup>
                        <m:sSupPr>
                          <m:ctrlPr>
                            <a:rPr lang="en-US" sz="1600" i="1" dirty="0">
                              <a:solidFill>
                                <a:schemeClr val="tx1"/>
                              </a:solidFill>
                              <a:latin typeface="Cambria Math" panose="02040503050406030204" pitchFamily="18" charset="0"/>
                            </a:rPr>
                          </m:ctrlPr>
                        </m:sSupPr>
                        <m:e>
                          <m:r>
                            <a:rPr lang="en-US" sz="1600" i="1" dirty="0">
                              <a:solidFill>
                                <a:schemeClr val="tx1"/>
                              </a:solidFill>
                              <a:latin typeface="Cambria Math" panose="02040503050406030204" pitchFamily="18" charset="0"/>
                            </a:rPr>
                            <m:t>𝑣</m:t>
                          </m:r>
                        </m:e>
                        <m:sup>
                          <m:r>
                            <a:rPr lang="en-US" sz="1600" i="1" dirty="0">
                              <a:solidFill>
                                <a:schemeClr val="tx1"/>
                              </a:solidFill>
                              <a:latin typeface="Cambria Math" panose="02040503050406030204" pitchFamily="18" charset="0"/>
                            </a:rPr>
                            <m:t>2</m:t>
                          </m:r>
                        </m:sup>
                      </m:sSup>
                      <m:r>
                        <a:rPr lang="en-US" sz="1600" i="1"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𝑑𝑠</m:t>
                      </m:r>
                    </m:oMath>
                  </m:oMathPara>
                </a14:m>
                <a:endParaRPr lang="en-US" sz="1600" dirty="0"/>
              </a:p>
            </p:txBody>
          </p:sp>
        </mc:Choice>
        <mc:Fallback xmlns="">
          <p:sp>
            <p:nvSpPr>
              <p:cNvPr id="403" name="latex-Q"/>
              <p:cNvSpPr txBox="1">
                <a:spLocks noRot="1" noChangeAspect="1" noMove="1" noResize="1" noEditPoints="1" noAdjustHandles="1" noChangeArrowheads="1" noChangeShapeType="1" noTextEdit="1"/>
              </p:cNvSpPr>
              <p:nvPr/>
            </p:nvSpPr>
            <p:spPr>
              <a:xfrm>
                <a:off x="777240" y="1944624"/>
                <a:ext cx="3526536" cy="59131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4" name="latex-Qc"/>
              <p:cNvSpPr txBox="1"/>
              <p:nvPr/>
            </p:nvSpPr>
            <p:spPr>
              <a:xfrm>
                <a:off x="777240" y="2641092"/>
                <a:ext cx="3855720" cy="524256"/>
              </a:xfrm>
              <a:prstGeom prst="rect">
                <a:avLst/>
              </a:prstGeom>
              <a:noFill/>
            </p:spPr>
            <p:txBody>
              <a:bodyPr wrap="none" lIns="0" tIns="0" rIns="0" bIns="0" rtlCol="0" anchor="ctr">
                <a:noAutofit/>
              </a:bodyPr>
              <a:lstStyle/>
              <a:p>
                <a:pPr marL="0" indent="0">
                  <a:buNone/>
                </a:pPr>
                <a14:m>
                  <m:oMathPara xmlns:m="http://schemas.openxmlformats.org/officeDocument/2006/math">
                    <m:oMathParaPr>
                      <m:jc m:val="left"/>
                    </m:oMathParaPr>
                    <m:oMath>
                      <m:r>
                        <a:rPr lang="en-US" sz="1400" i="1" dirty="0">
                          <a:solidFill>
                            <a:schemeClr val="tx1"/>
                          </a:solidFill>
                          <a:latin typeface="Cambria Math" panose="02040503050406030204" pitchFamily="18" charset="0"/>
                        </a:rPr>
                        <m:t>𝑣</m:t>
                      </m:r>
                      <m:r>
                        <a:rPr lang="en-US" sz="1400" i="1" dirty="0">
                          <a:solidFill>
                            <a:schemeClr val="tx1"/>
                          </a:solidFill>
                          <a:latin typeface="Cambria Math" panose="02040503050406030204" pitchFamily="18" charset="0"/>
                        </a:rPr>
                        <m:t>(0)=</m:t>
                      </m:r>
                      <m:r>
                        <a:rPr lang="en-US" sz="1400" i="1" dirty="0">
                          <a:solidFill>
                            <a:schemeClr val="tx1"/>
                          </a:solidFill>
                          <a:latin typeface="Cambria Math" panose="02040503050406030204" pitchFamily="18" charset="0"/>
                        </a:rPr>
                        <m:t>𝑣</m:t>
                      </m:r>
                      <m:r>
                        <a:rPr lang="en-US" sz="1400" i="1" dirty="0">
                          <a:solidFill>
                            <a:schemeClr val="tx1"/>
                          </a:solidFill>
                          <a:latin typeface="Cambria Math" panose="02040503050406030204" pitchFamily="18" charset="0"/>
                        </a:rPr>
                        <m:t>(</m:t>
                      </m:r>
                      <m:r>
                        <a:rPr lang="en-US" sz="1400" i="1" dirty="0">
                          <a:solidFill>
                            <a:schemeClr val="tx1"/>
                          </a:solidFill>
                          <a:latin typeface="Cambria Math" panose="02040503050406030204" pitchFamily="18" charset="0"/>
                        </a:rPr>
                        <m:t>𝐿</m:t>
                      </m:r>
                      <m:r>
                        <a:rPr lang="en-US" sz="1400" i="1" dirty="0">
                          <a:solidFill>
                            <a:schemeClr val="tx1"/>
                          </a:solidFill>
                          <a:latin typeface="Cambria Math" panose="02040503050406030204" pitchFamily="18" charset="0"/>
                        </a:rPr>
                        <m:t>)=0, </m:t>
                      </m:r>
                      <m:nary>
                        <m:naryPr>
                          <m:limLoc m:val="subSup"/>
                          <m:ctrlPr>
                            <a:rPr lang="en-US" sz="1400" i="1" dirty="0">
                              <a:solidFill>
                                <a:schemeClr val="tx1"/>
                              </a:solidFill>
                              <a:latin typeface="Cambria Math" panose="02040503050406030204" pitchFamily="18" charset="0"/>
                            </a:rPr>
                          </m:ctrlPr>
                        </m:naryPr>
                        <m:sub>
                          <m:r>
                            <a:rPr lang="en-US" sz="1400" i="1" dirty="0">
                              <a:solidFill>
                                <a:schemeClr val="tx1"/>
                              </a:solidFill>
                              <a:latin typeface="Cambria Math" panose="02040503050406030204" pitchFamily="18" charset="0"/>
                            </a:rPr>
                            <m:t>0</m:t>
                          </m:r>
                        </m:sub>
                        <m:sup>
                          <m:r>
                            <a:rPr lang="en-US" sz="1400" i="1" dirty="0">
                              <a:solidFill>
                                <a:schemeClr val="tx1"/>
                              </a:solidFill>
                              <a:latin typeface="Cambria Math" panose="02040503050406030204" pitchFamily="18" charset="0"/>
                            </a:rPr>
                            <m:t>𝐿</m:t>
                          </m:r>
                        </m:sup>
                        <m:e>
                          <m:r>
                            <a:rPr lang="en-US" sz="1400" i="1" dirty="0">
                              <a:solidFill>
                                <a:schemeClr val="tx1"/>
                              </a:solidFill>
                              <a:latin typeface="Cambria Math" panose="02040503050406030204" pitchFamily="18" charset="0"/>
                            </a:rPr>
                            <m:t>𝑣</m:t>
                          </m:r>
                        </m:e>
                      </m:nary>
                      <m:r>
                        <m:rPr>
                          <m:sty m:val="p"/>
                        </m:rPr>
                        <a:rPr lang="en-US" sz="1400" i="1" dirty="0">
                          <a:solidFill>
                            <a:schemeClr val="tx1"/>
                          </a:solidFill>
                          <a:latin typeface="Cambria Math" panose="02040503050406030204" pitchFamily="18" charset="0"/>
                        </a:rPr>
                        <m:t>cos</m:t>
                      </m:r>
                      <m:r>
                        <a:rPr lang="en-US" sz="1400" i="1" dirty="0">
                          <a:solidFill>
                            <a:schemeClr val="tx1"/>
                          </a:solidFill>
                          <a:latin typeface="Cambria Math" panose="02040503050406030204" pitchFamily="18" charset="0"/>
                        </a:rPr>
                        <m:t>𝜃</m:t>
                      </m:r>
                      <m:r>
                        <a:rPr lang="en-US" sz="1400" i="1" dirty="0">
                          <a:solidFill>
                            <a:schemeClr val="tx1"/>
                          </a:solidFill>
                          <a:latin typeface="Cambria Math" panose="02040503050406030204" pitchFamily="18" charset="0"/>
                        </a:rPr>
                        <m:t> </m:t>
                      </m:r>
                      <m:r>
                        <a:rPr lang="en-US" sz="1400" i="1" dirty="0">
                          <a:solidFill>
                            <a:schemeClr val="tx1"/>
                          </a:solidFill>
                          <a:latin typeface="Cambria Math" panose="02040503050406030204" pitchFamily="18" charset="0"/>
                        </a:rPr>
                        <m:t>𝑑𝑠</m:t>
                      </m:r>
                      <m:r>
                        <a:rPr lang="en-US" sz="1400" i="1" dirty="0">
                          <a:solidFill>
                            <a:schemeClr val="tx1"/>
                          </a:solidFill>
                          <a:latin typeface="Cambria Math" panose="02040503050406030204" pitchFamily="18" charset="0"/>
                        </a:rPr>
                        <m:t>=</m:t>
                      </m:r>
                      <m:nary>
                        <m:naryPr>
                          <m:limLoc m:val="subSup"/>
                          <m:ctrlPr>
                            <a:rPr lang="en-US" sz="1400" i="1" dirty="0">
                              <a:solidFill>
                                <a:schemeClr val="tx1"/>
                              </a:solidFill>
                              <a:latin typeface="Cambria Math" panose="02040503050406030204" pitchFamily="18" charset="0"/>
                            </a:rPr>
                          </m:ctrlPr>
                        </m:naryPr>
                        <m:sub>
                          <m:r>
                            <a:rPr lang="en-US" sz="1400" i="1" dirty="0">
                              <a:solidFill>
                                <a:schemeClr val="tx1"/>
                              </a:solidFill>
                              <a:latin typeface="Cambria Math" panose="02040503050406030204" pitchFamily="18" charset="0"/>
                            </a:rPr>
                            <m:t>0</m:t>
                          </m:r>
                        </m:sub>
                        <m:sup>
                          <m:r>
                            <a:rPr lang="en-US" sz="1400" i="1" dirty="0">
                              <a:solidFill>
                                <a:schemeClr val="tx1"/>
                              </a:solidFill>
                              <a:latin typeface="Cambria Math" panose="02040503050406030204" pitchFamily="18" charset="0"/>
                            </a:rPr>
                            <m:t>𝐿</m:t>
                          </m:r>
                        </m:sup>
                        <m:e>
                          <m:r>
                            <a:rPr lang="en-US" sz="1400" i="1" dirty="0">
                              <a:solidFill>
                                <a:schemeClr val="tx1"/>
                              </a:solidFill>
                              <a:latin typeface="Cambria Math" panose="02040503050406030204" pitchFamily="18" charset="0"/>
                            </a:rPr>
                            <m:t>𝑣</m:t>
                          </m:r>
                        </m:e>
                      </m:nary>
                      <m:r>
                        <m:rPr>
                          <m:sty m:val="p"/>
                        </m:rPr>
                        <a:rPr lang="en-US" sz="1400" i="1" dirty="0">
                          <a:solidFill>
                            <a:schemeClr val="tx1"/>
                          </a:solidFill>
                          <a:latin typeface="Cambria Math" panose="02040503050406030204" pitchFamily="18" charset="0"/>
                        </a:rPr>
                        <m:t>sin</m:t>
                      </m:r>
                      <m:r>
                        <a:rPr lang="en-US" sz="1400" i="1" dirty="0">
                          <a:solidFill>
                            <a:schemeClr val="tx1"/>
                          </a:solidFill>
                          <a:latin typeface="Cambria Math" panose="02040503050406030204" pitchFamily="18" charset="0"/>
                        </a:rPr>
                        <m:t>𝜃</m:t>
                      </m:r>
                      <m:r>
                        <a:rPr lang="en-US" sz="1400" i="1" dirty="0">
                          <a:solidFill>
                            <a:schemeClr val="tx1"/>
                          </a:solidFill>
                          <a:latin typeface="Cambria Math" panose="02040503050406030204" pitchFamily="18" charset="0"/>
                        </a:rPr>
                        <m:t> </m:t>
                      </m:r>
                      <m:r>
                        <a:rPr lang="en-US" sz="1400" i="1" dirty="0">
                          <a:solidFill>
                            <a:schemeClr val="tx1"/>
                          </a:solidFill>
                          <a:latin typeface="Cambria Math" panose="02040503050406030204" pitchFamily="18" charset="0"/>
                        </a:rPr>
                        <m:t>𝑑𝑠</m:t>
                      </m:r>
                      <m:r>
                        <a:rPr lang="en-US" sz="1400" i="1" dirty="0">
                          <a:solidFill>
                            <a:schemeClr val="tx1"/>
                          </a:solidFill>
                          <a:latin typeface="Cambria Math" panose="02040503050406030204" pitchFamily="18" charset="0"/>
                        </a:rPr>
                        <m:t>=0</m:t>
                      </m:r>
                    </m:oMath>
                  </m:oMathPara>
                </a14:m>
                <a:endParaRPr lang="en-US" sz="1400" dirty="0"/>
              </a:p>
            </p:txBody>
          </p:sp>
        </mc:Choice>
        <mc:Fallback xmlns="">
          <p:sp>
            <p:nvSpPr>
              <p:cNvPr id="404" name="latex-Qc"/>
              <p:cNvSpPr txBox="1">
                <a:spLocks noRot="1" noChangeAspect="1" noMove="1" noResize="1" noEditPoints="1" noAdjustHandles="1" noChangeArrowheads="1" noChangeShapeType="1" noTextEdit="1"/>
              </p:cNvSpPr>
              <p:nvPr/>
            </p:nvSpPr>
            <p:spPr>
              <a:xfrm>
                <a:off x="777240" y="2641092"/>
                <a:ext cx="3855720" cy="52425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5" name="latex-inertia"/>
              <p:cNvSpPr txBox="1"/>
              <p:nvPr/>
            </p:nvSpPr>
            <p:spPr>
              <a:xfrm>
                <a:off x="777240" y="3438144"/>
                <a:ext cx="2837688" cy="256032"/>
              </a:xfrm>
              <a:prstGeom prst="rect">
                <a:avLst/>
              </a:prstGeom>
              <a:noFill/>
            </p:spPr>
            <p:txBody>
              <a:bodyPr wrap="none" lIns="0" tIns="0" rIns="0" bIns="0" rtlCol="0" anchor="ctr">
                <a:noAutofit/>
              </a:bodyPr>
              <a:lstStyle/>
              <a:p>
                <a:pPr marL="0" indent="0">
                  <a:buNone/>
                </a:pPr>
                <a14:m>
                  <m:oMathPara xmlns:m="http://schemas.openxmlformats.org/officeDocument/2006/math">
                    <m:oMathParaPr>
                      <m:jc m:val="left"/>
                    </m:oMathParaPr>
                    <m:oMath>
                      <m:sSub>
                        <m:sSubPr>
                          <m:ctrlPr>
                            <a:rPr lang="en-US" sz="1500" i="1" dirty="0">
                              <a:solidFill>
                                <a:schemeClr val="tx1"/>
                              </a:solidFill>
                              <a:latin typeface="Cambria Math" panose="02040503050406030204" pitchFamily="18" charset="0"/>
                            </a:rPr>
                          </m:ctrlPr>
                        </m:sSubPr>
                        <m:e>
                          <m:r>
                            <a:rPr lang="en-US" sz="1500" i="1" dirty="0">
                              <a:solidFill>
                                <a:schemeClr val="tx1"/>
                              </a:solidFill>
                              <a:latin typeface="Cambria Math" panose="02040503050406030204" pitchFamily="18" charset="0"/>
                            </a:rPr>
                            <m:t>𝑛</m:t>
                          </m:r>
                        </m:e>
                        <m:sub>
                          <m:r>
                            <a:rPr lang="en-US" sz="1500" i="1" dirty="0">
                              <a:solidFill>
                                <a:schemeClr val="tx1"/>
                              </a:solidFill>
                              <a:latin typeface="Cambria Math" panose="02040503050406030204" pitchFamily="18" charset="0"/>
                            </a:rPr>
                            <m:t>−</m:t>
                          </m:r>
                        </m:sub>
                      </m:sSub>
                      <m:r>
                        <a:rPr lang="en-US" sz="1500" i="1" dirty="0">
                          <a:solidFill>
                            <a:schemeClr val="tx1"/>
                          </a:solidFill>
                          <a:latin typeface="Cambria Math" panose="02040503050406030204" pitchFamily="18" charset="0"/>
                        </a:rPr>
                        <m:t>=</m:t>
                      </m:r>
                      <m:r>
                        <m:rPr>
                          <m:sty m:val="p"/>
                        </m:rPr>
                        <a:rPr lang="en-US" sz="1500" i="1" dirty="0">
                          <a:solidFill>
                            <a:schemeClr val="tx1"/>
                          </a:solidFill>
                          <a:latin typeface="Cambria Math" panose="02040503050406030204" pitchFamily="18" charset="0"/>
                        </a:rPr>
                        <m:t>neg</m:t>
                      </m:r>
                      <m:r>
                        <a:rPr lang="en-US" sz="1500" i="1" dirty="0">
                          <a:solidFill>
                            <a:schemeClr val="tx1"/>
                          </a:solidFill>
                          <a:latin typeface="Cambria Math" panose="02040503050406030204" pitchFamily="18" charset="0"/>
                        </a:rPr>
                        <m:t>(</m:t>
                      </m:r>
                      <m:r>
                        <a:rPr lang="en-US" sz="1500" i="1" dirty="0">
                          <a:solidFill>
                            <a:schemeClr val="tx1"/>
                          </a:solidFill>
                          <a:latin typeface="Cambria Math" panose="02040503050406030204" pitchFamily="18" charset="0"/>
                        </a:rPr>
                        <m:t>𝐴</m:t>
                      </m:r>
                      <m:r>
                        <a:rPr lang="en-US" sz="1500" i="1" dirty="0">
                          <a:solidFill>
                            <a:schemeClr val="tx1"/>
                          </a:solidFill>
                          <a:latin typeface="Cambria Math" panose="02040503050406030204" pitchFamily="18" charset="0"/>
                        </a:rPr>
                        <m:t>)+</m:t>
                      </m:r>
                      <m:r>
                        <m:rPr>
                          <m:sty m:val="p"/>
                        </m:rPr>
                        <a:rPr lang="en-US" sz="1500" i="1" dirty="0">
                          <a:solidFill>
                            <a:schemeClr val="tx1"/>
                          </a:solidFill>
                          <a:latin typeface="Cambria Math" panose="02040503050406030204" pitchFamily="18" charset="0"/>
                        </a:rPr>
                        <m:t>pos</m:t>
                      </m:r>
                      <m:r>
                        <a:rPr lang="en-US" sz="1500" i="1" dirty="0">
                          <a:solidFill>
                            <a:schemeClr val="tx1"/>
                          </a:solidFill>
                          <a:latin typeface="Cambria Math" panose="02040503050406030204" pitchFamily="18" charset="0"/>
                        </a:rPr>
                        <m:t>(</m:t>
                      </m:r>
                      <m:sSup>
                        <m:sSupPr>
                          <m:ctrlPr>
                            <a:rPr lang="en-US" sz="1500" i="1" dirty="0">
                              <a:solidFill>
                                <a:schemeClr val="tx1"/>
                              </a:solidFill>
                              <a:latin typeface="Cambria Math" panose="02040503050406030204" pitchFamily="18" charset="0"/>
                            </a:rPr>
                          </m:ctrlPr>
                        </m:sSupPr>
                        <m:e>
                          <m:r>
                            <a:rPr lang="en-US" sz="1500" i="1" dirty="0">
                              <a:solidFill>
                                <a:schemeClr val="tx1"/>
                              </a:solidFill>
                              <a:latin typeface="Cambria Math" panose="02040503050406030204" pitchFamily="18" charset="0"/>
                            </a:rPr>
                            <m:t>𝐶</m:t>
                          </m:r>
                        </m:e>
                        <m:sup>
                          <m:r>
                            <a:rPr lang="en-US" sz="1500" i="1" dirty="0">
                              <a:solidFill>
                                <a:schemeClr val="tx1"/>
                              </a:solidFill>
                              <a:latin typeface="Cambria Math" panose="02040503050406030204" pitchFamily="18" charset="0"/>
                            </a:rPr>
                            <m:t>𝑇</m:t>
                          </m:r>
                        </m:sup>
                      </m:sSup>
                      <m:sSup>
                        <m:sSupPr>
                          <m:ctrlPr>
                            <a:rPr lang="en-US" sz="1500" i="1" dirty="0">
                              <a:solidFill>
                                <a:schemeClr val="tx1"/>
                              </a:solidFill>
                              <a:latin typeface="Cambria Math" panose="02040503050406030204" pitchFamily="18" charset="0"/>
                            </a:rPr>
                          </m:ctrlPr>
                        </m:sSupPr>
                        <m:e>
                          <m:r>
                            <a:rPr lang="en-US" sz="1500" i="1" dirty="0">
                              <a:solidFill>
                                <a:schemeClr val="tx1"/>
                              </a:solidFill>
                              <a:latin typeface="Cambria Math" panose="02040503050406030204" pitchFamily="18" charset="0"/>
                            </a:rPr>
                            <m:t>𝐴</m:t>
                          </m:r>
                        </m:e>
                        <m:sup>
                          <m:r>
                            <a:rPr lang="en-US" sz="1500" i="1" dirty="0">
                              <a:solidFill>
                                <a:schemeClr val="tx1"/>
                              </a:solidFill>
                              <a:latin typeface="Cambria Math" panose="02040503050406030204" pitchFamily="18" charset="0"/>
                            </a:rPr>
                            <m:t>−1</m:t>
                          </m:r>
                        </m:sup>
                      </m:sSup>
                      <m:r>
                        <a:rPr lang="en-US" sz="1500" i="1" dirty="0">
                          <a:solidFill>
                            <a:schemeClr val="tx1"/>
                          </a:solidFill>
                          <a:latin typeface="Cambria Math" panose="02040503050406030204" pitchFamily="18" charset="0"/>
                        </a:rPr>
                        <m:t>𝐶</m:t>
                      </m:r>
                      <m:r>
                        <a:rPr lang="en-US" sz="1500" i="1" dirty="0">
                          <a:solidFill>
                            <a:schemeClr val="tx1"/>
                          </a:solidFill>
                          <a:latin typeface="Cambria Math" panose="02040503050406030204" pitchFamily="18" charset="0"/>
                        </a:rPr>
                        <m:t>)−2</m:t>
                      </m:r>
                    </m:oMath>
                  </m:oMathPara>
                </a14:m>
                <a:endParaRPr lang="en-US" sz="1500" dirty="0"/>
              </a:p>
            </p:txBody>
          </p:sp>
        </mc:Choice>
        <mc:Fallback xmlns="">
          <p:sp>
            <p:nvSpPr>
              <p:cNvPr id="405" name="latex-inertia"/>
              <p:cNvSpPr txBox="1">
                <a:spLocks noRot="1" noChangeAspect="1" noMove="1" noResize="1" noEditPoints="1" noAdjustHandles="1" noChangeArrowheads="1" noChangeShapeType="1" noTextEdit="1"/>
              </p:cNvSpPr>
              <p:nvPr/>
            </p:nvSpPr>
            <p:spPr>
              <a:xfrm>
                <a:off x="777240" y="3438144"/>
                <a:ext cx="2837688" cy="256032"/>
              </a:xfrm>
              <a:prstGeom prst="rect">
                <a:avLst/>
              </a:prstGeom>
              <a:blipFill>
                <a:blip r:embed="rId5"/>
                <a:stretch>
                  <a:fillRect/>
                </a:stretch>
              </a:blipFill>
            </p:spPr>
            <p:txBody>
              <a:bodyPr/>
              <a:lstStyle/>
              <a:p>
                <a:r>
                  <a:rPr lang="en-US">
                    <a:noFill/>
                  </a:rPr>
                  <a:t> </a:t>
                </a:r>
              </a:p>
            </p:txBody>
          </p:sp>
        </mc:Fallback>
      </mc:AlternateContent>
      <p:sp>
        <p:nvSpPr>
          <p:cNvPr id="406" name="caption-406"/>
          <p:cNvSpPr txBox="1"/>
          <p:nvPr/>
        </p:nvSpPr>
        <p:spPr>
          <a:xfrm>
            <a:off x="777240" y="3840480"/>
            <a:ext cx="5303520" cy="320040"/>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Stable when n₋ = 0: no direction lowers the energy.</a:t>
            </a:r>
            <a:endParaRPr lang="en-US" sz="1150" dirty="0"/>
          </a:p>
        </p:txBody>
      </p:sp>
      <p:sp>
        <p:nvSpPr>
          <p:cNvPr id="407" name="card-407"/>
          <p:cNvSpPr/>
          <p:nvPr/>
        </p:nvSpPr>
        <p:spPr>
          <a:xfrm>
            <a:off x="548640" y="4480560"/>
            <a:ext cx="2834640" cy="1691640"/>
          </a:xfrm>
          <a:prstGeom prst="roundRect">
            <a:avLst>
              <a:gd name="adj" fmla="val 6000"/>
            </a:avLst>
          </a:prstGeom>
          <a:solidFill>
            <a:schemeClr val="bg2"/>
          </a:solidFill>
          <a:ln>
            <a:noFill/>
          </a:ln>
        </p:spPr>
        <p:txBody>
          <a:bodyPr/>
          <a:lstStyle/>
          <a:p>
            <a:endParaRPr lang="en-US"/>
          </a:p>
        </p:txBody>
      </p:sp>
      <p:sp>
        <p:nvSpPr>
          <p:cNvPr id="408" name="tile-big-408"/>
          <p:cNvSpPr txBox="1"/>
          <p:nvPr/>
        </p:nvSpPr>
        <p:spPr>
          <a:xfrm>
            <a:off x="749808" y="4590288"/>
            <a:ext cx="2432304" cy="658368"/>
          </a:xfrm>
          <a:prstGeom prst="rect">
            <a:avLst/>
          </a:prstGeom>
          <a:noFill/>
          <a:ln/>
        </p:spPr>
        <p:txBody>
          <a:bodyPr wrap="square" lIns="0" tIns="0" rIns="0" bIns="0" rtlCol="0" anchor="ctr">
            <a:normAutofit/>
          </a:bodyPr>
          <a:lstStyle/>
          <a:p>
            <a:pPr marL="0" indent="0" algn="l">
              <a:spcAft>
                <a:spcPts val="0"/>
              </a:spcAft>
              <a:buNone/>
            </a:pPr>
            <a:r>
              <a:rPr lang="en-US" sz="3000" b="1" dirty="0">
                <a:solidFill>
                  <a:schemeClr val="accent1"/>
                </a:solidFill>
              </a:rPr>
              <a:t>17</a:t>
            </a:r>
            <a:endParaRPr lang="en-US" sz="3000" dirty="0"/>
          </a:p>
        </p:txBody>
      </p:sp>
      <p:sp>
        <p:nvSpPr>
          <p:cNvPr id="409" name="tile-label-409"/>
          <p:cNvSpPr txBox="1"/>
          <p:nvPr/>
        </p:nvSpPr>
        <p:spPr>
          <a:xfrm>
            <a:off x="749808" y="5303520"/>
            <a:ext cx="2432304" cy="310896"/>
          </a:xfrm>
          <a:prstGeom prst="rect">
            <a:avLst/>
          </a:prstGeom>
          <a:noFill/>
          <a:ln/>
        </p:spPr>
        <p:txBody>
          <a:bodyPr wrap="square" lIns="0" tIns="0" rIns="0" bIns="0" rtlCol="0" anchor="t">
            <a:normAutofit/>
          </a:bodyPr>
          <a:lstStyle/>
          <a:p>
            <a:pPr marL="0" indent="0" algn="l">
              <a:spcAft>
                <a:spcPts val="0"/>
              </a:spcAft>
              <a:buNone/>
            </a:pPr>
            <a:r>
              <a:rPr lang="en-US" sz="1400" b="1" dirty="0">
                <a:solidFill>
                  <a:schemeClr val="tx1"/>
                </a:solidFill>
              </a:rPr>
              <a:t>unstable results rejected</a:t>
            </a:r>
            <a:endParaRPr lang="en-US" sz="1400" dirty="0"/>
          </a:p>
        </p:txBody>
      </p:sp>
      <p:sp>
        <p:nvSpPr>
          <p:cNvPr id="410" name="tile-sub-410"/>
          <p:cNvSpPr txBox="1"/>
          <p:nvPr/>
        </p:nvSpPr>
        <p:spPr>
          <a:xfrm>
            <a:off x="749808" y="5650992"/>
            <a:ext cx="2432304" cy="448056"/>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during the production run</a:t>
            </a:r>
            <a:endParaRPr lang="en-US" sz="1150" dirty="0"/>
          </a:p>
        </p:txBody>
      </p:sp>
      <p:sp>
        <p:nvSpPr>
          <p:cNvPr id="411" name="card-411"/>
          <p:cNvSpPr/>
          <p:nvPr/>
        </p:nvSpPr>
        <p:spPr>
          <a:xfrm>
            <a:off x="3474720" y="4480560"/>
            <a:ext cx="2834640" cy="1691640"/>
          </a:xfrm>
          <a:prstGeom prst="roundRect">
            <a:avLst>
              <a:gd name="adj" fmla="val 6000"/>
            </a:avLst>
          </a:prstGeom>
          <a:solidFill>
            <a:schemeClr val="bg2"/>
          </a:solidFill>
          <a:ln>
            <a:noFill/>
          </a:ln>
        </p:spPr>
        <p:txBody>
          <a:bodyPr/>
          <a:lstStyle/>
          <a:p>
            <a:endParaRPr lang="en-US"/>
          </a:p>
        </p:txBody>
      </p:sp>
      <p:sp>
        <p:nvSpPr>
          <p:cNvPr id="412" name="tile-big-412"/>
          <p:cNvSpPr txBox="1"/>
          <p:nvPr/>
        </p:nvSpPr>
        <p:spPr>
          <a:xfrm>
            <a:off x="3675888" y="4590288"/>
            <a:ext cx="2432304" cy="658368"/>
          </a:xfrm>
          <a:prstGeom prst="rect">
            <a:avLst/>
          </a:prstGeom>
          <a:noFill/>
          <a:ln/>
        </p:spPr>
        <p:txBody>
          <a:bodyPr wrap="square" lIns="0" tIns="0" rIns="0" bIns="0" rtlCol="0" anchor="ctr">
            <a:normAutofit/>
          </a:bodyPr>
          <a:lstStyle/>
          <a:p>
            <a:pPr marL="0" indent="0" algn="l">
              <a:spcAft>
                <a:spcPts val="0"/>
              </a:spcAft>
              <a:buNone/>
            </a:pPr>
            <a:r>
              <a:rPr lang="en-US" sz="3000" b="1" dirty="0">
                <a:solidFill>
                  <a:schemeClr val="accent1"/>
                </a:solidFill>
              </a:rPr>
              <a:t>0</a:t>
            </a:r>
            <a:endParaRPr lang="en-US" sz="3000" dirty="0"/>
          </a:p>
        </p:txBody>
      </p:sp>
      <p:sp>
        <p:nvSpPr>
          <p:cNvPr id="413" name="tile-label-413"/>
          <p:cNvSpPr txBox="1"/>
          <p:nvPr/>
        </p:nvSpPr>
        <p:spPr>
          <a:xfrm>
            <a:off x="3675888" y="5303520"/>
            <a:ext cx="2432304" cy="310896"/>
          </a:xfrm>
          <a:prstGeom prst="rect">
            <a:avLst/>
          </a:prstGeom>
          <a:noFill/>
          <a:ln/>
        </p:spPr>
        <p:txBody>
          <a:bodyPr wrap="square" lIns="0" tIns="0" rIns="0" bIns="0" rtlCol="0" anchor="t">
            <a:normAutofit/>
          </a:bodyPr>
          <a:lstStyle/>
          <a:p>
            <a:pPr marL="0" indent="0" algn="l">
              <a:spcAft>
                <a:spcPts val="0"/>
              </a:spcAft>
              <a:buNone/>
            </a:pPr>
            <a:r>
              <a:rPr lang="en-US" sz="1400" b="1" dirty="0">
                <a:solidFill>
                  <a:schemeClr val="tx1"/>
                </a:solidFill>
              </a:rPr>
              <a:t>unstable in the final map</a:t>
            </a:r>
            <a:endParaRPr lang="en-US" sz="1400" dirty="0"/>
          </a:p>
        </p:txBody>
      </p:sp>
      <p:sp>
        <p:nvSpPr>
          <p:cNvPr id="414" name="tile-sub-414"/>
          <p:cNvSpPr txBox="1"/>
          <p:nvPr/>
        </p:nvSpPr>
        <p:spPr>
          <a:xfrm>
            <a:off x="3675888" y="5650992"/>
            <a:ext cx="2432304" cy="448056"/>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all 2,976,750 nodes re-tested</a:t>
            </a:r>
            <a:endParaRPr lang="en-US" sz="1150" dirty="0"/>
          </a:p>
        </p:txBody>
      </p:sp>
      <p:sp>
        <p:nvSpPr>
          <p:cNvPr id="415" name="badge-415"/>
          <p:cNvSpPr/>
          <p:nvPr/>
        </p:nvSpPr>
        <p:spPr>
          <a:xfrm>
            <a:off x="6629400" y="144475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1</a:t>
            </a:r>
          </a:p>
        </p:txBody>
      </p:sp>
      <p:sp>
        <p:nvSpPr>
          <p:cNvPr id="416" name="step-416"/>
          <p:cNvSpPr txBox="1"/>
          <p:nvPr/>
        </p:nvSpPr>
        <p:spPr>
          <a:xfrm>
            <a:off x="7178040" y="1417320"/>
            <a:ext cx="4434840" cy="146304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Why the jump test is not enough</a:t>
            </a:r>
            <a:endParaRPr lang="en-US" sz="1300" dirty="0"/>
          </a:p>
          <a:p>
            <a:pPr marL="0" indent="0" algn="l">
              <a:spcAft>
                <a:spcPts val="200"/>
              </a:spcAft>
              <a:buNone/>
            </a:pPr>
            <a:r>
              <a:rPr lang="en-US" sz="1300" dirty="0">
                <a:solidFill>
                  <a:schemeClr val="tx1"/>
                </a:solidFill>
              </a:rPr>
              <a:t>On φ₁ = −φ₂ the rod is symmetric (f</a:t>
            </a:r>
            <a:r>
              <a:rPr lang="en-US" sz="1300" baseline="-25000" dirty="0">
                <a:solidFill>
                  <a:schemeClr val="tx1"/>
                </a:solidFill>
              </a:rPr>
              <a:t>y</a:t>
            </a:r>
            <a:r>
              <a:rPr lang="en-US" sz="1300" dirty="0">
                <a:solidFill>
                  <a:schemeClr val="tx1"/>
                </a:solidFill>
              </a:rPr>
              <a:t> = 0); the bent-up branch loses stability at a symmetry-breaking bifurcation, not a fold. Newton follows it smoothly, with no jump in q.</a:t>
            </a:r>
            <a:endParaRPr lang="en-US" sz="1300" dirty="0"/>
          </a:p>
        </p:txBody>
      </p:sp>
      <p:sp>
        <p:nvSpPr>
          <p:cNvPr id="417" name="badge-417"/>
          <p:cNvSpPr/>
          <p:nvPr/>
        </p:nvSpPr>
        <p:spPr>
          <a:xfrm>
            <a:off x="6629400" y="299923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2</a:t>
            </a:r>
          </a:p>
        </p:txBody>
      </p:sp>
      <p:sp>
        <p:nvSpPr>
          <p:cNvPr id="418" name="step-418"/>
          <p:cNvSpPr txBox="1"/>
          <p:nvPr/>
        </p:nvSpPr>
        <p:spPr>
          <a:xfrm>
            <a:off x="7178040" y="2971800"/>
            <a:ext cx="4434840" cy="146304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Inertia of a bordered matrix</a:t>
            </a:r>
            <a:endParaRPr lang="en-US" sz="1300" dirty="0"/>
          </a:p>
          <a:p>
            <a:pPr marL="0" indent="0" algn="l">
              <a:spcAft>
                <a:spcPts val="200"/>
              </a:spcAft>
              <a:buNone/>
            </a:pPr>
            <a:r>
              <a:rPr lang="en-US" sz="1300" dirty="0">
                <a:solidFill>
                  <a:schemeClr val="tx1"/>
                </a:solidFill>
              </a:rPr>
              <a:t>A is the tridiagonal P1 form, C the two constraint vectors (Haynsworth). One LDLᵀ sweep: O(N), about 0.2 ms against an 11 ms solve.</a:t>
            </a:r>
            <a:endParaRPr lang="en-US" sz="1300" dirty="0"/>
          </a:p>
        </p:txBody>
      </p:sp>
      <p:sp>
        <p:nvSpPr>
          <p:cNvPr id="419" name="badge-419"/>
          <p:cNvSpPr/>
          <p:nvPr/>
        </p:nvSpPr>
        <p:spPr>
          <a:xfrm>
            <a:off x="6629400" y="455371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3</a:t>
            </a:r>
          </a:p>
        </p:txBody>
      </p:sp>
      <p:sp>
        <p:nvSpPr>
          <p:cNvPr id="420" name="step-420"/>
          <p:cNvSpPr txBox="1"/>
          <p:nvPr/>
        </p:nvSpPr>
        <p:spPr>
          <a:xfrm>
            <a:off x="7178040" y="4526280"/>
            <a:ext cx="4434840" cy="146304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Every candidate</a:t>
            </a:r>
            <a:endParaRPr lang="en-US" sz="1300" dirty="0"/>
          </a:p>
          <a:p>
            <a:pPr marL="0" indent="0" algn="l">
              <a:spcAft>
                <a:spcPts val="200"/>
              </a:spcAft>
              <a:buNone/>
            </a:pPr>
            <a:r>
              <a:rPr lang="en-US" sz="1300" dirty="0">
                <a:solidFill>
                  <a:schemeClr val="tx1"/>
                </a:solidFill>
              </a:rPr>
              <a:t>Warm starts and cold starts alike: an unstable result counts as a failure and the node moves on to the next neighbour.</a:t>
            </a:r>
            <a:endParaRPr lang="en-US" sz="1300" dirty="0"/>
          </a:p>
        </p:txBody>
      </p:sp>
      <p:sp>
        <p:nvSpPr>
          <p:cNvPr id="9" name="Slide Number"/>
          <p:cNvSpPr>
            <a:spLocks noGrp="1"/>
          </p:cNvSpPr>
          <p:nvPr>
            <p:ph type="sldNum" sz="quarter" idx="4294967295"/>
          </p:nvPr>
        </p:nvSpPr>
        <p:spPr>
          <a:xfrm>
            <a:off x="11155680" y="6400800"/>
            <a:ext cx="457200" cy="274320"/>
          </a:xfrm>
          <a:prstGeom prst="rect">
            <a:avLst/>
          </a:prstGeom>
        </p:spPr>
        <p:txBody>
          <a:bodyPr/>
          <a:lstStyle>
            <a:lvl1pPr>
              <a:defRPr sz="1000">
                <a:solidFill>
                  <a:schemeClr val="accent6"/>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Exact first mode derivation">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Deriving the exact first mode used for the cold start</a:t>
            </a:r>
            <a:endParaRPr lang="en-US" sz="3000" dirty="0"/>
          </a:p>
        </p:txBody>
      </p:sp>
      <p:sp>
        <p:nvSpPr>
          <p:cNvPr id="3" name="step-card-1"/>
          <p:cNvSpPr/>
          <p:nvPr/>
        </p:nvSpPr>
        <p:spPr>
          <a:xfrm>
            <a:off x="548640" y="1417320"/>
            <a:ext cx="11064240" cy="713232"/>
          </a:xfrm>
          <a:prstGeom prst="roundRect">
            <a:avLst>
              <a:gd name="adj" fmla="val 8000"/>
            </a:avLst>
          </a:prstGeom>
          <a:solidFill>
            <a:schemeClr val="bg2"/>
          </a:solidFill>
          <a:ln/>
        </p:spPr>
        <p:txBody>
          <a:bodyPr/>
          <a:lstStyle/>
          <a:p>
            <a:endParaRPr lang="en-IN"/>
          </a:p>
        </p:txBody>
      </p:sp>
      <p:sp>
        <p:nvSpPr>
          <p:cNvPr id="4" name="step-badge-1"/>
          <p:cNvSpPr/>
          <p:nvPr/>
        </p:nvSpPr>
        <p:spPr>
          <a:xfrm>
            <a:off x="777240" y="1581912"/>
            <a:ext cx="384048" cy="384048"/>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bg1"/>
                </a:solidFill>
              </a:rPr>
              <a:t>1</a:t>
            </a:r>
          </a:p>
        </p:txBody>
      </p:sp>
      <p:sp>
        <p:nvSpPr>
          <p:cNvPr id="5" name="step-text-1"/>
          <p:cNvSpPr txBox="1"/>
          <p:nvPr/>
        </p:nvSpPr>
        <p:spPr>
          <a:xfrm>
            <a:off x="1325880" y="1453896"/>
            <a:ext cx="3977640" cy="640080"/>
          </a:xfrm>
          <a:prstGeom prst="rect">
            <a:avLst/>
          </a:prstGeom>
          <a:noFill/>
          <a:ln/>
        </p:spPr>
        <p:txBody>
          <a:bodyPr wrap="square" lIns="0" tIns="0" rIns="0" bIns="0" rtlCol="0" anchor="ctr"/>
          <a:lstStyle/>
          <a:p>
            <a:pPr marL="0" indent="0">
              <a:buNone/>
            </a:pPr>
            <a:r>
              <a:rPr lang="en-US" sz="1400" dirty="0">
                <a:solidFill>
                  <a:schemeClr val="tx1"/>
                </a:solidFill>
              </a:rPr>
              <a:t>φ₁ = φ₂ = 0 is mirror-symmetric, so f</a:t>
            </a:r>
            <a:r>
              <a:rPr lang="en-US" sz="1400" baseline="-25000" dirty="0">
                <a:solidFill>
                  <a:schemeClr val="tx1"/>
                </a:solidFill>
              </a:rPr>
              <a:t>y</a:t>
            </a:r>
            <a:r>
              <a:rPr lang="en-US" sz="1400" dirty="0">
                <a:solidFill>
                  <a:schemeClr val="tx1"/>
                </a:solidFill>
              </a:rPr>
              <a:t> = 0 and the elastica is a pendulum</a:t>
            </a:r>
            <a:endParaRPr lang="en-US" sz="1400" dirty="0"/>
          </a:p>
        </p:txBody>
      </p:sp>
      <mc:AlternateContent xmlns:mc="http://schemas.openxmlformats.org/markup-compatibility/2006" xmlns:a14="http://schemas.microsoft.com/office/drawing/2010/main">
        <mc:Choice Requires="a14">
          <p:sp>
            <p:nvSpPr>
              <p:cNvPr id="6" name="latex-mode-1"/>
              <p:cNvSpPr txBox="1"/>
              <p:nvPr/>
            </p:nvSpPr>
            <p:spPr>
              <a:xfrm>
                <a:off x="5532120" y="1453896"/>
                <a:ext cx="5897880" cy="640080"/>
              </a:xfrm>
              <a:prstGeom prst="rect">
                <a:avLst/>
              </a:prstGeom>
              <a:noFill/>
              <a:ln/>
            </p:spPr>
            <p:txBody>
              <a:bodyPr wrap="square" lIns="0" tIns="0" rIns="0" bIns="0" rtlCol="0" anchor="ctr">
                <a:noAutofit/>
              </a:bodyPr>
              <a:lstStyle/>
              <a:p>
                <a:pPr marL="0" indent="0">
                  <a:buNone/>
                </a:pPr>
                <a14:m>
                  <m:oMathPara xmlns:m="http://schemas.openxmlformats.org/officeDocument/2006/math">
                    <m:oMath>
                      <m:r>
                        <a:rPr lang="en-US" sz="1600" i="1" dirty="0" smtClean="0">
                          <a:solidFill>
                            <a:schemeClr val="tx1"/>
                          </a:solidFill>
                          <a:latin typeface="Cambria Math" panose="02040503050406030204" pitchFamily="18" charset="0"/>
                        </a:rPr>
                        <m:t>𝜃</m:t>
                      </m:r>
                      <m:r>
                        <a:rPr lang="en-US" sz="1600" i="0" dirty="0" smtClean="0">
                          <a:solidFill>
                            <a:schemeClr val="tx1"/>
                          </a:solidFill>
                          <a:latin typeface="Cambria Math" panose="02040503050406030204" pitchFamily="18" charset="0"/>
                        </a:rPr>
                        <m:t>′′+</m:t>
                      </m:r>
                      <m:sSup>
                        <m:sSupPr>
                          <m:ctrlPr>
                            <a:rPr lang="en-US" sz="1600" i="1" dirty="0" smtClean="0">
                              <a:solidFill>
                                <a:schemeClr val="tx1"/>
                              </a:solidFill>
                              <a:latin typeface="Cambria Math" panose="02040503050406030204" pitchFamily="18" charset="0"/>
                            </a:rPr>
                          </m:ctrlPr>
                        </m:sSupPr>
                        <m:e>
                          <m:r>
                            <a:rPr lang="en-US" sz="1600" i="1" dirty="0" smtClean="0">
                              <a:solidFill>
                                <a:schemeClr val="tx1"/>
                              </a:solidFill>
                              <a:latin typeface="Cambria Math" panose="02040503050406030204" pitchFamily="18" charset="0"/>
                            </a:rPr>
                            <m:t>𝜆</m:t>
                          </m:r>
                        </m:e>
                        <m:sup>
                          <m:r>
                            <a:rPr lang="en-US" sz="1600" i="0" dirty="0" smtClean="0">
                              <a:solidFill>
                                <a:schemeClr val="tx1"/>
                              </a:solidFill>
                              <a:latin typeface="Cambria Math" panose="02040503050406030204" pitchFamily="18" charset="0"/>
                            </a:rPr>
                            <m:t>2</m:t>
                          </m:r>
                        </m:sup>
                      </m:sSup>
                      <m:func>
                        <m:funcPr>
                          <m:ctrlPr>
                            <a:rPr lang="en-US" sz="1600" i="0" dirty="0" smtClean="0">
                              <a:solidFill>
                                <a:schemeClr val="tx1"/>
                              </a:solidFill>
                              <a:latin typeface="Cambria Math" panose="02040503050406030204" pitchFamily="18" charset="0"/>
                            </a:rPr>
                          </m:ctrlPr>
                        </m:funcPr>
                        <m:fName>
                          <m:r>
                            <m:rPr>
                              <m:sty m:val="p"/>
                            </m:rPr>
                            <a:rPr lang="en-US" sz="1600" i="0" dirty="0" smtClean="0">
                              <a:solidFill>
                                <a:schemeClr val="tx1"/>
                              </a:solidFill>
                              <a:latin typeface="Cambria Math" panose="02040503050406030204" pitchFamily="18" charset="0"/>
                            </a:rPr>
                            <m:t>sin</m:t>
                          </m:r>
                        </m:fName>
                        <m:e>
                          <m:r>
                            <a:rPr lang="en-US" sz="1600" i="1" dirty="0" smtClean="0">
                              <a:solidFill>
                                <a:schemeClr val="tx1"/>
                              </a:solidFill>
                              <a:latin typeface="Cambria Math" panose="02040503050406030204" pitchFamily="18" charset="0"/>
                            </a:rPr>
                            <m:t>𝜃</m:t>
                          </m:r>
                        </m:e>
                      </m:func>
                      <m:r>
                        <a:rPr lang="en-US" sz="1600" i="0" dirty="0" smtClean="0">
                          <a:solidFill>
                            <a:schemeClr val="tx1"/>
                          </a:solidFill>
                          <a:latin typeface="Cambria Math" panose="02040503050406030204" pitchFamily="18" charset="0"/>
                        </a:rPr>
                        <m:t>=0, </m:t>
                      </m:r>
                      <m:sSup>
                        <m:sSupPr>
                          <m:ctrlPr>
                            <a:rPr lang="en-US" sz="1600" i="1" dirty="0" smtClean="0">
                              <a:solidFill>
                                <a:schemeClr val="tx1"/>
                              </a:solidFill>
                              <a:latin typeface="Cambria Math" panose="02040503050406030204" pitchFamily="18" charset="0"/>
                            </a:rPr>
                          </m:ctrlPr>
                        </m:sSupPr>
                        <m:e>
                          <m:r>
                            <a:rPr lang="en-US" sz="1600" i="1" dirty="0" smtClean="0">
                              <a:solidFill>
                                <a:schemeClr val="tx1"/>
                              </a:solidFill>
                              <a:latin typeface="Cambria Math" panose="02040503050406030204" pitchFamily="18" charset="0"/>
                            </a:rPr>
                            <m:t>𝜆</m:t>
                          </m:r>
                        </m:e>
                        <m:sup>
                          <m:r>
                            <a:rPr lang="en-US" sz="1600" i="0" dirty="0" smtClean="0">
                              <a:solidFill>
                                <a:schemeClr val="tx1"/>
                              </a:solidFill>
                              <a:latin typeface="Cambria Math" panose="02040503050406030204" pitchFamily="18" charset="0"/>
                            </a:rPr>
                            <m:t>2</m:t>
                          </m:r>
                        </m:sup>
                      </m:sSup>
                      <m:r>
                        <a:rPr lang="en-US" sz="1600" i="0" dirty="0" smtClean="0">
                          <a:solidFill>
                            <a:schemeClr val="tx1"/>
                          </a:solidFill>
                          <a:latin typeface="Cambria Math" panose="02040503050406030204" pitchFamily="18" charset="0"/>
                        </a:rPr>
                        <m:t>=</m:t>
                      </m:r>
                      <m:sSub>
                        <m:sSubPr>
                          <m:ctrlPr>
                            <a:rPr lang="en-US" sz="1600" i="1" dirty="0" smtClean="0">
                              <a:solidFill>
                                <a:schemeClr val="tx1"/>
                              </a:solidFill>
                              <a:latin typeface="Cambria Math" panose="02040503050406030204" pitchFamily="18" charset="0"/>
                            </a:rPr>
                          </m:ctrlPr>
                        </m:sSubPr>
                        <m:e>
                          <m:r>
                            <a:rPr lang="en-US" sz="1600" i="1" dirty="0" smtClean="0">
                              <a:solidFill>
                                <a:schemeClr val="tx1"/>
                              </a:solidFill>
                              <a:latin typeface="Cambria Math" panose="02040503050406030204" pitchFamily="18" charset="0"/>
                            </a:rPr>
                            <m:t>𝑓</m:t>
                          </m:r>
                        </m:e>
                        <m:sub>
                          <m:r>
                            <a:rPr lang="en-US" sz="1600" i="1" dirty="0" smtClean="0">
                              <a:solidFill>
                                <a:schemeClr val="tx1"/>
                              </a:solidFill>
                              <a:latin typeface="Cambria Math" panose="02040503050406030204" pitchFamily="18" charset="0"/>
                            </a:rPr>
                            <m:t>𝑥</m:t>
                          </m:r>
                        </m:sub>
                      </m:sSub>
                      <m:r>
                        <a:rPr lang="en-US" sz="1600" i="0" dirty="0" smtClean="0">
                          <a:solidFill>
                            <a:schemeClr val="tx1"/>
                          </a:solidFill>
                          <a:latin typeface="Cambria Math" panose="02040503050406030204" pitchFamily="18" charset="0"/>
                        </a:rPr>
                        <m:t>, </m:t>
                      </m:r>
                      <m:sSub>
                        <m:sSubPr>
                          <m:ctrlPr>
                            <a:rPr lang="en-US" sz="1600" i="1" dirty="0" smtClean="0">
                              <a:solidFill>
                                <a:schemeClr val="tx1"/>
                              </a:solidFill>
                              <a:latin typeface="Cambria Math" panose="02040503050406030204" pitchFamily="18" charset="0"/>
                            </a:rPr>
                          </m:ctrlPr>
                        </m:sSubPr>
                        <m:e>
                          <m:r>
                            <a:rPr lang="en-US" sz="1600" i="1" dirty="0" smtClean="0">
                              <a:solidFill>
                                <a:schemeClr val="tx1"/>
                              </a:solidFill>
                              <a:latin typeface="Cambria Math" panose="02040503050406030204" pitchFamily="18" charset="0"/>
                            </a:rPr>
                            <m:t>𝑓</m:t>
                          </m:r>
                        </m:e>
                        <m:sub>
                          <m:r>
                            <a:rPr lang="en-US" sz="1600" i="1" dirty="0" smtClean="0">
                              <a:solidFill>
                                <a:schemeClr val="tx1"/>
                              </a:solidFill>
                              <a:latin typeface="Cambria Math" panose="02040503050406030204" pitchFamily="18" charset="0"/>
                            </a:rPr>
                            <m:t>𝑦</m:t>
                          </m:r>
                        </m:sub>
                      </m:sSub>
                      <m:r>
                        <a:rPr lang="en-US" sz="1600" i="0" dirty="0" smtClean="0">
                          <a:solidFill>
                            <a:schemeClr val="tx1"/>
                          </a:solidFill>
                          <a:latin typeface="Cambria Math" panose="02040503050406030204" pitchFamily="18" charset="0"/>
                        </a:rPr>
                        <m:t>=0</m:t>
                      </m:r>
                    </m:oMath>
                  </m:oMathPara>
                </a14:m>
                <a:endParaRPr lang="en-US" sz="1600" dirty="0"/>
              </a:p>
            </p:txBody>
          </p:sp>
        </mc:Choice>
        <mc:Fallback xmlns="">
          <p:sp>
            <p:nvSpPr>
              <p:cNvPr id="6" name="latex-mode-1"/>
              <p:cNvSpPr txBox="1">
                <a:spLocks noRot="1" noChangeAspect="1" noMove="1" noResize="1" noEditPoints="1" noAdjustHandles="1" noChangeArrowheads="1" noChangeShapeType="1" noTextEdit="1"/>
              </p:cNvSpPr>
              <p:nvPr/>
            </p:nvSpPr>
            <p:spPr>
              <a:xfrm>
                <a:off x="5532120" y="1453896"/>
                <a:ext cx="5897880" cy="640080"/>
              </a:xfrm>
              <a:prstGeom prst="rect">
                <a:avLst/>
              </a:prstGeom>
              <a:blipFill>
                <a:blip r:embed="rId3"/>
                <a:stretch>
                  <a:fillRect/>
                </a:stretch>
              </a:blipFill>
              <a:ln/>
            </p:spPr>
            <p:txBody>
              <a:bodyPr/>
              <a:lstStyle/>
              <a:p>
                <a:r>
                  <a:rPr lang="en-IN">
                    <a:noFill/>
                  </a:rPr>
                  <a:t> </a:t>
                </a:r>
              </a:p>
            </p:txBody>
          </p:sp>
        </mc:Fallback>
      </mc:AlternateContent>
      <p:sp>
        <p:nvSpPr>
          <p:cNvPr id="7" name="step-card-2"/>
          <p:cNvSpPr/>
          <p:nvPr/>
        </p:nvSpPr>
        <p:spPr>
          <a:xfrm>
            <a:off x="548640" y="2221992"/>
            <a:ext cx="11064240" cy="713232"/>
          </a:xfrm>
          <a:prstGeom prst="roundRect">
            <a:avLst>
              <a:gd name="adj" fmla="val 8000"/>
            </a:avLst>
          </a:prstGeom>
          <a:solidFill>
            <a:schemeClr val="bg2"/>
          </a:solidFill>
          <a:ln/>
        </p:spPr>
        <p:txBody>
          <a:bodyPr/>
          <a:lstStyle/>
          <a:p>
            <a:endParaRPr lang="en-IN"/>
          </a:p>
        </p:txBody>
      </p:sp>
      <p:sp>
        <p:nvSpPr>
          <p:cNvPr id="8" name="step-badge-2"/>
          <p:cNvSpPr/>
          <p:nvPr/>
        </p:nvSpPr>
        <p:spPr>
          <a:xfrm>
            <a:off x="777240" y="2386584"/>
            <a:ext cx="384048" cy="384048"/>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bg1"/>
                </a:solidFill>
              </a:rPr>
              <a:t>2</a:t>
            </a:r>
          </a:p>
        </p:txBody>
      </p:sp>
      <p:sp>
        <p:nvSpPr>
          <p:cNvPr id="9" name="step-text-2"/>
          <p:cNvSpPr txBox="1"/>
          <p:nvPr/>
        </p:nvSpPr>
        <p:spPr>
          <a:xfrm>
            <a:off x="1325880" y="2258568"/>
            <a:ext cx="3977640" cy="640080"/>
          </a:xfrm>
          <a:prstGeom prst="rect">
            <a:avLst/>
          </a:prstGeom>
          <a:noFill/>
          <a:ln/>
        </p:spPr>
        <p:txBody>
          <a:bodyPr wrap="square" lIns="0" tIns="0" rIns="0" bIns="0" rtlCol="0" anchor="ctr"/>
          <a:lstStyle/>
          <a:p>
            <a:pPr marL="0" indent="0">
              <a:buNone/>
            </a:pPr>
            <a:r>
              <a:rPr lang="en-US" sz="1400" dirty="0">
                <a:solidFill>
                  <a:schemeClr val="tx1"/>
                </a:solidFill>
              </a:rPr>
              <a:t>Multiply by θ′ and integrate once; θ′ = 0 at the peak angle α</a:t>
            </a:r>
            <a:endParaRPr lang="en-US" sz="1400" dirty="0"/>
          </a:p>
        </p:txBody>
      </p:sp>
      <mc:AlternateContent xmlns:mc="http://schemas.openxmlformats.org/markup-compatibility/2006" xmlns:a14="http://schemas.microsoft.com/office/drawing/2010/main">
        <mc:Choice Requires="a14">
          <p:sp>
            <p:nvSpPr>
              <p:cNvPr id="401" name="latex-mode-2"/>
              <p:cNvSpPr txBox="1"/>
              <p:nvPr/>
            </p:nvSpPr>
            <p:spPr>
              <a:xfrm>
                <a:off x="6856476" y="2438400"/>
                <a:ext cx="3249168" cy="280416"/>
              </a:xfrm>
              <a:prstGeom prst="rect">
                <a:avLst/>
              </a:prstGeom>
              <a:noFill/>
            </p:spPr>
            <p:txBody>
              <a:bodyPr wrap="none" lIns="0" tIns="0" rIns="0" bIns="0" rtlCol="0" anchor="ctr">
                <a:noAutofit/>
              </a:bodyPr>
              <a:lstStyle/>
              <a:p>
                <a:pPr marL="0" indent="0">
                  <a:buNone/>
                </a:pPr>
                <a14:m>
                  <m:oMathPara xmlns:m="http://schemas.openxmlformats.org/officeDocument/2006/math">
                    <m:oMathParaPr>
                      <m:jc m:val="left"/>
                    </m:oMathParaPr>
                    <m:oMath>
                      <m:sSup>
                        <m:sSupPr>
                          <m:ctrlPr>
                            <a:rPr lang="en-US" sz="1600" i="1" dirty="0">
                              <a:solidFill>
                                <a:schemeClr val="tx1"/>
                              </a:solidFill>
                              <a:latin typeface="Cambria Math" panose="02040503050406030204" pitchFamily="18" charset="0"/>
                            </a:rPr>
                          </m:ctrlPr>
                        </m:sSupPr>
                        <m:e>
                          <m:r>
                            <a:rPr lang="en-US" sz="1600" i="1" dirty="0">
                              <a:solidFill>
                                <a:schemeClr val="tx1"/>
                              </a:solidFill>
                              <a:latin typeface="Cambria Math" panose="02040503050406030204" pitchFamily="18" charset="0"/>
                            </a:rPr>
                            <m:t>𝜃</m:t>
                          </m:r>
                        </m:e>
                        <m:sup>
                          <m:r>
                            <a:rPr lang="en-US" sz="1600" i="1" dirty="0">
                              <a:solidFill>
                                <a:schemeClr val="tx1"/>
                              </a:solidFill>
                              <a:latin typeface="Cambria Math" panose="02040503050406030204" pitchFamily="18" charset="0"/>
                            </a:rPr>
                            <m:t>′</m:t>
                          </m:r>
                        </m:sup>
                      </m:sSup>
                      <m:sSup>
                        <m:sSupPr>
                          <m:ctrlPr>
                            <a:rPr lang="en-US" sz="1600" i="1" dirty="0">
                              <a:solidFill>
                                <a:schemeClr val="tx1"/>
                              </a:solidFill>
                              <a:latin typeface="Cambria Math" panose="02040503050406030204" pitchFamily="18" charset="0"/>
                            </a:rPr>
                          </m:ctrlPr>
                        </m:sSupPr>
                        <m:e>
                          <m:r>
                            <a:rPr lang="en-US" sz="1600" i="1" dirty="0">
                              <a:solidFill>
                                <a:schemeClr val="tx1"/>
                              </a:solidFill>
                              <a:latin typeface="Cambria Math" panose="02040503050406030204" pitchFamily="18" charset="0"/>
                            </a:rPr>
                            <m:t>​</m:t>
                          </m:r>
                        </m:e>
                        <m:sup>
                          <m:r>
                            <a:rPr lang="en-US" sz="1600" i="1" dirty="0">
                              <a:solidFill>
                                <a:schemeClr val="tx1"/>
                              </a:solidFill>
                              <a:latin typeface="Cambria Math" panose="02040503050406030204" pitchFamily="18" charset="0"/>
                            </a:rPr>
                            <m:t>2</m:t>
                          </m:r>
                        </m:sup>
                      </m:sSup>
                      <m:r>
                        <a:rPr lang="en-US" sz="1600" i="1" dirty="0">
                          <a:solidFill>
                            <a:schemeClr val="tx1"/>
                          </a:solidFill>
                          <a:latin typeface="Cambria Math" panose="02040503050406030204" pitchFamily="18" charset="0"/>
                        </a:rPr>
                        <m:t>=4</m:t>
                      </m:r>
                      <m:sSup>
                        <m:sSupPr>
                          <m:ctrlPr>
                            <a:rPr lang="en-US" sz="1600" i="1" dirty="0">
                              <a:solidFill>
                                <a:schemeClr val="tx1"/>
                              </a:solidFill>
                              <a:latin typeface="Cambria Math" panose="02040503050406030204" pitchFamily="18" charset="0"/>
                            </a:rPr>
                          </m:ctrlPr>
                        </m:sSupPr>
                        <m:e>
                          <m:r>
                            <a:rPr lang="en-US" sz="1600" i="1" dirty="0">
                              <a:solidFill>
                                <a:schemeClr val="tx1"/>
                              </a:solidFill>
                              <a:latin typeface="Cambria Math" panose="02040503050406030204" pitchFamily="18" charset="0"/>
                            </a:rPr>
                            <m:t>𝜆</m:t>
                          </m:r>
                        </m:e>
                        <m:sup>
                          <m:r>
                            <a:rPr lang="en-US" sz="1600" i="1" dirty="0">
                              <a:solidFill>
                                <a:schemeClr val="tx1"/>
                              </a:solidFill>
                              <a:latin typeface="Cambria Math" panose="02040503050406030204" pitchFamily="18" charset="0"/>
                            </a:rPr>
                            <m:t>2</m:t>
                          </m:r>
                        </m:sup>
                      </m:sSup>
                      <m:d>
                        <m:dPr>
                          <m:ctrlPr>
                            <a:rPr lang="en-US" sz="1600" i="1" dirty="0">
                              <a:solidFill>
                                <a:schemeClr val="tx1"/>
                              </a:solidFill>
                              <a:latin typeface="Cambria Math" panose="02040503050406030204" pitchFamily="18" charset="0"/>
                            </a:rPr>
                          </m:ctrlPr>
                        </m:dPr>
                        <m:e>
                          <m:sSup>
                            <m:sSupPr>
                              <m:ctrlPr>
                                <a:rPr lang="en-US" sz="1600" i="1" dirty="0">
                                  <a:solidFill>
                                    <a:schemeClr val="tx1"/>
                                  </a:solidFill>
                                  <a:latin typeface="Cambria Math" panose="02040503050406030204" pitchFamily="18" charset="0"/>
                                </a:rPr>
                              </m:ctrlPr>
                            </m:sSupPr>
                            <m:e>
                              <m:r>
                                <a:rPr lang="en-US" sz="1600" i="1" dirty="0">
                                  <a:solidFill>
                                    <a:schemeClr val="tx1"/>
                                  </a:solidFill>
                                  <a:latin typeface="Cambria Math" panose="02040503050406030204" pitchFamily="18" charset="0"/>
                                </a:rPr>
                                <m:t>𝑘</m:t>
                              </m:r>
                            </m:e>
                            <m:sup>
                              <m:r>
                                <a:rPr lang="en-US" sz="1600" i="1" dirty="0">
                                  <a:solidFill>
                                    <a:schemeClr val="tx1"/>
                                  </a:solidFill>
                                  <a:latin typeface="Cambria Math" panose="02040503050406030204" pitchFamily="18" charset="0"/>
                                </a:rPr>
                                <m:t>2</m:t>
                              </m:r>
                            </m:sup>
                          </m:sSup>
                          <m:r>
                            <a:rPr lang="en-US" sz="1600" i="1" dirty="0">
                              <a:solidFill>
                                <a:schemeClr val="tx1"/>
                              </a:solidFill>
                              <a:latin typeface="Cambria Math" panose="02040503050406030204" pitchFamily="18" charset="0"/>
                            </a:rPr>
                            <m:t>−</m:t>
                          </m:r>
                          <m:sSup>
                            <m:sSupPr>
                              <m:ctrlPr>
                                <a:rPr lang="en-US" sz="1600" i="1" dirty="0">
                                  <a:solidFill>
                                    <a:schemeClr val="tx1"/>
                                  </a:solidFill>
                                  <a:latin typeface="Cambria Math" panose="02040503050406030204" pitchFamily="18" charset="0"/>
                                </a:rPr>
                              </m:ctrlPr>
                            </m:sSupPr>
                            <m:e>
                              <m:r>
                                <m:rPr>
                                  <m:sty m:val="p"/>
                                </m:rPr>
                                <a:rPr lang="en-US" sz="1600" i="1" dirty="0">
                                  <a:solidFill>
                                    <a:schemeClr val="tx1"/>
                                  </a:solidFill>
                                  <a:latin typeface="Cambria Math" panose="02040503050406030204" pitchFamily="18" charset="0"/>
                                </a:rPr>
                                <m:t>sin</m:t>
                              </m:r>
                            </m:e>
                            <m:sup>
                              <m:r>
                                <a:rPr lang="en-US" sz="1600" i="1" dirty="0">
                                  <a:solidFill>
                                    <a:schemeClr val="tx1"/>
                                  </a:solidFill>
                                  <a:latin typeface="Cambria Math" panose="02040503050406030204" pitchFamily="18" charset="0"/>
                                </a:rPr>
                                <m:t>2</m:t>
                              </m:r>
                            </m:sup>
                          </m:sSup>
                          <m:f>
                            <m:fPr>
                              <m:ctrlPr>
                                <a:rPr lang="en-US" sz="1600" i="1" dirty="0">
                                  <a:solidFill>
                                    <a:schemeClr val="tx1"/>
                                  </a:solidFill>
                                  <a:latin typeface="Cambria Math" panose="02040503050406030204" pitchFamily="18" charset="0"/>
                                </a:rPr>
                              </m:ctrlPr>
                            </m:fPr>
                            <m:num>
                              <m:r>
                                <a:rPr lang="en-US" sz="1600" i="1" dirty="0">
                                  <a:solidFill>
                                    <a:schemeClr val="tx1"/>
                                  </a:solidFill>
                                  <a:latin typeface="Cambria Math" panose="02040503050406030204" pitchFamily="18" charset="0"/>
                                </a:rPr>
                                <m:t>𝜃</m:t>
                              </m:r>
                            </m:num>
                            <m:den>
                              <m:r>
                                <a:rPr lang="en-US" sz="1600" i="1" dirty="0">
                                  <a:solidFill>
                                    <a:schemeClr val="tx1"/>
                                  </a:solidFill>
                                  <a:latin typeface="Cambria Math" panose="02040503050406030204" pitchFamily="18" charset="0"/>
                                </a:rPr>
                                <m:t>2</m:t>
                              </m:r>
                            </m:den>
                          </m:f>
                        </m:e>
                      </m:d>
                      <m:r>
                        <a:rPr lang="en-US" sz="1600" i="1"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𝑘</m:t>
                      </m:r>
                      <m:r>
                        <a:rPr lang="en-US" sz="1600" i="1" dirty="0">
                          <a:solidFill>
                            <a:schemeClr val="tx1"/>
                          </a:solidFill>
                          <a:latin typeface="Cambria Math" panose="02040503050406030204" pitchFamily="18" charset="0"/>
                        </a:rPr>
                        <m:t>=</m:t>
                      </m:r>
                      <m:r>
                        <m:rPr>
                          <m:sty m:val="p"/>
                        </m:rPr>
                        <a:rPr lang="en-US" sz="1600" i="1" dirty="0">
                          <a:solidFill>
                            <a:schemeClr val="tx1"/>
                          </a:solidFill>
                          <a:latin typeface="Cambria Math" panose="02040503050406030204" pitchFamily="18" charset="0"/>
                        </a:rPr>
                        <m:t>sin</m:t>
                      </m:r>
                      <m:f>
                        <m:fPr>
                          <m:ctrlPr>
                            <a:rPr lang="en-US" sz="1600" i="1" dirty="0">
                              <a:solidFill>
                                <a:schemeClr val="tx1"/>
                              </a:solidFill>
                              <a:latin typeface="Cambria Math" panose="02040503050406030204" pitchFamily="18" charset="0"/>
                            </a:rPr>
                          </m:ctrlPr>
                        </m:fPr>
                        <m:num>
                          <m:r>
                            <a:rPr lang="en-US" sz="1600" i="1" dirty="0">
                              <a:solidFill>
                                <a:schemeClr val="tx1"/>
                              </a:solidFill>
                              <a:latin typeface="Cambria Math" panose="02040503050406030204" pitchFamily="18" charset="0"/>
                            </a:rPr>
                            <m:t>𝛼</m:t>
                          </m:r>
                        </m:num>
                        <m:den>
                          <m:r>
                            <a:rPr lang="en-US" sz="1600" i="1" dirty="0">
                              <a:solidFill>
                                <a:schemeClr val="tx1"/>
                              </a:solidFill>
                              <a:latin typeface="Cambria Math" panose="02040503050406030204" pitchFamily="18" charset="0"/>
                            </a:rPr>
                            <m:t>2</m:t>
                          </m:r>
                        </m:den>
                      </m:f>
                    </m:oMath>
                  </m:oMathPara>
                </a14:m>
                <a:endParaRPr lang="en-US" sz="1600" dirty="0"/>
              </a:p>
            </p:txBody>
          </p:sp>
        </mc:Choice>
        <mc:Fallback xmlns="">
          <p:sp>
            <p:nvSpPr>
              <p:cNvPr id="401" name="latex-mode-2"/>
              <p:cNvSpPr txBox="1">
                <a:spLocks noRot="1" noChangeAspect="1" noMove="1" noResize="1" noEditPoints="1" noAdjustHandles="1" noChangeArrowheads="1" noChangeShapeType="1" noTextEdit="1"/>
              </p:cNvSpPr>
              <p:nvPr/>
            </p:nvSpPr>
            <p:spPr>
              <a:xfrm>
                <a:off x="6856476" y="2438400"/>
                <a:ext cx="3249168" cy="280416"/>
              </a:xfrm>
              <a:prstGeom prst="rect">
                <a:avLst/>
              </a:prstGeom>
              <a:blipFill>
                <a:blip r:embed="rId10"/>
                <a:stretch>
                  <a:fillRect/>
                </a:stretch>
              </a:blipFill>
            </p:spPr>
            <p:txBody>
              <a:bodyPr/>
              <a:lstStyle/>
              <a:p>
                <a:r>
                  <a:rPr lang="en-US">
                    <a:noFill/>
                  </a:rPr>
                  <a:t> </a:t>
                </a:r>
              </a:p>
            </p:txBody>
          </p:sp>
        </mc:Fallback>
      </mc:AlternateContent>
      <p:sp>
        <p:nvSpPr>
          <p:cNvPr id="11" name="step-card-3"/>
          <p:cNvSpPr/>
          <p:nvPr/>
        </p:nvSpPr>
        <p:spPr>
          <a:xfrm>
            <a:off x="548640" y="3026664"/>
            <a:ext cx="11064240" cy="713232"/>
          </a:xfrm>
          <a:prstGeom prst="roundRect">
            <a:avLst>
              <a:gd name="adj" fmla="val 8000"/>
            </a:avLst>
          </a:prstGeom>
          <a:solidFill>
            <a:schemeClr val="bg2"/>
          </a:solidFill>
          <a:ln/>
        </p:spPr>
        <p:txBody>
          <a:bodyPr/>
          <a:lstStyle/>
          <a:p>
            <a:endParaRPr lang="en-IN"/>
          </a:p>
        </p:txBody>
      </p:sp>
      <p:sp>
        <p:nvSpPr>
          <p:cNvPr id="12" name="step-badge-3"/>
          <p:cNvSpPr/>
          <p:nvPr/>
        </p:nvSpPr>
        <p:spPr>
          <a:xfrm>
            <a:off x="777240" y="3191256"/>
            <a:ext cx="384048" cy="384048"/>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bg1"/>
                </a:solidFill>
              </a:rPr>
              <a:t>3</a:t>
            </a:r>
          </a:p>
        </p:txBody>
      </p:sp>
      <p:sp>
        <p:nvSpPr>
          <p:cNvPr id="13" name="step-text-3"/>
          <p:cNvSpPr txBox="1"/>
          <p:nvPr/>
        </p:nvSpPr>
        <p:spPr>
          <a:xfrm>
            <a:off x="1325880" y="3063240"/>
            <a:ext cx="3977640" cy="640080"/>
          </a:xfrm>
          <a:prstGeom prst="rect">
            <a:avLst/>
          </a:prstGeom>
          <a:noFill/>
          <a:ln/>
        </p:spPr>
        <p:txBody>
          <a:bodyPr wrap="square" lIns="0" tIns="0" rIns="0" bIns="0" rtlCol="0" anchor="ctr"/>
          <a:lstStyle/>
          <a:p>
            <a:pPr marL="0" indent="0">
              <a:buNone/>
            </a:pPr>
            <a:r>
              <a:rPr lang="en-US" sz="1400" dirty="0">
                <a:solidFill>
                  <a:schemeClr val="tx1"/>
                </a:solidFill>
              </a:rPr>
              <a:t>Substituting sin(θ/2) = k sin ψ gives ψ′ = λ√(1 − m sin²ψ), so sin ψ = sn(λs | m)</a:t>
            </a:r>
          </a:p>
        </p:txBody>
      </p:sp>
      <mc:AlternateContent xmlns:mc="http://schemas.openxmlformats.org/markup-compatibility/2006">
        <mc:Choice xmlns:a14="http://schemas.microsoft.com/office/drawing/2010/main" Requires="a14">
          <p:sp>
            <p:nvSpPr>
              <p:cNvPr id="402" name="latex-mode-3"/>
              <p:cNvSpPr txBox="1"/>
              <p:nvPr/>
            </p:nvSpPr>
            <p:spPr>
              <a:xfrm>
                <a:off x="6710172" y="3249168"/>
                <a:ext cx="3541776" cy="268224"/>
              </a:xfrm>
              <a:prstGeom prst="rect">
                <a:avLst/>
              </a:prstGeom>
              <a:noFill/>
            </p:spPr>
            <p:txBody>
              <a:bodyPr wrap="none" lIns="0" tIns="0" rIns="0" bIns="0" rtlCol="0" anchor="ctr">
                <a:noAutofit/>
              </a:bodyPr>
              <a:lstStyle/>
              <a:p>
                <a:pPr marL="0" indent="0">
                  <a:buNone/>
                </a:pPr>
                <a14:m>
                  <m:oMathPara xmlns:m="http://schemas.openxmlformats.org/officeDocument/2006/math">
                    <m:oMathParaPr>
                      <m:jc m:val="left"/>
                    </m:oMathParaPr>
                    <m:oMath>
                      <m:r>
                        <a:rPr lang="en-US" sz="1600" i="1" dirty="0" smtClean="0">
                          <a:solidFill>
                            <a:schemeClr val="tx1"/>
                          </a:solidFill>
                          <a:latin typeface="Cambria Math" panose="02040503050406030204" pitchFamily="18" charset="0"/>
                        </a:rPr>
                        <m:t>𝜃</m:t>
                      </m:r>
                      <m:d>
                        <m:dPr>
                          <m:ctrlPr>
                            <a:rPr lang="en-US" sz="1600" i="1" dirty="0" smtClean="0">
                              <a:solidFill>
                                <a:schemeClr val="tx1"/>
                              </a:solidFill>
                              <a:latin typeface="Cambria Math" panose="02040503050406030204" pitchFamily="18" charset="0"/>
                            </a:rPr>
                          </m:ctrlPr>
                        </m:dPr>
                        <m:e>
                          <m:r>
                            <a:rPr lang="en-US" sz="1600" i="1" dirty="0" smtClean="0">
                              <a:solidFill>
                                <a:schemeClr val="tx1"/>
                              </a:solidFill>
                              <a:latin typeface="Cambria Math" panose="02040503050406030204" pitchFamily="18" charset="0"/>
                            </a:rPr>
                            <m:t>𝑠</m:t>
                          </m:r>
                        </m:e>
                      </m:d>
                      <m:r>
                        <a:rPr lang="en-US" sz="1600" i="1" dirty="0" smtClean="0">
                          <a:solidFill>
                            <a:schemeClr val="tx1"/>
                          </a:solidFill>
                          <a:latin typeface="Cambria Math" panose="02040503050406030204" pitchFamily="18" charset="0"/>
                        </a:rPr>
                        <m:t>=2</m:t>
                      </m:r>
                      <m:func>
                        <m:funcPr>
                          <m:ctrlPr>
                            <a:rPr lang="en-US" sz="1600" i="1" dirty="0" smtClean="0">
                              <a:solidFill>
                                <a:schemeClr val="tx1"/>
                              </a:solidFill>
                              <a:latin typeface="Cambria Math" panose="02040503050406030204" pitchFamily="18" charset="0"/>
                            </a:rPr>
                          </m:ctrlPr>
                        </m:funcPr>
                        <m:fName>
                          <m:sSup>
                            <m:sSupPr>
                              <m:ctrlPr>
                                <a:rPr lang="en-US" sz="1600" i="1" dirty="0" smtClean="0">
                                  <a:solidFill>
                                    <a:schemeClr val="tx1"/>
                                  </a:solidFill>
                                  <a:latin typeface="Cambria Math" panose="02040503050406030204" pitchFamily="18" charset="0"/>
                                </a:rPr>
                              </m:ctrlPr>
                            </m:sSupPr>
                            <m:e>
                              <m:r>
                                <m:rPr>
                                  <m:sty m:val="p"/>
                                </m:rPr>
                                <a:rPr lang="en-US" sz="1600" i="1" dirty="0" smtClean="0">
                                  <a:solidFill>
                                    <a:schemeClr val="tx1"/>
                                  </a:solidFill>
                                  <a:latin typeface="Cambria Math" panose="02040503050406030204" pitchFamily="18" charset="0"/>
                                </a:rPr>
                                <m:t>sin</m:t>
                              </m:r>
                            </m:e>
                            <m:sup>
                              <m:r>
                                <a:rPr lang="en-US" sz="1600" b="0" i="1" dirty="0" smtClean="0">
                                  <a:solidFill>
                                    <a:schemeClr val="tx1"/>
                                  </a:solidFill>
                                  <a:latin typeface="Cambria Math" panose="02040503050406030204" pitchFamily="18" charset="0"/>
                                </a:rPr>
                                <m:t>-1</m:t>
                              </m:r>
                            </m:sup>
                          </m:sSup>
                        </m:fName>
                        <m:e>
                          <m:d>
                            <m:dPr>
                              <m:begChr m:val="["/>
                              <m:endChr m:val="]"/>
                              <m:ctrlPr>
                                <a:rPr lang="en-US" sz="1600" i="1" dirty="0" smtClean="0">
                                  <a:solidFill>
                                    <a:schemeClr val="tx1"/>
                                  </a:solidFill>
                                  <a:latin typeface="Cambria Math" panose="02040503050406030204" pitchFamily="18" charset="0"/>
                                </a:rPr>
                              </m:ctrlPr>
                            </m:dPr>
                            <m:e>
                              <m:r>
                                <a:rPr lang="en-US" sz="1600" i="1" dirty="0" smtClean="0">
                                  <a:solidFill>
                                    <a:schemeClr val="tx1"/>
                                  </a:solidFill>
                                  <a:latin typeface="Cambria Math" panose="02040503050406030204" pitchFamily="18" charset="0"/>
                                </a:rPr>
                                <m:t>𝑘</m:t>
                              </m:r>
                              <m:r>
                                <a:rPr lang="en-US" sz="1600" i="1" dirty="0" smtClean="0">
                                  <a:solidFill>
                                    <a:schemeClr val="tx1"/>
                                  </a:solidFill>
                                  <a:latin typeface="Cambria Math" panose="02040503050406030204" pitchFamily="18" charset="0"/>
                                </a:rPr>
                                <m:t> </m:t>
                              </m:r>
                              <m:r>
                                <m:rPr>
                                  <m:sty m:val="p"/>
                                </m:rPr>
                                <a:rPr lang="en-US" sz="1600" i="1" dirty="0" smtClean="0">
                                  <a:solidFill>
                                    <a:schemeClr val="tx1"/>
                                  </a:solidFill>
                                  <a:latin typeface="Cambria Math" panose="02040503050406030204" pitchFamily="18" charset="0"/>
                                </a:rPr>
                                <m:t>sn</m:t>
                              </m:r>
                              <m:d>
                                <m:dPr>
                                  <m:ctrlPr>
                                    <a:rPr lang="en-US" sz="1600" i="1" dirty="0" smtClean="0">
                                      <a:solidFill>
                                        <a:schemeClr val="tx1"/>
                                      </a:solidFill>
                                      <a:latin typeface="Cambria Math" panose="02040503050406030204" pitchFamily="18" charset="0"/>
                                    </a:rPr>
                                  </m:ctrlPr>
                                </m:dPr>
                                <m:e>
                                  <m:r>
                                    <a:rPr lang="en-US" sz="1600" i="1" dirty="0" smtClean="0">
                                      <a:solidFill>
                                        <a:schemeClr val="tx1"/>
                                      </a:solidFill>
                                      <a:latin typeface="Cambria Math" panose="02040503050406030204" pitchFamily="18" charset="0"/>
                                    </a:rPr>
                                    <m:t>𝜆</m:t>
                                  </m:r>
                                  <m:r>
                                    <a:rPr lang="en-US" sz="1600" i="1" dirty="0" smtClean="0">
                                      <a:solidFill>
                                        <a:schemeClr val="tx1"/>
                                      </a:solidFill>
                                      <a:latin typeface="Cambria Math" panose="02040503050406030204" pitchFamily="18" charset="0"/>
                                    </a:rPr>
                                    <m:t>𝑠</m:t>
                                  </m:r>
                                  <m:r>
                                    <a:rPr lang="en-US" sz="1600" i="1" dirty="0" smtClean="0">
                                      <a:solidFill>
                                        <a:schemeClr val="tx1"/>
                                      </a:solidFill>
                                      <a:latin typeface="Cambria Math" panose="02040503050406030204" pitchFamily="18" charset="0"/>
                                    </a:rPr>
                                    <m:t> | </m:t>
                                  </m:r>
                                  <m:r>
                                    <a:rPr lang="en-US" sz="1600" i="1" dirty="0" smtClean="0">
                                      <a:solidFill>
                                        <a:schemeClr val="tx1"/>
                                      </a:solidFill>
                                      <a:latin typeface="Cambria Math" panose="02040503050406030204" pitchFamily="18" charset="0"/>
                                    </a:rPr>
                                    <m:t>𝑚</m:t>
                                  </m:r>
                                </m:e>
                              </m:d>
                            </m:e>
                          </m:d>
                        </m:e>
                      </m:func>
                      <m:r>
                        <a:rPr lang="en-US" sz="1600" i="1" dirty="0" smtClean="0">
                          <a:solidFill>
                            <a:schemeClr val="tx1"/>
                          </a:solidFill>
                          <a:latin typeface="Cambria Math" panose="02040503050406030204" pitchFamily="18" charset="0"/>
                        </a:rPr>
                        <m:t>,  </m:t>
                      </m:r>
                      <m:r>
                        <a:rPr lang="en-US" sz="1600" i="1" dirty="0" smtClean="0">
                          <a:solidFill>
                            <a:schemeClr val="tx1"/>
                          </a:solidFill>
                          <a:latin typeface="Cambria Math" panose="02040503050406030204" pitchFamily="18" charset="0"/>
                        </a:rPr>
                        <m:t>𝑚</m:t>
                      </m:r>
                      <m:r>
                        <a:rPr lang="en-US" sz="1600" i="1" dirty="0" smtClean="0">
                          <a:solidFill>
                            <a:schemeClr val="tx1"/>
                          </a:solidFill>
                          <a:latin typeface="Cambria Math" panose="02040503050406030204" pitchFamily="18" charset="0"/>
                        </a:rPr>
                        <m:t>=</m:t>
                      </m:r>
                      <m:sSup>
                        <m:sSupPr>
                          <m:ctrlPr>
                            <a:rPr lang="en-US" sz="1600" i="1" dirty="0" smtClean="0">
                              <a:solidFill>
                                <a:schemeClr val="tx1"/>
                              </a:solidFill>
                              <a:latin typeface="Cambria Math" panose="02040503050406030204" pitchFamily="18" charset="0"/>
                            </a:rPr>
                          </m:ctrlPr>
                        </m:sSupPr>
                        <m:e>
                          <m:r>
                            <a:rPr lang="en-US" sz="1600" i="1" dirty="0" smtClean="0">
                              <a:solidFill>
                                <a:schemeClr val="tx1"/>
                              </a:solidFill>
                              <a:latin typeface="Cambria Math" panose="02040503050406030204" pitchFamily="18" charset="0"/>
                            </a:rPr>
                            <m:t>𝑘</m:t>
                          </m:r>
                        </m:e>
                        <m:sup>
                          <m:r>
                            <a:rPr lang="en-US" sz="1600" i="1" dirty="0" smtClean="0">
                              <a:solidFill>
                                <a:schemeClr val="tx1"/>
                              </a:solidFill>
                              <a:latin typeface="Cambria Math" panose="02040503050406030204" pitchFamily="18" charset="0"/>
                            </a:rPr>
                            <m:t>2</m:t>
                          </m:r>
                        </m:sup>
                      </m:sSup>
                    </m:oMath>
                  </m:oMathPara>
                </a14:m>
                <a:endParaRPr lang="en-US" sz="1600" dirty="0"/>
              </a:p>
            </p:txBody>
          </p:sp>
        </mc:Choice>
        <mc:Fallback>
          <p:sp>
            <p:nvSpPr>
              <p:cNvPr id="402" name="latex-mode-3"/>
              <p:cNvSpPr txBox="1">
                <a:spLocks noRot="1" noChangeAspect="1" noMove="1" noResize="1" noEditPoints="1" noAdjustHandles="1" noChangeArrowheads="1" noChangeShapeType="1" noTextEdit="1"/>
              </p:cNvSpPr>
              <p:nvPr/>
            </p:nvSpPr>
            <p:spPr>
              <a:xfrm>
                <a:off x="6710172" y="3249168"/>
                <a:ext cx="3541776" cy="268224"/>
              </a:xfrm>
              <a:prstGeom prst="rect">
                <a:avLst/>
              </a:prstGeom>
              <a:blipFill>
                <a:blip r:embed="rId11"/>
                <a:stretch>
                  <a:fillRect l="-2065" t="-18182" r="-1033" b="-43182"/>
                </a:stretch>
              </a:blipFill>
            </p:spPr>
            <p:txBody>
              <a:bodyPr/>
              <a:lstStyle/>
              <a:p>
                <a:r>
                  <a:rPr lang="en-IN">
                    <a:noFill/>
                  </a:rPr>
                  <a:t> </a:t>
                </a:r>
              </a:p>
            </p:txBody>
          </p:sp>
        </mc:Fallback>
      </mc:AlternateContent>
      <p:sp>
        <p:nvSpPr>
          <p:cNvPr id="15" name="step-card-4"/>
          <p:cNvSpPr/>
          <p:nvPr/>
        </p:nvSpPr>
        <p:spPr>
          <a:xfrm>
            <a:off x="548640" y="3831336"/>
            <a:ext cx="11064240" cy="713232"/>
          </a:xfrm>
          <a:prstGeom prst="roundRect">
            <a:avLst>
              <a:gd name="adj" fmla="val 8000"/>
            </a:avLst>
          </a:prstGeom>
          <a:solidFill>
            <a:schemeClr val="bg2"/>
          </a:solidFill>
          <a:ln/>
        </p:spPr>
        <p:txBody>
          <a:bodyPr/>
          <a:lstStyle/>
          <a:p>
            <a:endParaRPr lang="en-IN"/>
          </a:p>
        </p:txBody>
      </p:sp>
      <p:sp>
        <p:nvSpPr>
          <p:cNvPr id="16" name="step-badge-4"/>
          <p:cNvSpPr/>
          <p:nvPr/>
        </p:nvSpPr>
        <p:spPr>
          <a:xfrm>
            <a:off x="777240" y="3995928"/>
            <a:ext cx="384048" cy="384048"/>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bg1"/>
                </a:solidFill>
              </a:rPr>
              <a:t>4</a:t>
            </a:r>
          </a:p>
        </p:txBody>
      </p:sp>
      <p:sp>
        <p:nvSpPr>
          <p:cNvPr id="17" name="step-text-4"/>
          <p:cNvSpPr txBox="1"/>
          <p:nvPr/>
        </p:nvSpPr>
        <p:spPr>
          <a:xfrm>
            <a:off x="1325880" y="3867912"/>
            <a:ext cx="3977640" cy="640080"/>
          </a:xfrm>
          <a:prstGeom prst="rect">
            <a:avLst/>
          </a:prstGeom>
          <a:noFill/>
          <a:ln/>
        </p:spPr>
        <p:txBody>
          <a:bodyPr wrap="square" lIns="0" tIns="0" rIns="0" bIns="0" rtlCol="0" anchor="ctr"/>
          <a:lstStyle/>
          <a:p>
            <a:pPr marL="0" indent="0">
              <a:buNone/>
            </a:pPr>
            <a:r>
              <a:rPr lang="en-US" sz="1400" dirty="0">
                <a:solidFill>
                  <a:schemeClr val="tx1"/>
                </a:solidFill>
              </a:rPr>
              <a:t>θ(L) = 0 and ∫ sin θ ds = 0 need one full period of sn (4K): four quarter-waves</a:t>
            </a:r>
            <a:endParaRPr lang="en-US" sz="1400" dirty="0"/>
          </a:p>
        </p:txBody>
      </p:sp>
      <mc:AlternateContent xmlns:mc="http://schemas.openxmlformats.org/markup-compatibility/2006" xmlns:a14="http://schemas.microsoft.com/office/drawing/2010/main">
        <mc:Choice Requires="a14">
          <p:sp>
            <p:nvSpPr>
              <p:cNvPr id="18" name="latex-mode-4"/>
              <p:cNvSpPr txBox="1"/>
              <p:nvPr/>
            </p:nvSpPr>
            <p:spPr>
              <a:xfrm>
                <a:off x="5532120" y="3867912"/>
                <a:ext cx="5897880" cy="640080"/>
              </a:xfrm>
              <a:prstGeom prst="rect">
                <a:avLst/>
              </a:prstGeom>
              <a:noFill/>
              <a:ln/>
            </p:spPr>
            <p:txBody>
              <a:bodyPr wrap="square" lIns="0" tIns="0" rIns="0" bIns="0" rtlCol="0" anchor="ctr">
                <a:noAutofit/>
              </a:bodyPr>
              <a:lstStyle/>
              <a:p>
                <a:pPr marL="0" indent="0">
                  <a:buNone/>
                </a:pPr>
                <a14:m>
                  <m:oMathPara xmlns:m="http://schemas.openxmlformats.org/officeDocument/2006/math">
                    <m:oMath>
                      <m:r>
                        <a:rPr lang="en-US" sz="1600" i="1" dirty="0" smtClean="0">
                          <a:solidFill>
                            <a:schemeClr val="tx1"/>
                          </a:solidFill>
                          <a:latin typeface="Cambria Math" panose="02040503050406030204" pitchFamily="18" charset="0"/>
                        </a:rPr>
                        <m:t>𝜆</m:t>
                      </m:r>
                      <m:r>
                        <a:rPr lang="en-US" sz="1600" i="1" dirty="0" smtClean="0">
                          <a:solidFill>
                            <a:schemeClr val="tx1"/>
                          </a:solidFill>
                          <a:latin typeface="Cambria Math" panose="02040503050406030204" pitchFamily="18" charset="0"/>
                        </a:rPr>
                        <m:t>𝐿</m:t>
                      </m:r>
                      <m:r>
                        <a:rPr lang="en-US" sz="1600" i="0" dirty="0">
                          <a:solidFill>
                            <a:schemeClr val="tx1"/>
                          </a:solidFill>
                          <a:latin typeface="Cambria Math" panose="02040503050406030204" pitchFamily="18" charset="0"/>
                        </a:rPr>
                        <m:t>=4</m:t>
                      </m:r>
                      <m:r>
                        <a:rPr lang="en-US" sz="1600" i="1" dirty="0">
                          <a:solidFill>
                            <a:schemeClr val="tx1"/>
                          </a:solidFill>
                          <a:latin typeface="Cambria Math" panose="02040503050406030204" pitchFamily="18" charset="0"/>
                        </a:rPr>
                        <m:t>𝐾</m:t>
                      </m:r>
                      <m:d>
                        <m:dPr>
                          <m:ctrlPr>
                            <a:rPr lang="en-US" sz="1600" i="1" dirty="0">
                              <a:solidFill>
                                <a:schemeClr val="tx1"/>
                              </a:solidFill>
                              <a:latin typeface="Cambria Math" panose="02040503050406030204" pitchFamily="18" charset="0"/>
                            </a:rPr>
                          </m:ctrlPr>
                        </m:dPr>
                        <m:e>
                          <m:r>
                            <a:rPr lang="en-US" sz="1600" i="1" dirty="0">
                              <a:solidFill>
                                <a:schemeClr val="tx1"/>
                              </a:solidFill>
                              <a:latin typeface="Cambria Math" panose="02040503050406030204" pitchFamily="18" charset="0"/>
                            </a:rPr>
                            <m:t>𝑚</m:t>
                          </m:r>
                        </m:e>
                      </m:d>
                      <m:r>
                        <a:rPr lang="en-US" sz="1600" i="0" dirty="0">
                          <a:solidFill>
                            <a:schemeClr val="tx1"/>
                          </a:solidFill>
                          <a:latin typeface="Cambria Math" panose="02040503050406030204" pitchFamily="18" charset="0"/>
                        </a:rPr>
                        <m:t> ⇒ </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𝑥</m:t>
                          </m:r>
                        </m:sub>
                      </m:sSub>
                      <m:r>
                        <a:rPr lang="en-US" sz="1600" i="0" dirty="0">
                          <a:solidFill>
                            <a:schemeClr val="tx1"/>
                          </a:solidFill>
                          <a:latin typeface="Cambria Math" panose="02040503050406030204" pitchFamily="18" charset="0"/>
                        </a:rPr>
                        <m:t>=</m:t>
                      </m:r>
                      <m:sSup>
                        <m:sSupPr>
                          <m:ctrlPr>
                            <a:rPr lang="en-US" sz="1600" i="1" dirty="0">
                              <a:solidFill>
                                <a:schemeClr val="tx1"/>
                              </a:solidFill>
                              <a:latin typeface="Cambria Math" panose="02040503050406030204" pitchFamily="18" charset="0"/>
                            </a:rPr>
                          </m:ctrlPr>
                        </m:sSupPr>
                        <m:e>
                          <m:d>
                            <m:dPr>
                              <m:ctrlPr>
                                <a:rPr lang="en-US" sz="1600" i="1" dirty="0">
                                  <a:solidFill>
                                    <a:schemeClr val="tx1"/>
                                  </a:solidFill>
                                  <a:latin typeface="Cambria Math" panose="02040503050406030204" pitchFamily="18" charset="0"/>
                                </a:rPr>
                              </m:ctrlPr>
                            </m:dPr>
                            <m:e>
                              <m:f>
                                <m:fPr>
                                  <m:ctrlPr>
                                    <a:rPr lang="en-US" sz="1600" i="0" dirty="0">
                                      <a:solidFill>
                                        <a:schemeClr val="tx1"/>
                                      </a:solidFill>
                                      <a:latin typeface="Cambria Math" panose="02040503050406030204" pitchFamily="18" charset="0"/>
                                    </a:rPr>
                                  </m:ctrlPr>
                                </m:fPr>
                                <m:num>
                                  <m:r>
                                    <a:rPr lang="en-US" sz="1600" i="0" dirty="0">
                                      <a:solidFill>
                                        <a:schemeClr val="tx1"/>
                                      </a:solidFill>
                                      <a:latin typeface="Cambria Math" panose="02040503050406030204" pitchFamily="18" charset="0"/>
                                    </a:rPr>
                                    <m:t>4</m:t>
                                  </m:r>
                                  <m:r>
                                    <a:rPr lang="en-US" sz="1600" i="1" dirty="0">
                                      <a:solidFill>
                                        <a:schemeClr val="tx1"/>
                                      </a:solidFill>
                                      <a:latin typeface="Cambria Math" panose="02040503050406030204" pitchFamily="18" charset="0"/>
                                    </a:rPr>
                                    <m:t>𝐾</m:t>
                                  </m:r>
                                  <m:d>
                                    <m:dPr>
                                      <m:ctrlPr>
                                        <a:rPr lang="en-US" sz="1600" i="1" dirty="0">
                                          <a:solidFill>
                                            <a:schemeClr val="tx1"/>
                                          </a:solidFill>
                                          <a:latin typeface="Cambria Math" panose="02040503050406030204" pitchFamily="18" charset="0"/>
                                        </a:rPr>
                                      </m:ctrlPr>
                                    </m:dPr>
                                    <m:e>
                                      <m:r>
                                        <a:rPr lang="en-US" sz="1600" i="1" dirty="0">
                                          <a:solidFill>
                                            <a:schemeClr val="tx1"/>
                                          </a:solidFill>
                                          <a:latin typeface="Cambria Math" panose="02040503050406030204" pitchFamily="18" charset="0"/>
                                        </a:rPr>
                                        <m:t>𝑚</m:t>
                                      </m:r>
                                    </m:e>
                                  </m:d>
                                </m:num>
                                <m:den>
                                  <m:r>
                                    <a:rPr lang="en-US" sz="1600" i="1" dirty="0">
                                      <a:solidFill>
                                        <a:schemeClr val="tx1"/>
                                      </a:solidFill>
                                      <a:latin typeface="Cambria Math" panose="02040503050406030204" pitchFamily="18" charset="0"/>
                                    </a:rPr>
                                    <m:t>𝐿</m:t>
                                  </m:r>
                                </m:den>
                              </m:f>
                            </m:e>
                          </m:d>
                        </m:e>
                        <m:sup>
                          <m:r>
                            <a:rPr lang="en-US" sz="1600" i="0" dirty="0">
                              <a:solidFill>
                                <a:schemeClr val="tx1"/>
                              </a:solidFill>
                              <a:latin typeface="Cambria Math" panose="02040503050406030204" pitchFamily="18" charset="0"/>
                            </a:rPr>
                            <m:t>2</m:t>
                          </m:r>
                        </m:sup>
                      </m:sSup>
                    </m:oMath>
                  </m:oMathPara>
                </a14:m>
                <a:endParaRPr lang="en-US" sz="1600" dirty="0"/>
              </a:p>
            </p:txBody>
          </p:sp>
        </mc:Choice>
        <mc:Fallback xmlns="">
          <p:sp>
            <p:nvSpPr>
              <p:cNvPr id="18" name="latex-mode-4"/>
              <p:cNvSpPr txBox="1">
                <a:spLocks noRot="1" noChangeAspect="1" noMove="1" noResize="1" noEditPoints="1" noAdjustHandles="1" noChangeArrowheads="1" noChangeShapeType="1" noTextEdit="1"/>
              </p:cNvSpPr>
              <p:nvPr/>
            </p:nvSpPr>
            <p:spPr>
              <a:xfrm>
                <a:off x="5532120" y="3867912"/>
                <a:ext cx="5897880" cy="640080"/>
              </a:xfrm>
              <a:prstGeom prst="rect">
                <a:avLst/>
              </a:prstGeom>
              <a:blipFill>
                <a:blip r:embed="rId6"/>
                <a:stretch>
                  <a:fillRect/>
                </a:stretch>
              </a:blipFill>
              <a:ln/>
            </p:spPr>
            <p:txBody>
              <a:bodyPr/>
              <a:lstStyle/>
              <a:p>
                <a:r>
                  <a:rPr lang="en-IN">
                    <a:noFill/>
                  </a:rPr>
                  <a:t> </a:t>
                </a:r>
              </a:p>
            </p:txBody>
          </p:sp>
        </mc:Fallback>
      </mc:AlternateContent>
      <p:sp>
        <p:nvSpPr>
          <p:cNvPr id="19" name="step-card-5"/>
          <p:cNvSpPr/>
          <p:nvPr/>
        </p:nvSpPr>
        <p:spPr>
          <a:xfrm>
            <a:off x="548640" y="4636008"/>
            <a:ext cx="11064240" cy="713232"/>
          </a:xfrm>
          <a:prstGeom prst="roundRect">
            <a:avLst>
              <a:gd name="adj" fmla="val 8000"/>
            </a:avLst>
          </a:prstGeom>
          <a:solidFill>
            <a:schemeClr val="bg2"/>
          </a:solidFill>
          <a:ln/>
        </p:spPr>
        <p:txBody>
          <a:bodyPr/>
          <a:lstStyle/>
          <a:p>
            <a:endParaRPr lang="en-IN"/>
          </a:p>
        </p:txBody>
      </p:sp>
      <p:sp>
        <p:nvSpPr>
          <p:cNvPr id="20" name="step-badge-5"/>
          <p:cNvSpPr/>
          <p:nvPr/>
        </p:nvSpPr>
        <p:spPr>
          <a:xfrm>
            <a:off x="777240" y="4800600"/>
            <a:ext cx="384048" cy="384048"/>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bg1"/>
                </a:solidFill>
              </a:rPr>
              <a:t>5</a:t>
            </a:r>
          </a:p>
        </p:txBody>
      </p:sp>
      <p:sp>
        <p:nvSpPr>
          <p:cNvPr id="21" name="step-text-5"/>
          <p:cNvSpPr txBox="1"/>
          <p:nvPr/>
        </p:nvSpPr>
        <p:spPr>
          <a:xfrm>
            <a:off x="1325880" y="4672584"/>
            <a:ext cx="3977640" cy="640080"/>
          </a:xfrm>
          <a:prstGeom prst="rect">
            <a:avLst/>
          </a:prstGeom>
          <a:noFill/>
          <a:ln/>
        </p:spPr>
        <p:txBody>
          <a:bodyPr wrap="square" lIns="0" tIns="0" rIns="0" bIns="0" rtlCol="0" anchor="ctr"/>
          <a:lstStyle/>
          <a:p>
            <a:pPr marL="0" indent="0">
              <a:buNone/>
            </a:pPr>
            <a:r>
              <a:rPr lang="en-US" sz="1400" dirty="0">
                <a:solidFill>
                  <a:schemeClr val="tx1"/>
                </a:solidFill>
              </a:rPr>
              <a:t>The end distance fixes m; d/L falls monotonically in m, so a 1-D root-find is safe</a:t>
            </a:r>
            <a:endParaRPr lang="en-US" sz="1400" dirty="0"/>
          </a:p>
        </p:txBody>
      </p:sp>
      <mc:AlternateContent xmlns:mc="http://schemas.openxmlformats.org/markup-compatibility/2006" xmlns:a14="http://schemas.microsoft.com/office/drawing/2010/main">
        <mc:Choice Requires="a14">
          <p:sp>
            <p:nvSpPr>
              <p:cNvPr id="22" name="latex-mode-5"/>
              <p:cNvSpPr txBox="1"/>
              <p:nvPr/>
            </p:nvSpPr>
            <p:spPr>
              <a:xfrm>
                <a:off x="5532120" y="4672584"/>
                <a:ext cx="5897880" cy="640080"/>
              </a:xfrm>
              <a:prstGeom prst="rect">
                <a:avLst/>
              </a:prstGeom>
              <a:noFill/>
              <a:ln/>
            </p:spPr>
            <p:txBody>
              <a:bodyPr wrap="square" lIns="0" tIns="0" rIns="0" bIns="0" rtlCol="0" anchor="ctr">
                <a:noAutofit/>
              </a:bodyPr>
              <a:lstStyle/>
              <a:p>
                <a:pPr marL="0" indent="0">
                  <a:buNone/>
                </a:pPr>
                <a14:m>
                  <m:oMathPara xmlns:m="http://schemas.openxmlformats.org/officeDocument/2006/math">
                    <m:oMath>
                      <m:f>
                        <m:fPr>
                          <m:ctrlPr>
                            <a:rPr lang="en-US" sz="1600" i="1" dirty="0">
                              <a:solidFill>
                                <a:schemeClr val="tx1"/>
                              </a:solidFill>
                              <a:latin typeface="Cambria Math" panose="02040503050406030204" pitchFamily="18" charset="0"/>
                            </a:rPr>
                          </m:ctrlPr>
                        </m:fPr>
                        <m:num>
                          <m:r>
                            <a:rPr lang="en-US" sz="1600" i="1" dirty="0">
                              <a:solidFill>
                                <a:schemeClr val="tx1"/>
                              </a:solidFill>
                              <a:latin typeface="Cambria Math" panose="02040503050406030204" pitchFamily="18" charset="0"/>
                            </a:rPr>
                            <m:t>𝑑</m:t>
                          </m:r>
                        </m:num>
                        <m:den>
                          <m:r>
                            <a:rPr lang="en-US" sz="1600" i="1" dirty="0">
                              <a:solidFill>
                                <a:schemeClr val="tx1"/>
                              </a:solidFill>
                              <a:latin typeface="Cambria Math" panose="02040503050406030204" pitchFamily="18" charset="0"/>
                            </a:rPr>
                            <m:t>𝐿</m:t>
                          </m:r>
                        </m:den>
                      </m:f>
                      <m:r>
                        <a:rPr lang="en-US" sz="1600" i="0" dirty="0">
                          <a:solidFill>
                            <a:schemeClr val="tx1"/>
                          </a:solidFill>
                          <a:latin typeface="Cambria Math" panose="02040503050406030204" pitchFamily="18" charset="0"/>
                        </a:rPr>
                        <m:t>=</m:t>
                      </m:r>
                      <m:f>
                        <m:fPr>
                          <m:ctrlPr>
                            <a:rPr lang="en-US" sz="1600" i="0" dirty="0">
                              <a:solidFill>
                                <a:schemeClr val="tx1"/>
                              </a:solidFill>
                              <a:latin typeface="Cambria Math" panose="02040503050406030204" pitchFamily="18" charset="0"/>
                            </a:rPr>
                          </m:ctrlPr>
                        </m:fPr>
                        <m:num>
                          <m:r>
                            <a:rPr lang="en-US" sz="1600" i="0" dirty="0">
                              <a:solidFill>
                                <a:schemeClr val="tx1"/>
                              </a:solidFill>
                              <a:latin typeface="Cambria Math" panose="02040503050406030204" pitchFamily="18" charset="0"/>
                            </a:rPr>
                            <m:t>1</m:t>
                          </m:r>
                        </m:num>
                        <m:den>
                          <m:r>
                            <a:rPr lang="en-US" sz="1600" i="1" dirty="0">
                              <a:solidFill>
                                <a:schemeClr val="tx1"/>
                              </a:solidFill>
                              <a:latin typeface="Cambria Math" panose="02040503050406030204" pitchFamily="18" charset="0"/>
                            </a:rPr>
                            <m:t>𝐿</m:t>
                          </m:r>
                        </m:den>
                      </m:f>
                      <m:nary>
                        <m:naryPr>
                          <m:limLoc m:val="subSup"/>
                          <m:ctrlPr>
                            <a:rPr lang="en-US" sz="1600" i="0" dirty="0">
                              <a:solidFill>
                                <a:schemeClr val="tx1"/>
                              </a:solidFill>
                              <a:latin typeface="Cambria Math" panose="02040503050406030204" pitchFamily="18" charset="0"/>
                            </a:rPr>
                          </m:ctrlPr>
                        </m:naryPr>
                        <m:sub>
                          <m:r>
                            <a:rPr lang="en-US" sz="1600" i="0" dirty="0">
                              <a:solidFill>
                                <a:schemeClr val="tx1"/>
                              </a:solidFill>
                              <a:latin typeface="Cambria Math" panose="02040503050406030204" pitchFamily="18" charset="0"/>
                            </a:rPr>
                            <m:t>0</m:t>
                          </m:r>
                        </m:sub>
                        <m:sup>
                          <m:r>
                            <a:rPr lang="en-US" sz="1600" i="1" dirty="0">
                              <a:solidFill>
                                <a:schemeClr val="tx1"/>
                              </a:solidFill>
                              <a:latin typeface="Cambria Math" panose="02040503050406030204" pitchFamily="18" charset="0"/>
                            </a:rPr>
                            <m:t>𝐿</m:t>
                          </m:r>
                        </m:sup>
                        <m:e>
                          <m:func>
                            <m:funcPr>
                              <m:ctrlPr>
                                <a:rPr lang="en-US" sz="1600" i="0" dirty="0">
                                  <a:solidFill>
                                    <a:schemeClr val="tx1"/>
                                  </a:solidFill>
                                  <a:latin typeface="Cambria Math" panose="02040503050406030204" pitchFamily="18" charset="0"/>
                                </a:rPr>
                              </m:ctrlPr>
                            </m:funcPr>
                            <m:fName>
                              <m:r>
                                <m:rPr>
                                  <m:sty m:val="p"/>
                                </m:rPr>
                                <a:rPr lang="en-US" sz="1600" i="0" dirty="0">
                                  <a:solidFill>
                                    <a:schemeClr val="tx1"/>
                                  </a:solidFill>
                                  <a:latin typeface="Cambria Math" panose="02040503050406030204" pitchFamily="18" charset="0"/>
                                </a:rPr>
                                <m:t>cos</m:t>
                              </m:r>
                            </m:fName>
                            <m:e>
                              <m:r>
                                <a:rPr lang="en-US" sz="1600" i="1" dirty="0">
                                  <a:solidFill>
                                    <a:schemeClr val="tx1"/>
                                  </a:solidFill>
                                  <a:latin typeface="Cambria Math" panose="02040503050406030204" pitchFamily="18" charset="0"/>
                                </a:rPr>
                                <m:t>𝜃</m:t>
                              </m:r>
                            </m:e>
                          </m:func>
                        </m:e>
                      </m:nary>
                      <m:r>
                        <a:rPr lang="en-US" sz="1600" i="0"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𝑑𝑠</m:t>
                      </m:r>
                      <m:r>
                        <a:rPr lang="en-US" sz="1600" i="0" dirty="0">
                          <a:solidFill>
                            <a:schemeClr val="tx1"/>
                          </a:solidFill>
                          <a:latin typeface="Cambria Math" panose="02040503050406030204" pitchFamily="18" charset="0"/>
                        </a:rPr>
                        <m:t>=</m:t>
                      </m:r>
                      <m:f>
                        <m:fPr>
                          <m:ctrlPr>
                            <a:rPr lang="en-US" sz="1600" i="0" dirty="0">
                              <a:solidFill>
                                <a:schemeClr val="tx1"/>
                              </a:solidFill>
                              <a:latin typeface="Cambria Math" panose="02040503050406030204" pitchFamily="18" charset="0"/>
                            </a:rPr>
                          </m:ctrlPr>
                        </m:fPr>
                        <m:num>
                          <m:r>
                            <a:rPr lang="en-US" sz="1600" i="0" dirty="0">
                              <a:solidFill>
                                <a:schemeClr val="tx1"/>
                              </a:solidFill>
                              <a:latin typeface="Cambria Math" panose="02040503050406030204" pitchFamily="18" charset="0"/>
                            </a:rPr>
                            <m:t>2</m:t>
                          </m:r>
                          <m:r>
                            <a:rPr lang="en-US" sz="1600" i="1" dirty="0">
                              <a:solidFill>
                                <a:schemeClr val="tx1"/>
                              </a:solidFill>
                              <a:latin typeface="Cambria Math" panose="02040503050406030204" pitchFamily="18" charset="0"/>
                            </a:rPr>
                            <m:t>𝐸</m:t>
                          </m:r>
                          <m:d>
                            <m:dPr>
                              <m:ctrlPr>
                                <a:rPr lang="en-US" sz="1600" i="1" dirty="0">
                                  <a:solidFill>
                                    <a:schemeClr val="tx1"/>
                                  </a:solidFill>
                                  <a:latin typeface="Cambria Math" panose="02040503050406030204" pitchFamily="18" charset="0"/>
                                </a:rPr>
                              </m:ctrlPr>
                            </m:dPr>
                            <m:e>
                              <m:r>
                                <a:rPr lang="en-US" sz="1600" i="1" dirty="0">
                                  <a:solidFill>
                                    <a:schemeClr val="tx1"/>
                                  </a:solidFill>
                                  <a:latin typeface="Cambria Math" panose="02040503050406030204" pitchFamily="18" charset="0"/>
                                </a:rPr>
                                <m:t>𝑚</m:t>
                              </m:r>
                            </m:e>
                          </m:d>
                        </m:num>
                        <m:den>
                          <m:r>
                            <a:rPr lang="en-US" sz="1600" i="1" dirty="0">
                              <a:solidFill>
                                <a:schemeClr val="tx1"/>
                              </a:solidFill>
                              <a:latin typeface="Cambria Math" panose="02040503050406030204" pitchFamily="18" charset="0"/>
                            </a:rPr>
                            <m:t>𝐾</m:t>
                          </m:r>
                          <m:d>
                            <m:dPr>
                              <m:ctrlPr>
                                <a:rPr lang="en-US" sz="1600" i="1" dirty="0">
                                  <a:solidFill>
                                    <a:schemeClr val="tx1"/>
                                  </a:solidFill>
                                  <a:latin typeface="Cambria Math" panose="02040503050406030204" pitchFamily="18" charset="0"/>
                                </a:rPr>
                              </m:ctrlPr>
                            </m:dPr>
                            <m:e>
                              <m:r>
                                <a:rPr lang="en-US" sz="1600" i="1" dirty="0">
                                  <a:solidFill>
                                    <a:schemeClr val="tx1"/>
                                  </a:solidFill>
                                  <a:latin typeface="Cambria Math" panose="02040503050406030204" pitchFamily="18" charset="0"/>
                                </a:rPr>
                                <m:t>𝑚</m:t>
                              </m:r>
                            </m:e>
                          </m:d>
                        </m:den>
                      </m:f>
                      <m:r>
                        <a:rPr lang="en-US" sz="1600" i="0" dirty="0">
                          <a:solidFill>
                            <a:schemeClr val="tx1"/>
                          </a:solidFill>
                          <a:latin typeface="Cambria Math" panose="02040503050406030204" pitchFamily="18" charset="0"/>
                        </a:rPr>
                        <m:t>−1</m:t>
                      </m:r>
                    </m:oMath>
                  </m:oMathPara>
                </a14:m>
                <a:endParaRPr lang="en-US" sz="1600" dirty="0"/>
              </a:p>
            </p:txBody>
          </p:sp>
        </mc:Choice>
        <mc:Fallback xmlns="">
          <p:sp>
            <p:nvSpPr>
              <p:cNvPr id="22" name="latex-mode-5"/>
              <p:cNvSpPr txBox="1">
                <a:spLocks noRot="1" noChangeAspect="1" noMove="1" noResize="1" noEditPoints="1" noAdjustHandles="1" noChangeArrowheads="1" noChangeShapeType="1" noTextEdit="1"/>
              </p:cNvSpPr>
              <p:nvPr/>
            </p:nvSpPr>
            <p:spPr>
              <a:xfrm>
                <a:off x="5532120" y="4672584"/>
                <a:ext cx="5897880" cy="640080"/>
              </a:xfrm>
              <a:prstGeom prst="rect">
                <a:avLst/>
              </a:prstGeom>
              <a:blipFill>
                <a:blip r:embed="rId7"/>
                <a:stretch>
                  <a:fillRect/>
                </a:stretch>
              </a:blipFill>
              <a:ln/>
            </p:spPr>
            <p:txBody>
              <a:bodyPr/>
              <a:lstStyle/>
              <a:p>
                <a:r>
                  <a:rPr lang="en-IN">
                    <a:noFill/>
                  </a:rPr>
                  <a:t> </a:t>
                </a:r>
              </a:p>
            </p:txBody>
          </p:sp>
        </mc:Fallback>
      </mc:AlternateContent>
      <p:sp>
        <p:nvSpPr>
          <p:cNvPr id="23" name="step-card-6"/>
          <p:cNvSpPr/>
          <p:nvPr/>
        </p:nvSpPr>
        <p:spPr>
          <a:xfrm>
            <a:off x="548640" y="5440680"/>
            <a:ext cx="11064240" cy="713232"/>
          </a:xfrm>
          <a:prstGeom prst="roundRect">
            <a:avLst>
              <a:gd name="adj" fmla="val 8000"/>
            </a:avLst>
          </a:prstGeom>
          <a:solidFill>
            <a:schemeClr val="bg2"/>
          </a:solidFill>
          <a:ln/>
        </p:spPr>
        <p:txBody>
          <a:bodyPr/>
          <a:lstStyle/>
          <a:p>
            <a:endParaRPr lang="en-IN"/>
          </a:p>
        </p:txBody>
      </p:sp>
      <p:sp>
        <p:nvSpPr>
          <p:cNvPr id="24" name="step-badge-6"/>
          <p:cNvSpPr/>
          <p:nvPr/>
        </p:nvSpPr>
        <p:spPr>
          <a:xfrm>
            <a:off x="777240" y="5605272"/>
            <a:ext cx="384048" cy="384048"/>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bg1"/>
                </a:solidFill>
              </a:rPr>
              <a:t>6</a:t>
            </a:r>
          </a:p>
        </p:txBody>
      </p:sp>
      <p:sp>
        <p:nvSpPr>
          <p:cNvPr id="25" name="step-text-6"/>
          <p:cNvSpPr txBox="1"/>
          <p:nvPr/>
        </p:nvSpPr>
        <p:spPr>
          <a:xfrm>
            <a:off x="1325880" y="5477256"/>
            <a:ext cx="3977640" cy="640080"/>
          </a:xfrm>
          <a:prstGeom prst="rect">
            <a:avLst/>
          </a:prstGeom>
          <a:noFill/>
          <a:ln/>
        </p:spPr>
        <p:txBody>
          <a:bodyPr wrap="square" lIns="0" tIns="0" rIns="0" bIns="0" rtlCol="0" anchor="ctr"/>
          <a:lstStyle/>
          <a:p>
            <a:pPr marL="0" indent="0">
              <a:buNone/>
            </a:pPr>
            <a:r>
              <a:rPr lang="en-US" sz="1400" dirty="0">
                <a:solidFill>
                  <a:schemeClr val="tx1"/>
                </a:solidFill>
              </a:rPr>
              <a:t>Small bow, m → 0: the A sin(2πs/L) shape with A = 2√(1 − d/L), and the Euler load</a:t>
            </a:r>
          </a:p>
        </p:txBody>
      </p:sp>
      <mc:AlternateContent xmlns:mc="http://schemas.openxmlformats.org/markup-compatibility/2006" xmlns:a14="http://schemas.microsoft.com/office/drawing/2010/main">
        <mc:Choice Requires="a14">
          <p:sp>
            <p:nvSpPr>
              <p:cNvPr id="26" name="latex-mode-6"/>
              <p:cNvSpPr txBox="1"/>
              <p:nvPr/>
            </p:nvSpPr>
            <p:spPr>
              <a:xfrm>
                <a:off x="5532120" y="5477256"/>
                <a:ext cx="5897880" cy="640080"/>
              </a:xfrm>
              <a:prstGeom prst="rect">
                <a:avLst/>
              </a:prstGeom>
              <a:noFill/>
              <a:ln/>
            </p:spPr>
            <p:txBody>
              <a:bodyPr wrap="square" lIns="0" tIns="0" rIns="0" bIns="0" rtlCol="0" anchor="ctr">
                <a:noAutofit/>
              </a:bodyPr>
              <a:lstStyle/>
              <a:p>
                <a:pPr marL="0" indent="0">
                  <a:buNone/>
                </a:pPr>
                <a14:m>
                  <m:oMathPara xmlns:m="http://schemas.openxmlformats.org/officeDocument/2006/math">
                    <m:oMath>
                      <m:r>
                        <a:rPr lang="en-US" sz="1600" i="1" dirty="0" smtClean="0">
                          <a:solidFill>
                            <a:schemeClr val="tx1"/>
                          </a:solidFill>
                          <a:latin typeface="Cambria Math" panose="02040503050406030204" pitchFamily="18" charset="0"/>
                        </a:rPr>
                        <m:t>𝜃</m:t>
                      </m:r>
                      <m:r>
                        <a:rPr lang="en-US" sz="1600" i="0" dirty="0">
                          <a:solidFill>
                            <a:schemeClr val="tx1"/>
                          </a:solidFill>
                          <a:latin typeface="Cambria Math" panose="02040503050406030204" pitchFamily="18" charset="0"/>
                        </a:rPr>
                        <m:t>≈2</m:t>
                      </m:r>
                      <m:rad>
                        <m:radPr>
                          <m:degHide m:val="on"/>
                          <m:ctrlPr>
                            <a:rPr lang="en-US" sz="1600" i="1" dirty="0">
                              <a:solidFill>
                                <a:schemeClr val="tx1"/>
                              </a:solidFill>
                              <a:latin typeface="Cambria Math" panose="02040503050406030204" pitchFamily="18" charset="0"/>
                            </a:rPr>
                          </m:ctrlPr>
                        </m:radPr>
                        <m:deg/>
                        <m:e>
                          <m:r>
                            <a:rPr lang="en-US" sz="1600" i="1" dirty="0">
                              <a:solidFill>
                                <a:schemeClr val="tx1"/>
                              </a:solidFill>
                              <a:latin typeface="Cambria Math" panose="02040503050406030204" pitchFamily="18" charset="0"/>
                            </a:rPr>
                            <m:t>𝑚</m:t>
                          </m:r>
                        </m:e>
                      </m:rad>
                      <m:r>
                        <a:rPr lang="en-US" sz="1600" i="0" dirty="0">
                          <a:solidFill>
                            <a:schemeClr val="tx1"/>
                          </a:solidFill>
                          <a:latin typeface="Cambria Math" panose="02040503050406030204" pitchFamily="18" charset="0"/>
                        </a:rPr>
                        <m:t> </m:t>
                      </m:r>
                      <m:func>
                        <m:funcPr>
                          <m:ctrlPr>
                            <a:rPr lang="en-US" sz="1600" i="0" dirty="0">
                              <a:solidFill>
                                <a:schemeClr val="tx1"/>
                              </a:solidFill>
                              <a:latin typeface="Cambria Math" panose="02040503050406030204" pitchFamily="18" charset="0"/>
                            </a:rPr>
                          </m:ctrlPr>
                        </m:funcPr>
                        <m:fName>
                          <m:r>
                            <m:rPr>
                              <m:sty m:val="p"/>
                            </m:rPr>
                            <a:rPr lang="en-US" sz="1600" i="0" dirty="0">
                              <a:solidFill>
                                <a:schemeClr val="tx1"/>
                              </a:solidFill>
                              <a:latin typeface="Cambria Math" panose="02040503050406030204" pitchFamily="18" charset="0"/>
                            </a:rPr>
                            <m:t>sin</m:t>
                          </m:r>
                        </m:fName>
                        <m:e>
                          <m:f>
                            <m:fPr>
                              <m:ctrlPr>
                                <a:rPr lang="en-US" sz="1600" i="0" dirty="0">
                                  <a:solidFill>
                                    <a:schemeClr val="tx1"/>
                                  </a:solidFill>
                                  <a:latin typeface="Cambria Math" panose="02040503050406030204" pitchFamily="18" charset="0"/>
                                </a:rPr>
                              </m:ctrlPr>
                            </m:fPr>
                            <m:num>
                              <m:r>
                                <a:rPr lang="en-US" sz="1600" i="0" dirty="0">
                                  <a:solidFill>
                                    <a:schemeClr val="tx1"/>
                                  </a:solidFill>
                                  <a:latin typeface="Cambria Math" panose="02040503050406030204" pitchFamily="18" charset="0"/>
                                </a:rPr>
                                <m:t>2</m:t>
                              </m:r>
                              <m:r>
                                <a:rPr lang="en-US" sz="1600" i="1" dirty="0">
                                  <a:solidFill>
                                    <a:schemeClr val="tx1"/>
                                  </a:solidFill>
                                  <a:latin typeface="Cambria Math" panose="02040503050406030204" pitchFamily="18" charset="0"/>
                                </a:rPr>
                                <m:t>𝜋</m:t>
                              </m:r>
                              <m:r>
                                <a:rPr lang="en-US" sz="1600" i="1" dirty="0">
                                  <a:solidFill>
                                    <a:schemeClr val="tx1"/>
                                  </a:solidFill>
                                  <a:latin typeface="Cambria Math" panose="02040503050406030204" pitchFamily="18" charset="0"/>
                                </a:rPr>
                                <m:t>𝑠</m:t>
                              </m:r>
                            </m:num>
                            <m:den>
                              <m:r>
                                <a:rPr lang="en-US" sz="1600" i="1" dirty="0">
                                  <a:solidFill>
                                    <a:schemeClr val="tx1"/>
                                  </a:solidFill>
                                  <a:latin typeface="Cambria Math" panose="02040503050406030204" pitchFamily="18" charset="0"/>
                                </a:rPr>
                                <m:t>𝐿</m:t>
                              </m:r>
                            </m:den>
                          </m:f>
                        </m:e>
                      </m:func>
                      <m:r>
                        <a:rPr lang="en-US" sz="1600" i="0"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𝑚</m:t>
                      </m:r>
                      <m:r>
                        <a:rPr lang="en-US" sz="1600" i="0" dirty="0">
                          <a:solidFill>
                            <a:schemeClr val="tx1"/>
                          </a:solidFill>
                          <a:latin typeface="Cambria Math" panose="02040503050406030204" pitchFamily="18" charset="0"/>
                        </a:rPr>
                        <m:t>≈1−</m:t>
                      </m:r>
                      <m:f>
                        <m:fPr>
                          <m:ctrlPr>
                            <a:rPr lang="en-US" sz="1600" i="1" dirty="0">
                              <a:solidFill>
                                <a:schemeClr val="tx1"/>
                              </a:solidFill>
                              <a:latin typeface="Cambria Math" panose="02040503050406030204" pitchFamily="18" charset="0"/>
                            </a:rPr>
                          </m:ctrlPr>
                        </m:fPr>
                        <m:num>
                          <m:r>
                            <a:rPr lang="en-US" sz="1600" i="1" dirty="0">
                              <a:solidFill>
                                <a:schemeClr val="tx1"/>
                              </a:solidFill>
                              <a:latin typeface="Cambria Math" panose="02040503050406030204" pitchFamily="18" charset="0"/>
                            </a:rPr>
                            <m:t>𝑑</m:t>
                          </m:r>
                        </m:num>
                        <m:den>
                          <m:r>
                            <a:rPr lang="en-US" sz="1600" i="1" dirty="0">
                              <a:solidFill>
                                <a:schemeClr val="tx1"/>
                              </a:solidFill>
                              <a:latin typeface="Cambria Math" panose="02040503050406030204" pitchFamily="18" charset="0"/>
                            </a:rPr>
                            <m:t>𝐿</m:t>
                          </m:r>
                        </m:den>
                      </m:f>
                      <m:r>
                        <a:rPr lang="en-US" sz="1600" i="0" dirty="0">
                          <a:solidFill>
                            <a:schemeClr val="tx1"/>
                          </a:solidFill>
                          <a:latin typeface="Cambria Math" panose="02040503050406030204" pitchFamily="18" charset="0"/>
                        </a:rPr>
                        <m:t>, </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𝑥</m:t>
                          </m:r>
                        </m:sub>
                      </m:sSub>
                      <m:r>
                        <a:rPr lang="en-US" sz="1600" i="0" dirty="0">
                          <a:solidFill>
                            <a:schemeClr val="tx1"/>
                          </a:solidFill>
                          <a:latin typeface="Cambria Math" panose="02040503050406030204" pitchFamily="18" charset="0"/>
                        </a:rPr>
                        <m:t>→</m:t>
                      </m:r>
                      <m:f>
                        <m:fPr>
                          <m:ctrlPr>
                            <a:rPr lang="en-US" sz="1600" i="0" dirty="0">
                              <a:solidFill>
                                <a:schemeClr val="tx1"/>
                              </a:solidFill>
                              <a:latin typeface="Cambria Math" panose="02040503050406030204" pitchFamily="18" charset="0"/>
                            </a:rPr>
                          </m:ctrlPr>
                        </m:fPr>
                        <m:num>
                          <m:r>
                            <a:rPr lang="en-US" sz="1600" i="0" dirty="0">
                              <a:solidFill>
                                <a:schemeClr val="tx1"/>
                              </a:solidFill>
                              <a:latin typeface="Cambria Math" panose="02040503050406030204" pitchFamily="18" charset="0"/>
                            </a:rPr>
                            <m:t>4</m:t>
                          </m:r>
                          <m:sSup>
                            <m:sSupPr>
                              <m:ctrlPr>
                                <a:rPr lang="en-US" sz="1600" i="1" dirty="0">
                                  <a:solidFill>
                                    <a:schemeClr val="tx1"/>
                                  </a:solidFill>
                                  <a:latin typeface="Cambria Math" panose="02040503050406030204" pitchFamily="18" charset="0"/>
                                </a:rPr>
                              </m:ctrlPr>
                            </m:sSupPr>
                            <m:e>
                              <m:r>
                                <a:rPr lang="en-US" sz="1600" i="1" dirty="0">
                                  <a:solidFill>
                                    <a:schemeClr val="tx1"/>
                                  </a:solidFill>
                                  <a:latin typeface="Cambria Math" panose="02040503050406030204" pitchFamily="18" charset="0"/>
                                </a:rPr>
                                <m:t>𝜋</m:t>
                              </m:r>
                            </m:e>
                            <m:sup>
                              <m:r>
                                <a:rPr lang="en-US" sz="1600" i="0" dirty="0">
                                  <a:solidFill>
                                    <a:schemeClr val="tx1"/>
                                  </a:solidFill>
                                  <a:latin typeface="Cambria Math" panose="02040503050406030204" pitchFamily="18" charset="0"/>
                                </a:rPr>
                                <m:t>2</m:t>
                              </m:r>
                            </m:sup>
                          </m:sSup>
                        </m:num>
                        <m:den>
                          <m:sSup>
                            <m:sSupPr>
                              <m:ctrlPr>
                                <a:rPr lang="en-US" sz="1600" i="1" dirty="0">
                                  <a:solidFill>
                                    <a:schemeClr val="tx1"/>
                                  </a:solidFill>
                                  <a:latin typeface="Cambria Math" panose="02040503050406030204" pitchFamily="18" charset="0"/>
                                </a:rPr>
                              </m:ctrlPr>
                            </m:sSupPr>
                            <m:e>
                              <m:r>
                                <a:rPr lang="en-US" sz="1600" i="1" dirty="0">
                                  <a:solidFill>
                                    <a:schemeClr val="tx1"/>
                                  </a:solidFill>
                                  <a:latin typeface="Cambria Math" panose="02040503050406030204" pitchFamily="18" charset="0"/>
                                </a:rPr>
                                <m:t>𝐿</m:t>
                              </m:r>
                            </m:e>
                            <m:sup>
                              <m:r>
                                <a:rPr lang="en-US" sz="1600" i="0" dirty="0">
                                  <a:solidFill>
                                    <a:schemeClr val="tx1"/>
                                  </a:solidFill>
                                  <a:latin typeface="Cambria Math" panose="02040503050406030204" pitchFamily="18" charset="0"/>
                                </a:rPr>
                                <m:t>2</m:t>
                              </m:r>
                            </m:sup>
                          </m:sSup>
                        </m:den>
                      </m:f>
                    </m:oMath>
                  </m:oMathPara>
                </a14:m>
                <a:endParaRPr lang="en-US" sz="1600" dirty="0"/>
              </a:p>
            </p:txBody>
          </p:sp>
        </mc:Choice>
        <mc:Fallback xmlns="">
          <p:sp>
            <p:nvSpPr>
              <p:cNvPr id="26" name="latex-mode-6"/>
              <p:cNvSpPr txBox="1">
                <a:spLocks noRot="1" noChangeAspect="1" noMove="1" noResize="1" noEditPoints="1" noAdjustHandles="1" noChangeArrowheads="1" noChangeShapeType="1" noTextEdit="1"/>
              </p:cNvSpPr>
              <p:nvPr/>
            </p:nvSpPr>
            <p:spPr>
              <a:xfrm>
                <a:off x="5532120" y="5477256"/>
                <a:ext cx="5897880" cy="640080"/>
              </a:xfrm>
              <a:prstGeom prst="rect">
                <a:avLst/>
              </a:prstGeom>
              <a:blipFill>
                <a:blip r:embed="rId8"/>
                <a:stretch>
                  <a:fillRect/>
                </a:stretch>
              </a:blipFill>
              <a:ln/>
            </p:spPr>
            <p:txBody>
              <a:bodyPr/>
              <a:lstStyle/>
              <a:p>
                <a:r>
                  <a:rPr lang="en-IN">
                    <a:noFill/>
                  </a:rPr>
                  <a:t> </a:t>
                </a:r>
              </a:p>
            </p:txBody>
          </p:sp>
        </mc:Fallback>
      </mc:AlternateContent>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18</a:t>
            </a:fld>
            <a:endParaRPr lang="en-US"/>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396FF2F9-779B-490F-DB57-7E5494C00183}"/>
                  </a:ext>
                </a:extLst>
              </p:cNvPr>
              <p:cNvSpPr txBox="1"/>
              <p:nvPr/>
            </p:nvSpPr>
            <p:spPr>
              <a:xfrm>
                <a:off x="6308123" y="6272086"/>
                <a:ext cx="4460789" cy="492699"/>
              </a:xfrm>
              <a:prstGeom prst="rect">
                <a:avLst/>
              </a:prstGeom>
              <a:noFill/>
            </p:spPr>
            <p:txBody>
              <a:bodyPr wrap="square">
                <a:spAutoFit/>
              </a:bodyPr>
              <a:lstStyle/>
              <a:p>
                <a:pPr/>
                <a14:m>
                  <m:oMathPara xmlns:m="http://schemas.openxmlformats.org/officeDocument/2006/math">
                    <m:oMath>
                      <m:r>
                        <a:rPr lang="en-GB" sz="1050" i="1" smtClean="0">
                          <a:solidFill>
                            <a:schemeClr val="bg1">
                              <a:lumMod val="65000"/>
                            </a:schemeClr>
                          </a:solidFill>
                          <a:latin typeface="Cambria Math" panose="02040503050406030204" pitchFamily="18" charset="0"/>
                        </a:rPr>
                        <m:t>𝐾</m:t>
                      </m:r>
                      <m:d>
                        <m:dPr>
                          <m:ctrlPr>
                            <a:rPr lang="en-GB" sz="1050" i="1">
                              <a:solidFill>
                                <a:schemeClr val="bg1">
                                  <a:lumMod val="65000"/>
                                </a:schemeClr>
                              </a:solidFill>
                              <a:latin typeface="Cambria Math" panose="02040503050406030204" pitchFamily="18" charset="0"/>
                            </a:rPr>
                          </m:ctrlPr>
                        </m:dPr>
                        <m:e>
                          <m:r>
                            <a:rPr lang="en-GB" sz="1050" i="1">
                              <a:solidFill>
                                <a:schemeClr val="bg1">
                                  <a:lumMod val="65000"/>
                                </a:schemeClr>
                              </a:solidFill>
                              <a:latin typeface="Cambria Math" panose="02040503050406030204" pitchFamily="18" charset="0"/>
                            </a:rPr>
                            <m:t>𝑚</m:t>
                          </m:r>
                        </m:e>
                      </m:d>
                      <m:r>
                        <a:rPr lang="en-GB" sz="1050" i="0">
                          <a:solidFill>
                            <a:schemeClr val="bg1">
                              <a:lumMod val="65000"/>
                            </a:schemeClr>
                          </a:solidFill>
                          <a:latin typeface="Cambria Math" panose="02040503050406030204" pitchFamily="18" charset="0"/>
                        </a:rPr>
                        <m:t>=</m:t>
                      </m:r>
                      <m:nary>
                        <m:naryPr>
                          <m:limLoc m:val="subSup"/>
                          <m:ctrlPr>
                            <a:rPr lang="en-GB" sz="1050" i="0">
                              <a:solidFill>
                                <a:schemeClr val="bg1">
                                  <a:lumMod val="65000"/>
                                </a:schemeClr>
                              </a:solidFill>
                              <a:latin typeface="Cambria Math" panose="02040503050406030204" pitchFamily="18" charset="0"/>
                            </a:rPr>
                          </m:ctrlPr>
                        </m:naryPr>
                        <m:sub>
                          <m:r>
                            <a:rPr lang="en-GB" sz="1050" i="0">
                              <a:solidFill>
                                <a:schemeClr val="bg1">
                                  <a:lumMod val="65000"/>
                                </a:schemeClr>
                              </a:solidFill>
                              <a:latin typeface="Cambria Math" panose="02040503050406030204" pitchFamily="18" charset="0"/>
                            </a:rPr>
                            <m:t>0</m:t>
                          </m:r>
                        </m:sub>
                        <m:sup>
                          <m:r>
                            <a:rPr lang="en-GB" sz="1050" i="1">
                              <a:solidFill>
                                <a:schemeClr val="bg1">
                                  <a:lumMod val="65000"/>
                                </a:schemeClr>
                              </a:solidFill>
                              <a:latin typeface="Cambria Math" panose="02040503050406030204" pitchFamily="18" charset="0"/>
                            </a:rPr>
                            <m:t>𝜋</m:t>
                          </m:r>
                          <m:r>
                            <a:rPr lang="en-GB" sz="1050" i="0">
                              <a:solidFill>
                                <a:schemeClr val="bg1">
                                  <a:lumMod val="65000"/>
                                </a:schemeClr>
                              </a:solidFill>
                              <a:latin typeface="Cambria Math" panose="02040503050406030204" pitchFamily="18" charset="0"/>
                            </a:rPr>
                            <m:t>/2</m:t>
                          </m:r>
                        </m:sup>
                        <m:e>
                          <m:f>
                            <m:fPr>
                              <m:ctrlPr>
                                <a:rPr lang="en-GB" sz="1050" i="1">
                                  <a:solidFill>
                                    <a:schemeClr val="bg1">
                                      <a:lumMod val="65000"/>
                                    </a:schemeClr>
                                  </a:solidFill>
                                  <a:latin typeface="Cambria Math" panose="02040503050406030204" pitchFamily="18" charset="0"/>
                                </a:rPr>
                              </m:ctrlPr>
                            </m:fPr>
                            <m:num>
                              <m:r>
                                <a:rPr lang="en-GB" sz="1050" i="1">
                                  <a:solidFill>
                                    <a:schemeClr val="bg1">
                                      <a:lumMod val="65000"/>
                                    </a:schemeClr>
                                  </a:solidFill>
                                  <a:latin typeface="Cambria Math" panose="02040503050406030204" pitchFamily="18" charset="0"/>
                                </a:rPr>
                                <m:t>𝑑</m:t>
                              </m:r>
                              <m:r>
                                <a:rPr lang="en-GB" sz="1050" i="1">
                                  <a:solidFill>
                                    <a:schemeClr val="bg1">
                                      <a:lumMod val="65000"/>
                                    </a:schemeClr>
                                  </a:solidFill>
                                  <a:latin typeface="Cambria Math" panose="02040503050406030204" pitchFamily="18" charset="0"/>
                                </a:rPr>
                                <m:t>𝜓</m:t>
                              </m:r>
                            </m:num>
                            <m:den>
                              <m:rad>
                                <m:radPr>
                                  <m:degHide m:val="on"/>
                                  <m:ctrlPr>
                                    <a:rPr lang="en-GB" sz="1050" i="1">
                                      <a:solidFill>
                                        <a:schemeClr val="bg1">
                                          <a:lumMod val="65000"/>
                                        </a:schemeClr>
                                      </a:solidFill>
                                      <a:latin typeface="Cambria Math" panose="02040503050406030204" pitchFamily="18" charset="0"/>
                                    </a:rPr>
                                  </m:ctrlPr>
                                </m:radPr>
                                <m:deg/>
                                <m:e>
                                  <m:r>
                                    <a:rPr lang="en-GB" sz="1050" i="0">
                                      <a:solidFill>
                                        <a:schemeClr val="bg1">
                                          <a:lumMod val="65000"/>
                                        </a:schemeClr>
                                      </a:solidFill>
                                      <a:latin typeface="Cambria Math" panose="02040503050406030204" pitchFamily="18" charset="0"/>
                                    </a:rPr>
                                    <m:t>1−</m:t>
                                  </m:r>
                                  <m:r>
                                    <a:rPr lang="en-GB" sz="1050" i="1">
                                      <a:solidFill>
                                        <a:schemeClr val="bg1">
                                          <a:lumMod val="65000"/>
                                        </a:schemeClr>
                                      </a:solidFill>
                                      <a:latin typeface="Cambria Math" panose="02040503050406030204" pitchFamily="18" charset="0"/>
                                    </a:rPr>
                                    <m:t>𝑚</m:t>
                                  </m:r>
                                  <m:func>
                                    <m:funcPr>
                                      <m:ctrlPr>
                                        <a:rPr lang="en-GB" sz="1050" i="1">
                                          <a:solidFill>
                                            <a:schemeClr val="bg1">
                                              <a:lumMod val="65000"/>
                                            </a:schemeClr>
                                          </a:solidFill>
                                          <a:latin typeface="Cambria Math" panose="02040503050406030204" pitchFamily="18" charset="0"/>
                                        </a:rPr>
                                      </m:ctrlPr>
                                    </m:funcPr>
                                    <m:fName>
                                      <m:sSup>
                                        <m:sSupPr>
                                          <m:ctrlPr>
                                            <a:rPr lang="en-GB" sz="1050" i="0">
                                              <a:solidFill>
                                                <a:schemeClr val="bg1">
                                                  <a:lumMod val="65000"/>
                                                </a:schemeClr>
                                              </a:solidFill>
                                              <a:latin typeface="Cambria Math" panose="02040503050406030204" pitchFamily="18" charset="0"/>
                                            </a:rPr>
                                          </m:ctrlPr>
                                        </m:sSupPr>
                                        <m:e>
                                          <m:r>
                                            <m:rPr>
                                              <m:sty m:val="p"/>
                                            </m:rPr>
                                            <a:rPr lang="en-GB" sz="1050" i="0">
                                              <a:solidFill>
                                                <a:schemeClr val="bg1">
                                                  <a:lumMod val="65000"/>
                                                </a:schemeClr>
                                              </a:solidFill>
                                              <a:latin typeface="Cambria Math" panose="02040503050406030204" pitchFamily="18" charset="0"/>
                                            </a:rPr>
                                            <m:t>sin</m:t>
                                          </m:r>
                                        </m:e>
                                        <m:sup>
                                          <m:r>
                                            <a:rPr lang="en-GB" sz="1050" i="0">
                                              <a:solidFill>
                                                <a:schemeClr val="bg1">
                                                  <a:lumMod val="65000"/>
                                                </a:schemeClr>
                                              </a:solidFill>
                                              <a:latin typeface="Cambria Math" panose="02040503050406030204" pitchFamily="18" charset="0"/>
                                            </a:rPr>
                                            <m:t>2</m:t>
                                          </m:r>
                                        </m:sup>
                                      </m:sSup>
                                    </m:fName>
                                    <m:e>
                                      <m:r>
                                        <a:rPr lang="en-GB" sz="1050" i="1">
                                          <a:solidFill>
                                            <a:schemeClr val="bg1">
                                              <a:lumMod val="65000"/>
                                            </a:schemeClr>
                                          </a:solidFill>
                                          <a:latin typeface="Cambria Math" panose="02040503050406030204" pitchFamily="18" charset="0"/>
                                        </a:rPr>
                                        <m:t>𝜓</m:t>
                                      </m:r>
                                    </m:e>
                                  </m:func>
                                </m:e>
                              </m:rad>
                            </m:den>
                          </m:f>
                        </m:e>
                      </m:nary>
                      <m:r>
                        <a:rPr lang="en-GB" sz="1050" i="0">
                          <a:solidFill>
                            <a:schemeClr val="bg1">
                              <a:lumMod val="65000"/>
                            </a:schemeClr>
                          </a:solidFill>
                          <a:latin typeface="Cambria Math" panose="02040503050406030204" pitchFamily="18" charset="0"/>
                        </a:rPr>
                        <m:t>,  </m:t>
                      </m:r>
                      <m:r>
                        <a:rPr lang="en-GB" sz="1050" i="1">
                          <a:solidFill>
                            <a:schemeClr val="bg1">
                              <a:lumMod val="65000"/>
                            </a:schemeClr>
                          </a:solidFill>
                          <a:latin typeface="Cambria Math" panose="02040503050406030204" pitchFamily="18" charset="0"/>
                        </a:rPr>
                        <m:t>𝐸</m:t>
                      </m:r>
                      <m:d>
                        <m:dPr>
                          <m:ctrlPr>
                            <a:rPr lang="en-GB" sz="1050" i="1">
                              <a:solidFill>
                                <a:schemeClr val="bg1">
                                  <a:lumMod val="65000"/>
                                </a:schemeClr>
                              </a:solidFill>
                              <a:latin typeface="Cambria Math" panose="02040503050406030204" pitchFamily="18" charset="0"/>
                            </a:rPr>
                          </m:ctrlPr>
                        </m:dPr>
                        <m:e>
                          <m:r>
                            <a:rPr lang="en-GB" sz="1050" i="1">
                              <a:solidFill>
                                <a:schemeClr val="bg1">
                                  <a:lumMod val="65000"/>
                                </a:schemeClr>
                              </a:solidFill>
                              <a:latin typeface="Cambria Math" panose="02040503050406030204" pitchFamily="18" charset="0"/>
                            </a:rPr>
                            <m:t>𝑚</m:t>
                          </m:r>
                        </m:e>
                      </m:d>
                      <m:r>
                        <a:rPr lang="en-GB" sz="1050" i="0">
                          <a:solidFill>
                            <a:schemeClr val="bg1">
                              <a:lumMod val="65000"/>
                            </a:schemeClr>
                          </a:solidFill>
                          <a:latin typeface="Cambria Math" panose="02040503050406030204" pitchFamily="18" charset="0"/>
                        </a:rPr>
                        <m:t>=</m:t>
                      </m:r>
                      <m:nary>
                        <m:naryPr>
                          <m:limLoc m:val="subSup"/>
                          <m:ctrlPr>
                            <a:rPr lang="en-GB" sz="1050" i="0">
                              <a:solidFill>
                                <a:schemeClr val="bg1">
                                  <a:lumMod val="65000"/>
                                </a:schemeClr>
                              </a:solidFill>
                              <a:latin typeface="Cambria Math" panose="02040503050406030204" pitchFamily="18" charset="0"/>
                            </a:rPr>
                          </m:ctrlPr>
                        </m:naryPr>
                        <m:sub>
                          <m:r>
                            <a:rPr lang="en-GB" sz="1050" i="0">
                              <a:solidFill>
                                <a:schemeClr val="bg1">
                                  <a:lumMod val="65000"/>
                                </a:schemeClr>
                              </a:solidFill>
                              <a:latin typeface="Cambria Math" panose="02040503050406030204" pitchFamily="18" charset="0"/>
                            </a:rPr>
                            <m:t>0</m:t>
                          </m:r>
                        </m:sub>
                        <m:sup>
                          <m:r>
                            <a:rPr lang="en-GB" sz="1050" i="1">
                              <a:solidFill>
                                <a:schemeClr val="bg1">
                                  <a:lumMod val="65000"/>
                                </a:schemeClr>
                              </a:solidFill>
                              <a:latin typeface="Cambria Math" panose="02040503050406030204" pitchFamily="18" charset="0"/>
                            </a:rPr>
                            <m:t>𝜋</m:t>
                          </m:r>
                          <m:r>
                            <a:rPr lang="en-GB" sz="1050" i="0">
                              <a:solidFill>
                                <a:schemeClr val="bg1">
                                  <a:lumMod val="65000"/>
                                </a:schemeClr>
                              </a:solidFill>
                              <a:latin typeface="Cambria Math" panose="02040503050406030204" pitchFamily="18" charset="0"/>
                            </a:rPr>
                            <m:t>/2</m:t>
                          </m:r>
                        </m:sup>
                        <m:e>
                          <m:rad>
                            <m:radPr>
                              <m:degHide m:val="on"/>
                              <m:ctrlPr>
                                <a:rPr lang="en-GB" sz="1050" i="1">
                                  <a:solidFill>
                                    <a:schemeClr val="bg1">
                                      <a:lumMod val="65000"/>
                                    </a:schemeClr>
                                  </a:solidFill>
                                  <a:latin typeface="Cambria Math" panose="02040503050406030204" pitchFamily="18" charset="0"/>
                                </a:rPr>
                              </m:ctrlPr>
                            </m:radPr>
                            <m:deg/>
                            <m:e>
                              <m:r>
                                <a:rPr lang="en-GB" sz="1050" i="0">
                                  <a:solidFill>
                                    <a:schemeClr val="bg1">
                                      <a:lumMod val="65000"/>
                                    </a:schemeClr>
                                  </a:solidFill>
                                  <a:latin typeface="Cambria Math" panose="02040503050406030204" pitchFamily="18" charset="0"/>
                                </a:rPr>
                                <m:t>1−</m:t>
                              </m:r>
                              <m:r>
                                <a:rPr lang="en-GB" sz="1050" i="1">
                                  <a:solidFill>
                                    <a:schemeClr val="bg1">
                                      <a:lumMod val="65000"/>
                                    </a:schemeClr>
                                  </a:solidFill>
                                  <a:latin typeface="Cambria Math" panose="02040503050406030204" pitchFamily="18" charset="0"/>
                                </a:rPr>
                                <m:t>𝑚</m:t>
                              </m:r>
                              <m:func>
                                <m:funcPr>
                                  <m:ctrlPr>
                                    <a:rPr lang="en-GB" sz="1050" i="1">
                                      <a:solidFill>
                                        <a:schemeClr val="bg1">
                                          <a:lumMod val="65000"/>
                                        </a:schemeClr>
                                      </a:solidFill>
                                      <a:latin typeface="Cambria Math" panose="02040503050406030204" pitchFamily="18" charset="0"/>
                                    </a:rPr>
                                  </m:ctrlPr>
                                </m:funcPr>
                                <m:fName>
                                  <m:sSup>
                                    <m:sSupPr>
                                      <m:ctrlPr>
                                        <a:rPr lang="en-GB" sz="1050" i="0">
                                          <a:solidFill>
                                            <a:schemeClr val="bg1">
                                              <a:lumMod val="65000"/>
                                            </a:schemeClr>
                                          </a:solidFill>
                                          <a:latin typeface="Cambria Math" panose="02040503050406030204" pitchFamily="18" charset="0"/>
                                        </a:rPr>
                                      </m:ctrlPr>
                                    </m:sSupPr>
                                    <m:e>
                                      <m:r>
                                        <m:rPr>
                                          <m:sty m:val="p"/>
                                        </m:rPr>
                                        <a:rPr lang="en-GB" sz="1050" i="0">
                                          <a:solidFill>
                                            <a:schemeClr val="bg1">
                                              <a:lumMod val="65000"/>
                                            </a:schemeClr>
                                          </a:solidFill>
                                          <a:latin typeface="Cambria Math" panose="02040503050406030204" pitchFamily="18" charset="0"/>
                                        </a:rPr>
                                        <m:t>sin</m:t>
                                      </m:r>
                                    </m:e>
                                    <m:sup>
                                      <m:r>
                                        <a:rPr lang="en-GB" sz="1050" i="0">
                                          <a:solidFill>
                                            <a:schemeClr val="bg1">
                                              <a:lumMod val="65000"/>
                                            </a:schemeClr>
                                          </a:solidFill>
                                          <a:latin typeface="Cambria Math" panose="02040503050406030204" pitchFamily="18" charset="0"/>
                                        </a:rPr>
                                        <m:t>2</m:t>
                                      </m:r>
                                    </m:sup>
                                  </m:sSup>
                                </m:fName>
                                <m:e>
                                  <m:r>
                                    <a:rPr lang="en-GB" sz="1050" i="1">
                                      <a:solidFill>
                                        <a:schemeClr val="bg1">
                                          <a:lumMod val="65000"/>
                                        </a:schemeClr>
                                      </a:solidFill>
                                      <a:latin typeface="Cambria Math" panose="02040503050406030204" pitchFamily="18" charset="0"/>
                                    </a:rPr>
                                    <m:t>𝜓</m:t>
                                  </m:r>
                                </m:e>
                              </m:func>
                            </m:e>
                          </m:rad>
                        </m:e>
                      </m:nary>
                      <m:r>
                        <a:rPr lang="en-GB" sz="1050" i="0">
                          <a:solidFill>
                            <a:schemeClr val="bg1">
                              <a:lumMod val="65000"/>
                            </a:schemeClr>
                          </a:solidFill>
                          <a:latin typeface="Cambria Math" panose="02040503050406030204" pitchFamily="18" charset="0"/>
                        </a:rPr>
                        <m:t> </m:t>
                      </m:r>
                      <m:r>
                        <a:rPr lang="en-GB" sz="1050" i="1">
                          <a:solidFill>
                            <a:schemeClr val="bg1">
                              <a:lumMod val="65000"/>
                            </a:schemeClr>
                          </a:solidFill>
                          <a:latin typeface="Cambria Math" panose="02040503050406030204" pitchFamily="18" charset="0"/>
                        </a:rPr>
                        <m:t>𝑑</m:t>
                      </m:r>
                      <m:r>
                        <a:rPr lang="en-GB" sz="1050" i="1">
                          <a:solidFill>
                            <a:schemeClr val="bg1">
                              <a:lumMod val="65000"/>
                            </a:schemeClr>
                          </a:solidFill>
                          <a:latin typeface="Cambria Math" panose="02040503050406030204" pitchFamily="18" charset="0"/>
                        </a:rPr>
                        <m:t>𝜓</m:t>
                      </m:r>
                    </m:oMath>
                  </m:oMathPara>
                </a14:m>
                <a:endParaRPr lang="en-GB" sz="1050" dirty="0">
                  <a:solidFill>
                    <a:schemeClr val="bg1">
                      <a:lumMod val="65000"/>
                    </a:schemeClr>
                  </a:solidFill>
                </a:endParaRPr>
              </a:p>
            </p:txBody>
          </p:sp>
        </mc:Choice>
        <mc:Fallback xmlns="">
          <p:sp>
            <p:nvSpPr>
              <p:cNvPr id="29" name="TextBox 28">
                <a:extLst>
                  <a:ext uri="{FF2B5EF4-FFF2-40B4-BE49-F238E27FC236}">
                    <a16:creationId xmlns:a16="http://schemas.microsoft.com/office/drawing/2014/main" id="{396FF2F9-779B-490F-DB57-7E5494C00183}"/>
                  </a:ext>
                </a:extLst>
              </p:cNvPr>
              <p:cNvSpPr txBox="1">
                <a:spLocks noRot="1" noChangeAspect="1" noMove="1" noResize="1" noEditPoints="1" noAdjustHandles="1" noChangeArrowheads="1" noChangeShapeType="1" noTextEdit="1"/>
              </p:cNvSpPr>
              <p:nvPr/>
            </p:nvSpPr>
            <p:spPr>
              <a:xfrm>
                <a:off x="6308123" y="6272086"/>
                <a:ext cx="4460789" cy="492699"/>
              </a:xfrm>
              <a:prstGeom prst="rect">
                <a:avLst/>
              </a:prstGeom>
              <a:blipFill>
                <a:blip r:embed="rId9"/>
                <a:stretch>
                  <a:fillRect t="-124691" b="-182716"/>
                </a:stretch>
              </a:blipFill>
            </p:spPr>
            <p:txBody>
              <a:bodyPr/>
              <a:lstStyle/>
              <a:p>
                <a:r>
                  <a:rPr lang="en-GB">
                    <a:noFill/>
                  </a:rPr>
                  <a:t> </a:t>
                </a:r>
              </a:p>
            </p:txBody>
          </p:sp>
        </mc:Fallback>
      </mc:AlternateContent>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Exact first-mode cold start, then continue the clamp angles</a:t>
            </a:r>
            <a:endParaRPr lang="en-US" sz="3000" dirty="0"/>
          </a:p>
        </p:txBody>
      </p:sp>
      <p:sp>
        <p:nvSpPr>
          <p:cNvPr id="3" name="card-133"/>
          <p:cNvSpPr/>
          <p:nvPr/>
        </p:nvSpPr>
        <p:spPr>
          <a:xfrm>
            <a:off x="548640" y="1417320"/>
            <a:ext cx="11064240" cy="914400"/>
          </a:xfrm>
          <a:prstGeom prst="roundRect">
            <a:avLst>
              <a:gd name="adj" fmla="val 8000"/>
            </a:avLst>
          </a:prstGeom>
          <a:solidFill>
            <a:schemeClr val="bg2"/>
          </a:solidFill>
          <a:ln/>
        </p:spPr>
        <p:txBody>
          <a:bodyPr/>
          <a:lstStyle/>
          <a:p>
            <a:endParaRPr lang="en-IN"/>
          </a:p>
        </p:txBody>
      </p:sp>
      <p:pic>
        <p:nvPicPr>
          <p:cNvPr id="5" name="figure-135" descr="Rod shapes during the cold start at d = 0.90, φ1 = 0.60, φ2 = -0.40: exact first mode, two continuation steps, and the kept and discarded branches"/>
          <p:cNvPicPr>
            <a:picLocks noChangeAspect="1"/>
          </p:cNvPicPr>
          <p:nvPr/>
        </p:nvPicPr>
        <p:blipFill>
          <a:blip r:embed="rId3"/>
          <a:stretch>
            <a:fillRect/>
          </a:stretch>
        </p:blipFill>
        <p:spPr>
          <a:xfrm>
            <a:off x="457200" y="2560320"/>
            <a:ext cx="5394960" cy="3596640"/>
          </a:xfrm>
          <a:prstGeom prst="rect">
            <a:avLst/>
          </a:prstGeom>
        </p:spPr>
      </p:pic>
      <p:sp>
        <p:nvSpPr>
          <p:cNvPr id="6" name="text-136"/>
          <p:cNvSpPr txBox="1"/>
          <p:nvPr/>
        </p:nvSpPr>
        <p:spPr>
          <a:xfrm>
            <a:off x="6217920" y="2606040"/>
            <a:ext cx="5394960" cy="365760"/>
          </a:xfrm>
          <a:prstGeom prst="rect">
            <a:avLst/>
          </a:prstGeom>
          <a:noFill/>
          <a:ln/>
        </p:spPr>
        <p:txBody>
          <a:bodyPr wrap="square" lIns="0" tIns="0" rIns="0" bIns="0" rtlCol="0" anchor="t"/>
          <a:lstStyle/>
          <a:p>
            <a:pPr marL="0" indent="0">
              <a:buNone/>
            </a:pPr>
            <a:r>
              <a:rPr lang="en-US" sz="1600" b="1" dirty="0">
                <a:solidFill>
                  <a:schemeClr val="accent1"/>
                </a:solidFill>
              </a:rPr>
              <a:t>Predictor for each continuation step</a:t>
            </a:r>
            <a:endParaRPr lang="en-US" sz="1600" dirty="0"/>
          </a:p>
        </p:txBody>
      </p:sp>
      <mc:AlternateContent xmlns:mc="http://schemas.openxmlformats.org/markup-compatibility/2006" xmlns:a14="http://schemas.microsoft.com/office/drawing/2010/main">
        <mc:Choice Requires="a14">
          <p:sp>
            <p:nvSpPr>
              <p:cNvPr id="7" name="latex-amp"/>
              <p:cNvSpPr txBox="1"/>
              <p:nvPr/>
            </p:nvSpPr>
            <p:spPr>
              <a:xfrm>
                <a:off x="6217920" y="3017520"/>
                <a:ext cx="5425135" cy="662208"/>
              </a:xfrm>
              <a:prstGeom prst="rect">
                <a:avLst/>
              </a:prstGeom>
              <a:noFill/>
              <a:ln/>
            </p:spPr>
            <p:txBody>
              <a:bodyPr wrap="square" lIns="0" tIns="0" rIns="0" bIns="0" rtlCol="0" anchor="ctr">
                <a:noAutofit/>
              </a:bodyPr>
              <a:lstStyle/>
              <a:p>
                <a:pPr marL="0" indent="0">
                  <a:buNone/>
                </a:pPr>
                <a14:m>
                  <m:oMathPara xmlns:m="http://schemas.openxmlformats.org/officeDocument/2006/math">
                    <m:oMath>
                      <m:sSubSup>
                        <m:sSubSupPr>
                          <m:ctrlPr>
                            <a:rPr lang="en-US" sz="1600" i="1" dirty="0">
                              <a:solidFill>
                                <a:schemeClr val="tx1"/>
                              </a:solidFill>
                              <a:latin typeface="Cambria Math" panose="02040503050406030204" pitchFamily="18" charset="0"/>
                            </a:rPr>
                          </m:ctrlPr>
                        </m:sSubSupPr>
                        <m:e>
                          <m:r>
                            <a:rPr lang="en-US" sz="1600" i="1" dirty="0">
                              <a:solidFill>
                                <a:schemeClr val="tx1"/>
                              </a:solidFill>
                              <a:latin typeface="Cambria Math" panose="02040503050406030204" pitchFamily="18" charset="0"/>
                            </a:rPr>
                            <m:t>𝜃</m:t>
                          </m:r>
                        </m:e>
                        <m:sub>
                          <m:r>
                            <a:rPr lang="en-US" sz="1600" i="0" dirty="0">
                              <a:solidFill>
                                <a:schemeClr val="tx1"/>
                              </a:solidFill>
                              <a:latin typeface="Cambria Math" panose="02040503050406030204" pitchFamily="18" charset="0"/>
                            </a:rPr>
                            <m:t>0</m:t>
                          </m:r>
                        </m:sub>
                        <m:sup>
                          <m:d>
                            <m:dPr>
                              <m:ctrlPr>
                                <a:rPr lang="en-US" sz="1600" i="1" dirty="0">
                                  <a:solidFill>
                                    <a:schemeClr val="tx1"/>
                                  </a:solidFill>
                                  <a:latin typeface="Cambria Math" panose="02040503050406030204" pitchFamily="18" charset="0"/>
                                </a:rPr>
                              </m:ctrlPr>
                            </m:dPr>
                            <m:e>
                              <m:r>
                                <a:rPr lang="en-US" sz="1600" i="1" dirty="0">
                                  <a:solidFill>
                                    <a:schemeClr val="tx1"/>
                                  </a:solidFill>
                                  <a:latin typeface="Cambria Math" panose="02040503050406030204" pitchFamily="18" charset="0"/>
                                </a:rPr>
                                <m:t>𝑘</m:t>
                              </m:r>
                              <m:r>
                                <a:rPr lang="en-US" sz="1600" i="0" dirty="0">
                                  <a:solidFill>
                                    <a:schemeClr val="tx1"/>
                                  </a:solidFill>
                                  <a:latin typeface="Cambria Math" panose="02040503050406030204" pitchFamily="18" charset="0"/>
                                </a:rPr>
                                <m:t>+1</m:t>
                              </m:r>
                            </m:e>
                          </m:d>
                        </m:sup>
                      </m:sSubSup>
                      <m:d>
                        <m:dPr>
                          <m:ctrlPr>
                            <a:rPr lang="en-US" sz="1600" i="1" dirty="0">
                              <a:solidFill>
                                <a:schemeClr val="tx1"/>
                              </a:solidFill>
                              <a:latin typeface="Cambria Math" panose="02040503050406030204" pitchFamily="18" charset="0"/>
                            </a:rPr>
                          </m:ctrlPr>
                        </m:dPr>
                        <m:e>
                          <m:r>
                            <a:rPr lang="en-US" sz="1600" i="1" dirty="0">
                              <a:solidFill>
                                <a:schemeClr val="tx1"/>
                              </a:solidFill>
                              <a:latin typeface="Cambria Math" panose="02040503050406030204" pitchFamily="18" charset="0"/>
                            </a:rPr>
                            <m:t>𝑠</m:t>
                          </m:r>
                        </m:e>
                      </m:d>
                      <m:r>
                        <a:rPr lang="en-US" sz="1600" i="0" dirty="0">
                          <a:solidFill>
                            <a:schemeClr val="tx1"/>
                          </a:solidFill>
                          <a:latin typeface="Cambria Math" panose="02040503050406030204" pitchFamily="18" charset="0"/>
                        </a:rPr>
                        <m:t>=</m:t>
                      </m:r>
                      <m:sSup>
                        <m:sSupPr>
                          <m:ctrlPr>
                            <a:rPr lang="en-US" sz="1600" i="1" dirty="0">
                              <a:solidFill>
                                <a:schemeClr val="tx1"/>
                              </a:solidFill>
                              <a:latin typeface="Cambria Math" panose="02040503050406030204" pitchFamily="18" charset="0"/>
                            </a:rPr>
                          </m:ctrlPr>
                        </m:sSupPr>
                        <m:e>
                          <m:r>
                            <a:rPr lang="en-US" sz="1600" i="1" dirty="0">
                              <a:solidFill>
                                <a:schemeClr val="tx1"/>
                              </a:solidFill>
                              <a:latin typeface="Cambria Math" panose="02040503050406030204" pitchFamily="18" charset="0"/>
                            </a:rPr>
                            <m:t>𝜃</m:t>
                          </m:r>
                        </m:e>
                        <m:sup>
                          <m:d>
                            <m:dPr>
                              <m:ctrlPr>
                                <a:rPr lang="en-US" sz="1600" i="1" dirty="0">
                                  <a:solidFill>
                                    <a:schemeClr val="tx1"/>
                                  </a:solidFill>
                                  <a:latin typeface="Cambria Math" panose="02040503050406030204" pitchFamily="18" charset="0"/>
                                </a:rPr>
                              </m:ctrlPr>
                            </m:dPr>
                            <m:e>
                              <m:r>
                                <a:rPr lang="en-US" sz="1600" i="1" dirty="0">
                                  <a:solidFill>
                                    <a:schemeClr val="tx1"/>
                                  </a:solidFill>
                                  <a:latin typeface="Cambria Math" panose="02040503050406030204" pitchFamily="18" charset="0"/>
                                </a:rPr>
                                <m:t>𝑘</m:t>
                              </m:r>
                            </m:e>
                          </m:d>
                        </m:sup>
                      </m:sSup>
                      <m:d>
                        <m:dPr>
                          <m:ctrlPr>
                            <a:rPr lang="en-US" sz="1600" i="1" dirty="0">
                              <a:solidFill>
                                <a:schemeClr val="tx1"/>
                              </a:solidFill>
                              <a:latin typeface="Cambria Math" panose="02040503050406030204" pitchFamily="18" charset="0"/>
                            </a:rPr>
                          </m:ctrlPr>
                        </m:dPr>
                        <m:e>
                          <m:r>
                            <a:rPr lang="en-US" sz="1600" i="1" dirty="0">
                              <a:solidFill>
                                <a:schemeClr val="tx1"/>
                              </a:solidFill>
                              <a:latin typeface="Cambria Math" panose="02040503050406030204" pitchFamily="18" charset="0"/>
                            </a:rPr>
                            <m:t>𝑠</m:t>
                          </m:r>
                        </m:e>
                      </m:d>
                      <m:r>
                        <a:rPr lang="en-US" sz="1600" i="0" dirty="0">
                          <a:solidFill>
                            <a:schemeClr val="tx1"/>
                          </a:solidFill>
                          <a:latin typeface="Cambria Math" panose="02040503050406030204" pitchFamily="18" charset="0"/>
                        </a:rPr>
                        <m:t>+</m:t>
                      </m:r>
                      <m:r>
                        <a:rPr lang="en-US" sz="1600" i="0" dirty="0">
                          <a:solidFill>
                            <a:schemeClr val="tx1"/>
                          </a:solidFill>
                          <a:latin typeface="Cambria Math" panose="02040503050406030204" pitchFamily="18" charset="0"/>
                        </a:rPr>
                        <m:t>𝛥</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𝜑</m:t>
                          </m:r>
                        </m:e>
                        <m:sub>
                          <m:r>
                            <a:rPr lang="en-US" sz="1600" i="0" dirty="0">
                              <a:solidFill>
                                <a:schemeClr val="tx1"/>
                              </a:solidFill>
                              <a:latin typeface="Cambria Math" panose="02040503050406030204" pitchFamily="18" charset="0"/>
                            </a:rPr>
                            <m:t>1</m:t>
                          </m:r>
                        </m:sub>
                      </m:sSub>
                      <m:d>
                        <m:dPr>
                          <m:ctrlPr>
                            <a:rPr lang="en-US" sz="1600" i="0" dirty="0">
                              <a:solidFill>
                                <a:schemeClr val="tx1"/>
                              </a:solidFill>
                              <a:latin typeface="Cambria Math" panose="02040503050406030204" pitchFamily="18" charset="0"/>
                            </a:rPr>
                          </m:ctrlPr>
                        </m:dPr>
                        <m:e>
                          <m:r>
                            <a:rPr lang="en-US" sz="1600" i="0" dirty="0">
                              <a:solidFill>
                                <a:schemeClr val="tx1"/>
                              </a:solidFill>
                              <a:latin typeface="Cambria Math" panose="02040503050406030204" pitchFamily="18" charset="0"/>
                            </a:rPr>
                            <m:t>1−</m:t>
                          </m:r>
                          <m:f>
                            <m:fPr>
                              <m:ctrlPr>
                                <a:rPr lang="en-US" sz="1600" i="1" dirty="0">
                                  <a:solidFill>
                                    <a:schemeClr val="tx1"/>
                                  </a:solidFill>
                                  <a:latin typeface="Cambria Math" panose="02040503050406030204" pitchFamily="18" charset="0"/>
                                </a:rPr>
                              </m:ctrlPr>
                            </m:fPr>
                            <m:num>
                              <m:r>
                                <a:rPr lang="en-US" sz="1600" i="1" dirty="0">
                                  <a:solidFill>
                                    <a:schemeClr val="tx1"/>
                                  </a:solidFill>
                                  <a:latin typeface="Cambria Math" panose="02040503050406030204" pitchFamily="18" charset="0"/>
                                </a:rPr>
                                <m:t>𝑠</m:t>
                              </m:r>
                            </m:num>
                            <m:den>
                              <m:r>
                                <a:rPr lang="en-US" sz="1600" i="1" dirty="0">
                                  <a:solidFill>
                                    <a:schemeClr val="tx1"/>
                                  </a:solidFill>
                                  <a:latin typeface="Cambria Math" panose="02040503050406030204" pitchFamily="18" charset="0"/>
                                </a:rPr>
                                <m:t>𝐿</m:t>
                              </m:r>
                            </m:den>
                          </m:f>
                        </m:e>
                      </m:d>
                      <m:r>
                        <a:rPr lang="en-US" sz="1600" i="0" dirty="0">
                          <a:solidFill>
                            <a:schemeClr val="tx1"/>
                          </a:solidFill>
                          <a:latin typeface="Cambria Math" panose="02040503050406030204" pitchFamily="18" charset="0"/>
                        </a:rPr>
                        <m:t>+</m:t>
                      </m:r>
                      <m:r>
                        <a:rPr lang="en-US" sz="1600" i="0" dirty="0">
                          <a:solidFill>
                            <a:schemeClr val="tx1"/>
                          </a:solidFill>
                          <a:latin typeface="Cambria Math" panose="02040503050406030204" pitchFamily="18" charset="0"/>
                        </a:rPr>
                        <m:t>𝛥</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𝜑</m:t>
                          </m:r>
                        </m:e>
                        <m:sub>
                          <m:r>
                            <a:rPr lang="en-US" sz="1600" i="0" dirty="0">
                              <a:solidFill>
                                <a:schemeClr val="tx1"/>
                              </a:solidFill>
                              <a:latin typeface="Cambria Math" panose="02040503050406030204" pitchFamily="18" charset="0"/>
                            </a:rPr>
                            <m:t>2</m:t>
                          </m:r>
                        </m:sub>
                      </m:sSub>
                      <m:f>
                        <m:fPr>
                          <m:ctrlPr>
                            <a:rPr lang="en-US" sz="1600" i="1" dirty="0">
                              <a:solidFill>
                                <a:schemeClr val="tx1"/>
                              </a:solidFill>
                              <a:latin typeface="Cambria Math" panose="02040503050406030204" pitchFamily="18" charset="0"/>
                            </a:rPr>
                          </m:ctrlPr>
                        </m:fPr>
                        <m:num>
                          <m:r>
                            <a:rPr lang="en-US" sz="1600" i="1" dirty="0">
                              <a:solidFill>
                                <a:schemeClr val="tx1"/>
                              </a:solidFill>
                              <a:latin typeface="Cambria Math" panose="02040503050406030204" pitchFamily="18" charset="0"/>
                            </a:rPr>
                            <m:t>𝑠</m:t>
                          </m:r>
                        </m:num>
                        <m:den>
                          <m:r>
                            <a:rPr lang="en-US" sz="1600" i="1" dirty="0">
                              <a:solidFill>
                                <a:schemeClr val="tx1"/>
                              </a:solidFill>
                              <a:latin typeface="Cambria Math" panose="02040503050406030204" pitchFamily="18" charset="0"/>
                            </a:rPr>
                            <m:t>𝐿</m:t>
                          </m:r>
                        </m:den>
                      </m:f>
                    </m:oMath>
                  </m:oMathPara>
                </a14:m>
                <a:endParaRPr lang="en-US" sz="1600" dirty="0"/>
              </a:p>
            </p:txBody>
          </p:sp>
        </mc:Choice>
        <mc:Fallback xmlns="">
          <p:sp>
            <p:nvSpPr>
              <p:cNvPr id="7" name="latex-amp"/>
              <p:cNvSpPr txBox="1">
                <a:spLocks noRot="1" noChangeAspect="1" noMove="1" noResize="1" noEditPoints="1" noAdjustHandles="1" noChangeArrowheads="1" noChangeShapeType="1" noTextEdit="1"/>
              </p:cNvSpPr>
              <p:nvPr/>
            </p:nvSpPr>
            <p:spPr>
              <a:xfrm>
                <a:off x="6217920" y="3017520"/>
                <a:ext cx="5425135" cy="662208"/>
              </a:xfrm>
              <a:prstGeom prst="rect">
                <a:avLst/>
              </a:prstGeom>
              <a:blipFill>
                <a:blip r:embed="rId5"/>
                <a:stretch>
                  <a:fillRect/>
                </a:stretch>
              </a:blipFill>
              <a:ln/>
            </p:spPr>
            <p:txBody>
              <a:bodyPr/>
              <a:lstStyle/>
              <a:p>
                <a:r>
                  <a:rPr lang="en-IN">
                    <a:noFill/>
                  </a:rPr>
                  <a:t> </a:t>
                </a:r>
              </a:p>
            </p:txBody>
          </p:sp>
        </mc:Fallback>
      </mc:AlternateContent>
      <p:sp>
        <p:nvSpPr>
          <p:cNvPr id="8" name="badge-138"/>
          <p:cNvSpPr/>
          <p:nvPr/>
        </p:nvSpPr>
        <p:spPr>
          <a:xfrm>
            <a:off x="6217920" y="3886200"/>
            <a:ext cx="384048" cy="384048"/>
          </a:xfrm>
          <a:prstGeom prst="ellipse">
            <a:avLst/>
          </a:prstGeom>
          <a:solidFill>
            <a:schemeClr val="accent1"/>
          </a:solidFill>
          <a:ln/>
        </p:spPr>
        <p:txBody>
          <a:bodyPr/>
          <a:lstStyle/>
          <a:p>
            <a:endParaRPr lang="en-IN"/>
          </a:p>
        </p:txBody>
      </p:sp>
      <p:sp>
        <p:nvSpPr>
          <p:cNvPr id="9" name="badge-label-139"/>
          <p:cNvSpPr txBox="1"/>
          <p:nvPr/>
        </p:nvSpPr>
        <p:spPr>
          <a:xfrm>
            <a:off x="6217920" y="3886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0" name="text-140"/>
          <p:cNvSpPr txBox="1"/>
          <p:nvPr/>
        </p:nvSpPr>
        <p:spPr>
          <a:xfrm>
            <a:off x="6766560" y="3858768"/>
            <a:ext cx="4846320" cy="685800"/>
          </a:xfrm>
          <a:prstGeom prst="rect">
            <a:avLst/>
          </a:prstGeom>
          <a:noFill/>
          <a:ln/>
        </p:spPr>
        <p:txBody>
          <a:bodyPr wrap="square" lIns="0" tIns="0" rIns="0" bIns="0" rtlCol="0" anchor="t"/>
          <a:lstStyle/>
          <a:p>
            <a:pPr marL="0" indent="0">
              <a:buNone/>
            </a:pPr>
            <a:r>
              <a:rPr lang="en-US" sz="1400" dirty="0">
                <a:solidFill>
                  <a:schemeClr val="tx1"/>
                </a:solidFill>
              </a:rPr>
              <a:t>Exact at φ₁ = φ₂ = 0 for any d, with ∫ sin θ ds = 0: Newton converges in 2 iterations</a:t>
            </a:r>
            <a:endParaRPr lang="en-US" sz="1400" dirty="0"/>
          </a:p>
        </p:txBody>
      </p:sp>
      <p:sp>
        <p:nvSpPr>
          <p:cNvPr id="11" name="badge-141"/>
          <p:cNvSpPr/>
          <p:nvPr/>
        </p:nvSpPr>
        <p:spPr>
          <a:xfrm>
            <a:off x="6217920" y="4663440"/>
            <a:ext cx="384048" cy="384048"/>
          </a:xfrm>
          <a:prstGeom prst="ellipse">
            <a:avLst/>
          </a:prstGeom>
          <a:solidFill>
            <a:schemeClr val="accent1"/>
          </a:solidFill>
          <a:ln/>
        </p:spPr>
        <p:txBody>
          <a:bodyPr/>
          <a:lstStyle/>
          <a:p>
            <a:endParaRPr lang="en-IN"/>
          </a:p>
        </p:txBody>
      </p:sp>
      <p:sp>
        <p:nvSpPr>
          <p:cNvPr id="12" name="badge-label-142"/>
          <p:cNvSpPr txBox="1"/>
          <p:nvPr/>
        </p:nvSpPr>
        <p:spPr>
          <a:xfrm>
            <a:off x="6217920" y="466344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3" name="text-143"/>
          <p:cNvSpPr txBox="1"/>
          <p:nvPr/>
        </p:nvSpPr>
        <p:spPr>
          <a:xfrm>
            <a:off x="6766560" y="4636008"/>
            <a:ext cx="4846320" cy="685800"/>
          </a:xfrm>
          <a:prstGeom prst="rect">
            <a:avLst/>
          </a:prstGeom>
          <a:noFill/>
          <a:ln/>
        </p:spPr>
        <p:txBody>
          <a:bodyPr wrap="square" lIns="0" tIns="0" rIns="0" bIns="0" rtlCol="0" anchor="t"/>
          <a:lstStyle/>
          <a:p>
            <a:pPr marL="0" indent="0">
              <a:buNone/>
            </a:pPr>
            <a:r>
              <a:rPr lang="en-US" sz="1400" dirty="0">
                <a:solidFill>
                  <a:schemeClr val="tx1"/>
                </a:solidFill>
              </a:rPr>
              <a:t>Steps ≤ 0.25 rad, ≤ 15 Newton iterations each; a failed step halves, giving up below 0.02 rad (a fold)</a:t>
            </a:r>
            <a:endParaRPr lang="en-US" sz="1400" dirty="0"/>
          </a:p>
        </p:txBody>
      </p:sp>
      <p:sp>
        <p:nvSpPr>
          <p:cNvPr id="14" name="badge-144"/>
          <p:cNvSpPr/>
          <p:nvPr/>
        </p:nvSpPr>
        <p:spPr>
          <a:xfrm>
            <a:off x="6217920" y="5440680"/>
            <a:ext cx="384048" cy="384048"/>
          </a:xfrm>
          <a:prstGeom prst="ellipse">
            <a:avLst/>
          </a:prstGeom>
          <a:solidFill>
            <a:schemeClr val="accent1"/>
          </a:solidFill>
          <a:ln/>
        </p:spPr>
        <p:txBody>
          <a:bodyPr/>
          <a:lstStyle/>
          <a:p>
            <a:endParaRPr lang="en-IN"/>
          </a:p>
        </p:txBody>
      </p:sp>
      <p:sp>
        <p:nvSpPr>
          <p:cNvPr id="15" name="badge-label-145"/>
          <p:cNvSpPr txBox="1"/>
          <p:nvPr/>
        </p:nvSpPr>
        <p:spPr>
          <a:xfrm>
            <a:off x="6217920" y="54406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6" name="text-146"/>
          <p:cNvSpPr txBox="1"/>
          <p:nvPr/>
        </p:nvSpPr>
        <p:spPr>
          <a:xfrm>
            <a:off x="6766560" y="5413248"/>
            <a:ext cx="4846320" cy="685800"/>
          </a:xfrm>
          <a:prstGeom prst="rect">
            <a:avLst/>
          </a:prstGeom>
          <a:noFill/>
          <a:ln/>
        </p:spPr>
        <p:txBody>
          <a:bodyPr wrap="square" lIns="0" tIns="0" rIns="0" bIns="0" rtlCol="0" anchor="t"/>
          <a:lstStyle/>
          <a:p>
            <a:pPr marL="0" indent="0">
              <a:buNone/>
            </a:pPr>
            <a:r>
              <a:rPr lang="en-US" sz="1400" dirty="0">
                <a:solidFill>
                  <a:schemeClr val="tx1"/>
                </a:solidFill>
              </a:rPr>
              <a:t>Both hump signs are continued and the lower energy kept, so the result does not depend on which branch the ramp follows</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19</a:t>
            </a:fld>
            <a:endParaRPr lang="en-US"/>
          </a:p>
        </p:txBody>
      </p:sp>
      <mc:AlternateContent xmlns:mc="http://schemas.openxmlformats.org/markup-compatibility/2006" xmlns:a14="http://schemas.microsoft.com/office/drawing/2010/main">
        <mc:Choice Requires="a14">
          <p:sp>
            <p:nvSpPr>
              <p:cNvPr id="18" name="latex-mode-6">
                <a:extLst>
                  <a:ext uri="{FF2B5EF4-FFF2-40B4-BE49-F238E27FC236}">
                    <a16:creationId xmlns:a16="http://schemas.microsoft.com/office/drawing/2014/main" id="{905E2A91-4C29-9579-8B30-63193110ECA0}"/>
                  </a:ext>
                </a:extLst>
              </p:cNvPr>
              <p:cNvSpPr txBox="1"/>
              <p:nvPr/>
            </p:nvSpPr>
            <p:spPr>
              <a:xfrm>
                <a:off x="1534616" y="1549123"/>
                <a:ext cx="8635087" cy="640080"/>
              </a:xfrm>
              <a:prstGeom prst="rect">
                <a:avLst/>
              </a:prstGeom>
              <a:noFill/>
              <a:ln/>
            </p:spPr>
            <p:txBody>
              <a:bodyPr wrap="square" lIns="0" tIns="0" rIns="0" bIns="0" rtlCol="0" anchor="ctr">
                <a:noAutofit/>
              </a:bodyPr>
              <a:lstStyle/>
              <a:p>
                <a:pPr marL="0" indent="0">
                  <a:buNone/>
                </a:pPr>
                <a14:m>
                  <m:oMathPara xmlns:m="http://schemas.openxmlformats.org/officeDocument/2006/math">
                    <m:oMath>
                      <m:r>
                        <a:rPr lang="en-US" sz="1600" i="1" dirty="0" smtClean="0">
                          <a:solidFill>
                            <a:schemeClr val="tx1"/>
                          </a:solidFill>
                          <a:latin typeface="Cambria Math" panose="02040503050406030204" pitchFamily="18" charset="0"/>
                        </a:rPr>
                        <m:t>𝜃</m:t>
                      </m:r>
                      <m:r>
                        <a:rPr lang="en-US" sz="1600" i="0" dirty="0">
                          <a:solidFill>
                            <a:schemeClr val="tx1"/>
                          </a:solidFill>
                          <a:latin typeface="Cambria Math" panose="02040503050406030204" pitchFamily="18" charset="0"/>
                        </a:rPr>
                        <m:t>≈2</m:t>
                      </m:r>
                      <m:rad>
                        <m:radPr>
                          <m:degHide m:val="on"/>
                          <m:ctrlPr>
                            <a:rPr lang="en-US" sz="1600" i="1" dirty="0">
                              <a:solidFill>
                                <a:schemeClr val="tx1"/>
                              </a:solidFill>
                              <a:latin typeface="Cambria Math" panose="02040503050406030204" pitchFamily="18" charset="0"/>
                            </a:rPr>
                          </m:ctrlPr>
                        </m:radPr>
                        <m:deg/>
                        <m:e>
                          <m:r>
                            <a:rPr lang="en-US" sz="1600" i="1" dirty="0">
                              <a:solidFill>
                                <a:schemeClr val="tx1"/>
                              </a:solidFill>
                              <a:latin typeface="Cambria Math" panose="02040503050406030204" pitchFamily="18" charset="0"/>
                            </a:rPr>
                            <m:t>𝑚</m:t>
                          </m:r>
                        </m:e>
                      </m:rad>
                      <m:r>
                        <a:rPr lang="en-US" sz="1600" i="0" dirty="0">
                          <a:solidFill>
                            <a:schemeClr val="tx1"/>
                          </a:solidFill>
                          <a:latin typeface="Cambria Math" panose="02040503050406030204" pitchFamily="18" charset="0"/>
                        </a:rPr>
                        <m:t> </m:t>
                      </m:r>
                      <m:func>
                        <m:funcPr>
                          <m:ctrlPr>
                            <a:rPr lang="en-US" sz="1600" i="0" dirty="0">
                              <a:solidFill>
                                <a:schemeClr val="tx1"/>
                              </a:solidFill>
                              <a:latin typeface="Cambria Math" panose="02040503050406030204" pitchFamily="18" charset="0"/>
                            </a:rPr>
                          </m:ctrlPr>
                        </m:funcPr>
                        <m:fName>
                          <m:r>
                            <m:rPr>
                              <m:sty m:val="p"/>
                            </m:rPr>
                            <a:rPr lang="en-US" sz="1600" i="0" dirty="0">
                              <a:solidFill>
                                <a:schemeClr val="tx1"/>
                              </a:solidFill>
                              <a:latin typeface="Cambria Math" panose="02040503050406030204" pitchFamily="18" charset="0"/>
                            </a:rPr>
                            <m:t>sin</m:t>
                          </m:r>
                        </m:fName>
                        <m:e>
                          <m:f>
                            <m:fPr>
                              <m:ctrlPr>
                                <a:rPr lang="en-US" sz="1600" i="0" dirty="0">
                                  <a:solidFill>
                                    <a:schemeClr val="tx1"/>
                                  </a:solidFill>
                                  <a:latin typeface="Cambria Math" panose="02040503050406030204" pitchFamily="18" charset="0"/>
                                </a:rPr>
                              </m:ctrlPr>
                            </m:fPr>
                            <m:num>
                              <m:r>
                                <a:rPr lang="en-US" sz="1600" i="0" dirty="0">
                                  <a:solidFill>
                                    <a:schemeClr val="tx1"/>
                                  </a:solidFill>
                                  <a:latin typeface="Cambria Math" panose="02040503050406030204" pitchFamily="18" charset="0"/>
                                </a:rPr>
                                <m:t>2</m:t>
                              </m:r>
                              <m:r>
                                <a:rPr lang="en-US" sz="1600" i="1" dirty="0">
                                  <a:solidFill>
                                    <a:schemeClr val="tx1"/>
                                  </a:solidFill>
                                  <a:latin typeface="Cambria Math" panose="02040503050406030204" pitchFamily="18" charset="0"/>
                                </a:rPr>
                                <m:t>𝜋</m:t>
                              </m:r>
                              <m:r>
                                <a:rPr lang="en-US" sz="1600" i="1" dirty="0">
                                  <a:solidFill>
                                    <a:schemeClr val="tx1"/>
                                  </a:solidFill>
                                  <a:latin typeface="Cambria Math" panose="02040503050406030204" pitchFamily="18" charset="0"/>
                                </a:rPr>
                                <m:t>𝑠</m:t>
                              </m:r>
                            </m:num>
                            <m:den>
                              <m:r>
                                <a:rPr lang="en-US" sz="1600" i="1" dirty="0">
                                  <a:solidFill>
                                    <a:schemeClr val="tx1"/>
                                  </a:solidFill>
                                  <a:latin typeface="Cambria Math" panose="02040503050406030204" pitchFamily="18" charset="0"/>
                                </a:rPr>
                                <m:t>𝐿</m:t>
                              </m:r>
                            </m:den>
                          </m:f>
                        </m:e>
                      </m:func>
                      <m:r>
                        <a:rPr lang="en-US" sz="1600" i="0"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𝑚</m:t>
                      </m:r>
                      <m:r>
                        <a:rPr lang="en-US" sz="1600" i="0" dirty="0">
                          <a:solidFill>
                            <a:schemeClr val="tx1"/>
                          </a:solidFill>
                          <a:latin typeface="Cambria Math" panose="02040503050406030204" pitchFamily="18" charset="0"/>
                        </a:rPr>
                        <m:t>≈1−</m:t>
                      </m:r>
                      <m:f>
                        <m:fPr>
                          <m:ctrlPr>
                            <a:rPr lang="en-US" sz="1600" i="1" dirty="0">
                              <a:solidFill>
                                <a:schemeClr val="tx1"/>
                              </a:solidFill>
                              <a:latin typeface="Cambria Math" panose="02040503050406030204" pitchFamily="18" charset="0"/>
                            </a:rPr>
                          </m:ctrlPr>
                        </m:fPr>
                        <m:num>
                          <m:r>
                            <a:rPr lang="en-US" sz="1600" i="1" dirty="0">
                              <a:solidFill>
                                <a:schemeClr val="tx1"/>
                              </a:solidFill>
                              <a:latin typeface="Cambria Math" panose="02040503050406030204" pitchFamily="18" charset="0"/>
                            </a:rPr>
                            <m:t>𝑑</m:t>
                          </m:r>
                        </m:num>
                        <m:den>
                          <m:r>
                            <a:rPr lang="en-US" sz="1600" i="1" dirty="0">
                              <a:solidFill>
                                <a:schemeClr val="tx1"/>
                              </a:solidFill>
                              <a:latin typeface="Cambria Math" panose="02040503050406030204" pitchFamily="18" charset="0"/>
                            </a:rPr>
                            <m:t>𝐿</m:t>
                          </m:r>
                        </m:den>
                      </m:f>
                      <m:r>
                        <a:rPr lang="en-US" sz="1600" i="0" dirty="0">
                          <a:solidFill>
                            <a:schemeClr val="tx1"/>
                          </a:solidFill>
                          <a:latin typeface="Cambria Math" panose="02040503050406030204" pitchFamily="18" charset="0"/>
                        </a:rPr>
                        <m:t>, </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𝑥</m:t>
                          </m:r>
                        </m:sub>
                      </m:sSub>
                      <m:r>
                        <a:rPr lang="en-US" sz="1600" i="0" dirty="0">
                          <a:solidFill>
                            <a:schemeClr val="tx1"/>
                          </a:solidFill>
                          <a:latin typeface="Cambria Math" panose="02040503050406030204" pitchFamily="18" charset="0"/>
                        </a:rPr>
                        <m:t>→</m:t>
                      </m:r>
                      <m:f>
                        <m:fPr>
                          <m:ctrlPr>
                            <a:rPr lang="en-US" sz="1600" i="0" dirty="0">
                              <a:solidFill>
                                <a:schemeClr val="tx1"/>
                              </a:solidFill>
                              <a:latin typeface="Cambria Math" panose="02040503050406030204" pitchFamily="18" charset="0"/>
                            </a:rPr>
                          </m:ctrlPr>
                        </m:fPr>
                        <m:num>
                          <m:r>
                            <a:rPr lang="en-US" sz="1600" i="0" dirty="0">
                              <a:solidFill>
                                <a:schemeClr val="tx1"/>
                              </a:solidFill>
                              <a:latin typeface="Cambria Math" panose="02040503050406030204" pitchFamily="18" charset="0"/>
                            </a:rPr>
                            <m:t>4</m:t>
                          </m:r>
                          <m:sSup>
                            <m:sSupPr>
                              <m:ctrlPr>
                                <a:rPr lang="en-US" sz="1600" i="1" dirty="0">
                                  <a:solidFill>
                                    <a:schemeClr val="tx1"/>
                                  </a:solidFill>
                                  <a:latin typeface="Cambria Math" panose="02040503050406030204" pitchFamily="18" charset="0"/>
                                </a:rPr>
                              </m:ctrlPr>
                            </m:sSupPr>
                            <m:e>
                              <m:r>
                                <a:rPr lang="en-US" sz="1600" i="1" dirty="0">
                                  <a:solidFill>
                                    <a:schemeClr val="tx1"/>
                                  </a:solidFill>
                                  <a:latin typeface="Cambria Math" panose="02040503050406030204" pitchFamily="18" charset="0"/>
                                </a:rPr>
                                <m:t>𝜋</m:t>
                              </m:r>
                            </m:e>
                            <m:sup>
                              <m:r>
                                <a:rPr lang="en-US" sz="1600" i="0" dirty="0">
                                  <a:solidFill>
                                    <a:schemeClr val="tx1"/>
                                  </a:solidFill>
                                  <a:latin typeface="Cambria Math" panose="02040503050406030204" pitchFamily="18" charset="0"/>
                                </a:rPr>
                                <m:t>2</m:t>
                              </m:r>
                            </m:sup>
                          </m:sSup>
                        </m:num>
                        <m:den>
                          <m:sSup>
                            <m:sSupPr>
                              <m:ctrlPr>
                                <a:rPr lang="en-US" sz="1600" i="1" dirty="0">
                                  <a:solidFill>
                                    <a:schemeClr val="tx1"/>
                                  </a:solidFill>
                                  <a:latin typeface="Cambria Math" panose="02040503050406030204" pitchFamily="18" charset="0"/>
                                </a:rPr>
                              </m:ctrlPr>
                            </m:sSupPr>
                            <m:e>
                              <m:r>
                                <a:rPr lang="en-US" sz="1600" i="1" dirty="0">
                                  <a:solidFill>
                                    <a:schemeClr val="tx1"/>
                                  </a:solidFill>
                                  <a:latin typeface="Cambria Math" panose="02040503050406030204" pitchFamily="18" charset="0"/>
                                </a:rPr>
                                <m:t>𝐿</m:t>
                              </m:r>
                            </m:e>
                            <m:sup>
                              <m:r>
                                <a:rPr lang="en-US" sz="1600" i="0" dirty="0">
                                  <a:solidFill>
                                    <a:schemeClr val="tx1"/>
                                  </a:solidFill>
                                  <a:latin typeface="Cambria Math" panose="02040503050406030204" pitchFamily="18" charset="0"/>
                                </a:rPr>
                                <m:t>2</m:t>
                              </m:r>
                            </m:sup>
                          </m:sSup>
                        </m:den>
                      </m:f>
                    </m:oMath>
                  </m:oMathPara>
                </a14:m>
                <a:endParaRPr lang="en-US" sz="1600" dirty="0"/>
              </a:p>
            </p:txBody>
          </p:sp>
        </mc:Choice>
        <mc:Fallback xmlns="">
          <p:sp>
            <p:nvSpPr>
              <p:cNvPr id="18" name="latex-mode-6">
                <a:extLst>
                  <a:ext uri="{FF2B5EF4-FFF2-40B4-BE49-F238E27FC236}">
                    <a16:creationId xmlns:a16="http://schemas.microsoft.com/office/drawing/2014/main" id="{905E2A91-4C29-9579-8B30-63193110ECA0}"/>
                  </a:ext>
                </a:extLst>
              </p:cNvPr>
              <p:cNvSpPr txBox="1">
                <a:spLocks noRot="1" noChangeAspect="1" noMove="1" noResize="1" noEditPoints="1" noAdjustHandles="1" noChangeArrowheads="1" noChangeShapeType="1" noTextEdit="1"/>
              </p:cNvSpPr>
              <p:nvPr/>
            </p:nvSpPr>
            <p:spPr>
              <a:xfrm>
                <a:off x="1534616" y="1549123"/>
                <a:ext cx="8635087" cy="640080"/>
              </a:xfrm>
              <a:prstGeom prst="rect">
                <a:avLst/>
              </a:prstGeom>
              <a:blipFill>
                <a:blip r:embed="rId6"/>
                <a:stretch>
                  <a:fillRect/>
                </a:stretch>
              </a:blipFill>
              <a:ln/>
            </p:spPr>
            <p:txBody>
              <a:bodyPr/>
              <a:lstStyle/>
              <a:p>
                <a:r>
                  <a:rPr lang="en-IN">
                    <a:noFill/>
                  </a:rPr>
                  <a:t> </a:t>
                </a:r>
              </a:p>
            </p:txBody>
          </p:sp>
        </mc:Fallback>
      </mc:AlternateContent>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Mirror symmetry halves the number of solves</a:t>
            </a:r>
          </a:p>
        </p:txBody>
      </p:sp>
      <p:sp>
        <p:nvSpPr>
          <p:cNvPr id="3" name="card-223"/>
          <p:cNvSpPr/>
          <p:nvPr/>
        </p:nvSpPr>
        <p:spPr>
          <a:xfrm>
            <a:off x="548640" y="1417320"/>
            <a:ext cx="11064240" cy="777240"/>
          </a:xfrm>
          <a:prstGeom prst="roundRect">
            <a:avLst>
              <a:gd name="adj" fmla="val 9412"/>
            </a:avLst>
          </a:prstGeom>
          <a:solidFill>
            <a:schemeClr val="bg2"/>
          </a:solidFill>
          <a:ln/>
        </p:spPr>
        <p:txBody>
          <a:bodyPr/>
          <a:lstStyle/>
          <a:p>
            <a:endParaRPr lang="en-IN"/>
          </a:p>
        </p:txBody>
      </p:sp>
      <mc:AlternateContent xmlns:mc="http://schemas.openxmlformats.org/markup-compatibility/2006" xmlns:a14="http://schemas.microsoft.com/office/drawing/2010/main">
        <mc:Choice Requires="a14">
          <p:sp>
            <p:nvSpPr>
              <p:cNvPr id="401" name="latex-sym"/>
              <p:cNvSpPr txBox="1"/>
              <p:nvPr/>
            </p:nvSpPr>
            <p:spPr>
              <a:xfrm>
                <a:off x="1984248" y="1653540"/>
                <a:ext cx="8238744" cy="304800"/>
              </a:xfrm>
              <a:prstGeom prst="rect">
                <a:avLst/>
              </a:prstGeom>
              <a:noFill/>
            </p:spPr>
            <p:txBody>
              <a:bodyPr wrap="none" lIns="0" tIns="0" rIns="0" bIns="0" rtlCol="0" anchor="ctr">
                <a:noAutofit/>
              </a:bodyPr>
              <a:lstStyle/>
              <a:p>
                <a:pPr marL="0" indent="0">
                  <a:buNone/>
                </a:pPr>
                <a14:m>
                  <m:oMathPara xmlns:m="http://schemas.openxmlformats.org/officeDocument/2006/math">
                    <m:oMathParaPr>
                      <m:jc m:val="left"/>
                    </m:oMathParaPr>
                    <m:oMath>
                      <m:r>
                        <a:rPr lang="en-US" sz="1600" i="1" dirty="0">
                          <a:solidFill>
                            <a:schemeClr val="tx1"/>
                          </a:solidFill>
                          <a:latin typeface="Cambria Math" panose="02040503050406030204" pitchFamily="18" charset="0"/>
                        </a:rPr>
                        <m:t>(</m:t>
                      </m:r>
                      <m:r>
                        <a:rPr lang="en-US" sz="1600" i="1" dirty="0">
                          <a:solidFill>
                            <a:schemeClr val="tx1"/>
                          </a:solidFill>
                          <a:latin typeface="Cambria Math" panose="02040503050406030204" pitchFamily="18" charset="0"/>
                        </a:rPr>
                        <m:t>𝑑</m:t>
                      </m:r>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𝜑</m:t>
                          </m:r>
                        </m:e>
                        <m:sub>
                          <m:r>
                            <a:rPr lang="en-US" sz="1600" i="1" dirty="0">
                              <a:solidFill>
                                <a:schemeClr val="tx1"/>
                              </a:solidFill>
                              <a:latin typeface="Cambria Math" panose="02040503050406030204" pitchFamily="18" charset="0"/>
                            </a:rPr>
                            <m:t>1</m:t>
                          </m:r>
                        </m:sub>
                      </m:sSub>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𝜑</m:t>
                          </m:r>
                        </m:e>
                        <m:sub>
                          <m:r>
                            <a:rPr lang="en-US" sz="1600" i="1" dirty="0">
                              <a:solidFill>
                                <a:schemeClr val="tx1"/>
                              </a:solidFill>
                              <a:latin typeface="Cambria Math" panose="02040503050406030204" pitchFamily="18" charset="0"/>
                            </a:rPr>
                            <m:t>2</m:t>
                          </m:r>
                        </m:sub>
                      </m:sSub>
                      <m:r>
                        <a:rPr lang="en-US" sz="1600" i="1" dirty="0">
                          <a:solidFill>
                            <a:schemeClr val="tx1"/>
                          </a:solidFill>
                          <a:latin typeface="Cambria Math" panose="02040503050406030204" pitchFamily="18" charset="0"/>
                        </a:rPr>
                        <m:t>)↦(</m:t>
                      </m:r>
                      <m:r>
                        <a:rPr lang="en-US" sz="1600" i="1" dirty="0">
                          <a:solidFill>
                            <a:schemeClr val="tx1"/>
                          </a:solidFill>
                          <a:latin typeface="Cambria Math" panose="02040503050406030204" pitchFamily="18" charset="0"/>
                        </a:rPr>
                        <m:t>𝑑</m:t>
                      </m:r>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𝜑</m:t>
                          </m:r>
                        </m:e>
                        <m:sub>
                          <m:r>
                            <a:rPr lang="en-US" sz="1600" i="1" dirty="0">
                              <a:solidFill>
                                <a:schemeClr val="tx1"/>
                              </a:solidFill>
                              <a:latin typeface="Cambria Math" panose="02040503050406030204" pitchFamily="18" charset="0"/>
                            </a:rPr>
                            <m:t>2</m:t>
                          </m:r>
                        </m:sub>
                      </m:sSub>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𝜑</m:t>
                          </m:r>
                        </m:e>
                        <m:sub>
                          <m:r>
                            <a:rPr lang="en-US" sz="1600" i="1" dirty="0">
                              <a:solidFill>
                                <a:schemeClr val="tx1"/>
                              </a:solidFill>
                              <a:latin typeface="Cambria Math" panose="02040503050406030204" pitchFamily="18" charset="0"/>
                            </a:rPr>
                            <m:t>1</m:t>
                          </m:r>
                        </m:sub>
                      </m:sSub>
                      <m:r>
                        <a:rPr lang="en-US" sz="1600" i="1" dirty="0">
                          <a:solidFill>
                            <a:schemeClr val="tx1"/>
                          </a:solidFill>
                          <a:latin typeface="Cambria Math" panose="02040503050406030204" pitchFamily="18" charset="0"/>
                        </a:rPr>
                        <m:t>): </m:t>
                      </m:r>
                      <m:acc>
                        <m:accPr>
                          <m:chr m:val="̃"/>
                          <m:ctrlPr>
                            <a:rPr lang="en-US" sz="1600" i="1" dirty="0">
                              <a:solidFill>
                                <a:schemeClr val="tx1"/>
                              </a:solidFill>
                              <a:latin typeface="Cambria Math" panose="02040503050406030204" pitchFamily="18" charset="0"/>
                            </a:rPr>
                          </m:ctrlPr>
                        </m:accPr>
                        <m:e>
                          <m:r>
                            <a:rPr lang="en-US" sz="1600" i="1" dirty="0">
                              <a:solidFill>
                                <a:schemeClr val="tx1"/>
                              </a:solidFill>
                              <a:latin typeface="Cambria Math" panose="02040503050406030204" pitchFamily="18" charset="0"/>
                            </a:rPr>
                            <m:t>𝜃</m:t>
                          </m:r>
                        </m:e>
                      </m:acc>
                      <m:r>
                        <a:rPr lang="en-US" sz="1600" i="1" dirty="0">
                          <a:solidFill>
                            <a:schemeClr val="tx1"/>
                          </a:solidFill>
                          <a:latin typeface="Cambria Math" panose="02040503050406030204" pitchFamily="18" charset="0"/>
                        </a:rPr>
                        <m:t>(</m:t>
                      </m:r>
                      <m:r>
                        <a:rPr lang="en-US" sz="1600" i="1" dirty="0">
                          <a:solidFill>
                            <a:schemeClr val="tx1"/>
                          </a:solidFill>
                          <a:latin typeface="Cambria Math" panose="02040503050406030204" pitchFamily="18" charset="0"/>
                        </a:rPr>
                        <m:t>𝑠</m:t>
                      </m:r>
                      <m:r>
                        <a:rPr lang="en-US" sz="1600" i="1" dirty="0">
                          <a:solidFill>
                            <a:schemeClr val="tx1"/>
                          </a:solidFill>
                          <a:latin typeface="Cambria Math" panose="02040503050406030204" pitchFamily="18" charset="0"/>
                        </a:rPr>
                        <m:t>)=−</m:t>
                      </m:r>
                      <m:r>
                        <a:rPr lang="en-US" sz="1600" i="1" dirty="0">
                          <a:solidFill>
                            <a:schemeClr val="tx1"/>
                          </a:solidFill>
                          <a:latin typeface="Cambria Math" panose="02040503050406030204" pitchFamily="18" charset="0"/>
                        </a:rPr>
                        <m:t>𝜃</m:t>
                      </m:r>
                      <m:r>
                        <a:rPr lang="en-US" sz="1600" i="1" dirty="0">
                          <a:solidFill>
                            <a:schemeClr val="tx1"/>
                          </a:solidFill>
                          <a:latin typeface="Cambria Math" panose="02040503050406030204" pitchFamily="18" charset="0"/>
                        </a:rPr>
                        <m:t>(</m:t>
                      </m:r>
                      <m:r>
                        <a:rPr lang="en-US" sz="1600" i="1" dirty="0">
                          <a:solidFill>
                            <a:schemeClr val="tx1"/>
                          </a:solidFill>
                          <a:latin typeface="Cambria Math" panose="02040503050406030204" pitchFamily="18" charset="0"/>
                        </a:rPr>
                        <m:t>𝐿</m:t>
                      </m:r>
                      <m:r>
                        <a:rPr lang="en-US" sz="1600" i="1" dirty="0">
                          <a:solidFill>
                            <a:schemeClr val="tx1"/>
                          </a:solidFill>
                          <a:latin typeface="Cambria Math" panose="02040503050406030204" pitchFamily="18" charset="0"/>
                        </a:rPr>
                        <m:t>−</m:t>
                      </m:r>
                      <m:r>
                        <a:rPr lang="en-US" sz="1600" i="1" dirty="0">
                          <a:solidFill>
                            <a:schemeClr val="tx1"/>
                          </a:solidFill>
                          <a:latin typeface="Cambria Math" panose="02040503050406030204" pitchFamily="18" charset="0"/>
                        </a:rPr>
                        <m:t>𝑠</m:t>
                      </m:r>
                      <m:r>
                        <a:rPr lang="en-US" sz="1600" i="1" dirty="0">
                          <a:solidFill>
                            <a:schemeClr val="tx1"/>
                          </a:solidFill>
                          <a:latin typeface="Cambria Math" panose="02040503050406030204" pitchFamily="18" charset="0"/>
                        </a:rPr>
                        <m:t>), </m:t>
                      </m:r>
                      <m:sSub>
                        <m:sSubPr>
                          <m:ctrlPr>
                            <a:rPr lang="en-US" sz="1600" i="1" dirty="0">
                              <a:solidFill>
                                <a:schemeClr val="tx1"/>
                              </a:solidFill>
                              <a:latin typeface="Cambria Math" panose="02040503050406030204" pitchFamily="18" charset="0"/>
                            </a:rPr>
                          </m:ctrlPr>
                        </m:sSubPr>
                        <m:e>
                          <m:acc>
                            <m:accPr>
                              <m:chr m:val="̃"/>
                              <m:ctrlPr>
                                <a:rPr lang="en-US" sz="1600" i="1" dirty="0">
                                  <a:solidFill>
                                    <a:schemeClr val="tx1"/>
                                  </a:solidFill>
                                  <a:latin typeface="Cambria Math" panose="02040503050406030204" pitchFamily="18" charset="0"/>
                                </a:rPr>
                              </m:ctrlPr>
                            </m:accPr>
                            <m:e>
                              <m:r>
                                <a:rPr lang="en-US" sz="1600" i="1" dirty="0">
                                  <a:solidFill>
                                    <a:schemeClr val="tx1"/>
                                  </a:solidFill>
                                  <a:latin typeface="Cambria Math" panose="02040503050406030204" pitchFamily="18" charset="0"/>
                                </a:rPr>
                                <m:t>𝑓</m:t>
                              </m:r>
                            </m:e>
                          </m:acc>
                        </m:e>
                        <m:sub>
                          <m:r>
                            <a:rPr lang="en-US" sz="1600" i="1" dirty="0">
                              <a:solidFill>
                                <a:schemeClr val="tx1"/>
                              </a:solidFill>
                              <a:latin typeface="Cambria Math" panose="02040503050406030204" pitchFamily="18" charset="0"/>
                            </a:rPr>
                            <m:t>𝑥</m:t>
                          </m:r>
                        </m:sub>
                      </m:sSub>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𝑥</m:t>
                          </m:r>
                        </m:sub>
                      </m:sSub>
                      <m:r>
                        <a:rPr lang="en-US" sz="1600" i="1" dirty="0">
                          <a:solidFill>
                            <a:schemeClr val="tx1"/>
                          </a:solidFill>
                          <a:latin typeface="Cambria Math" panose="02040503050406030204" pitchFamily="18" charset="0"/>
                        </a:rPr>
                        <m:t>, </m:t>
                      </m:r>
                      <m:sSub>
                        <m:sSubPr>
                          <m:ctrlPr>
                            <a:rPr lang="en-US" sz="1600" i="1" dirty="0">
                              <a:solidFill>
                                <a:schemeClr val="tx1"/>
                              </a:solidFill>
                              <a:latin typeface="Cambria Math" panose="02040503050406030204" pitchFamily="18" charset="0"/>
                            </a:rPr>
                          </m:ctrlPr>
                        </m:sSubPr>
                        <m:e>
                          <m:acc>
                            <m:accPr>
                              <m:chr m:val="̃"/>
                              <m:ctrlPr>
                                <a:rPr lang="en-US" sz="1600" i="1" dirty="0">
                                  <a:solidFill>
                                    <a:schemeClr val="tx1"/>
                                  </a:solidFill>
                                  <a:latin typeface="Cambria Math" panose="02040503050406030204" pitchFamily="18" charset="0"/>
                                </a:rPr>
                              </m:ctrlPr>
                            </m:accPr>
                            <m:e>
                              <m:r>
                                <a:rPr lang="en-US" sz="1600" i="1" dirty="0">
                                  <a:solidFill>
                                    <a:schemeClr val="tx1"/>
                                  </a:solidFill>
                                  <a:latin typeface="Cambria Math" panose="02040503050406030204" pitchFamily="18" charset="0"/>
                                </a:rPr>
                                <m:t>𝑓</m:t>
                              </m:r>
                            </m:e>
                          </m:acc>
                        </m:e>
                        <m:sub>
                          <m:r>
                            <a:rPr lang="en-US" sz="1600" i="1" dirty="0">
                              <a:solidFill>
                                <a:schemeClr val="tx1"/>
                              </a:solidFill>
                              <a:latin typeface="Cambria Math" panose="02040503050406030204" pitchFamily="18" charset="0"/>
                            </a:rPr>
                            <m:t>𝑦</m:t>
                          </m:r>
                        </m:sub>
                      </m:sSub>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𝑦</m:t>
                          </m:r>
                        </m:sub>
                      </m:sSub>
                      <m:r>
                        <a:rPr lang="en-US" sz="1600" i="1" dirty="0">
                          <a:solidFill>
                            <a:schemeClr val="tx1"/>
                          </a:solidFill>
                          <a:latin typeface="Cambria Math" panose="02040503050406030204" pitchFamily="18" charset="0"/>
                        </a:rPr>
                        <m:t>, </m:t>
                      </m:r>
                      <m:sSub>
                        <m:sSubPr>
                          <m:ctrlPr>
                            <a:rPr lang="en-US" sz="1600" i="1" dirty="0">
                              <a:solidFill>
                                <a:schemeClr val="tx1"/>
                              </a:solidFill>
                              <a:latin typeface="Cambria Math" panose="02040503050406030204" pitchFamily="18" charset="0"/>
                            </a:rPr>
                          </m:ctrlPr>
                        </m:sSubPr>
                        <m:e>
                          <m:acc>
                            <m:accPr>
                              <m:chr m:val="̃"/>
                              <m:ctrlPr>
                                <a:rPr lang="en-US" sz="1600" i="1" dirty="0">
                                  <a:solidFill>
                                    <a:schemeClr val="tx1"/>
                                  </a:solidFill>
                                  <a:latin typeface="Cambria Math" panose="02040503050406030204" pitchFamily="18" charset="0"/>
                                </a:rPr>
                              </m:ctrlPr>
                            </m:accPr>
                            <m:e>
                              <m:r>
                                <a:rPr lang="en-US" sz="1600" i="1" dirty="0">
                                  <a:solidFill>
                                    <a:schemeClr val="tx1"/>
                                  </a:solidFill>
                                  <a:latin typeface="Cambria Math" panose="02040503050406030204" pitchFamily="18" charset="0"/>
                                </a:rPr>
                                <m:t>𝑀</m:t>
                              </m:r>
                            </m:e>
                          </m:acc>
                        </m:e>
                        <m:sub>
                          <m:r>
                            <a:rPr lang="en-US" sz="1600" i="1" dirty="0">
                              <a:solidFill>
                                <a:schemeClr val="tx1"/>
                              </a:solidFill>
                              <a:latin typeface="Cambria Math" panose="02040503050406030204" pitchFamily="18" charset="0"/>
                            </a:rPr>
                            <m:t>1</m:t>
                          </m:r>
                        </m:sub>
                      </m:sSub>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𝑀</m:t>
                          </m:r>
                        </m:e>
                        <m:sub>
                          <m:r>
                            <a:rPr lang="en-US" sz="1600" i="1" dirty="0">
                              <a:solidFill>
                                <a:schemeClr val="tx1"/>
                              </a:solidFill>
                              <a:latin typeface="Cambria Math" panose="02040503050406030204" pitchFamily="18" charset="0"/>
                            </a:rPr>
                            <m:t>2</m:t>
                          </m:r>
                        </m:sub>
                      </m:sSub>
                      <m:r>
                        <a:rPr lang="en-US" sz="1600" i="1" dirty="0">
                          <a:solidFill>
                            <a:schemeClr val="tx1"/>
                          </a:solidFill>
                          <a:latin typeface="Cambria Math" panose="02040503050406030204" pitchFamily="18" charset="0"/>
                        </a:rPr>
                        <m:t>, </m:t>
                      </m:r>
                      <m:acc>
                        <m:accPr>
                          <m:chr m:val="̃"/>
                          <m:ctrlPr>
                            <a:rPr lang="en-US" sz="1600" i="1" dirty="0">
                              <a:solidFill>
                                <a:schemeClr val="tx1"/>
                              </a:solidFill>
                              <a:latin typeface="Cambria Math" panose="02040503050406030204" pitchFamily="18" charset="0"/>
                            </a:rPr>
                          </m:ctrlPr>
                        </m:accPr>
                        <m:e>
                          <m:r>
                            <a:rPr lang="en-US" sz="1600" i="1" dirty="0">
                              <a:solidFill>
                                <a:schemeClr val="tx1"/>
                              </a:solidFill>
                              <a:latin typeface="Cambria Math" panose="02040503050406030204" pitchFamily="18" charset="0"/>
                            </a:rPr>
                            <m:t>𝑝</m:t>
                          </m:r>
                        </m:e>
                      </m:acc>
                      <m:r>
                        <a:rPr lang="en-US" sz="1600" i="1" dirty="0">
                          <a:solidFill>
                            <a:schemeClr val="tx1"/>
                          </a:solidFill>
                          <a:latin typeface="Cambria Math" panose="02040503050406030204" pitchFamily="18" charset="0"/>
                        </a:rPr>
                        <m:t>=</m:t>
                      </m:r>
                      <m:r>
                        <a:rPr lang="en-US" sz="1600" i="1" dirty="0">
                          <a:solidFill>
                            <a:schemeClr val="tx1"/>
                          </a:solidFill>
                          <a:latin typeface="Cambria Math" panose="02040503050406030204" pitchFamily="18" charset="0"/>
                        </a:rPr>
                        <m:t>𝑝</m:t>
                      </m:r>
                    </m:oMath>
                  </m:oMathPara>
                </a14:m>
                <a:endParaRPr lang="en-US" sz="1600" dirty="0"/>
              </a:p>
            </p:txBody>
          </p:sp>
        </mc:Choice>
        <mc:Fallback xmlns="">
          <p:sp>
            <p:nvSpPr>
              <p:cNvPr id="401" name="latex-sym"/>
              <p:cNvSpPr txBox="1">
                <a:spLocks noRot="1" noChangeAspect="1" noMove="1" noResize="1" noEditPoints="1" noAdjustHandles="1" noChangeArrowheads="1" noChangeShapeType="1" noTextEdit="1"/>
              </p:cNvSpPr>
              <p:nvPr/>
            </p:nvSpPr>
            <p:spPr>
              <a:xfrm>
                <a:off x="1984248" y="1653540"/>
                <a:ext cx="8238744" cy="304800"/>
              </a:xfrm>
              <a:prstGeom prst="rect">
                <a:avLst/>
              </a:prstGeom>
              <a:blipFill>
                <a:blip r:embed="rId5"/>
                <a:stretch>
                  <a:fillRect/>
                </a:stretch>
              </a:blipFill>
            </p:spPr>
            <p:txBody>
              <a:bodyPr/>
              <a:lstStyle/>
              <a:p>
                <a:r>
                  <a:rPr lang="en-US">
                    <a:noFill/>
                  </a:rPr>
                  <a:t> </a:t>
                </a:r>
              </a:p>
            </p:txBody>
          </p:sp>
        </mc:Fallback>
      </mc:AlternateContent>
      <p:pic>
        <p:nvPicPr>
          <p:cNvPr id="5" name="figure-225" descr="Solved half of the angle square, and theta with its mirror image at d = 0.90"/>
          <p:cNvPicPr>
            <a:picLocks noChangeAspect="1"/>
          </p:cNvPicPr>
          <p:nvPr/>
        </p:nvPicPr>
        <p:blipFill>
          <a:blip r:embed="rId6"/>
          <a:stretch>
            <a:fillRect/>
          </a:stretch>
        </p:blipFill>
        <p:spPr>
          <a:xfrm>
            <a:off x="640216" y="2423160"/>
            <a:ext cx="7314929" cy="3226003"/>
          </a:xfrm>
          <a:prstGeom prst="rect">
            <a:avLst/>
          </a:prstGeom>
        </p:spPr>
      </p:pic>
      <p:sp>
        <p:nvSpPr>
          <p:cNvPr id="6" name="badge-226"/>
          <p:cNvSpPr/>
          <p:nvPr/>
        </p:nvSpPr>
        <p:spPr>
          <a:xfrm>
            <a:off x="8412480" y="2606040"/>
            <a:ext cx="384048" cy="384048"/>
          </a:xfrm>
          <a:prstGeom prst="ellipse">
            <a:avLst/>
          </a:prstGeom>
          <a:solidFill>
            <a:schemeClr val="accent1"/>
          </a:solidFill>
          <a:ln/>
        </p:spPr>
        <p:txBody>
          <a:bodyPr/>
          <a:lstStyle/>
          <a:p>
            <a:endParaRPr lang="en-IN"/>
          </a:p>
        </p:txBody>
      </p:sp>
      <p:sp>
        <p:nvSpPr>
          <p:cNvPr id="7" name="badge-label-227"/>
          <p:cNvSpPr txBox="1"/>
          <p:nvPr/>
        </p:nvSpPr>
        <p:spPr>
          <a:xfrm>
            <a:off x="8412480" y="260604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ext-228"/>
          <p:cNvSpPr txBox="1"/>
          <p:nvPr/>
        </p:nvSpPr>
        <p:spPr>
          <a:xfrm>
            <a:off x="8961120" y="2578608"/>
            <a:ext cx="2651760" cy="1005840"/>
          </a:xfrm>
          <a:prstGeom prst="rect">
            <a:avLst/>
          </a:prstGeom>
          <a:noFill/>
          <a:ln/>
        </p:spPr>
        <p:txBody>
          <a:bodyPr wrap="square" lIns="0" tIns="0" rIns="0" bIns="0" rtlCol="0" anchor="t"/>
          <a:lstStyle/>
          <a:p>
            <a:pPr marL="0" indent="0">
              <a:buNone/>
            </a:pPr>
            <a:r>
              <a:rPr lang="en-US" sz="1400" dirty="0">
                <a:solidFill>
                  <a:schemeClr val="tx1"/>
                </a:solidFill>
              </a:rPr>
              <a:t>Reflecting the rod about mid-span maps (φ₁, φ₂) to (−φ₂, −φ₁)</a:t>
            </a:r>
            <a:endParaRPr lang="en-US" sz="1400" dirty="0"/>
          </a:p>
        </p:txBody>
      </p:sp>
      <p:sp>
        <p:nvSpPr>
          <p:cNvPr id="9" name="badge-229"/>
          <p:cNvSpPr/>
          <p:nvPr/>
        </p:nvSpPr>
        <p:spPr>
          <a:xfrm>
            <a:off x="8412480" y="3703320"/>
            <a:ext cx="384048" cy="384048"/>
          </a:xfrm>
          <a:prstGeom prst="ellipse">
            <a:avLst/>
          </a:prstGeom>
          <a:solidFill>
            <a:schemeClr val="accent1"/>
          </a:solidFill>
          <a:ln/>
        </p:spPr>
        <p:txBody>
          <a:bodyPr/>
          <a:lstStyle/>
          <a:p>
            <a:endParaRPr lang="en-IN"/>
          </a:p>
        </p:txBody>
      </p:sp>
      <p:sp>
        <p:nvSpPr>
          <p:cNvPr id="10" name="badge-label-230"/>
          <p:cNvSpPr txBox="1"/>
          <p:nvPr/>
        </p:nvSpPr>
        <p:spPr>
          <a:xfrm>
            <a:off x="8412480" y="370332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ext-231"/>
          <p:cNvSpPr txBox="1"/>
          <p:nvPr/>
        </p:nvSpPr>
        <p:spPr>
          <a:xfrm>
            <a:off x="8961120" y="3675888"/>
            <a:ext cx="2651760" cy="1005840"/>
          </a:xfrm>
          <a:prstGeom prst="rect">
            <a:avLst/>
          </a:prstGeom>
          <a:noFill/>
          <a:ln/>
        </p:spPr>
        <p:txBody>
          <a:bodyPr wrap="square" lIns="0" tIns="0" rIns="0" bIns="0" rtlCol="0" anchor="t"/>
          <a:lstStyle/>
          <a:p>
            <a:pPr marL="0" indent="0">
              <a:buNone/>
            </a:pPr>
            <a:r>
              <a:rPr lang="en-US" sz="1400" dirty="0">
                <a:solidFill>
                  <a:schemeClr val="tx1"/>
                </a:solidFill>
              </a:rPr>
              <a:t>Only φ₁ + φ₂ ≥ 0 is solved; points on the anti-diagonal are solved once</a:t>
            </a:r>
            <a:endParaRPr lang="en-US" sz="1400" dirty="0"/>
          </a:p>
        </p:txBody>
      </p:sp>
      <p:sp>
        <p:nvSpPr>
          <p:cNvPr id="12" name="badge-232"/>
          <p:cNvSpPr/>
          <p:nvPr/>
        </p:nvSpPr>
        <p:spPr>
          <a:xfrm>
            <a:off x="8412480" y="4800600"/>
            <a:ext cx="384048" cy="384048"/>
          </a:xfrm>
          <a:prstGeom prst="ellipse">
            <a:avLst/>
          </a:prstGeom>
          <a:solidFill>
            <a:schemeClr val="accent1"/>
          </a:solidFill>
          <a:ln/>
        </p:spPr>
        <p:txBody>
          <a:bodyPr/>
          <a:lstStyle/>
          <a:p>
            <a:endParaRPr lang="en-IN"/>
          </a:p>
        </p:txBody>
      </p:sp>
      <p:sp>
        <p:nvSpPr>
          <p:cNvPr id="13" name="badge-label-233"/>
          <p:cNvSpPr txBox="1"/>
          <p:nvPr/>
        </p:nvSpPr>
        <p:spPr>
          <a:xfrm>
            <a:off x="8412480" y="48006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text-234"/>
          <p:cNvSpPr txBox="1"/>
          <p:nvPr/>
        </p:nvSpPr>
        <p:spPr>
          <a:xfrm>
            <a:off x="8961120" y="4773168"/>
            <a:ext cx="2651760" cy="1005840"/>
          </a:xfrm>
          <a:prstGeom prst="rect">
            <a:avLst/>
          </a:prstGeom>
          <a:noFill/>
          <a:ln/>
        </p:spPr>
        <p:txBody>
          <a:bodyPr wrap="square" lIns="0" tIns="0" rIns="0" bIns="0" rtlCol="0" anchor="t"/>
          <a:lstStyle/>
          <a:p>
            <a:pPr marL="0" indent="0">
              <a:buNone/>
            </a:pPr>
            <a:r>
              <a:rPr lang="en-US" sz="1400" dirty="0">
                <a:solidFill>
                  <a:schemeClr val="tx1"/>
                </a:solidFill>
              </a:rPr>
              <a:t>f</a:t>
            </a:r>
            <a:r>
              <a:rPr lang="en-US" sz="1400" baseline="-25000" dirty="0">
                <a:solidFill>
                  <a:schemeClr val="tx1"/>
                </a:solidFill>
              </a:rPr>
              <a:t>x</a:t>
            </a:r>
            <a:r>
              <a:rPr lang="en-US" sz="1400" dirty="0">
                <a:solidFill>
                  <a:schemeClr val="tx1"/>
                </a:solidFill>
              </a:rPr>
              <a:t>, U and p carry over, f</a:t>
            </a:r>
            <a:r>
              <a:rPr lang="en-US" sz="1400" baseline="-25000" dirty="0">
                <a:solidFill>
                  <a:schemeClr val="tx1"/>
                </a:solidFill>
              </a:rPr>
              <a:t>y</a:t>
            </a:r>
            <a:r>
              <a:rPr lang="en-US" sz="1400" dirty="0">
                <a:solidFill>
                  <a:schemeClr val="tx1"/>
                </a:solidFill>
              </a:rPr>
              <a:t> flips sign, and the left and right moments swap</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Production run">
    <p:spTree>
      <p:nvGrpSpPr>
        <p:cNvPr id="1" name=""/>
        <p:cNvGrpSpPr/>
        <p:nvPr/>
      </p:nvGrpSpPr>
      <p:grpSpPr>
        <a:xfrm>
          <a:off x="0" y="0"/>
          <a:ext cx="0" cy="0"/>
          <a:chOff x="0" y="0"/>
          <a:chExt cx="0" cy="0"/>
        </a:xfrm>
      </p:grpSpPr>
      <p:sp>
        <p:nvSpPr>
          <p:cNvPr id="2" name="Title"/>
          <p:cNvSpPr>
            <a:spLocks noGrp="1"/>
          </p:cNvSpPr>
          <p:nvPr>
            <p:ph type="title" idx="100" hasCustomPrompt="1"/>
          </p:nvPr>
        </p:nvSpPr>
        <p:spPr>
          <a:xfrm>
            <a:off x="822960" y="2377440"/>
            <a:ext cx="10515600" cy="1097280"/>
          </a:xfrm>
          <a:prstGeom prst="rect">
            <a:avLst/>
          </a:prstGeom>
          <a:noFill/>
          <a:ln/>
        </p:spPr>
        <p:txBody>
          <a:bodyPr wrap="square" lIns="0" tIns="0" rIns="0" bIns="0" rtlCol="0" anchor="b"/>
          <a:lstStyle/>
          <a:p>
            <a:pPr marL="0" indent="0" algn="l">
              <a:buNone/>
            </a:pPr>
            <a:r>
              <a:rPr lang="en-US" sz="4000" b="1">
                <a:solidFill>
                  <a:schemeClr val="bg1"/>
                </a:solidFill>
              </a:rPr>
              <a:t>Final </a:t>
            </a:r>
            <a:r>
              <a:rPr lang="en-US" sz="4000" b="1" dirty="0">
                <a:solidFill>
                  <a:schemeClr val="bg1"/>
                </a:solidFill>
              </a:rPr>
              <a:t>run</a:t>
            </a:r>
            <a:endParaRPr lang="en-US" sz="4000" dirty="0"/>
          </a:p>
        </p:txBody>
      </p:sp>
      <p:sp>
        <p:nvSpPr>
          <p:cNvPr id="3" name="Subtitle"/>
          <p:cNvSpPr>
            <a:spLocks noGrp="1"/>
          </p:cNvSpPr>
          <p:nvPr>
            <p:ph type="body" idx="101" hasCustomPrompt="1"/>
          </p:nvPr>
        </p:nvSpPr>
        <p:spPr>
          <a:xfrm>
            <a:off x="822960" y="3657600"/>
            <a:ext cx="10515600" cy="822960"/>
          </a:xfrm>
          <a:prstGeom prst="rect">
            <a:avLst/>
          </a:prstGeom>
          <a:noFill/>
          <a:ln/>
        </p:spPr>
        <p:txBody>
          <a:bodyPr wrap="square" lIns="0" tIns="0" rIns="0" bIns="0" rtlCol="0" anchor="t"/>
          <a:lstStyle/>
          <a:p>
            <a:pPr marL="0" indent="0">
              <a:buNone/>
            </a:pPr>
            <a:r>
              <a:rPr lang="en-US" sz="2000" dirty="0">
                <a:solidFill>
                  <a:schemeClr val="accent1"/>
                </a:solidFill>
              </a:rPr>
              <a:t>d ∈ [0.70, 0.99], φ₁, φ₂ ∈ [−π/2, π/2], Δ = 0.01: 2.98 M equilibria and their level sets</a:t>
            </a:r>
            <a:endParaRPr lang="en-US" sz="2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Production summary">
    <p:spTree>
      <p:nvGrpSpPr>
        <p:cNvPr id="1" name=""/>
        <p:cNvGrpSpPr/>
        <p:nvPr/>
      </p:nvGrpSpPr>
      <p:grpSpPr>
        <a:xfrm>
          <a:off x="0" y="0"/>
          <a:ext cx="0" cy="0"/>
          <a:chOff x="0" y="0"/>
          <a:chExt cx="0" cy="0"/>
        </a:xfrm>
      </p:grpSpPr>
      <p:sp>
        <p:nvSpPr>
          <p:cNvPr id="2" name="Title"/>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2.98 M equilibria, every one checked</a:t>
            </a:r>
            <a:endParaRPr lang="en-US" sz="3000" dirty="0"/>
          </a:p>
        </p:txBody>
      </p:sp>
      <p:sp>
        <p:nvSpPr>
          <p:cNvPr id="401" name="card-401"/>
          <p:cNvSpPr/>
          <p:nvPr/>
        </p:nvSpPr>
        <p:spPr>
          <a:xfrm>
            <a:off x="548640" y="1371600"/>
            <a:ext cx="2606040" cy="1828800"/>
          </a:xfrm>
          <a:prstGeom prst="roundRect">
            <a:avLst>
              <a:gd name="adj" fmla="val 6000"/>
            </a:avLst>
          </a:prstGeom>
          <a:solidFill>
            <a:schemeClr val="bg2"/>
          </a:solidFill>
          <a:ln>
            <a:noFill/>
          </a:ln>
        </p:spPr>
        <p:txBody>
          <a:bodyPr/>
          <a:lstStyle/>
          <a:p>
            <a:endParaRPr lang="en-US"/>
          </a:p>
        </p:txBody>
      </p:sp>
      <p:sp>
        <p:nvSpPr>
          <p:cNvPr id="402" name="tile-big-402"/>
          <p:cNvSpPr txBox="1"/>
          <p:nvPr/>
        </p:nvSpPr>
        <p:spPr>
          <a:xfrm>
            <a:off x="749808" y="1481328"/>
            <a:ext cx="2203704" cy="658368"/>
          </a:xfrm>
          <a:prstGeom prst="rect">
            <a:avLst/>
          </a:prstGeom>
          <a:noFill/>
          <a:ln/>
        </p:spPr>
        <p:txBody>
          <a:bodyPr wrap="square" lIns="0" tIns="0" rIns="0" bIns="0" rtlCol="0" anchor="ctr">
            <a:normAutofit/>
          </a:bodyPr>
          <a:lstStyle/>
          <a:p>
            <a:pPr marL="0" indent="0" algn="l">
              <a:spcAft>
                <a:spcPts val="0"/>
              </a:spcAft>
              <a:buNone/>
            </a:pPr>
            <a:r>
              <a:rPr lang="en-US" sz="3000" b="1" dirty="0">
                <a:solidFill>
                  <a:schemeClr val="accent1"/>
                </a:solidFill>
              </a:rPr>
              <a:t>2,976,750</a:t>
            </a:r>
            <a:endParaRPr lang="en-US" sz="3000" dirty="0"/>
          </a:p>
        </p:txBody>
      </p:sp>
      <p:sp>
        <p:nvSpPr>
          <p:cNvPr id="403" name="tile-label-403"/>
          <p:cNvSpPr txBox="1"/>
          <p:nvPr/>
        </p:nvSpPr>
        <p:spPr>
          <a:xfrm>
            <a:off x="749808" y="2194560"/>
            <a:ext cx="2203704" cy="310896"/>
          </a:xfrm>
          <a:prstGeom prst="rect">
            <a:avLst/>
          </a:prstGeom>
          <a:noFill/>
          <a:ln/>
        </p:spPr>
        <p:txBody>
          <a:bodyPr wrap="square" lIns="0" tIns="0" rIns="0" bIns="0" rtlCol="0" anchor="t">
            <a:normAutofit/>
          </a:bodyPr>
          <a:lstStyle/>
          <a:p>
            <a:pPr marL="0" indent="0" algn="l">
              <a:spcAft>
                <a:spcPts val="0"/>
              </a:spcAft>
              <a:buNone/>
            </a:pPr>
            <a:r>
              <a:rPr lang="en-US" sz="1400" b="1" dirty="0">
                <a:solidFill>
                  <a:schemeClr val="tx1"/>
                </a:solidFill>
              </a:rPr>
              <a:t>equilibria</a:t>
            </a:r>
            <a:endParaRPr lang="en-US" sz="1400" dirty="0"/>
          </a:p>
        </p:txBody>
      </p:sp>
      <p:sp>
        <p:nvSpPr>
          <p:cNvPr id="404" name="tile-sub-404"/>
          <p:cNvSpPr txBox="1"/>
          <p:nvPr/>
        </p:nvSpPr>
        <p:spPr>
          <a:xfrm>
            <a:off x="749808" y="2542032"/>
            <a:ext cx="2203704" cy="585216"/>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30 × 315 × 315 grid; 1.49 M Newton solves, the mirror fills the rest</a:t>
            </a:r>
            <a:endParaRPr lang="en-US" sz="1150" dirty="0"/>
          </a:p>
        </p:txBody>
      </p:sp>
      <p:sp>
        <p:nvSpPr>
          <p:cNvPr id="405" name="card-405"/>
          <p:cNvSpPr/>
          <p:nvPr/>
        </p:nvSpPr>
        <p:spPr>
          <a:xfrm>
            <a:off x="3383280" y="1371600"/>
            <a:ext cx="2606040" cy="1828800"/>
          </a:xfrm>
          <a:prstGeom prst="roundRect">
            <a:avLst>
              <a:gd name="adj" fmla="val 6000"/>
            </a:avLst>
          </a:prstGeom>
          <a:solidFill>
            <a:schemeClr val="bg2"/>
          </a:solidFill>
          <a:ln>
            <a:noFill/>
          </a:ln>
        </p:spPr>
        <p:txBody>
          <a:bodyPr/>
          <a:lstStyle/>
          <a:p>
            <a:endParaRPr lang="en-US"/>
          </a:p>
        </p:txBody>
      </p:sp>
      <p:sp>
        <p:nvSpPr>
          <p:cNvPr id="406" name="tile-big-406"/>
          <p:cNvSpPr txBox="1"/>
          <p:nvPr/>
        </p:nvSpPr>
        <p:spPr>
          <a:xfrm>
            <a:off x="3584448" y="1481328"/>
            <a:ext cx="2203704" cy="658368"/>
          </a:xfrm>
          <a:prstGeom prst="rect">
            <a:avLst/>
          </a:prstGeom>
          <a:noFill/>
          <a:ln/>
        </p:spPr>
        <p:txBody>
          <a:bodyPr wrap="square" lIns="0" tIns="0" rIns="0" bIns="0" rtlCol="0" anchor="ctr">
            <a:normAutofit/>
          </a:bodyPr>
          <a:lstStyle/>
          <a:p>
            <a:pPr marL="0" indent="0" algn="l">
              <a:spcAft>
                <a:spcPts val="0"/>
              </a:spcAft>
              <a:buNone/>
            </a:pPr>
            <a:r>
              <a:rPr lang="en-US" sz="3000" b="1" dirty="0">
                <a:solidFill>
                  <a:schemeClr val="accent1"/>
                </a:solidFill>
              </a:rPr>
              <a:t>≈ 4 h</a:t>
            </a:r>
            <a:endParaRPr lang="en-US" sz="3000" dirty="0"/>
          </a:p>
        </p:txBody>
      </p:sp>
      <p:sp>
        <p:nvSpPr>
          <p:cNvPr id="407" name="tile-label-407"/>
          <p:cNvSpPr txBox="1"/>
          <p:nvPr/>
        </p:nvSpPr>
        <p:spPr>
          <a:xfrm>
            <a:off x="3584448" y="2194560"/>
            <a:ext cx="2203704" cy="310896"/>
          </a:xfrm>
          <a:prstGeom prst="rect">
            <a:avLst/>
          </a:prstGeom>
          <a:noFill/>
          <a:ln/>
        </p:spPr>
        <p:txBody>
          <a:bodyPr wrap="square" lIns="0" tIns="0" rIns="0" bIns="0" rtlCol="0" anchor="t">
            <a:normAutofit/>
          </a:bodyPr>
          <a:lstStyle/>
          <a:p>
            <a:pPr marL="0" indent="0" algn="l">
              <a:spcAft>
                <a:spcPts val="0"/>
              </a:spcAft>
              <a:buNone/>
            </a:pPr>
            <a:r>
              <a:rPr lang="en-US" sz="1400" b="1" dirty="0">
                <a:solidFill>
                  <a:schemeClr val="tx1"/>
                </a:solidFill>
              </a:rPr>
              <a:t>on one core</a:t>
            </a:r>
            <a:endParaRPr lang="en-US" sz="1400" dirty="0"/>
          </a:p>
        </p:txBody>
      </p:sp>
      <p:sp>
        <p:nvSpPr>
          <p:cNvPr id="408" name="tile-sub-408"/>
          <p:cNvSpPr txBox="1"/>
          <p:nvPr/>
        </p:nvSpPr>
        <p:spPr>
          <a:xfrm>
            <a:off x="3584448" y="2542032"/>
            <a:ext cx="2203704" cy="585216"/>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about 11 ms per solve, from one cold start (plus one more near d = 1)</a:t>
            </a:r>
            <a:endParaRPr lang="en-US" sz="1150" dirty="0"/>
          </a:p>
        </p:txBody>
      </p:sp>
      <p:sp>
        <p:nvSpPr>
          <p:cNvPr id="409" name="card-409"/>
          <p:cNvSpPr/>
          <p:nvPr/>
        </p:nvSpPr>
        <p:spPr>
          <a:xfrm>
            <a:off x="6217920" y="1371600"/>
            <a:ext cx="2606040" cy="1828800"/>
          </a:xfrm>
          <a:prstGeom prst="roundRect">
            <a:avLst>
              <a:gd name="adj" fmla="val 6000"/>
            </a:avLst>
          </a:prstGeom>
          <a:solidFill>
            <a:schemeClr val="bg2"/>
          </a:solidFill>
          <a:ln>
            <a:noFill/>
          </a:ln>
        </p:spPr>
        <p:txBody>
          <a:bodyPr/>
          <a:lstStyle/>
          <a:p>
            <a:endParaRPr lang="en-US"/>
          </a:p>
        </p:txBody>
      </p:sp>
      <p:sp>
        <p:nvSpPr>
          <p:cNvPr id="410" name="tile-big-410"/>
          <p:cNvSpPr txBox="1"/>
          <p:nvPr/>
        </p:nvSpPr>
        <p:spPr>
          <a:xfrm>
            <a:off x="6419088" y="1481328"/>
            <a:ext cx="2203704" cy="658368"/>
          </a:xfrm>
          <a:prstGeom prst="rect">
            <a:avLst/>
          </a:prstGeom>
          <a:noFill/>
          <a:ln/>
        </p:spPr>
        <p:txBody>
          <a:bodyPr wrap="square" lIns="0" tIns="0" rIns="0" bIns="0" rtlCol="0" anchor="ctr">
            <a:normAutofit/>
          </a:bodyPr>
          <a:lstStyle/>
          <a:p>
            <a:pPr marL="0" indent="0" algn="l">
              <a:spcAft>
                <a:spcPts val="0"/>
              </a:spcAft>
              <a:buNone/>
            </a:pPr>
            <a:r>
              <a:rPr lang="en-US" sz="3000" b="1" dirty="0">
                <a:solidFill>
                  <a:schemeClr val="accent1"/>
                </a:solidFill>
              </a:rPr>
              <a:t>0.27 %</a:t>
            </a:r>
            <a:endParaRPr lang="en-US" sz="3000" dirty="0"/>
          </a:p>
        </p:txBody>
      </p:sp>
      <p:sp>
        <p:nvSpPr>
          <p:cNvPr id="411" name="tile-label-411"/>
          <p:cNvSpPr txBox="1"/>
          <p:nvPr/>
        </p:nvSpPr>
        <p:spPr>
          <a:xfrm>
            <a:off x="6419088" y="2194560"/>
            <a:ext cx="2203704" cy="310896"/>
          </a:xfrm>
          <a:prstGeom prst="rect">
            <a:avLst/>
          </a:prstGeom>
          <a:noFill/>
          <a:ln/>
        </p:spPr>
        <p:txBody>
          <a:bodyPr wrap="square" lIns="0" tIns="0" rIns="0" bIns="0" rtlCol="0" anchor="t">
            <a:normAutofit/>
          </a:bodyPr>
          <a:lstStyle/>
          <a:p>
            <a:pPr marL="0" indent="0" algn="l">
              <a:spcAft>
                <a:spcPts val="0"/>
              </a:spcAft>
              <a:buNone/>
            </a:pPr>
            <a:r>
              <a:rPr lang="en-US" sz="1400" b="1" dirty="0">
                <a:solidFill>
                  <a:schemeClr val="tx1"/>
                </a:solidFill>
              </a:rPr>
              <a:t>max error vs. BVP</a:t>
            </a:r>
            <a:endParaRPr lang="en-US" sz="1400" dirty="0"/>
          </a:p>
        </p:txBody>
      </p:sp>
      <p:sp>
        <p:nvSpPr>
          <p:cNvPr id="412" name="tile-sub-412"/>
          <p:cNvSpPr txBox="1"/>
          <p:nvPr/>
        </p:nvSpPr>
        <p:spPr>
          <a:xfrm>
            <a:off x="6419088" y="2542032"/>
            <a:ext cx="2203704" cy="585216"/>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300 random nodes re-solved with scipy solve_bvp; median 0.014 %</a:t>
            </a:r>
            <a:endParaRPr lang="en-US" sz="1150" dirty="0"/>
          </a:p>
        </p:txBody>
      </p:sp>
      <p:sp>
        <p:nvSpPr>
          <p:cNvPr id="413" name="card-413"/>
          <p:cNvSpPr/>
          <p:nvPr/>
        </p:nvSpPr>
        <p:spPr>
          <a:xfrm>
            <a:off x="9052560" y="1371600"/>
            <a:ext cx="2606040" cy="1828800"/>
          </a:xfrm>
          <a:prstGeom prst="roundRect">
            <a:avLst>
              <a:gd name="adj" fmla="val 6000"/>
            </a:avLst>
          </a:prstGeom>
          <a:solidFill>
            <a:schemeClr val="bg2"/>
          </a:solidFill>
          <a:ln>
            <a:noFill/>
          </a:ln>
        </p:spPr>
        <p:txBody>
          <a:bodyPr/>
          <a:lstStyle/>
          <a:p>
            <a:endParaRPr lang="en-US"/>
          </a:p>
        </p:txBody>
      </p:sp>
      <p:sp>
        <p:nvSpPr>
          <p:cNvPr id="414" name="tile-big-414"/>
          <p:cNvSpPr txBox="1"/>
          <p:nvPr/>
        </p:nvSpPr>
        <p:spPr>
          <a:xfrm>
            <a:off x="9253728" y="1481328"/>
            <a:ext cx="2203704" cy="658368"/>
          </a:xfrm>
          <a:prstGeom prst="rect">
            <a:avLst/>
          </a:prstGeom>
          <a:noFill/>
          <a:ln/>
        </p:spPr>
        <p:txBody>
          <a:bodyPr wrap="square" lIns="0" tIns="0" rIns="0" bIns="0" rtlCol="0" anchor="ctr">
            <a:normAutofit/>
          </a:bodyPr>
          <a:lstStyle/>
          <a:p>
            <a:pPr marL="0" indent="0" algn="l">
              <a:spcAft>
                <a:spcPts val="0"/>
              </a:spcAft>
              <a:buNone/>
            </a:pPr>
            <a:r>
              <a:rPr lang="en-US" sz="3000" b="1" dirty="0">
                <a:solidFill>
                  <a:schemeClr val="accent1"/>
                </a:solidFill>
              </a:rPr>
              <a:t>0</a:t>
            </a:r>
            <a:endParaRPr lang="en-US" sz="3000" dirty="0"/>
          </a:p>
        </p:txBody>
      </p:sp>
      <p:sp>
        <p:nvSpPr>
          <p:cNvPr id="415" name="tile-label-415"/>
          <p:cNvSpPr txBox="1"/>
          <p:nvPr/>
        </p:nvSpPr>
        <p:spPr>
          <a:xfrm>
            <a:off x="9253728" y="2194560"/>
            <a:ext cx="2203704" cy="310896"/>
          </a:xfrm>
          <a:prstGeom prst="rect">
            <a:avLst/>
          </a:prstGeom>
          <a:noFill/>
          <a:ln/>
        </p:spPr>
        <p:txBody>
          <a:bodyPr wrap="square" lIns="0" tIns="0" rIns="0" bIns="0" rtlCol="0" anchor="t">
            <a:normAutofit/>
          </a:bodyPr>
          <a:lstStyle/>
          <a:p>
            <a:pPr marL="0" indent="0" algn="l">
              <a:spcAft>
                <a:spcPts val="0"/>
              </a:spcAft>
              <a:buNone/>
            </a:pPr>
            <a:r>
              <a:rPr lang="en-US" sz="1400" b="1" dirty="0">
                <a:solidFill>
                  <a:schemeClr val="tx1"/>
                </a:solidFill>
              </a:rPr>
              <a:t>unstable equilibria</a:t>
            </a:r>
            <a:endParaRPr lang="en-US" sz="1400" dirty="0"/>
          </a:p>
        </p:txBody>
      </p:sp>
      <p:sp>
        <p:nvSpPr>
          <p:cNvPr id="416" name="tile-sub-416"/>
          <p:cNvSpPr txBox="1"/>
          <p:nvPr/>
        </p:nvSpPr>
        <p:spPr>
          <a:xfrm>
            <a:off x="9253728" y="2542032"/>
            <a:ext cx="2203704" cy="585216"/>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stability test on all 2,976,750 nodes</a:t>
            </a:r>
            <a:endParaRPr lang="en-US" sz="1150" dirty="0"/>
          </a:p>
        </p:txBody>
      </p:sp>
      <p:sp>
        <p:nvSpPr>
          <p:cNvPr id="417" name="card-417"/>
          <p:cNvSpPr/>
          <p:nvPr/>
        </p:nvSpPr>
        <p:spPr>
          <a:xfrm>
            <a:off x="548640" y="3429000"/>
            <a:ext cx="3566160" cy="2240280"/>
          </a:xfrm>
          <a:prstGeom prst="roundRect">
            <a:avLst>
              <a:gd name="adj" fmla="val 6000"/>
            </a:avLst>
          </a:prstGeom>
          <a:solidFill>
            <a:schemeClr val="bg2"/>
          </a:solidFill>
          <a:ln>
            <a:noFill/>
          </a:ln>
        </p:spPr>
        <p:txBody>
          <a:bodyPr/>
          <a:lstStyle/>
          <a:p>
            <a:endParaRPr lang="en-US"/>
          </a:p>
        </p:txBody>
      </p:sp>
      <p:sp>
        <p:nvSpPr>
          <p:cNvPr id="418" name="card-head-418"/>
          <p:cNvSpPr txBox="1"/>
          <p:nvPr/>
        </p:nvSpPr>
        <p:spPr>
          <a:xfrm>
            <a:off x="731520" y="3566160"/>
            <a:ext cx="3200400" cy="320040"/>
          </a:xfrm>
          <a:prstGeom prst="rect">
            <a:avLst/>
          </a:prstGeom>
          <a:noFill/>
          <a:ln/>
        </p:spPr>
        <p:txBody>
          <a:bodyPr wrap="square" lIns="0" tIns="0" rIns="0" bIns="0" rtlCol="0" anchor="t">
            <a:normAutofit/>
          </a:bodyPr>
          <a:lstStyle/>
          <a:p>
            <a:pPr marL="0" indent="0" algn="l">
              <a:spcAft>
                <a:spcPts val="200"/>
              </a:spcAft>
              <a:buNone/>
            </a:pPr>
            <a:r>
              <a:rPr lang="en-US" sz="1500" b="1" dirty="0">
                <a:solidFill>
                  <a:schemeClr val="accent1"/>
                </a:solidFill>
              </a:rPr>
              <a:t>Exact checks pass</a:t>
            </a:r>
            <a:endParaRPr lang="en-US" sz="1500" dirty="0"/>
          </a:p>
        </p:txBody>
      </p:sp>
      <p:sp>
        <p:nvSpPr>
          <p:cNvPr id="419" name="card-body-419"/>
          <p:cNvSpPr txBox="1"/>
          <p:nvPr/>
        </p:nvSpPr>
        <p:spPr>
          <a:xfrm>
            <a:off x="731520" y="3913632"/>
            <a:ext cx="3200400" cy="1664208"/>
          </a:xfrm>
          <a:prstGeom prst="rect">
            <a:avLst/>
          </a:prstGeom>
          <a:noFill/>
          <a:ln/>
        </p:spPr>
        <p:txBody>
          <a:bodyPr wrap="square" lIns="0" tIns="0" rIns="0" bIns="0" rtlCol="0" anchor="t">
            <a:normAutofit/>
          </a:bodyPr>
          <a:lstStyle/>
          <a:p>
            <a:pPr marL="0" indent="0" algn="l">
              <a:spcAft>
                <a:spcPts val="200"/>
              </a:spcAft>
              <a:buNone/>
            </a:pPr>
            <a:r>
              <a:rPr lang="en-US" sz="1300" dirty="0">
                <a:solidFill>
                  <a:schemeClr val="tx1"/>
                </a:solidFill>
              </a:rPr>
              <a:t>Mirror pairs agree to 3 × 10⁻⁸. At φ₁ = φ₂ = 0 every layer matches the exact first mode: f</a:t>
            </a:r>
            <a:r>
              <a:rPr lang="en-US" sz="1300" baseline="-25000" dirty="0">
                <a:solidFill>
                  <a:schemeClr val="tx1"/>
                </a:solidFill>
              </a:rPr>
              <a:t>x</a:t>
            </a:r>
            <a:r>
              <a:rPr lang="en-US" sz="1300" dirty="0">
                <a:solidFill>
                  <a:schemeClr val="tx1"/>
                </a:solidFill>
              </a:rPr>
              <a:t> within 1.3 × 10⁻⁴.</a:t>
            </a:r>
            <a:endParaRPr lang="en-US" sz="1300" dirty="0"/>
          </a:p>
        </p:txBody>
      </p:sp>
      <p:sp>
        <p:nvSpPr>
          <p:cNvPr id="420" name="card-420"/>
          <p:cNvSpPr/>
          <p:nvPr/>
        </p:nvSpPr>
        <p:spPr>
          <a:xfrm>
            <a:off x="4297680" y="3429000"/>
            <a:ext cx="3566160" cy="2240280"/>
          </a:xfrm>
          <a:prstGeom prst="roundRect">
            <a:avLst>
              <a:gd name="adj" fmla="val 6000"/>
            </a:avLst>
          </a:prstGeom>
          <a:solidFill>
            <a:schemeClr val="bg2"/>
          </a:solidFill>
          <a:ln>
            <a:noFill/>
          </a:ln>
        </p:spPr>
        <p:txBody>
          <a:bodyPr/>
          <a:lstStyle/>
          <a:p>
            <a:endParaRPr lang="en-US"/>
          </a:p>
        </p:txBody>
      </p:sp>
      <p:sp>
        <p:nvSpPr>
          <p:cNvPr id="421" name="card-head-421"/>
          <p:cNvSpPr txBox="1"/>
          <p:nvPr/>
        </p:nvSpPr>
        <p:spPr>
          <a:xfrm>
            <a:off x="4480560" y="3566160"/>
            <a:ext cx="3200400" cy="320040"/>
          </a:xfrm>
          <a:prstGeom prst="rect">
            <a:avLst/>
          </a:prstGeom>
          <a:noFill/>
          <a:ln/>
        </p:spPr>
        <p:txBody>
          <a:bodyPr wrap="square" lIns="0" tIns="0" rIns="0" bIns="0" rtlCol="0" anchor="t">
            <a:normAutofit/>
          </a:bodyPr>
          <a:lstStyle/>
          <a:p>
            <a:pPr marL="0" indent="0" algn="l">
              <a:spcAft>
                <a:spcPts val="200"/>
              </a:spcAft>
              <a:buNone/>
            </a:pPr>
            <a:r>
              <a:rPr lang="en-US" sz="1500" b="1" dirty="0">
                <a:solidFill>
                  <a:schemeClr val="accent1"/>
                </a:solidFill>
              </a:rPr>
              <a:t>Branch share</a:t>
            </a:r>
            <a:endParaRPr lang="en-US" sz="1500" dirty="0"/>
          </a:p>
        </p:txBody>
      </p:sp>
      <p:sp>
        <p:nvSpPr>
          <p:cNvPr id="422" name="card-body-422"/>
          <p:cNvSpPr txBox="1"/>
          <p:nvPr/>
        </p:nvSpPr>
        <p:spPr>
          <a:xfrm>
            <a:off x="4480560" y="3913632"/>
            <a:ext cx="3200400" cy="1664208"/>
          </a:xfrm>
          <a:prstGeom prst="rect">
            <a:avLst/>
          </a:prstGeom>
          <a:noFill/>
          <a:ln/>
        </p:spPr>
        <p:txBody>
          <a:bodyPr wrap="square" lIns="0" tIns="0" rIns="0" bIns="0" rtlCol="0" anchor="t">
            <a:normAutofit/>
          </a:bodyPr>
          <a:lstStyle/>
          <a:p>
            <a:pPr marL="0" indent="0" algn="l">
              <a:spcAft>
                <a:spcPts val="200"/>
              </a:spcAft>
              <a:buNone/>
            </a:pPr>
            <a:r>
              <a:rPr lang="en-US" sz="1300" dirty="0">
                <a:solidFill>
                  <a:schemeClr val="tx1"/>
                </a:solidFill>
              </a:rPr>
              <a:t>Bent up on 70.6 % of the layer at d = 0.70, falling almost linearly to 50.5 % at d = 0.99. Snap surface area 2.64 (30,081 snap edges).</a:t>
            </a:r>
            <a:endParaRPr lang="en-US" sz="1300" dirty="0"/>
          </a:p>
        </p:txBody>
      </p:sp>
      <p:sp>
        <p:nvSpPr>
          <p:cNvPr id="423" name="card-423"/>
          <p:cNvSpPr/>
          <p:nvPr/>
        </p:nvSpPr>
        <p:spPr>
          <a:xfrm>
            <a:off x="8046720" y="3429000"/>
            <a:ext cx="3566160" cy="2240280"/>
          </a:xfrm>
          <a:prstGeom prst="roundRect">
            <a:avLst>
              <a:gd name="adj" fmla="val 6000"/>
            </a:avLst>
          </a:prstGeom>
          <a:solidFill>
            <a:schemeClr val="bg2"/>
          </a:solidFill>
          <a:ln>
            <a:noFill/>
          </a:ln>
        </p:spPr>
        <p:txBody>
          <a:bodyPr/>
          <a:lstStyle/>
          <a:p>
            <a:endParaRPr lang="en-US"/>
          </a:p>
        </p:txBody>
      </p:sp>
      <p:sp>
        <p:nvSpPr>
          <p:cNvPr id="424" name="card-head-424"/>
          <p:cNvSpPr txBox="1"/>
          <p:nvPr/>
        </p:nvSpPr>
        <p:spPr>
          <a:xfrm>
            <a:off x="8229600" y="3566160"/>
            <a:ext cx="3200400" cy="320040"/>
          </a:xfrm>
          <a:prstGeom prst="rect">
            <a:avLst/>
          </a:prstGeom>
          <a:noFill/>
          <a:ln/>
        </p:spPr>
        <p:txBody>
          <a:bodyPr wrap="square" lIns="0" tIns="0" rIns="0" bIns="0" rtlCol="0" anchor="t">
            <a:normAutofit/>
          </a:bodyPr>
          <a:lstStyle/>
          <a:p>
            <a:pPr marL="0" indent="0" algn="l">
              <a:spcAft>
                <a:spcPts val="200"/>
              </a:spcAft>
              <a:buNone/>
            </a:pPr>
            <a:r>
              <a:rPr lang="en-US" sz="1500" b="1" dirty="0">
                <a:solidFill>
                  <a:schemeClr val="accent1"/>
                </a:solidFill>
              </a:rPr>
              <a:t>Ranges</a:t>
            </a:r>
            <a:endParaRPr lang="en-US" sz="1500" dirty="0"/>
          </a:p>
        </p:txBody>
      </p:sp>
      <p:sp>
        <p:nvSpPr>
          <p:cNvPr id="425" name="card-body-425"/>
          <p:cNvSpPr txBox="1"/>
          <p:nvPr/>
        </p:nvSpPr>
        <p:spPr>
          <a:xfrm>
            <a:off x="8229600" y="3913632"/>
            <a:ext cx="3200400" cy="1664208"/>
          </a:xfrm>
          <a:prstGeom prst="rect">
            <a:avLst/>
          </a:prstGeom>
          <a:noFill/>
          <a:ln/>
        </p:spPr>
        <p:txBody>
          <a:bodyPr wrap="square" lIns="0" tIns="0" rIns="0" bIns="0" rtlCol="0" anchor="t">
            <a:normAutofit/>
          </a:bodyPr>
          <a:lstStyle/>
          <a:p>
            <a:pPr marL="0" indent="0" algn="l">
              <a:spcAft>
                <a:spcPts val="200"/>
              </a:spcAft>
              <a:buNone/>
            </a:pPr>
            <a:r>
              <a:rPr lang="en-US" sz="1300" dirty="0">
                <a:solidFill>
                  <a:schemeClr val="tx1"/>
                </a:solidFill>
              </a:rPr>
              <a:t>f</a:t>
            </a:r>
            <a:r>
              <a:rPr lang="en-US" sz="1300" baseline="-25000" dirty="0">
                <a:solidFill>
                  <a:schemeClr val="tx1"/>
                </a:solidFill>
              </a:rPr>
              <a:t>x</a:t>
            </a:r>
            <a:r>
              <a:rPr lang="en-US" sz="1300" dirty="0">
                <a:solidFill>
                  <a:schemeClr val="tx1"/>
                </a:solidFill>
              </a:rPr>
              <a:t> from −13,785 (tension, d = 0.99, |φ| = π/2) to +93;  |f</a:t>
            </a:r>
            <a:r>
              <a:rPr lang="en-US" sz="1300" baseline="-25000" dirty="0">
                <a:solidFill>
                  <a:schemeClr val="tx1"/>
                </a:solidFill>
              </a:rPr>
              <a:t>y</a:t>
            </a:r>
            <a:r>
              <a:rPr lang="en-US" sz="1300" dirty="0">
                <a:solidFill>
                  <a:schemeClr val="tx1"/>
                </a:solidFill>
              </a:rPr>
              <a:t>| ≤ 340;  |M| ≤ 168;  U from 0.10 to 142.</a:t>
            </a:r>
            <a:endParaRPr lang="en-US" sz="1300" dirty="0"/>
          </a:p>
        </p:txBody>
      </p:sp>
      <p:sp>
        <p:nvSpPr>
          <p:cNvPr id="426" name="caption-426"/>
          <p:cNvSpPr txBox="1"/>
          <p:nvPr/>
        </p:nvSpPr>
        <p:spPr>
          <a:xfrm>
            <a:off x="548640" y="5852160"/>
            <a:ext cx="9509760" cy="274320"/>
          </a:xfrm>
          <a:prstGeom prst="rect">
            <a:avLst/>
          </a:prstGeom>
          <a:noFill/>
          <a:ln/>
        </p:spPr>
        <p:txBody>
          <a:bodyPr wrap="square" lIns="0" tIns="0" rIns="0" bIns="0" rtlCol="0" anchor="t">
            <a:normAutofit/>
          </a:bodyPr>
          <a:lstStyle/>
          <a:p>
            <a:pPr marL="0" indent="0" algn="l">
              <a:spcAft>
                <a:spcPts val="0"/>
              </a:spcAft>
              <a:buNone/>
            </a:pPr>
            <a:r>
              <a:rPr lang="en-US" sz="1100" dirty="0">
                <a:solidFill>
                  <a:schemeClr val="accent5"/>
                </a:solidFill>
              </a:rPr>
              <a:t>ParaView: data/production/post/elastica_solution_space.vtu (every node, all fields).</a:t>
            </a:r>
            <a:endParaRPr lang="en-US" sz="1100" dirty="0"/>
          </a:p>
        </p:txBody>
      </p:sp>
      <p:sp>
        <p:nvSpPr>
          <p:cNvPr id="9" name="Slide Number"/>
          <p:cNvSpPr>
            <a:spLocks noGrp="1"/>
          </p:cNvSpPr>
          <p:nvPr>
            <p:ph type="sldNum" sz="quarter" idx="4294967295"/>
          </p:nvPr>
        </p:nvSpPr>
        <p:spPr>
          <a:xfrm>
            <a:off x="11155680" y="6400800"/>
            <a:ext cx="457200" cy="274320"/>
          </a:xfrm>
          <a:prstGeom prst="rect">
            <a:avLst/>
          </a:prstGeom>
        </p:spPr>
        <p:txBody>
          <a:bodyPr/>
          <a:lstStyle>
            <a:lvl1pPr>
              <a:defRPr sz="1000">
                <a:solidFill>
                  <a:schemeClr val="accent6"/>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iso_energy">
    <p:spTree>
      <p:nvGrpSpPr>
        <p:cNvPr id="1" name=""/>
        <p:cNvGrpSpPr/>
        <p:nvPr/>
      </p:nvGrpSpPr>
      <p:grpSpPr>
        <a:xfrm>
          <a:off x="0" y="0"/>
          <a:ext cx="0" cy="0"/>
          <a:chOff x="0" y="0"/>
          <a:chExt cx="0" cy="0"/>
        </a:xfrm>
      </p:grpSpPr>
      <p:sp>
        <p:nvSpPr>
          <p:cNvPr id="2" name="Title"/>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Constant-energy surfaces: shells around the straight rod</a:t>
            </a:r>
            <a:endParaRPr lang="en-US" sz="3000" dirty="0"/>
          </a:p>
        </p:txBody>
      </p:sp>
      <p:pic>
        <p:nvPicPr>
          <p:cNvPr id="401" name="figure-401" descr="iso_energy level sets over (phi1, phi2, d), coloured by d"/>
          <p:cNvPicPr>
            <a:picLocks noChangeAspect="1"/>
          </p:cNvPicPr>
          <p:nvPr/>
        </p:nvPicPr>
        <p:blipFill>
          <a:blip r:embed="rId3"/>
          <a:stretch>
            <a:fillRect/>
          </a:stretch>
        </p:blipFill>
        <p:spPr>
          <a:xfrm>
            <a:off x="548640" y="1188720"/>
            <a:ext cx="11064240" cy="2573079"/>
          </a:xfrm>
          <a:prstGeom prst="rect">
            <a:avLst/>
          </a:prstGeom>
        </p:spPr>
      </p:pic>
      <p:pic>
        <p:nvPicPr>
          <p:cNvPr id="402" name="figure-402" descr="iso_energy level lines on four d layers"/>
          <p:cNvPicPr>
            <a:picLocks noChangeAspect="1"/>
          </p:cNvPicPr>
          <p:nvPr/>
        </p:nvPicPr>
        <p:blipFill>
          <a:blip r:embed="rId4"/>
          <a:stretch>
            <a:fillRect/>
          </a:stretch>
        </p:blipFill>
        <p:spPr>
          <a:xfrm>
            <a:off x="548640" y="3871527"/>
            <a:ext cx="8648564" cy="2346393"/>
          </a:xfrm>
          <a:prstGeom prst="rect">
            <a:avLst/>
          </a:prstGeom>
        </p:spPr>
      </p:pic>
      <p:sp>
        <p:nvSpPr>
          <p:cNvPr id="403" name="card-403"/>
          <p:cNvSpPr/>
          <p:nvPr/>
        </p:nvSpPr>
        <p:spPr>
          <a:xfrm>
            <a:off x="9425804" y="3871527"/>
            <a:ext cx="2187076" cy="2346393"/>
          </a:xfrm>
          <a:prstGeom prst="roundRect">
            <a:avLst>
              <a:gd name="adj" fmla="val 6000"/>
            </a:avLst>
          </a:prstGeom>
          <a:solidFill>
            <a:schemeClr val="bg2"/>
          </a:solidFill>
          <a:ln>
            <a:noFill/>
          </a:ln>
        </p:spPr>
        <p:txBody>
          <a:bodyPr/>
          <a:lstStyle/>
          <a:p>
            <a:endParaRPr lang="en-US"/>
          </a:p>
        </p:txBody>
      </p:sp>
      <p:sp>
        <p:nvSpPr>
          <p:cNvPr id="404" name="card-head-404"/>
          <p:cNvSpPr txBox="1"/>
          <p:nvPr/>
        </p:nvSpPr>
        <p:spPr>
          <a:xfrm>
            <a:off x="9608684" y="4008687"/>
            <a:ext cx="1821316" cy="320040"/>
          </a:xfrm>
          <a:prstGeom prst="rect">
            <a:avLst/>
          </a:prstGeom>
          <a:noFill/>
          <a:ln/>
        </p:spPr>
        <p:txBody>
          <a:bodyPr wrap="square" lIns="0" tIns="0" rIns="0" bIns="0" rtlCol="0" anchor="t">
            <a:normAutofit/>
          </a:bodyPr>
          <a:lstStyle/>
          <a:p>
            <a:pPr marL="0" indent="0" algn="l">
              <a:spcAft>
                <a:spcPts val="200"/>
              </a:spcAft>
              <a:buNone/>
            </a:pPr>
            <a:r>
              <a:rPr lang="en-US" sz="1500" b="1" dirty="0">
                <a:solidFill>
                  <a:schemeClr val="accent1"/>
                </a:solidFill>
              </a:rPr>
              <a:t>U = ½∫θ′² ds</a:t>
            </a:r>
            <a:endParaRPr lang="en-US" sz="1500" dirty="0"/>
          </a:p>
        </p:txBody>
      </p:sp>
      <p:sp>
        <p:nvSpPr>
          <p:cNvPr id="405" name="card-body-405"/>
          <p:cNvSpPr txBox="1"/>
          <p:nvPr/>
        </p:nvSpPr>
        <p:spPr>
          <a:xfrm>
            <a:off x="9608684" y="4356159"/>
            <a:ext cx="1821316" cy="1770321"/>
          </a:xfrm>
          <a:prstGeom prst="rect">
            <a:avLst/>
          </a:prstGeom>
          <a:noFill/>
          <a:ln/>
        </p:spPr>
        <p:txBody>
          <a:bodyPr wrap="square" lIns="0" tIns="0" rIns="0" bIns="0" rtlCol="0" anchor="t">
            <a:normAutofit/>
          </a:bodyPr>
          <a:lstStyle/>
          <a:p>
            <a:pPr marL="0" indent="0" algn="l">
              <a:spcAft>
                <a:spcPts val="200"/>
              </a:spcAft>
              <a:buNone/>
            </a:pPr>
            <a:r>
              <a:rPr lang="en-US" sz="1150" dirty="0">
                <a:solidFill>
                  <a:schemeClr val="tx1"/>
                </a:solidFill>
              </a:rPr>
              <a:t>From 0.10 to 142. Lowest for a nearly straight rod (d → 1, φ → 0): U = 2 is a bowl around that corner and higher levels are wider domes. Each ends at the snap (faint red), where U jumps.</a:t>
            </a:r>
            <a:endParaRPr lang="en-US" sz="1150" dirty="0"/>
          </a:p>
        </p:txBody>
      </p:sp>
      <p:sp>
        <p:nvSpPr>
          <p:cNvPr id="9" name="Slide Number"/>
          <p:cNvSpPr>
            <a:spLocks noGrp="1"/>
          </p:cNvSpPr>
          <p:nvPr>
            <p:ph type="sldNum" sz="quarter" idx="4294967295"/>
          </p:nvPr>
        </p:nvSpPr>
        <p:spPr>
          <a:xfrm>
            <a:off x="11155680" y="6400800"/>
            <a:ext cx="457200" cy="274320"/>
          </a:xfrm>
          <a:prstGeom prst="rect">
            <a:avLst/>
          </a:prstGeom>
        </p:spPr>
        <p:txBody>
          <a:bodyPr/>
          <a:lstStyle>
            <a:lvl1pPr>
              <a:defRPr sz="1000">
                <a:solidFill>
                  <a:schemeClr val="accent6"/>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iso_force_fx">
    <p:spTree>
      <p:nvGrpSpPr>
        <p:cNvPr id="1" name=""/>
        <p:cNvGrpSpPr/>
        <p:nvPr/>
      </p:nvGrpSpPr>
      <p:grpSpPr>
        <a:xfrm>
          <a:off x="0" y="0"/>
          <a:ext cx="0" cy="0"/>
          <a:chOff x="0" y="0"/>
          <a:chExt cx="0" cy="0"/>
        </a:xfrm>
      </p:grpSpPr>
      <p:sp>
        <p:nvSpPr>
          <p:cNvPr id="2" name="Title"/>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Constant axial force f</a:t>
            </a:r>
            <a:r>
              <a:rPr lang="en-US" sz="3000" b="1" baseline="-25000" dirty="0">
                <a:solidFill>
                  <a:schemeClr val="tx1"/>
                </a:solidFill>
              </a:rPr>
              <a:t>x</a:t>
            </a:r>
            <a:r>
              <a:rPr lang="en-US" sz="3000" b="1" dirty="0">
                <a:solidFill>
                  <a:schemeClr val="tx1"/>
                </a:solidFill>
              </a:rPr>
              <a:t>: bounded in compression</a:t>
            </a:r>
            <a:endParaRPr lang="en-US" sz="3000" dirty="0"/>
          </a:p>
        </p:txBody>
      </p:sp>
      <p:pic>
        <p:nvPicPr>
          <p:cNvPr id="401" name="figure-401" descr="iso_force_fx level sets over (phi1, phi2, d), coloured by d"/>
          <p:cNvPicPr>
            <a:picLocks noChangeAspect="1"/>
          </p:cNvPicPr>
          <p:nvPr/>
        </p:nvPicPr>
        <p:blipFill>
          <a:blip r:embed="rId3"/>
          <a:stretch>
            <a:fillRect/>
          </a:stretch>
        </p:blipFill>
        <p:spPr>
          <a:xfrm>
            <a:off x="548640" y="1188720"/>
            <a:ext cx="11064240" cy="2573079"/>
          </a:xfrm>
          <a:prstGeom prst="rect">
            <a:avLst/>
          </a:prstGeom>
        </p:spPr>
      </p:pic>
      <p:pic>
        <p:nvPicPr>
          <p:cNvPr id="402" name="figure-402" descr="iso_force_fx level lines on four d layers"/>
          <p:cNvPicPr>
            <a:picLocks noChangeAspect="1"/>
          </p:cNvPicPr>
          <p:nvPr/>
        </p:nvPicPr>
        <p:blipFill>
          <a:blip r:embed="rId4"/>
          <a:stretch>
            <a:fillRect/>
          </a:stretch>
        </p:blipFill>
        <p:spPr>
          <a:xfrm>
            <a:off x="548640" y="3871527"/>
            <a:ext cx="8648564" cy="2346393"/>
          </a:xfrm>
          <a:prstGeom prst="rect">
            <a:avLst/>
          </a:prstGeom>
        </p:spPr>
      </p:pic>
      <p:sp>
        <p:nvSpPr>
          <p:cNvPr id="403" name="card-403"/>
          <p:cNvSpPr/>
          <p:nvPr/>
        </p:nvSpPr>
        <p:spPr>
          <a:xfrm>
            <a:off x="9425804" y="3871527"/>
            <a:ext cx="2187076" cy="2346393"/>
          </a:xfrm>
          <a:prstGeom prst="roundRect">
            <a:avLst>
              <a:gd name="adj" fmla="val 6000"/>
            </a:avLst>
          </a:prstGeom>
          <a:solidFill>
            <a:schemeClr val="bg2"/>
          </a:solidFill>
          <a:ln>
            <a:noFill/>
          </a:ln>
        </p:spPr>
        <p:txBody>
          <a:bodyPr/>
          <a:lstStyle/>
          <a:p>
            <a:endParaRPr lang="en-US"/>
          </a:p>
        </p:txBody>
      </p:sp>
      <p:sp>
        <p:nvSpPr>
          <p:cNvPr id="404" name="card-head-404"/>
          <p:cNvSpPr txBox="1"/>
          <p:nvPr/>
        </p:nvSpPr>
        <p:spPr>
          <a:xfrm>
            <a:off x="9608684" y="4008687"/>
            <a:ext cx="1821316" cy="320040"/>
          </a:xfrm>
          <a:prstGeom prst="rect">
            <a:avLst/>
          </a:prstGeom>
          <a:noFill/>
          <a:ln/>
        </p:spPr>
        <p:txBody>
          <a:bodyPr wrap="square" lIns="0" tIns="0" rIns="0" bIns="0" rtlCol="0" anchor="t">
            <a:normAutofit/>
          </a:bodyPr>
          <a:lstStyle/>
          <a:p>
            <a:pPr marL="0" indent="0" algn="l">
              <a:spcAft>
                <a:spcPts val="200"/>
              </a:spcAft>
              <a:buNone/>
            </a:pPr>
            <a:r>
              <a:rPr lang="en-US" sz="1500" b="1" dirty="0">
                <a:solidFill>
                  <a:schemeClr val="accent1"/>
                </a:solidFill>
              </a:rPr>
              <a:t>f</a:t>
            </a:r>
            <a:r>
              <a:rPr lang="en-US" sz="1500" b="1" baseline="-25000" dirty="0">
                <a:solidFill>
                  <a:schemeClr val="accent1"/>
                </a:solidFill>
              </a:rPr>
              <a:t>x</a:t>
            </a:r>
            <a:r>
              <a:rPr lang="en-US" sz="1500" b="1" dirty="0">
                <a:solidFill>
                  <a:schemeClr val="accent1"/>
                </a:solidFill>
              </a:rPr>
              <a:t> &gt; 0: compression</a:t>
            </a:r>
            <a:endParaRPr lang="en-US" sz="1500" dirty="0"/>
          </a:p>
        </p:txBody>
      </p:sp>
      <p:sp>
        <p:nvSpPr>
          <p:cNvPr id="405" name="card-body-405"/>
          <p:cNvSpPr txBox="1"/>
          <p:nvPr/>
        </p:nvSpPr>
        <p:spPr>
          <a:xfrm>
            <a:off x="9608684" y="4356159"/>
            <a:ext cx="1821316" cy="1770321"/>
          </a:xfrm>
          <a:prstGeom prst="rect">
            <a:avLst/>
          </a:prstGeom>
          <a:noFill/>
          <a:ln/>
        </p:spPr>
        <p:txBody>
          <a:bodyPr wrap="square" lIns="0" tIns="0" rIns="0" bIns="0" rtlCol="0" anchor="t">
            <a:normAutofit/>
          </a:bodyPr>
          <a:lstStyle/>
          <a:p>
            <a:pPr marL="0" indent="0" algn="l">
              <a:spcAft>
                <a:spcPts val="200"/>
              </a:spcAft>
              <a:buNone/>
            </a:pPr>
            <a:r>
              <a:rPr lang="en-US" sz="1150" dirty="0">
                <a:solidFill>
                  <a:schemeClr val="tx1"/>
                </a:solidFill>
              </a:rPr>
              <a:t>From −13,785 (tension, d = 0.99, |φ| = π/2) to +93. Compressive levels exist only inside the bent-up region: f</a:t>
            </a:r>
            <a:r>
              <a:rPr lang="en-US" sz="1150" baseline="-25000" dirty="0">
                <a:solidFill>
                  <a:schemeClr val="tx1"/>
                </a:solidFill>
              </a:rPr>
              <a:t>x</a:t>
            </a:r>
            <a:r>
              <a:rPr lang="en-US" sz="1150" dirty="0">
                <a:solidFill>
                  <a:schemeClr val="tx1"/>
                </a:solidFill>
              </a:rPr>
              <a:t> = 60 is a sliver and nothing reaches 100.</a:t>
            </a:r>
            <a:endParaRPr lang="en-US" sz="1150" dirty="0"/>
          </a:p>
        </p:txBody>
      </p:sp>
      <p:sp>
        <p:nvSpPr>
          <p:cNvPr id="9" name="Slide Number"/>
          <p:cNvSpPr>
            <a:spLocks noGrp="1"/>
          </p:cNvSpPr>
          <p:nvPr>
            <p:ph type="sldNum" sz="quarter" idx="4294967295"/>
          </p:nvPr>
        </p:nvSpPr>
        <p:spPr>
          <a:xfrm>
            <a:off x="11155680" y="6400800"/>
            <a:ext cx="457200" cy="274320"/>
          </a:xfrm>
          <a:prstGeom prst="rect">
            <a:avLst/>
          </a:prstGeom>
        </p:spPr>
        <p:txBody>
          <a:bodyPr/>
          <a:lstStyle>
            <a:lvl1pPr>
              <a:defRPr sz="1000">
                <a:solidFill>
                  <a:schemeClr val="accent6"/>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iso_force_fy">
    <p:spTree>
      <p:nvGrpSpPr>
        <p:cNvPr id="1" name=""/>
        <p:cNvGrpSpPr/>
        <p:nvPr/>
      </p:nvGrpSpPr>
      <p:grpSpPr>
        <a:xfrm>
          <a:off x="0" y="0"/>
          <a:ext cx="0" cy="0"/>
          <a:chOff x="0" y="0"/>
          <a:chExt cx="0" cy="0"/>
        </a:xfrm>
      </p:grpSpPr>
      <p:sp>
        <p:nvSpPr>
          <p:cNvPr id="2" name="Title"/>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Constant transverse force f</a:t>
            </a:r>
            <a:r>
              <a:rPr lang="en-US" sz="3000" b="1" baseline="-25000" dirty="0">
                <a:solidFill>
                  <a:schemeClr val="tx1"/>
                </a:solidFill>
              </a:rPr>
              <a:t>y</a:t>
            </a:r>
            <a:r>
              <a:rPr lang="en-US" sz="3000" b="1" dirty="0">
                <a:solidFill>
                  <a:schemeClr val="tx1"/>
                </a:solidFill>
              </a:rPr>
              <a:t>: mirror-image pairs</a:t>
            </a:r>
            <a:endParaRPr lang="en-US" sz="3000" dirty="0"/>
          </a:p>
        </p:txBody>
      </p:sp>
      <p:pic>
        <p:nvPicPr>
          <p:cNvPr id="401" name="figure-401" descr="iso_force_fy level sets over (phi1, phi2, d), coloured by d"/>
          <p:cNvPicPr>
            <a:picLocks noChangeAspect="1"/>
          </p:cNvPicPr>
          <p:nvPr/>
        </p:nvPicPr>
        <p:blipFill>
          <a:blip r:embed="rId3"/>
          <a:stretch>
            <a:fillRect/>
          </a:stretch>
        </p:blipFill>
        <p:spPr>
          <a:xfrm>
            <a:off x="548640" y="1188720"/>
            <a:ext cx="11064240" cy="2573079"/>
          </a:xfrm>
          <a:prstGeom prst="rect">
            <a:avLst/>
          </a:prstGeom>
        </p:spPr>
      </p:pic>
      <p:pic>
        <p:nvPicPr>
          <p:cNvPr id="402" name="figure-402" descr="iso_force_fy level lines on four d layers"/>
          <p:cNvPicPr>
            <a:picLocks noChangeAspect="1"/>
          </p:cNvPicPr>
          <p:nvPr/>
        </p:nvPicPr>
        <p:blipFill>
          <a:blip r:embed="rId4"/>
          <a:stretch>
            <a:fillRect/>
          </a:stretch>
        </p:blipFill>
        <p:spPr>
          <a:xfrm>
            <a:off x="548640" y="3871527"/>
            <a:ext cx="8648564" cy="2346393"/>
          </a:xfrm>
          <a:prstGeom prst="rect">
            <a:avLst/>
          </a:prstGeom>
        </p:spPr>
      </p:pic>
      <p:sp>
        <p:nvSpPr>
          <p:cNvPr id="403" name="card-403"/>
          <p:cNvSpPr/>
          <p:nvPr/>
        </p:nvSpPr>
        <p:spPr>
          <a:xfrm>
            <a:off x="9425804" y="3871527"/>
            <a:ext cx="2187076" cy="2346393"/>
          </a:xfrm>
          <a:prstGeom prst="roundRect">
            <a:avLst>
              <a:gd name="adj" fmla="val 6000"/>
            </a:avLst>
          </a:prstGeom>
          <a:solidFill>
            <a:schemeClr val="bg2"/>
          </a:solidFill>
          <a:ln>
            <a:noFill/>
          </a:ln>
        </p:spPr>
        <p:txBody>
          <a:bodyPr/>
          <a:lstStyle/>
          <a:p>
            <a:endParaRPr lang="en-US"/>
          </a:p>
        </p:txBody>
      </p:sp>
      <p:sp>
        <p:nvSpPr>
          <p:cNvPr id="404" name="card-head-404"/>
          <p:cNvSpPr txBox="1"/>
          <p:nvPr/>
        </p:nvSpPr>
        <p:spPr>
          <a:xfrm>
            <a:off x="9608684" y="4008687"/>
            <a:ext cx="1821316" cy="320040"/>
          </a:xfrm>
          <a:prstGeom prst="rect">
            <a:avLst/>
          </a:prstGeom>
          <a:noFill/>
          <a:ln/>
        </p:spPr>
        <p:txBody>
          <a:bodyPr wrap="square" lIns="0" tIns="0" rIns="0" bIns="0" rtlCol="0" anchor="t">
            <a:normAutofit/>
          </a:bodyPr>
          <a:lstStyle/>
          <a:p>
            <a:pPr marL="0" indent="0" algn="l">
              <a:spcAft>
                <a:spcPts val="200"/>
              </a:spcAft>
              <a:buNone/>
            </a:pPr>
            <a:r>
              <a:rPr lang="en-US" sz="1500" b="1" dirty="0">
                <a:solidFill>
                  <a:schemeClr val="accent1"/>
                </a:solidFill>
              </a:rPr>
              <a:t>Odd under the mirror</a:t>
            </a:r>
            <a:endParaRPr lang="en-US" sz="1500" dirty="0"/>
          </a:p>
        </p:txBody>
      </p:sp>
      <p:sp>
        <p:nvSpPr>
          <p:cNvPr id="405" name="card-body-405"/>
          <p:cNvSpPr txBox="1"/>
          <p:nvPr/>
        </p:nvSpPr>
        <p:spPr>
          <a:xfrm>
            <a:off x="9608684" y="4356159"/>
            <a:ext cx="1821316" cy="1770321"/>
          </a:xfrm>
          <a:prstGeom prst="rect">
            <a:avLst/>
          </a:prstGeom>
          <a:noFill/>
          <a:ln/>
        </p:spPr>
        <p:txBody>
          <a:bodyPr wrap="square" lIns="0" tIns="0" rIns="0" bIns="0" rtlCol="0" anchor="t">
            <a:normAutofit/>
          </a:bodyPr>
          <a:lstStyle/>
          <a:p>
            <a:pPr marL="0" indent="0" algn="l">
              <a:spcAft>
                <a:spcPts val="200"/>
              </a:spcAft>
              <a:buNone/>
            </a:pPr>
            <a:r>
              <a:rPr lang="en-US" sz="1150" dirty="0">
                <a:solidFill>
                  <a:schemeClr val="tx1"/>
                </a:solidFill>
              </a:rPr>
              <a:t>|f</a:t>
            </a:r>
            <a:r>
              <a:rPr lang="en-US" sz="1150" baseline="-25000" dirty="0">
                <a:solidFill>
                  <a:schemeClr val="tx1"/>
                </a:solidFill>
              </a:rPr>
              <a:t>y</a:t>
            </a:r>
            <a:r>
              <a:rPr lang="en-US" sz="1150" dirty="0">
                <a:solidFill>
                  <a:schemeClr val="tx1"/>
                </a:solidFill>
              </a:rPr>
              <a:t>| ≤ 340. (φ₁, φ₂) → (−φ₂, −φ₁) flips f</a:t>
            </a:r>
            <a:r>
              <a:rPr lang="en-US" sz="1150" baseline="-25000" dirty="0">
                <a:solidFill>
                  <a:schemeClr val="tx1"/>
                </a:solidFill>
              </a:rPr>
              <a:t>y</a:t>
            </a:r>
            <a:r>
              <a:rPr lang="en-US" sz="1150" dirty="0">
                <a:solidFill>
                  <a:schemeClr val="tx1"/>
                </a:solidFill>
              </a:rPr>
              <a:t>, so f</a:t>
            </a:r>
            <a:r>
              <a:rPr lang="en-US" sz="1150" baseline="-25000" dirty="0">
                <a:solidFill>
                  <a:schemeClr val="tx1"/>
                </a:solidFill>
              </a:rPr>
              <a:t>y</a:t>
            </a:r>
            <a:r>
              <a:rPr lang="en-US" sz="1150" dirty="0">
                <a:solidFill>
                  <a:schemeClr val="tx1"/>
                </a:solidFill>
              </a:rPr>
              <a:t> = 0 holds on the whole plane φ₁ = −φ₂ and ± levels come in pairs of equal area.</a:t>
            </a:r>
            <a:endParaRPr lang="en-US" sz="1150" dirty="0"/>
          </a:p>
        </p:txBody>
      </p:sp>
      <p:sp>
        <p:nvSpPr>
          <p:cNvPr id="9" name="Slide Number"/>
          <p:cNvSpPr>
            <a:spLocks noGrp="1"/>
          </p:cNvSpPr>
          <p:nvPr>
            <p:ph type="sldNum" sz="quarter" idx="4294967295"/>
          </p:nvPr>
        </p:nvSpPr>
        <p:spPr>
          <a:xfrm>
            <a:off x="11155680" y="6400800"/>
            <a:ext cx="457200" cy="274320"/>
          </a:xfrm>
          <a:prstGeom prst="rect">
            <a:avLst/>
          </a:prstGeom>
        </p:spPr>
        <p:txBody>
          <a:bodyPr/>
          <a:lstStyle>
            <a:lvl1pPr>
              <a:defRPr sz="1000">
                <a:solidFill>
                  <a:schemeClr val="accent6"/>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iso_moment">
    <p:spTree>
      <p:nvGrpSpPr>
        <p:cNvPr id="1" name=""/>
        <p:cNvGrpSpPr/>
        <p:nvPr/>
      </p:nvGrpSpPr>
      <p:grpSpPr>
        <a:xfrm>
          <a:off x="0" y="0"/>
          <a:ext cx="0" cy="0"/>
          <a:chOff x="0" y="0"/>
          <a:chExt cx="0" cy="0"/>
        </a:xfrm>
      </p:grpSpPr>
      <p:sp>
        <p:nvSpPr>
          <p:cNvPr id="2" name="Title"/>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Constant clamp moment M₁; M₂ is its mirror image</a:t>
            </a:r>
            <a:endParaRPr lang="en-US" sz="3000" dirty="0"/>
          </a:p>
        </p:txBody>
      </p:sp>
      <p:pic>
        <p:nvPicPr>
          <p:cNvPr id="401" name="figure-401" descr="iso_moment level sets over (phi1, phi2, d), coloured by d"/>
          <p:cNvPicPr>
            <a:picLocks noChangeAspect="1"/>
          </p:cNvPicPr>
          <p:nvPr/>
        </p:nvPicPr>
        <p:blipFill>
          <a:blip r:embed="rId3"/>
          <a:stretch>
            <a:fillRect/>
          </a:stretch>
        </p:blipFill>
        <p:spPr>
          <a:xfrm>
            <a:off x="548640" y="1188720"/>
            <a:ext cx="11064240" cy="2573079"/>
          </a:xfrm>
          <a:prstGeom prst="rect">
            <a:avLst/>
          </a:prstGeom>
        </p:spPr>
      </p:pic>
      <p:pic>
        <p:nvPicPr>
          <p:cNvPr id="402" name="figure-402" descr="iso_moment level lines on four d layers"/>
          <p:cNvPicPr>
            <a:picLocks noChangeAspect="1"/>
          </p:cNvPicPr>
          <p:nvPr/>
        </p:nvPicPr>
        <p:blipFill>
          <a:blip r:embed="rId4"/>
          <a:stretch>
            <a:fillRect/>
          </a:stretch>
        </p:blipFill>
        <p:spPr>
          <a:xfrm>
            <a:off x="548640" y="3871527"/>
            <a:ext cx="8648564" cy="2346393"/>
          </a:xfrm>
          <a:prstGeom prst="rect">
            <a:avLst/>
          </a:prstGeom>
        </p:spPr>
      </p:pic>
      <p:sp>
        <p:nvSpPr>
          <p:cNvPr id="403" name="card-403"/>
          <p:cNvSpPr/>
          <p:nvPr/>
        </p:nvSpPr>
        <p:spPr>
          <a:xfrm>
            <a:off x="9425804" y="3871527"/>
            <a:ext cx="2187076" cy="2346393"/>
          </a:xfrm>
          <a:prstGeom prst="roundRect">
            <a:avLst>
              <a:gd name="adj" fmla="val 6000"/>
            </a:avLst>
          </a:prstGeom>
          <a:solidFill>
            <a:schemeClr val="bg2"/>
          </a:solidFill>
          <a:ln>
            <a:noFill/>
          </a:ln>
        </p:spPr>
        <p:txBody>
          <a:bodyPr/>
          <a:lstStyle/>
          <a:p>
            <a:endParaRPr lang="en-US"/>
          </a:p>
        </p:txBody>
      </p:sp>
      <p:sp>
        <p:nvSpPr>
          <p:cNvPr id="404" name="card-head-404"/>
          <p:cNvSpPr txBox="1"/>
          <p:nvPr/>
        </p:nvSpPr>
        <p:spPr>
          <a:xfrm>
            <a:off x="9608684" y="4008687"/>
            <a:ext cx="1821316" cy="320040"/>
          </a:xfrm>
          <a:prstGeom prst="rect">
            <a:avLst/>
          </a:prstGeom>
          <a:noFill/>
          <a:ln/>
        </p:spPr>
        <p:txBody>
          <a:bodyPr wrap="square" lIns="0" tIns="0" rIns="0" bIns="0" rtlCol="0" anchor="t">
            <a:normAutofit/>
          </a:bodyPr>
          <a:lstStyle/>
          <a:p>
            <a:pPr marL="0" indent="0" algn="l">
              <a:spcAft>
                <a:spcPts val="200"/>
              </a:spcAft>
              <a:buNone/>
            </a:pPr>
            <a:r>
              <a:rPr lang="en-US" sz="1500" b="1" dirty="0">
                <a:solidFill>
                  <a:schemeClr val="accent1"/>
                </a:solidFill>
              </a:rPr>
              <a:t>M₁ = θ′(0)</a:t>
            </a:r>
            <a:endParaRPr lang="en-US" sz="1500" dirty="0"/>
          </a:p>
        </p:txBody>
      </p:sp>
      <p:sp>
        <p:nvSpPr>
          <p:cNvPr id="405" name="card-body-405"/>
          <p:cNvSpPr txBox="1"/>
          <p:nvPr/>
        </p:nvSpPr>
        <p:spPr>
          <a:xfrm>
            <a:off x="9608684" y="4356159"/>
            <a:ext cx="1821316" cy="1770321"/>
          </a:xfrm>
          <a:prstGeom prst="rect">
            <a:avLst/>
          </a:prstGeom>
          <a:noFill/>
          <a:ln/>
        </p:spPr>
        <p:txBody>
          <a:bodyPr wrap="square" lIns="0" tIns="0" rIns="0" bIns="0" rtlCol="0" anchor="t">
            <a:normAutofit/>
          </a:bodyPr>
          <a:lstStyle/>
          <a:p>
            <a:pPr marL="0" indent="0" algn="l">
              <a:spcAft>
                <a:spcPts val="200"/>
              </a:spcAft>
              <a:buNone/>
            </a:pPr>
            <a:r>
              <a:rPr lang="en-US" sz="1150" dirty="0">
                <a:solidFill>
                  <a:schemeClr val="tx1"/>
                </a:solidFill>
              </a:rPr>
              <a:t>Within ±168. M₂ at (φ₁, φ₂) is M₁ at (−φ₂, −φ₁), so its surfaces are mirror images (both in the VTU). Small |M₁| levels split into two sheets.</a:t>
            </a:r>
            <a:endParaRPr lang="en-US" sz="1150" dirty="0"/>
          </a:p>
        </p:txBody>
      </p:sp>
      <p:sp>
        <p:nvSpPr>
          <p:cNvPr id="9" name="Slide Number"/>
          <p:cNvSpPr>
            <a:spLocks noGrp="1"/>
          </p:cNvSpPr>
          <p:nvPr>
            <p:ph type="sldNum" sz="quarter" idx="4294967295"/>
          </p:nvPr>
        </p:nvSpPr>
        <p:spPr>
          <a:xfrm>
            <a:off x="11155680" y="6400800"/>
            <a:ext cx="457200" cy="274320"/>
          </a:xfrm>
          <a:prstGeom prst="rect">
            <a:avLst/>
          </a:prstGeom>
        </p:spPr>
        <p:txBody>
          <a:bodyPr/>
          <a:lstStyle>
            <a:lvl1pPr>
              <a:defRPr sz="1000">
                <a:solidFill>
                  <a:schemeClr val="accent6"/>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000" name=""/>
        <p:cNvGrpSpPr/>
        <p:nvPr/>
      </p:nvGrpSpPr>
      <p:grpSpPr/>
      <p:sp>
        <p:nvSpPr>
          <p:cNvPr id="1001" name="Text 0"/>
          <p:cNvSpPr>
            <a:spLocks noGrp="1"/>
          </p:cNvSpPr>
          <p:nvPr>
            <p:ph type="title" idx="100" hasCustomPrompt="1"/>
          </p:nvPr>
        </p:nvSpPr>
        <p:spPr>
          <a:xfrm>
            <a:off x="822960" y="2377440"/>
            <a:ext cx="10515600" cy="1097280"/>
          </a:xfrm>
          <a:prstGeom prst="rect">
            <a:avLst/>
          </a:prstGeom>
          <a:noFill/>
          <a:ln/>
        </p:spPr>
        <p:txBody>
          <a:bodyPr wrap="square" lIns="0" tIns="0" rIns="0" bIns="0" rtlCol="0" anchor="b"/>
          <a:lstStyle/>
          <a:p>
            <a:pPr marL="0" indent="0" algn="l">
              <a:buNone/>
            </a:pPr>
            <a:r>
              <a:rPr lang="en-US" sz="4000" b="1" dirty="0">
                <a:solidFill>
                  <a:schemeClr val="bg1"/>
                </a:solidFill>
              </a:rPr>
              <a:t>The bistable region</a:t>
            </a:r>
            <a:endParaRPr lang="en-US" sz="4000" dirty="0"/>
          </a:p>
        </p:txBody>
      </p:sp>
      <p:sp>
        <p:nvSpPr>
          <p:cNvPr id="1002" name="Text 0"/>
          <p:cNvSpPr>
            <a:spLocks noGrp="1"/>
          </p:cNvSpPr>
          <p:nvPr>
            <p:ph type="body" idx="101" hasCustomPrompt="1"/>
          </p:nvPr>
        </p:nvSpPr>
        <p:spPr>
          <a:xfrm>
            <a:off x="822960" y="3657600"/>
            <a:ext cx="10515600" cy="822960"/>
          </a:xfrm>
          <a:prstGeom prst="rect">
            <a:avLst/>
          </a:prstGeom>
          <a:noFill/>
          <a:ln/>
        </p:spPr>
        <p:txBody>
          <a:bodyPr wrap="square" lIns="0" tIns="0" rIns="0" bIns="0" rtlCol="0" anchor="t"/>
          <a:lstStyle/>
          <a:p>
            <a:pPr marL="0" indent="0">
              <a:buNone/>
            </a:pPr>
            <a:r>
              <a:rPr lang="en-US" sz="2000" dirty="0">
                <a:solidFill>
                  <a:schemeClr val="accent1"/>
                </a:solidFill>
              </a:rPr>
              <a:t>Two stable rods for the same clamps, and which snap the rod can meet</a:t>
            </a:r>
            <a:endParaRPr lang="en-US" sz="20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000" name=""/>
        <p:cNvGrpSpPr/>
        <p:nvPr/>
      </p:nvGrpSpPr>
      <p:grpSpPr/>
      <p:sp>
        <p:nvSpPr>
          <p:cNvPr id="1001"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A bent-down cold start mirrors the map across φ₁ = φ₂</a:t>
            </a:r>
          </a:p>
        </p:txBody>
      </p:sp>
      <p:pic>
        <p:nvPicPr>
          <p:cNvPr id="3" name="Picture 2" descr="q of the bent-up and bent-down cold starts at d = 0.82"/>
          <p:cNvPicPr>
            <a:picLocks noChangeAspect="1"/>
          </p:cNvPicPr>
          <p:nvPr/>
        </p:nvPicPr>
        <p:blipFill>
          <a:blip r:embed="rId2"/>
          <a:stretch>
            <a:fillRect/>
          </a:stretch>
        </p:blipFill>
        <p:spPr>
          <a:xfrm>
            <a:off x="1325880" y="1188720"/>
            <a:ext cx="9509760" cy="4479843"/>
          </a:xfrm>
          <a:prstGeom prst="rect">
            <a:avLst/>
          </a:prstGeom>
        </p:spPr>
      </p:pic>
      <p:sp>
        <p:nvSpPr>
          <p:cNvPr id="1002" name="text-103"/>
          <p:cNvSpPr txBox="1"/>
          <p:nvPr/>
        </p:nvSpPr>
        <p:spPr>
          <a:xfrm>
            <a:off x="1325880" y="5778291"/>
            <a:ext cx="9509760" cy="548640"/>
          </a:xfrm>
          <a:prstGeom prst="rect">
            <a:avLst/>
          </a:prstGeom>
          <a:noFill/>
          <a:ln/>
        </p:spPr>
        <p:txBody>
          <a:bodyPr wrap="square" lIns="0" tIns="0" rIns="0" bIns="0" rtlCol="0" anchor="t"/>
          <a:lstStyle/>
          <a:p>
            <a:pPr marL="0" indent="0">
              <a:buNone/>
            </a:pPr>
            <a:r>
              <a:rPr lang="en-US" sz="1100" i="1" dirty="0">
                <a:solidFill>
                  <a:schemeClr val="accent5"/>
                </a:solidFill>
              </a:rPr>
              <a:t>d = 0.82. θ → −θ takes the solve to the bent-down cold start: (φ₁, φ₂) → (−φ₁, −φ₂) with p negated. With the mirror (φ₁, φ₂) → (−φ₂, −φ₁) that is a reflection in φ₁ = φ₂ with orange and slate swapped. Red: each map's snap curve, in quadrants 1, 2, 3 and 1, 3, 4.</a:t>
            </a:r>
          </a:p>
        </p:txBody>
      </p:sp>
      <p:sp>
        <p:nvSpPr>
          <p:cNvPr id="100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000" name=""/>
        <p:cNvGrpSpPr/>
        <p:nvPr/>
      </p:nvGrpSpPr>
      <p:grpSpPr/>
      <p:sp>
        <p:nvSpPr>
          <p:cNvPr id="1001"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Outside the region, swapping the clamps turns the rod over</a:t>
            </a:r>
          </a:p>
        </p:txBody>
      </p:sp>
      <p:sp>
        <p:nvSpPr>
          <p:cNvPr id="1002" name="card-223"/>
          <p:cNvSpPr/>
          <p:nvPr/>
        </p:nvSpPr>
        <p:spPr>
          <a:xfrm>
            <a:off x="548640" y="1280160"/>
            <a:ext cx="11064240" cy="731520"/>
          </a:xfrm>
          <a:prstGeom prst="roundRect">
            <a:avLst>
              <a:gd name="adj" fmla="val 9412"/>
            </a:avLst>
          </a:prstGeom>
          <a:solidFill>
            <a:schemeClr val="bg2"/>
          </a:solidFill>
          <a:ln/>
        </p:spPr>
        <p:txBody>
          <a:bodyPr/>
          <a:lstStyle/>
          <a:p>
            <a:endParaRPr lang="en-IN"/>
          </a:p>
        </p:txBody>
      </p:sp>
      <mc:AlternateContent xmlns:mc="http://schemas.openxmlformats.org/markup-compatibility/2006" xmlns:a14="http://schemas.microsoft.com/office/drawing/2010/main">
        <mc:Choice Requires="a14">
          <p:sp>
            <p:nvSpPr>
              <p:cNvPr id="1003" name="latex-sym"/>
              <p:cNvSpPr txBox="1"/>
              <p:nvPr/>
            </p:nvSpPr>
            <p:spPr>
              <a:xfrm>
                <a:off x="1600200" y="1490472"/>
                <a:ext cx="9052560" cy="310896"/>
              </a:xfrm>
              <a:prstGeom prst="rect">
                <a:avLst/>
              </a:prstGeom>
              <a:noFill/>
            </p:spPr>
            <p:txBody>
              <a:bodyPr wrap="none" lIns="0" tIns="0" rIns="0" bIns="0" rtlCol="0" anchor="ctr">
                <a:noAutofit/>
              </a:bodyPr>
              <a:lstStyle/>
              <a:p>
                <a:pPr marL="0" indent="0">
                  <a:buNone/>
                </a:pPr>
                <a14:m>
                  <m:oMathPara xmlns:m="http://schemas.openxmlformats.org/officeDocument/2006/math">
                    <m:oMathParaPr>
                      <m:jc m:val="left"/>
                    </m:oMathParaPr>
                    <m:oMath>
                      <m:r>
                        <a:rPr lang="en-US" sz="1600" i="1" dirty="0">
                          <a:solidFill>
                            <a:schemeClr val="tx1"/>
                          </a:solidFill>
                          <a:latin typeface="Cambria Math" panose="02040503050406030204" pitchFamily="18" charset="0"/>
                        </a:rPr>
                        <m:t>(</m:t>
                      </m:r>
                      <m:r>
                        <a:rPr lang="en-US" sz="1600" i="1" dirty="0">
                          <a:solidFill>
                            <a:schemeClr val="tx1"/>
                          </a:solidFill>
                          <a:latin typeface="Cambria Math" panose="02040503050406030204" pitchFamily="18" charset="0"/>
                        </a:rPr>
                        <m:t>𝑑</m:t>
                      </m:r>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𝜑</m:t>
                          </m:r>
                        </m:e>
                        <m:sub>
                          <m:r>
                            <a:rPr lang="en-US" sz="1600" i="1" dirty="0">
                              <a:solidFill>
                                <a:schemeClr val="tx1"/>
                              </a:solidFill>
                              <a:latin typeface="Cambria Math" panose="02040503050406030204" pitchFamily="18" charset="0"/>
                            </a:rPr>
                            <m:t>1</m:t>
                          </m:r>
                        </m:sub>
                      </m:sSub>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𝜑</m:t>
                          </m:r>
                        </m:e>
                        <m:sub>
                          <m:r>
                            <a:rPr lang="en-US" sz="1600" i="1" dirty="0">
                              <a:solidFill>
                                <a:schemeClr val="tx1"/>
                              </a:solidFill>
                              <a:latin typeface="Cambria Math" panose="02040503050406030204" pitchFamily="18" charset="0"/>
                            </a:rPr>
                            <m:t>2</m:t>
                          </m:r>
                        </m:sub>
                      </m:sSub>
                      <m:r>
                        <a:rPr lang="en-US" sz="1600" i="1" dirty="0">
                          <a:solidFill>
                            <a:schemeClr val="tx1"/>
                          </a:solidFill>
                          <a:latin typeface="Cambria Math" panose="02040503050406030204" pitchFamily="18" charset="0"/>
                        </a:rPr>
                        <m:t>)↦(</m:t>
                      </m:r>
                      <m:r>
                        <a:rPr lang="en-US" sz="1600" i="1" dirty="0">
                          <a:solidFill>
                            <a:schemeClr val="tx1"/>
                          </a:solidFill>
                          <a:latin typeface="Cambria Math" panose="02040503050406030204" pitchFamily="18" charset="0"/>
                        </a:rPr>
                        <m:t>𝑑</m:t>
                      </m:r>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𝜑</m:t>
                          </m:r>
                        </m:e>
                        <m:sub>
                          <m:r>
                            <a:rPr lang="en-US" sz="1600" i="1" dirty="0">
                              <a:solidFill>
                                <a:schemeClr val="tx1"/>
                              </a:solidFill>
                              <a:latin typeface="Cambria Math" panose="02040503050406030204" pitchFamily="18" charset="0"/>
                            </a:rPr>
                            <m:t>2</m:t>
                          </m:r>
                        </m:sub>
                      </m:sSub>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𝜑</m:t>
                          </m:r>
                        </m:e>
                        <m:sub>
                          <m:r>
                            <a:rPr lang="en-US" sz="1600" i="1" dirty="0">
                              <a:solidFill>
                                <a:schemeClr val="tx1"/>
                              </a:solidFill>
                              <a:latin typeface="Cambria Math" panose="02040503050406030204" pitchFamily="18" charset="0"/>
                            </a:rPr>
                            <m:t>1</m:t>
                          </m:r>
                        </m:sub>
                      </m:sSub>
                      <m:r>
                        <a:rPr lang="en-US" sz="1600" i="1" dirty="0">
                          <a:solidFill>
                            <a:schemeClr val="tx1"/>
                          </a:solidFill>
                          <a:latin typeface="Cambria Math" panose="02040503050406030204" pitchFamily="18" charset="0"/>
                        </a:rPr>
                        <m:t>):</m:t>
                      </m:r>
                      <m:r>
                        <m:rPr>
                          <m:sty m:val="p"/>
                        </m:rPr>
                        <a:rPr lang="en-US" sz="1600" i="0" dirty="0">
                          <a:solidFill>
                            <a:schemeClr val="tx1"/>
                          </a:solidFill>
                          <a:latin typeface="Cambria Math" panose="02040503050406030204" pitchFamily="18" charset="0"/>
                        </a:rPr>
                        <m:t xml:space="preserve">    </m:t>
                      </m:r>
                      <m:acc>
                        <m:accPr>
                          <m:chr m:val="̃"/>
                          <m:ctrlPr>
                            <a:rPr lang="en-US" sz="1600" i="1" dirty="0">
                              <a:solidFill>
                                <a:schemeClr val="tx1"/>
                              </a:solidFill>
                              <a:latin typeface="Cambria Math" panose="02040503050406030204" pitchFamily="18" charset="0"/>
                            </a:rPr>
                          </m:ctrlPr>
                        </m:accPr>
                        <m:e>
                          <m:r>
                            <a:rPr lang="en-US" sz="1600" i="1" dirty="0">
                              <a:solidFill>
                                <a:schemeClr val="tx1"/>
                              </a:solidFill>
                              <a:latin typeface="Cambria Math" panose="02040503050406030204" pitchFamily="18" charset="0"/>
                            </a:rPr>
                            <m:t>𝜃</m:t>
                          </m:r>
                        </m:e>
                      </m:acc>
                      <m:r>
                        <a:rPr lang="en-US" sz="1600" i="1" dirty="0">
                          <a:solidFill>
                            <a:schemeClr val="tx1"/>
                          </a:solidFill>
                          <a:latin typeface="Cambria Math" panose="02040503050406030204" pitchFamily="18" charset="0"/>
                        </a:rPr>
                        <m:t>(𝑠)=𝜃(𝐿−𝑠),</m:t>
                      </m:r>
                      <m:r>
                        <m:rPr>
                          <m:sty m:val="p"/>
                        </m:rPr>
                        <a:rPr lang="en-US" sz="1600" i="0" dirty="0">
                          <a:solidFill>
                            <a:schemeClr val="tx1"/>
                          </a:solidFill>
                          <a:latin typeface="Cambria Math" panose="02040503050406030204" pitchFamily="18" charset="0"/>
                        </a:rPr>
                        <m:t xml:space="preserve">    </m:t>
                      </m:r>
                      <m:acc>
                        <m:accPr>
                          <m:chr m:val="̃"/>
                          <m:ctrlPr>
                            <a:rPr lang="en-US" sz="1600" i="1" dirty="0">
                              <a:solidFill>
                                <a:schemeClr val="tx1"/>
                              </a:solidFill>
                              <a:latin typeface="Cambria Math" panose="02040503050406030204" pitchFamily="18" charset="0"/>
                            </a:rPr>
                          </m:ctrlPr>
                        </m:accPr>
                        <m:e>
                          <m:r>
                            <a:rPr lang="en-US" sz="1600" i="1" dirty="0">
                              <a:solidFill>
                                <a:schemeClr val="tx1"/>
                              </a:solidFill>
                              <a:latin typeface="Cambria Math" panose="02040503050406030204" pitchFamily="18" charset="0"/>
                            </a:rPr>
                            <m:t>𝑝</m:t>
                          </m:r>
                        </m:e>
                      </m:acc>
                      <m:r>
                        <a:rPr lang="en-US" sz="1600" i="1" dirty="0">
                          <a:solidFill>
                            <a:schemeClr val="tx1"/>
                          </a:solidFill>
                          <a:latin typeface="Cambria Math" panose="02040503050406030204" pitchFamily="18" charset="0"/>
                        </a:rPr>
                        <m:t>=−𝑝,</m:t>
                      </m:r>
                      <m:r>
                        <m:rPr>
                          <m:sty m:val="p"/>
                        </m:rPr>
                        <a:rPr lang="en-US" sz="1600" i="0" dirty="0">
                          <a:solidFill>
                            <a:schemeClr val="tx1"/>
                          </a:solidFill>
                          <a:latin typeface="Cambria Math" panose="02040503050406030204" pitchFamily="18" charset="0"/>
                        </a:rPr>
                        <m:t xml:space="preserve">    </m:t>
                      </m:r>
                      <m:acc>
                        <m:accPr>
                          <m:chr m:val="̃"/>
                          <m:ctrlPr>
                            <a:rPr lang="en-US" sz="1600" i="1" dirty="0">
                              <a:solidFill>
                                <a:schemeClr val="tx1"/>
                              </a:solidFill>
                              <a:latin typeface="Cambria Math" panose="02040503050406030204" pitchFamily="18" charset="0"/>
                            </a:rPr>
                          </m:ctrlPr>
                        </m:accPr>
                        <m:e>
                          <m:r>
                            <a:rPr lang="en-US" sz="1600" i="1" dirty="0">
                              <a:solidFill>
                                <a:schemeClr val="tx1"/>
                              </a:solidFill>
                              <a:latin typeface="Cambria Math" panose="02040503050406030204" pitchFamily="18" charset="0"/>
                            </a:rPr>
                            <m:t>𝑈</m:t>
                          </m:r>
                        </m:e>
                      </m:acc>
                      <m:r>
                        <a:rPr lang="en-US" sz="1600" i="1" dirty="0">
                          <a:solidFill>
                            <a:schemeClr val="tx1"/>
                          </a:solidFill>
                          <a:latin typeface="Cambria Math" panose="02040503050406030204" pitchFamily="18" charset="0"/>
                        </a:rPr>
                        <m:t>=𝑈,</m:t>
                      </m:r>
                      <m:r>
                        <m:rPr>
                          <m:sty m:val="p"/>
                        </m:rPr>
                        <a:rPr lang="en-US" sz="1600" i="0" dirty="0">
                          <a:solidFill>
                            <a:schemeClr val="tx1"/>
                          </a:solidFill>
                          <a:latin typeface="Cambria Math" panose="02040503050406030204" pitchFamily="18" charset="0"/>
                        </a:rPr>
                        <m:t xml:space="preserve">    </m:t>
                      </m:r>
                      <m:sSub>
                        <m:sSubPr>
                          <m:ctrlPr>
                            <a:rPr lang="en-US" sz="1600" i="1" dirty="0">
                              <a:solidFill>
                                <a:schemeClr val="tx1"/>
                              </a:solidFill>
                              <a:latin typeface="Cambria Math" panose="02040503050406030204" pitchFamily="18" charset="0"/>
                            </a:rPr>
                          </m:ctrlPr>
                        </m:sSubPr>
                        <m:e>
                          <m:acc>
                            <m:accPr>
                              <m:chr m:val="̃"/>
                              <m:ctrlPr>
                                <a:rPr lang="en-US" sz="1600" i="1" dirty="0">
                                  <a:solidFill>
                                    <a:schemeClr val="tx1"/>
                                  </a:solidFill>
                                  <a:latin typeface="Cambria Math" panose="02040503050406030204" pitchFamily="18" charset="0"/>
                                </a:rPr>
                              </m:ctrlPr>
                            </m:accPr>
                            <m:e>
                              <m:r>
                                <a:rPr lang="en-US" sz="1600" i="1" dirty="0">
                                  <a:solidFill>
                                    <a:schemeClr val="tx1"/>
                                  </a:solidFill>
                                  <a:latin typeface="Cambria Math" panose="02040503050406030204" pitchFamily="18" charset="0"/>
                                </a:rPr>
                                <m:t>𝑓</m:t>
                              </m:r>
                            </m:e>
                          </m:acc>
                        </m:e>
                        <m:sub>
                          <m:r>
                            <a:rPr lang="en-US" sz="1600" i="1" dirty="0">
                              <a:solidFill>
                                <a:schemeClr val="tx1"/>
                              </a:solidFill>
                              <a:latin typeface="Cambria Math" panose="02040503050406030204" pitchFamily="18" charset="0"/>
                            </a:rPr>
                            <m:t>𝑥</m:t>
                          </m:r>
                        </m:sub>
                      </m:sSub>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𝑥</m:t>
                          </m:r>
                        </m:sub>
                      </m:sSub>
                      <m:r>
                        <a:rPr lang="en-US" sz="1600" i="1" dirty="0">
                          <a:solidFill>
                            <a:schemeClr val="tx1"/>
                          </a:solidFill>
                          <a:latin typeface="Cambria Math" panose="02040503050406030204" pitchFamily="18" charset="0"/>
                        </a:rPr>
                        <m:t>,</m:t>
                      </m:r>
                      <m:r>
                        <m:rPr>
                          <m:sty m:val="p"/>
                        </m:rPr>
                        <a:rPr lang="en-US" sz="1600" i="0" dirty="0">
                          <a:solidFill>
                            <a:schemeClr val="tx1"/>
                          </a:solidFill>
                          <a:latin typeface="Cambria Math" panose="02040503050406030204" pitchFamily="18" charset="0"/>
                        </a:rPr>
                        <m:t xml:space="preserve">    </m:t>
                      </m:r>
                      <m:sSub>
                        <m:sSubPr>
                          <m:ctrlPr>
                            <a:rPr lang="en-US" sz="1600" i="1" dirty="0">
                              <a:solidFill>
                                <a:schemeClr val="tx1"/>
                              </a:solidFill>
                              <a:latin typeface="Cambria Math" panose="02040503050406030204" pitchFamily="18" charset="0"/>
                            </a:rPr>
                          </m:ctrlPr>
                        </m:sSubPr>
                        <m:e>
                          <m:acc>
                            <m:accPr>
                              <m:chr m:val="̃"/>
                              <m:ctrlPr>
                                <a:rPr lang="en-US" sz="1600" i="1" dirty="0">
                                  <a:solidFill>
                                    <a:schemeClr val="tx1"/>
                                  </a:solidFill>
                                  <a:latin typeface="Cambria Math" panose="02040503050406030204" pitchFamily="18" charset="0"/>
                                </a:rPr>
                              </m:ctrlPr>
                            </m:accPr>
                            <m:e>
                              <m:r>
                                <a:rPr lang="en-US" sz="1600" i="1" dirty="0">
                                  <a:solidFill>
                                    <a:schemeClr val="tx1"/>
                                  </a:solidFill>
                                  <a:latin typeface="Cambria Math" panose="02040503050406030204" pitchFamily="18" charset="0"/>
                                </a:rPr>
                                <m:t>𝑓</m:t>
                              </m:r>
                            </m:e>
                          </m:acc>
                        </m:e>
                        <m:sub>
                          <m:r>
                            <a:rPr lang="en-US" sz="1600" i="1" dirty="0">
                              <a:solidFill>
                                <a:schemeClr val="tx1"/>
                              </a:solidFill>
                              <a:latin typeface="Cambria Math" panose="02040503050406030204" pitchFamily="18" charset="0"/>
                            </a:rPr>
                            <m:t>𝑦</m:t>
                          </m:r>
                        </m:sub>
                      </m:sSub>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𝑦</m:t>
                          </m:r>
                        </m:sub>
                      </m:sSub>
                      <m:r>
                        <a:rPr lang="en-US" sz="1600" i="1" dirty="0">
                          <a:solidFill>
                            <a:schemeClr val="tx1"/>
                          </a:solidFill>
                          <a:latin typeface="Cambria Math" panose="02040503050406030204" pitchFamily="18" charset="0"/>
                        </a:rPr>
                        <m:t>,</m:t>
                      </m:r>
                      <m:r>
                        <m:rPr>
                          <m:sty m:val="p"/>
                        </m:rPr>
                        <a:rPr lang="en-US" sz="1600" i="0" dirty="0">
                          <a:solidFill>
                            <a:schemeClr val="tx1"/>
                          </a:solidFill>
                          <a:latin typeface="Cambria Math" panose="02040503050406030204" pitchFamily="18" charset="0"/>
                        </a:rPr>
                        <m:t xml:space="preserve">    </m:t>
                      </m:r>
                      <m:sSub>
                        <m:sSubPr>
                          <m:ctrlPr>
                            <a:rPr lang="en-US" sz="1600" i="1" dirty="0">
                              <a:solidFill>
                                <a:schemeClr val="tx1"/>
                              </a:solidFill>
                              <a:latin typeface="Cambria Math" panose="02040503050406030204" pitchFamily="18" charset="0"/>
                            </a:rPr>
                          </m:ctrlPr>
                        </m:sSubPr>
                        <m:e>
                          <m:acc>
                            <m:accPr>
                              <m:chr m:val="̃"/>
                              <m:ctrlPr>
                                <a:rPr lang="en-US" sz="1600" i="1" dirty="0">
                                  <a:solidFill>
                                    <a:schemeClr val="tx1"/>
                                  </a:solidFill>
                                  <a:latin typeface="Cambria Math" panose="02040503050406030204" pitchFamily="18" charset="0"/>
                                </a:rPr>
                              </m:ctrlPr>
                            </m:accPr>
                            <m:e>
                              <m:r>
                                <a:rPr lang="en-US" sz="1600" i="1" dirty="0">
                                  <a:solidFill>
                                    <a:schemeClr val="tx1"/>
                                  </a:solidFill>
                                  <a:latin typeface="Cambria Math" panose="02040503050406030204" pitchFamily="18" charset="0"/>
                                </a:rPr>
                                <m:t>𝑀</m:t>
                              </m:r>
                            </m:e>
                          </m:acc>
                        </m:e>
                        <m:sub>
                          <m:r>
                            <a:rPr lang="en-US" sz="1600" i="1" dirty="0">
                              <a:solidFill>
                                <a:schemeClr val="tx1"/>
                              </a:solidFill>
                              <a:latin typeface="Cambria Math" panose="02040503050406030204" pitchFamily="18" charset="0"/>
                            </a:rPr>
                            <m:t>1</m:t>
                          </m:r>
                        </m:sub>
                      </m:sSub>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𝑀</m:t>
                          </m:r>
                        </m:e>
                        <m:sub>
                          <m:r>
                            <a:rPr lang="en-US" sz="1600" i="1" dirty="0">
                              <a:solidFill>
                                <a:schemeClr val="tx1"/>
                              </a:solidFill>
                              <a:latin typeface="Cambria Math" panose="02040503050406030204" pitchFamily="18" charset="0"/>
                            </a:rPr>
                            <m:t>2</m:t>
                          </m:r>
                        </m:sub>
                      </m:sSub>
                    </m:oMath>
                  </m:oMathPara>
                </a14:m>
                <a:endParaRPr lang="en-US" sz="1600" dirty="0"/>
              </a:p>
            </p:txBody>
          </p:sp>
        </mc:Choice>
        <mc:Fallback xmlns="">
          <p:sp>
            <p:nvSpPr>
              <p:cNvPr id="1003" name="latex-sym"/>
              <p:cNvSpPr txBox="1">
                <a:spLocks noRot="1" noChangeAspect="1" noMove="1" noResize="1" noEditPoints="1" noAdjustHandles="1" noChangeArrowheads="1" noChangeShapeType="1" noTextEdit="1"/>
              </p:cNvSpPr>
              <p:nvPr/>
            </p:nvSpPr>
            <p:spPr>
              <a:xfrm>
                <a:off x="1600200" y="1490472"/>
                <a:ext cx="9052560" cy="310896"/>
              </a:xfrm>
              <a:prstGeom prst="rect">
                <a:avLst/>
              </a:prstGeom>
              <a:blipFill>
                <a:blip r:embed="rId2"/>
                <a:stretch>
                  <a:fillRect/>
                </a:stretch>
              </a:blipFill>
            </p:spPr>
            <p:txBody>
              <a:bodyPr/>
              <a:lstStyle/>
              <a:p>
                <a:r>
                  <a:rPr lang="en-US">
                    <a:noFill/>
                  </a:rPr>
                  <a:t> </a:t>
                </a:r>
              </a:p>
            </p:txBody>
          </p:sp>
        </mc:Fallback>
      </mc:AlternateContent>
      <p:pic>
        <p:nvPicPr>
          <p:cNvPr id="402" name="Picture 401" descr="Antisymmetry test of q, and two rods related by a 180 degree turn"/>
          <p:cNvPicPr>
            <a:picLocks noChangeAspect="1"/>
          </p:cNvPicPr>
          <p:nvPr/>
        </p:nvPicPr>
        <p:blipFill>
          <a:blip r:embed="rId3"/>
          <a:stretch>
            <a:fillRect/>
          </a:stretch>
        </p:blipFill>
        <p:spPr>
          <a:xfrm>
            <a:off x="2167128" y="2148840"/>
            <a:ext cx="7863840" cy="3489482"/>
          </a:xfrm>
          <a:prstGeom prst="rect">
            <a:avLst/>
          </a:prstGeom>
        </p:spPr>
      </p:pic>
      <p:sp>
        <p:nvSpPr>
          <p:cNvPr id="1004" name="text-103"/>
          <p:cNvSpPr txBox="1"/>
          <p:nvPr/>
        </p:nvSpPr>
        <p:spPr>
          <a:xfrm>
            <a:off x="1783080" y="5748050"/>
            <a:ext cx="8595360" cy="548640"/>
          </a:xfrm>
          <a:prstGeom prst="rect">
            <a:avLst/>
          </a:prstGeom>
          <a:noFill/>
          <a:ln/>
        </p:spPr>
        <p:txBody>
          <a:bodyPr wrap="square" lIns="0" tIns="0" rIns="0" bIns="0" rtlCol="0" anchor="t"/>
          <a:lstStyle/>
          <a:p>
            <a:pPr marL="0" indent="0">
              <a:buNone/>
            </a:pPr>
            <a:r>
              <a:rPr lang="en-US" sz="1100" i="1" dirty="0">
                <a:solidFill>
                  <a:schemeClr val="accent5"/>
                </a:solidFill>
              </a:rPr>
              <a:t>Left: |q(φ₁, φ₂) + q(φ₂, φ₁)| at d = 0.82 is about 1e-4 everywhere except a square, the bistable region. Over all layers 2.35 M of the 2.98 M nodes pass, with q within 6.6e-4 and U within 1.5e-8. Right: the rod at (−1.20, +0.35) turned 180° lies on the rod at (+0.35, −1.20).</a:t>
            </a:r>
          </a:p>
        </p:txBody>
      </p:sp>
      <p:sp>
        <p:nvSpPr>
          <p:cNvPr id="100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000" name=""/>
        <p:cNvGrpSpPr/>
        <p:nvPr/>
      </p:nvGrpSpPr>
      <p:grpSpPr/>
      <p:sp>
        <p:nvSpPr>
          <p:cNvPr id="1001"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The bistable region: two stable rods for the same clamps</a:t>
            </a:r>
          </a:p>
        </p:txBody>
      </p:sp>
      <p:sp>
        <p:nvSpPr>
          <p:cNvPr id="1002" name="card-223"/>
          <p:cNvSpPr/>
          <p:nvPr/>
        </p:nvSpPr>
        <p:spPr>
          <a:xfrm>
            <a:off x="548640" y="1280160"/>
            <a:ext cx="11064240" cy="731520"/>
          </a:xfrm>
          <a:prstGeom prst="roundRect">
            <a:avLst>
              <a:gd name="adj" fmla="val 9412"/>
            </a:avLst>
          </a:prstGeom>
          <a:solidFill>
            <a:schemeClr val="bg2"/>
          </a:solidFill>
          <a:ln/>
        </p:spPr>
        <p:txBody>
          <a:bodyPr/>
          <a:lstStyle/>
          <a:p>
            <a:endParaRPr lang="en-IN"/>
          </a:p>
        </p:txBody>
      </p:sp>
      <mc:AlternateContent xmlns:mc="http://schemas.openxmlformats.org/markup-compatibility/2006" xmlns:a14="http://schemas.microsoft.com/office/drawing/2010/main">
        <mc:Choice Requires="a14">
          <p:sp>
            <p:nvSpPr>
              <p:cNvPr id="1003" name="latex-sym"/>
              <p:cNvSpPr txBox="1"/>
              <p:nvPr/>
            </p:nvSpPr>
            <p:spPr>
              <a:xfrm>
                <a:off x="868680" y="1490472"/>
                <a:ext cx="10424160" cy="310896"/>
              </a:xfrm>
              <a:prstGeom prst="rect">
                <a:avLst/>
              </a:prstGeom>
              <a:noFill/>
            </p:spPr>
            <p:txBody>
              <a:bodyPr wrap="none" lIns="0" tIns="0" rIns="0" bIns="0" rtlCol="0" anchor="ctr">
                <a:noAutofit/>
              </a:bodyPr>
              <a:lstStyle/>
              <a:p>
                <a:pPr marL="0" indent="0">
                  <a:buNone/>
                </a:pPr>
                <a14:m>
                  <m:oMathPara xmlns:m="http://schemas.openxmlformats.org/officeDocument/2006/math">
                    <m:oMathParaPr>
                      <m:jc m:val="left"/>
                    </m:oMathParaPr>
                    <m:oMath>
                      <m:r>
                        <m:rPr>
                          <m:sty m:val="p"/>
                        </m:rPr>
                        <a:rPr lang="en-US" sz="1600" i="0" dirty="0">
                          <a:solidFill>
                            <a:schemeClr val="tx1"/>
                          </a:solidFill>
                          <a:latin typeface="Cambria Math" panose="02040503050406030204" pitchFamily="18" charset="0"/>
                        </a:rPr>
                        <m:t xml:space="preserve">Bistable where the bent-up solve is bent up at a point and at its mirror:    </m:t>
                      </m:r>
                      <m:r>
                        <a:rPr lang="en-US" sz="1600" i="1" dirty="0">
                          <a:solidFill>
                            <a:schemeClr val="tx1"/>
                          </a:solidFill>
                          <a:latin typeface="Cambria Math" panose="02040503050406030204" pitchFamily="18" charset="0"/>
                        </a:rPr>
                        <m:t>𝑞(</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𝜑</m:t>
                          </m:r>
                        </m:e>
                        <m:sub>
                          <m:r>
                            <a:rPr lang="en-US" sz="1600" i="1" dirty="0">
                              <a:solidFill>
                                <a:schemeClr val="tx1"/>
                              </a:solidFill>
                              <a:latin typeface="Cambria Math" panose="02040503050406030204" pitchFamily="18" charset="0"/>
                            </a:rPr>
                            <m:t>1</m:t>
                          </m:r>
                        </m:sub>
                      </m:sSub>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𝜑</m:t>
                          </m:r>
                        </m:e>
                        <m:sub>
                          <m:r>
                            <a:rPr lang="en-US" sz="1600" i="1" dirty="0">
                              <a:solidFill>
                                <a:schemeClr val="tx1"/>
                              </a:solidFill>
                              <a:latin typeface="Cambria Math" panose="02040503050406030204" pitchFamily="18" charset="0"/>
                            </a:rPr>
                            <m:t>2</m:t>
                          </m:r>
                        </m:sub>
                      </m:sSub>
                      <m:r>
                        <a:rPr lang="en-US" sz="1600" i="1" dirty="0">
                          <a:solidFill>
                            <a:schemeClr val="tx1"/>
                          </a:solidFill>
                          <a:latin typeface="Cambria Math" panose="02040503050406030204" pitchFamily="18" charset="0"/>
                        </a:rPr>
                        <m:t>)&gt;0</m:t>
                      </m:r>
                      <m:r>
                        <m:rPr>
                          <m:sty m:val="p"/>
                        </m:rPr>
                        <a:rPr lang="en-US" sz="1600" i="0" dirty="0">
                          <a:solidFill>
                            <a:schemeClr val="tx1"/>
                          </a:solidFill>
                          <a:latin typeface="Cambria Math" panose="02040503050406030204" pitchFamily="18" charset="0"/>
                        </a:rPr>
                        <m:t xml:space="preserve">   and   </m:t>
                      </m:r>
                      <m:r>
                        <a:rPr lang="en-US" sz="1600" i="1" dirty="0">
                          <a:solidFill>
                            <a:schemeClr val="tx1"/>
                          </a:solidFill>
                          <a:latin typeface="Cambria Math" panose="02040503050406030204" pitchFamily="18" charset="0"/>
                        </a:rPr>
                        <m:t>𝑞(</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𝜑</m:t>
                          </m:r>
                        </m:e>
                        <m:sub>
                          <m:r>
                            <a:rPr lang="en-US" sz="1600" i="1" dirty="0">
                              <a:solidFill>
                                <a:schemeClr val="tx1"/>
                              </a:solidFill>
                              <a:latin typeface="Cambria Math" panose="02040503050406030204" pitchFamily="18" charset="0"/>
                            </a:rPr>
                            <m:t>2</m:t>
                          </m:r>
                        </m:sub>
                      </m:sSub>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𝜑</m:t>
                          </m:r>
                        </m:e>
                        <m:sub>
                          <m:r>
                            <a:rPr lang="en-US" sz="1600" i="1" dirty="0">
                              <a:solidFill>
                                <a:schemeClr val="tx1"/>
                              </a:solidFill>
                              <a:latin typeface="Cambria Math" panose="02040503050406030204" pitchFamily="18" charset="0"/>
                            </a:rPr>
                            <m:t>1</m:t>
                          </m:r>
                        </m:sub>
                      </m:sSub>
                      <m:r>
                        <a:rPr lang="en-US" sz="1600" i="1" dirty="0">
                          <a:solidFill>
                            <a:schemeClr val="tx1"/>
                          </a:solidFill>
                          <a:latin typeface="Cambria Math" panose="02040503050406030204" pitchFamily="18" charset="0"/>
                        </a:rPr>
                        <m:t>)&gt;0</m:t>
                      </m:r>
                    </m:oMath>
                  </m:oMathPara>
                </a14:m>
                <a:endParaRPr lang="en-US" sz="1600" dirty="0"/>
              </a:p>
            </p:txBody>
          </p:sp>
        </mc:Choice>
        <mc:Fallback xmlns="">
          <p:sp>
            <p:nvSpPr>
              <p:cNvPr id="1003" name="latex-sym"/>
              <p:cNvSpPr txBox="1">
                <a:spLocks noRot="1" noChangeAspect="1" noMove="1" noResize="1" noEditPoints="1" noAdjustHandles="1" noChangeArrowheads="1" noChangeShapeType="1" noTextEdit="1"/>
              </p:cNvSpPr>
              <p:nvPr/>
            </p:nvSpPr>
            <p:spPr>
              <a:xfrm>
                <a:off x="868680" y="1490472"/>
                <a:ext cx="10424160" cy="310896"/>
              </a:xfrm>
              <a:prstGeom prst="rect">
                <a:avLst/>
              </a:prstGeom>
              <a:blipFill>
                <a:blip r:embed="rId2"/>
                <a:stretch>
                  <a:fillRect/>
                </a:stretch>
              </a:blipFill>
            </p:spPr>
            <p:txBody>
              <a:bodyPr/>
              <a:lstStyle/>
              <a:p>
                <a:r>
                  <a:rPr lang="en-US">
                    <a:noFill/>
                  </a:rPr>
                  <a:t> </a:t>
                </a:r>
              </a:p>
            </p:txBody>
          </p:sp>
        </mc:Fallback>
      </mc:AlternateContent>
      <p:pic>
        <p:nvPicPr>
          <p:cNvPr id="402" name="Picture 401" descr="The bistable region at d = 0.82 with its fold edges, corners and cusps"/>
          <p:cNvPicPr>
            <a:picLocks noChangeAspect="1"/>
          </p:cNvPicPr>
          <p:nvPr/>
        </p:nvPicPr>
        <p:blipFill>
          <a:blip r:embed="rId3"/>
          <a:stretch>
            <a:fillRect/>
          </a:stretch>
        </p:blipFill>
        <p:spPr>
          <a:xfrm>
            <a:off x="685800" y="2148840"/>
            <a:ext cx="3920785" cy="4069080"/>
          </a:xfrm>
          <a:prstGeom prst="rect">
            <a:avLst/>
          </a:prstGeom>
        </p:spPr>
      </p:pic>
      <p:pic>
        <p:nvPicPr>
          <p:cNvPr id="403" name="Picture 402" descr="Two stable rods at the same clamp angles"/>
          <p:cNvPicPr>
            <a:picLocks noChangeAspect="1"/>
          </p:cNvPicPr>
          <p:nvPr/>
        </p:nvPicPr>
        <p:blipFill>
          <a:blip r:embed="rId4"/>
          <a:stretch>
            <a:fillRect/>
          </a:stretch>
        </p:blipFill>
        <p:spPr>
          <a:xfrm>
            <a:off x="5577840" y="2148840"/>
            <a:ext cx="5760720" cy="2625702"/>
          </a:xfrm>
          <a:prstGeom prst="rect">
            <a:avLst/>
          </a:prstGeom>
        </p:spPr>
      </p:pic>
      <p:sp>
        <p:nvSpPr>
          <p:cNvPr id="1004" name="badge-226"/>
          <p:cNvSpPr/>
          <p:nvPr/>
        </p:nvSpPr>
        <p:spPr>
          <a:xfrm>
            <a:off x="5577840" y="5048862"/>
            <a:ext cx="384048" cy="384048"/>
          </a:xfrm>
          <a:prstGeom prst="ellipse">
            <a:avLst/>
          </a:prstGeom>
          <a:solidFill>
            <a:schemeClr val="accent1"/>
          </a:solidFill>
          <a:ln/>
        </p:spPr>
        <p:txBody>
          <a:bodyPr/>
          <a:lstStyle/>
          <a:p>
            <a:endParaRPr lang="en-IN"/>
          </a:p>
        </p:txBody>
      </p:sp>
      <p:sp>
        <p:nvSpPr>
          <p:cNvPr id="1005" name="badge-label-227"/>
          <p:cNvSpPr txBox="1"/>
          <p:nvPr/>
        </p:nvSpPr>
        <p:spPr>
          <a:xfrm>
            <a:off x="5577840" y="504886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006" name="text-228"/>
          <p:cNvSpPr txBox="1"/>
          <p:nvPr/>
        </p:nvSpPr>
        <p:spPr>
          <a:xfrm>
            <a:off x="6126479" y="5021430"/>
            <a:ext cx="5394960" cy="548640"/>
          </a:xfrm>
          <a:prstGeom prst="rect">
            <a:avLst/>
          </a:prstGeom>
          <a:noFill/>
          <a:ln/>
        </p:spPr>
        <p:txBody>
          <a:bodyPr wrap="square" lIns="0" tIns="0" rIns="0" bIns="0" rtlCol="0" anchor="t"/>
          <a:lstStyle/>
          <a:p>
            <a:pPr marL="0" indent="0">
              <a:buNone/>
            </a:pPr>
            <a:r>
              <a:rPr lang="en-US" sz="1200" dirty="0">
                <a:solidFill>
                  <a:schemeClr val="tx1"/>
                </a:solidFill>
              </a:rPr>
              <a:t>Left and top: the bent-up branch ends (fold). Leave this way bent up and the rod snaps down.</a:t>
            </a:r>
            <a:endParaRPr lang="en-US" sz="1200" dirty="0"/>
          </a:p>
        </p:txBody>
      </p:sp>
      <p:sp>
        <p:nvSpPr>
          <p:cNvPr id="1007" name="badge-226"/>
          <p:cNvSpPr/>
          <p:nvPr/>
        </p:nvSpPr>
        <p:spPr>
          <a:xfrm>
            <a:off x="5577840" y="5615790"/>
            <a:ext cx="384048" cy="384048"/>
          </a:xfrm>
          <a:prstGeom prst="ellipse">
            <a:avLst/>
          </a:prstGeom>
          <a:solidFill>
            <a:schemeClr val="accent1"/>
          </a:solidFill>
          <a:ln/>
        </p:spPr>
        <p:txBody>
          <a:bodyPr/>
          <a:lstStyle/>
          <a:p>
            <a:endParaRPr lang="en-IN"/>
          </a:p>
        </p:txBody>
      </p:sp>
      <p:sp>
        <p:nvSpPr>
          <p:cNvPr id="1008" name="badge-label-227"/>
          <p:cNvSpPr txBox="1"/>
          <p:nvPr/>
        </p:nvSpPr>
        <p:spPr>
          <a:xfrm>
            <a:off x="5577840" y="561579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009" name="text-228"/>
          <p:cNvSpPr txBox="1"/>
          <p:nvPr/>
        </p:nvSpPr>
        <p:spPr>
          <a:xfrm>
            <a:off x="6126479" y="5588358"/>
            <a:ext cx="5394960" cy="548640"/>
          </a:xfrm>
          <a:prstGeom prst="rect">
            <a:avLst/>
          </a:prstGeom>
          <a:noFill/>
          <a:ln/>
        </p:spPr>
        <p:txBody>
          <a:bodyPr wrap="square" lIns="0" tIns="0" rIns="0" bIns="0" rtlCol="0" anchor="t"/>
          <a:lstStyle/>
          <a:p>
            <a:pPr marL="0" indent="0">
              <a:buNone/>
            </a:pPr>
            <a:r>
              <a:rPr lang="en-US" sz="1200" dirty="0">
                <a:solidFill>
                  <a:schemeClr val="tx1"/>
                </a:solidFill>
              </a:rPr>
              <a:t>Bottom and right: the bent-down branch ends, the mirror image. Leave this way bent down and the rod snaps up.</a:t>
            </a:r>
            <a:endParaRPr lang="en-US" sz="1200" dirty="0"/>
          </a:p>
        </p:txBody>
      </p:sp>
      <p:sp>
        <p:nvSpPr>
          <p:cNvPr id="1010" name="badge-226"/>
          <p:cNvSpPr/>
          <p:nvPr/>
        </p:nvSpPr>
        <p:spPr>
          <a:xfrm>
            <a:off x="5577840" y="6182718"/>
            <a:ext cx="384048" cy="384048"/>
          </a:xfrm>
          <a:prstGeom prst="ellipse">
            <a:avLst/>
          </a:prstGeom>
          <a:solidFill>
            <a:schemeClr val="accent1"/>
          </a:solidFill>
          <a:ln/>
        </p:spPr>
        <p:txBody>
          <a:bodyPr/>
          <a:lstStyle/>
          <a:p>
            <a:endParaRPr lang="en-IN"/>
          </a:p>
        </p:txBody>
      </p:sp>
      <p:sp>
        <p:nvSpPr>
          <p:cNvPr id="1011" name="badge-label-227"/>
          <p:cNvSpPr txBox="1"/>
          <p:nvPr/>
        </p:nvSpPr>
        <p:spPr>
          <a:xfrm>
            <a:off x="5577840" y="6182718"/>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012" name="text-228"/>
          <p:cNvSpPr txBox="1"/>
          <p:nvPr/>
        </p:nvSpPr>
        <p:spPr>
          <a:xfrm>
            <a:off x="6126479" y="6155286"/>
            <a:ext cx="5394960" cy="548640"/>
          </a:xfrm>
          <a:prstGeom prst="rect">
            <a:avLst/>
          </a:prstGeom>
          <a:noFill/>
          <a:ln/>
        </p:spPr>
        <p:txBody>
          <a:bodyPr wrap="square" lIns="0" tIns="0" rIns="0" bIns="0" rtlCol="0" anchor="t"/>
          <a:lstStyle/>
          <a:p>
            <a:pPr marL="0" indent="0">
              <a:buNone/>
            </a:pPr>
            <a:r>
              <a:rPr lang="en-US" sz="1200" dirty="0">
                <a:solidFill>
                  <a:schemeClr val="tx1"/>
                </a:solidFill>
              </a:rPr>
              <a:t>On the diagonal the curves meet at cusps. Beyond them φ₁ = φ₂ is a smooth S-crossing and nothing snaps.</a:t>
            </a:r>
            <a:endParaRPr lang="en-US" sz="1200" dirty="0"/>
          </a:p>
        </p:txBody>
      </p:sp>
      <p:sp>
        <p:nvSpPr>
          <p:cNvPr id="101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000" name=""/>
        <p:cNvGrpSpPr/>
        <p:nvPr/>
      </p:nvGrpSpPr>
      <p:grpSpPr/>
      <p:sp>
        <p:nvSpPr>
          <p:cNvPr id="1001"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Which snap the rod meets depends on the branch it is on</a:t>
            </a:r>
          </a:p>
        </p:txBody>
      </p:sp>
      <p:pic>
        <p:nvPicPr>
          <p:cNvPr id="3" name="Picture 2" descr="q and U along phi2 = 0 for both branches, with the two snaps"/>
          <p:cNvPicPr>
            <a:picLocks noChangeAspect="1"/>
          </p:cNvPicPr>
          <p:nvPr/>
        </p:nvPicPr>
        <p:blipFill>
          <a:blip r:embed="rId2"/>
          <a:stretch>
            <a:fillRect/>
          </a:stretch>
        </p:blipFill>
        <p:spPr>
          <a:xfrm>
            <a:off x="1051560" y="1280160"/>
            <a:ext cx="10058400" cy="3820558"/>
          </a:xfrm>
          <a:prstGeom prst="rect">
            <a:avLst/>
          </a:prstGeom>
        </p:spPr>
      </p:pic>
      <p:sp>
        <p:nvSpPr>
          <p:cNvPr id="1002" name="text-103"/>
          <p:cNvSpPr txBox="1"/>
          <p:nvPr/>
        </p:nvSpPr>
        <p:spPr>
          <a:xfrm>
            <a:off x="1051560" y="5210446"/>
            <a:ext cx="10058400" cy="548640"/>
          </a:xfrm>
          <a:prstGeom prst="rect">
            <a:avLst/>
          </a:prstGeom>
          <a:noFill/>
          <a:ln/>
        </p:spPr>
        <p:txBody>
          <a:bodyPr wrap="square" lIns="0" tIns="0" rIns="0" bIns="0" rtlCol="0" anchor="t"/>
          <a:lstStyle/>
          <a:p>
            <a:pPr marL="0" indent="0">
              <a:buNone/>
            </a:pPr>
            <a:r>
              <a:rPr lang="en-US" sz="1100" i="1" dirty="0">
                <a:solidFill>
                  <a:schemeClr val="accent5"/>
                </a:solidFill>
              </a:rPr>
              <a:t>d = 0.82, φ₂ = 0. Bent up (orange), the rod crosses the whole bistable band (teal) and snaps down only at φ₁ ≈ −0.76. Bent down (slate), it snaps up only at +0.76. The loop between the two snaps is the hysteresis; each snap releases U 11.2 → 4.2.</a:t>
            </a:r>
          </a:p>
        </p:txBody>
      </p:sp>
      <p:sp>
        <p:nvSpPr>
          <p:cNvPr id="100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000" name=""/>
        <p:cNvGrpSpPr/>
        <p:nvPr/>
      </p:nvGrpSpPr>
      <p:grpSpPr/>
      <p:sp>
        <p:nvSpPr>
          <p:cNvPr id="1001"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The bistable region closes in as d → 1</a:t>
            </a:r>
          </a:p>
        </p:txBody>
      </p:sp>
      <p:pic>
        <p:nvPicPr>
          <p:cNvPr id="3" name="Picture 2" descr="Edge of the bistable region per d layer, and its size against d"/>
          <p:cNvPicPr>
            <a:picLocks noChangeAspect="1"/>
          </p:cNvPicPr>
          <p:nvPr/>
        </p:nvPicPr>
        <p:blipFill>
          <a:blip r:embed="rId2"/>
          <a:stretch>
            <a:fillRect/>
          </a:stretch>
        </p:blipFill>
        <p:spPr>
          <a:xfrm>
            <a:off x="1325880" y="1234440"/>
            <a:ext cx="9509760" cy="4111960"/>
          </a:xfrm>
          <a:prstGeom prst="rect">
            <a:avLst/>
          </a:prstGeom>
        </p:spPr>
      </p:pic>
      <p:sp>
        <p:nvSpPr>
          <p:cNvPr id="1002" name="text-103"/>
          <p:cNvSpPr txBox="1"/>
          <p:nvPr/>
        </p:nvSpPr>
        <p:spPr>
          <a:xfrm>
            <a:off x="1325880" y="5456128"/>
            <a:ext cx="9509760" cy="548640"/>
          </a:xfrm>
          <a:prstGeom prst="rect">
            <a:avLst/>
          </a:prstGeom>
          <a:noFill/>
          <a:ln/>
        </p:spPr>
        <p:txBody>
          <a:bodyPr wrap="square" lIns="0" tIns="0" rIns="0" bIns="0" rtlCol="0" anchor="t"/>
          <a:lstStyle/>
          <a:p>
            <a:pPr marL="0" indent="0">
              <a:buNone/>
            </a:pPr>
            <a:r>
              <a:rPr lang="en-US" sz="1100" i="1" dirty="0">
                <a:solidFill>
                  <a:schemeClr val="accent5"/>
                </a:solidFill>
              </a:rPr>
              <a:t>Share of the layer: 41 % at d = 0.70, 25 % at 0.82, 14 % at 0.90, 1.3 % at 0.99. Along φ₂ = 0 it spans |φ₁| &lt; 0.97, 0.75, 0.56 and 0.17. The largest energy gap between the two rods falls from 25.6 to 0.8.</a:t>
            </a:r>
          </a:p>
        </p:txBody>
      </p:sp>
      <p:sp>
        <p:nvSpPr>
          <p:cNvPr id="100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000" name=""/>
        <p:cNvGrpSpPr/>
        <p:nvPr/>
      </p:nvGrpSpPr>
      <p:grpSpPr/>
      <p:sp>
        <p:nvSpPr>
          <p:cNvPr id="1001"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The region ends in a cusp on the diagonal</a:t>
            </a:r>
          </a:p>
        </p:txBody>
      </p:sp>
      <p:pic>
        <p:nvPicPr>
          <p:cNvPr id="3" name="Picture 2" descr="The thin tip of the bistable region along the diagonal at d = 0.70"/>
          <p:cNvPicPr>
            <a:picLocks noChangeAspect="1"/>
          </p:cNvPicPr>
          <p:nvPr/>
        </p:nvPicPr>
        <p:blipFill>
          <a:blip r:embed="rId2"/>
          <a:stretch>
            <a:fillRect/>
          </a:stretch>
        </p:blipFill>
        <p:spPr>
          <a:xfrm>
            <a:off x="1325880" y="1234440"/>
            <a:ext cx="9509760" cy="4237992"/>
          </a:xfrm>
          <a:prstGeom prst="rect">
            <a:avLst/>
          </a:prstGeom>
        </p:spPr>
      </p:pic>
      <p:sp>
        <p:nvSpPr>
          <p:cNvPr id="1002" name="text-103"/>
          <p:cNvSpPr txBox="1"/>
          <p:nvPr/>
        </p:nvSpPr>
        <p:spPr>
          <a:xfrm>
            <a:off x="1325880" y="5582160"/>
            <a:ext cx="9509760" cy="548640"/>
          </a:xfrm>
          <a:prstGeom prst="rect">
            <a:avLst/>
          </a:prstGeom>
          <a:noFill/>
          <a:ln/>
        </p:spPr>
        <p:txBody>
          <a:bodyPr wrap="square" lIns="0" tIns="0" rIns="0" bIns="0" rtlCol="0" anchor="t"/>
          <a:lstStyle/>
          <a:p>
            <a:pPr marL="0" indent="0">
              <a:buNone/>
            </a:pPr>
            <a:r>
              <a:rPr lang="en-US" sz="1100" i="1" dirty="0">
                <a:solidFill>
                  <a:schemeClr val="accent5"/>
                </a:solidFill>
              </a:rPr>
              <a:t>d = 0.70. Towards the diagonal the two fold curves close in and meet at a cusp at φ ≈ 1.13. Near it both stable rods are S-shapes, mirror images with q ≈ ±0.5 and equal energy on the diagonal; at the cusp q falls to 0. The cusp moves in with d: φ ≈ 0.86 at d = 0.82, 0.20 at 0.99.</a:t>
            </a:r>
          </a:p>
        </p:txBody>
      </p:sp>
      <p:sp>
        <p:nvSpPr>
          <p:cNvPr id="100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000" name=""/>
        <p:cNvGrpSpPr/>
        <p:nvPr/>
      </p:nvGrpSpPr>
      <p:grpSpPr/>
      <p:sp>
        <p:nvSpPr>
          <p:cNvPr id="1001"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Following one rod around the snap surface</a:t>
            </a:r>
          </a:p>
        </p:txBody>
      </p:sp>
      <p:pic>
        <p:nvPicPr>
          <p:cNvPr id="3" name="branch_walk.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02920" y="1234440"/>
            <a:ext cx="7680960" cy="4320540"/>
          </a:xfrm>
          <a:prstGeom prst="rect">
            <a:avLst/>
          </a:prstGeom>
        </p:spPr>
      </p:pic>
      <p:sp>
        <p:nvSpPr>
          <p:cNvPr id="1002" name="text-103"/>
          <p:cNvSpPr txBox="1"/>
          <p:nvPr/>
        </p:nvSpPr>
        <p:spPr>
          <a:xfrm>
            <a:off x="502920" y="5669280"/>
            <a:ext cx="7680960" cy="548640"/>
          </a:xfrm>
          <a:prstGeom prst="rect">
            <a:avLst/>
          </a:prstGeom>
          <a:noFill/>
          <a:ln/>
        </p:spPr>
        <p:txBody>
          <a:bodyPr wrap="square" lIns="0" tIns="0" rIns="0" bIns="0" rtlCol="0" anchor="t"/>
          <a:lstStyle/>
          <a:p>
            <a:pPr marL="0" indent="0">
              <a:buNone/>
            </a:pPr>
            <a:r>
              <a:rPr lang="en-US" sz="1100" i="1" dirty="0">
                <a:solidFill>
                  <a:schemeClr val="accent5"/>
                </a:solidFill>
              </a:rPr>
              <a:t>Click to play (29 s). d = 0.82. Left: the map of the branch the rod is on; red, the snap curve it can meet; grey, the other branch's. Right: the rod, and the snap surface in (φ₁, φ₂, d) for its branch.</a:t>
            </a:r>
          </a:p>
        </p:txBody>
      </p:sp>
      <p:sp>
        <p:nvSpPr>
          <p:cNvPr id="1003" name="badge-226"/>
          <p:cNvSpPr/>
          <p:nvPr/>
        </p:nvSpPr>
        <p:spPr>
          <a:xfrm>
            <a:off x="8458200" y="1325880"/>
            <a:ext cx="384048" cy="384048"/>
          </a:xfrm>
          <a:prstGeom prst="ellipse">
            <a:avLst/>
          </a:prstGeom>
          <a:solidFill>
            <a:schemeClr val="accent1"/>
          </a:solidFill>
          <a:ln/>
        </p:spPr>
        <p:txBody>
          <a:bodyPr/>
          <a:lstStyle/>
          <a:p>
            <a:endParaRPr lang="en-IN"/>
          </a:p>
        </p:txBody>
      </p:sp>
      <p:sp>
        <p:nvSpPr>
          <p:cNvPr id="1004" name="badge-label-227"/>
          <p:cNvSpPr txBox="1"/>
          <p:nvPr/>
        </p:nvSpPr>
        <p:spPr>
          <a:xfrm>
            <a:off x="8458200" y="13258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005" name="text-228"/>
          <p:cNvSpPr txBox="1"/>
          <p:nvPr/>
        </p:nvSpPr>
        <p:spPr>
          <a:xfrm>
            <a:off x="9006840" y="1298448"/>
            <a:ext cx="3108960" cy="1463040"/>
          </a:xfrm>
          <a:prstGeom prst="rect">
            <a:avLst/>
          </a:prstGeom>
          <a:noFill/>
          <a:ln/>
        </p:spPr>
        <p:txBody>
          <a:bodyPr wrap="square" lIns="0" tIns="0" rIns="0" bIns="0" rtlCol="0" anchor="t"/>
          <a:lstStyle/>
          <a:p>
            <a:pPr marL="0" indent="0">
              <a:buNone/>
            </a:pPr>
            <a:r>
              <a:rPr lang="en-US" sz="1200" dirty="0">
                <a:solidFill>
                  <a:schemeClr val="tx1"/>
                </a:solidFill>
              </a:rPr>
              <a:t>Across. Bent up, the rod snaps down at φ₁ = −0.76, and the map and snap surface switch to the bent-down ones. Coming back it snaps up only at +0.76.</a:t>
            </a:r>
            <a:endParaRPr lang="en-US" sz="1200" dirty="0"/>
          </a:p>
        </p:txBody>
      </p:sp>
      <p:sp>
        <p:nvSpPr>
          <p:cNvPr id="1006" name="badge-226"/>
          <p:cNvSpPr/>
          <p:nvPr/>
        </p:nvSpPr>
        <p:spPr>
          <a:xfrm>
            <a:off x="8458200" y="2926080"/>
            <a:ext cx="384048" cy="384048"/>
          </a:xfrm>
          <a:prstGeom prst="ellipse">
            <a:avLst/>
          </a:prstGeom>
          <a:solidFill>
            <a:schemeClr val="accent1"/>
          </a:solidFill>
          <a:ln/>
        </p:spPr>
        <p:txBody>
          <a:bodyPr/>
          <a:lstStyle/>
          <a:p>
            <a:endParaRPr lang="en-IN"/>
          </a:p>
        </p:txBody>
      </p:sp>
      <p:sp>
        <p:nvSpPr>
          <p:cNvPr id="1007" name="badge-label-227"/>
          <p:cNvSpPr txBox="1"/>
          <p:nvPr/>
        </p:nvSpPr>
        <p:spPr>
          <a:xfrm>
            <a:off x="8458200" y="29260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008" name="text-228"/>
          <p:cNvSpPr txBox="1"/>
          <p:nvPr/>
        </p:nvSpPr>
        <p:spPr>
          <a:xfrm>
            <a:off x="9006840" y="2898648"/>
            <a:ext cx="3108960" cy="1463040"/>
          </a:xfrm>
          <a:prstGeom prst="rect">
            <a:avLst/>
          </a:prstGeom>
          <a:noFill/>
          <a:ln/>
        </p:spPr>
        <p:txBody>
          <a:bodyPr wrap="square" lIns="0" tIns="0" rIns="0" bIns="0" rtlCol="0" anchor="t"/>
          <a:lstStyle/>
          <a:p>
            <a:pPr marL="0" indent="0">
              <a:buNone/>
            </a:pPr>
            <a:r>
              <a:rPr lang="en-US" sz="1200" dirty="0">
                <a:solidFill>
                  <a:schemeClr val="tx1"/>
                </a:solidFill>
              </a:rPr>
              <a:t>Around. Raising φ₂ at φ₁ = 1.25 passes the end of the snap curve: a smooth S-crossing turns the rod bent down, no snap.</a:t>
            </a:r>
            <a:endParaRPr lang="en-US" sz="1200" dirty="0"/>
          </a:p>
        </p:txBody>
      </p:sp>
      <p:sp>
        <p:nvSpPr>
          <p:cNvPr id="1009" name="badge-226"/>
          <p:cNvSpPr/>
          <p:nvPr/>
        </p:nvSpPr>
        <p:spPr>
          <a:xfrm>
            <a:off x="8458200" y="4526280"/>
            <a:ext cx="384048" cy="384048"/>
          </a:xfrm>
          <a:prstGeom prst="ellipse">
            <a:avLst/>
          </a:prstGeom>
          <a:solidFill>
            <a:schemeClr val="accent1"/>
          </a:solidFill>
          <a:ln/>
        </p:spPr>
        <p:txBody>
          <a:bodyPr/>
          <a:lstStyle/>
          <a:p>
            <a:endParaRPr lang="en-IN"/>
          </a:p>
        </p:txBody>
      </p:sp>
      <p:sp>
        <p:nvSpPr>
          <p:cNvPr id="1010" name="badge-label-227"/>
          <p:cNvSpPr txBox="1"/>
          <p:nvPr/>
        </p:nvSpPr>
        <p:spPr>
          <a:xfrm>
            <a:off x="8458200" y="45262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011" name="text-228"/>
          <p:cNvSpPr txBox="1"/>
          <p:nvPr/>
        </p:nvSpPr>
        <p:spPr>
          <a:xfrm>
            <a:off x="9006840" y="4498848"/>
            <a:ext cx="3108960" cy="1463040"/>
          </a:xfrm>
          <a:prstGeom prst="rect">
            <a:avLst/>
          </a:prstGeom>
          <a:noFill/>
          <a:ln/>
        </p:spPr>
        <p:txBody>
          <a:bodyPr wrap="square" lIns="0" tIns="0" rIns="0" bIns="0" rtlCol="0" anchor="t"/>
          <a:lstStyle/>
          <a:p>
            <a:pPr marL="0" indent="0">
              <a:buNone/>
            </a:pPr>
            <a:r>
              <a:rPr lang="en-US" sz="1200" dirty="0">
                <a:solidFill>
                  <a:schemeClr val="tx1"/>
                </a:solidFill>
              </a:rPr>
              <a:t>Back at the start, now bent down. Repeating the first move, nothing snaps: its snap curve is in quadrants 1, 3, 4.</a:t>
            </a:r>
            <a:endParaRPr lang="en-US" sz="1200" dirty="0"/>
          </a:p>
        </p:txBody>
      </p:sp>
      <p:sp>
        <p:nvSpPr>
          <p:cNvPr id="101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name="Refined sampling">
    <p:spTree>
      <p:nvGrpSpPr>
        <p:cNvPr id="1" name=""/>
        <p:cNvGrpSpPr/>
        <p:nvPr/>
      </p:nvGrpSpPr>
      <p:grpSpPr>
        <a:xfrm>
          <a:off x="0" y="0"/>
          <a:ext cx="0" cy="0"/>
          <a:chOff x="0" y="0"/>
          <a:chExt cx="0" cy="0"/>
        </a:xfrm>
      </p:grpSpPr>
      <p:sp>
        <p:nvSpPr>
          <p:cNvPr id="2" name="Title"/>
          <p:cNvSpPr>
            <a:spLocks noGrp="1"/>
          </p:cNvSpPr>
          <p:nvPr>
            <p:ph type="title" idx="100" hasCustomPrompt="1"/>
          </p:nvPr>
        </p:nvSpPr>
        <p:spPr>
          <a:xfrm>
            <a:off x="822960" y="2377440"/>
            <a:ext cx="10515600" cy="1097280"/>
          </a:xfrm>
          <a:prstGeom prst="rect">
            <a:avLst/>
          </a:prstGeom>
          <a:noFill/>
          <a:ln/>
        </p:spPr>
        <p:txBody>
          <a:bodyPr wrap="square" lIns="0" tIns="0" rIns="0" bIns="0" rtlCol="0" anchor="b"/>
          <a:lstStyle/>
          <a:p>
            <a:pPr marL="0" indent="0" algn="l">
              <a:buNone/>
            </a:pPr>
            <a:r>
              <a:rPr lang="en-US" sz="4000" b="1">
                <a:solidFill>
                  <a:schemeClr val="bg1"/>
                </a:solidFill>
              </a:rPr>
              <a:t>Refined </a:t>
            </a:r>
            <a:r>
              <a:rPr lang="en-US" sz="4000" b="1" dirty="0">
                <a:solidFill>
                  <a:schemeClr val="bg1"/>
                </a:solidFill>
              </a:rPr>
              <a:t>sampling</a:t>
            </a:r>
            <a:endParaRPr lang="en-US" sz="4000" dirty="0"/>
          </a:p>
        </p:txBody>
      </p:sp>
      <p:sp>
        <p:nvSpPr>
          <p:cNvPr id="3" name="Subtitle"/>
          <p:cNvSpPr>
            <a:spLocks noGrp="1"/>
          </p:cNvSpPr>
          <p:nvPr>
            <p:ph type="body" idx="101" hasCustomPrompt="1"/>
          </p:nvPr>
        </p:nvSpPr>
        <p:spPr>
          <a:xfrm>
            <a:off x="822960" y="3657600"/>
            <a:ext cx="10515600" cy="822960"/>
          </a:xfrm>
          <a:prstGeom prst="rect">
            <a:avLst/>
          </a:prstGeom>
          <a:noFill/>
          <a:ln/>
        </p:spPr>
        <p:txBody>
          <a:bodyPr wrap="square" lIns="0" tIns="0" rIns="0" bIns="0" rtlCol="0" anchor="t"/>
          <a:lstStyle/>
          <a:p>
            <a:pPr marL="0" indent="0">
              <a:buNone/>
            </a:pPr>
            <a:r>
              <a:rPr lang="en-US" sz="2000" dirty="0">
                <a:solidFill>
                  <a:schemeClr val="accent1"/>
                </a:solidFill>
              </a:rPr>
              <a:t>Training data: both branches at every node, and more solves where the energy is low: 7.6 M states</a:t>
            </a:r>
            <a:endParaRPr lang="en-US" sz="2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Refinement criterion">
    <p:spTree>
      <p:nvGrpSpPr>
        <p:cNvPr id="1" name=""/>
        <p:cNvGrpSpPr/>
        <p:nvPr/>
      </p:nvGrpSpPr>
      <p:grpSpPr>
        <a:xfrm>
          <a:off x="0" y="0"/>
          <a:ext cx="0" cy="0"/>
          <a:chOff x="0" y="0"/>
          <a:chExt cx="0" cy="0"/>
        </a:xfrm>
      </p:grpSpPr>
      <p:sp>
        <p:nvSpPr>
          <p:cNvPr id="2" name="Title"/>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More points per cell where the energy is low</a:t>
            </a:r>
            <a:endParaRPr lang="en-US" sz="3000" dirty="0"/>
          </a:p>
        </p:txBody>
      </p:sp>
      <p:sp>
        <p:nvSpPr>
          <p:cNvPr id="401" name="card-401"/>
          <p:cNvSpPr/>
          <p:nvPr/>
        </p:nvSpPr>
        <p:spPr>
          <a:xfrm>
            <a:off x="548640" y="1417320"/>
            <a:ext cx="5760720" cy="3108960"/>
          </a:xfrm>
          <a:prstGeom prst="roundRect">
            <a:avLst>
              <a:gd name="adj" fmla="val 6000"/>
            </a:avLst>
          </a:prstGeom>
          <a:solidFill>
            <a:schemeClr val="bg2"/>
          </a:solidFill>
          <a:ln>
            <a:noFill/>
          </a:ln>
        </p:spPr>
        <p:txBody>
          <a:bodyPr/>
          <a:lstStyle/>
          <a:p>
            <a:endParaRPr lang="en-US"/>
          </a:p>
        </p:txBody>
      </p:sp>
      <p:sp>
        <p:nvSpPr>
          <p:cNvPr id="402" name="card-head-402"/>
          <p:cNvSpPr txBox="1"/>
          <p:nvPr/>
        </p:nvSpPr>
        <p:spPr>
          <a:xfrm>
            <a:off x="777240" y="1536192"/>
            <a:ext cx="5303520" cy="320040"/>
          </a:xfrm>
          <a:prstGeom prst="rect">
            <a:avLst/>
          </a:prstGeom>
          <a:noFill/>
          <a:ln/>
        </p:spPr>
        <p:txBody>
          <a:bodyPr wrap="square" lIns="0" tIns="0" rIns="0" bIns="0" rtlCol="0" anchor="t">
            <a:normAutofit/>
          </a:bodyPr>
          <a:lstStyle/>
          <a:p>
            <a:pPr marL="0" indent="0" algn="l">
              <a:spcAft>
                <a:spcPts val="0"/>
              </a:spcAft>
              <a:buNone/>
            </a:pPr>
            <a:r>
              <a:rPr lang="en-US" sz="1500" b="1" dirty="0">
                <a:solidFill>
                  <a:schemeClr val="accent1"/>
                </a:solidFill>
              </a:rPr>
              <a:t>Points per grid cell</a:t>
            </a:r>
            <a:endParaRPr lang="en-US" sz="1500" dirty="0"/>
          </a:p>
        </p:txBody>
      </p:sp>
      <mc:AlternateContent xmlns:mc="http://schemas.openxmlformats.org/markup-compatibility/2006" xmlns:a14="http://schemas.microsoft.com/office/drawing/2010/main">
        <mc:Choice Requires="a14">
          <p:sp>
            <p:nvSpPr>
              <p:cNvPr id="405" name="latex-rule"/>
              <p:cNvSpPr txBox="1"/>
              <p:nvPr/>
            </p:nvSpPr>
            <p:spPr>
              <a:xfrm>
                <a:off x="777240" y="1847088"/>
                <a:ext cx="2703450" cy="566928"/>
              </a:xfrm>
              <a:prstGeom prst="rect">
                <a:avLst/>
              </a:prstGeom>
              <a:noFill/>
            </p:spPr>
            <p:txBody>
              <a:bodyPr wrap="none" lIns="0" tIns="0" rIns="0" bIns="0" rtlCol="0" anchor="ctr">
                <a:noAutofit/>
              </a:bodyPr>
              <a:lstStyle/>
              <a:p>
                <a:pPr marL="0" indent="0">
                  <a:buNone/>
                </a:pPr>
                <a14:m>
                  <m:oMathPara xmlns:m="http://schemas.openxmlformats.org/officeDocument/2006/math">
                    <m:oMathParaPr>
                      <m:jc m:val="left"/>
                    </m:oMathParaPr>
                    <m:oMath>
                      <m:r>
                        <a:rPr lang="en-US" sz="1500" i="1" dirty="0">
                          <a:solidFill>
                            <a:schemeClr val="tx1"/>
                          </a:solidFill>
                          <a:latin typeface="Cambria Math" panose="02040503050406030204" pitchFamily="18" charset="0"/>
                        </a:rPr>
                        <m:t>𝑛</m:t>
                      </m:r>
                      <m:r>
                        <a:rPr lang="en-US" sz="1500" i="1" dirty="0">
                          <a:solidFill>
                            <a:schemeClr val="tx1"/>
                          </a:solidFill>
                          <a:latin typeface="Cambria Math" panose="02040503050406030204" pitchFamily="18" charset="0"/>
                        </a:rPr>
                        <m:t>=</m:t>
                      </m:r>
                      <m:r>
                        <m:rPr>
                          <m:sty m:val="p"/>
                        </m:rPr>
                        <a:rPr lang="en-US" sz="1500" i="1" dirty="0">
                          <a:solidFill>
                            <a:schemeClr val="tx1"/>
                          </a:solidFill>
                          <a:latin typeface="Cambria Math" panose="02040503050406030204" pitchFamily="18" charset="0"/>
                        </a:rPr>
                        <m:t>clip</m:t>
                      </m:r>
                      <m:d>
                        <m:dPr>
                          <m:ctrlPr>
                            <a:rPr lang="en-US" sz="1500" i="1" dirty="0">
                              <a:solidFill>
                                <a:schemeClr val="tx1"/>
                              </a:solidFill>
                              <a:latin typeface="Cambria Math" panose="02040503050406030204" pitchFamily="18" charset="0"/>
                            </a:rPr>
                          </m:ctrlPr>
                        </m:dPr>
                        <m:e>
                          <m:sSup>
                            <m:sSupPr>
                              <m:ctrlPr>
                                <a:rPr lang="en-US" sz="1500" i="1" dirty="0">
                                  <a:solidFill>
                                    <a:schemeClr val="tx1"/>
                                  </a:solidFill>
                                  <a:latin typeface="Cambria Math" panose="02040503050406030204" pitchFamily="18" charset="0"/>
                                </a:rPr>
                              </m:ctrlPr>
                            </m:sSupPr>
                            <m:e>
                              <m:d>
                                <m:dPr>
                                  <m:ctrlPr>
                                    <a:rPr lang="en-US" sz="1500" i="1" dirty="0">
                                      <a:solidFill>
                                        <a:schemeClr val="tx1"/>
                                      </a:solidFill>
                                      <a:latin typeface="Cambria Math" panose="02040503050406030204" pitchFamily="18" charset="0"/>
                                    </a:rPr>
                                  </m:ctrlPr>
                                </m:dPr>
                                <m:e>
                                  <m:f>
                                    <m:fPr>
                                      <m:ctrlPr>
                                        <a:rPr lang="en-US" sz="1500" i="1" dirty="0">
                                          <a:solidFill>
                                            <a:schemeClr val="tx1"/>
                                          </a:solidFill>
                                          <a:latin typeface="Cambria Math" panose="02040503050406030204" pitchFamily="18" charset="0"/>
                                        </a:rPr>
                                      </m:ctrlPr>
                                    </m:fPr>
                                    <m:num>
                                      <m:sSub>
                                        <m:sSubPr>
                                          <m:ctrlPr>
                                            <a:rPr lang="en-US" sz="1500" i="1" dirty="0">
                                              <a:solidFill>
                                                <a:schemeClr val="tx1"/>
                                              </a:solidFill>
                                              <a:latin typeface="Cambria Math" panose="02040503050406030204" pitchFamily="18" charset="0"/>
                                            </a:rPr>
                                          </m:ctrlPr>
                                        </m:sSubPr>
                                        <m:e>
                                          <m:r>
                                            <a:rPr lang="en-US" sz="1500" i="1" dirty="0">
                                              <a:solidFill>
                                                <a:schemeClr val="tx1"/>
                                              </a:solidFill>
                                              <a:latin typeface="Cambria Math" panose="02040503050406030204" pitchFamily="18" charset="0"/>
                                            </a:rPr>
                                            <m:t>𝑢</m:t>
                                          </m:r>
                                        </m:e>
                                        <m:sub>
                                          <m:r>
                                            <m:rPr>
                                              <m:sty m:val="p"/>
                                            </m:rPr>
                                            <a:rPr lang="en-US" sz="1500" i="1" dirty="0">
                                              <a:solidFill>
                                                <a:schemeClr val="tx1"/>
                                              </a:solidFill>
                                              <a:latin typeface="Cambria Math" panose="02040503050406030204" pitchFamily="18" charset="0"/>
                                            </a:rPr>
                                            <m:t>ref</m:t>
                                          </m:r>
                                        </m:sub>
                                      </m:sSub>
                                    </m:num>
                                    <m:den>
                                      <m:sSub>
                                        <m:sSubPr>
                                          <m:ctrlPr>
                                            <a:rPr lang="en-US" sz="1500" i="1" dirty="0">
                                              <a:solidFill>
                                                <a:schemeClr val="tx1"/>
                                              </a:solidFill>
                                              <a:latin typeface="Cambria Math" panose="02040503050406030204" pitchFamily="18" charset="0"/>
                                            </a:rPr>
                                          </m:ctrlPr>
                                        </m:sSubPr>
                                        <m:e>
                                          <m:r>
                                            <a:rPr lang="en-US" sz="1500" i="1" dirty="0">
                                              <a:solidFill>
                                                <a:schemeClr val="tx1"/>
                                              </a:solidFill>
                                              <a:latin typeface="Cambria Math" panose="02040503050406030204" pitchFamily="18" charset="0"/>
                                            </a:rPr>
                                            <m:t>𝑈</m:t>
                                          </m:r>
                                        </m:e>
                                        <m:sub>
                                          <m:r>
                                            <m:rPr>
                                              <m:sty m:val="p"/>
                                            </m:rPr>
                                            <a:rPr lang="en-US" sz="1500" i="1" dirty="0">
                                              <a:solidFill>
                                                <a:schemeClr val="tx1"/>
                                              </a:solidFill>
                                              <a:latin typeface="Cambria Math" panose="02040503050406030204" pitchFamily="18" charset="0"/>
                                            </a:rPr>
                                            <m:t>min</m:t>
                                          </m:r>
                                        </m:sub>
                                      </m:sSub>
                                    </m:den>
                                  </m:f>
                                </m:e>
                              </m:d>
                            </m:e>
                            <m:sup>
                              <m:r>
                                <a:rPr lang="en-US" sz="1500" i="1" dirty="0">
                                  <a:solidFill>
                                    <a:schemeClr val="tx1"/>
                                  </a:solidFill>
                                  <a:latin typeface="Cambria Math" panose="02040503050406030204" pitchFamily="18" charset="0"/>
                                </a:rPr>
                                <m:t>2</m:t>
                              </m:r>
                            </m:sup>
                          </m:sSup>
                          <m:r>
                            <a:rPr lang="en-US" sz="1500" i="1" dirty="0">
                              <a:solidFill>
                                <a:schemeClr val="tx1"/>
                              </a:solidFill>
                              <a:latin typeface="Cambria Math" panose="02040503050406030204" pitchFamily="18" charset="0"/>
                            </a:rPr>
                            <m:t>,</m:t>
                          </m:r>
                          <m:r>
                            <a:rPr lang="en-US" sz="1500" i="1" dirty="0">
                              <a:solidFill>
                                <a:schemeClr val="tx1"/>
                              </a:solidFill>
                              <a:latin typeface="Cambria Math" panose="02040503050406030204" pitchFamily="18" charset="0"/>
                            </a:rPr>
                            <m:t>1</m:t>
                          </m:r>
                          <m:r>
                            <a:rPr lang="en-US" sz="1500" i="1" dirty="0">
                              <a:solidFill>
                                <a:schemeClr val="tx1"/>
                              </a:solidFill>
                              <a:latin typeface="Cambria Math" panose="02040503050406030204" pitchFamily="18" charset="0"/>
                            </a:rPr>
                            <m:t>,</m:t>
                          </m:r>
                          <m:r>
                            <a:rPr lang="en-US" sz="1500" i="1" dirty="0">
                              <a:solidFill>
                                <a:schemeClr val="tx1"/>
                              </a:solidFill>
                              <a:latin typeface="Cambria Math" panose="02040503050406030204" pitchFamily="18" charset="0"/>
                            </a:rPr>
                            <m:t>64</m:t>
                          </m:r>
                        </m:e>
                      </m:d>
                    </m:oMath>
                  </m:oMathPara>
                </a14:m>
                <a:endParaRPr lang="en-US" sz="1500" dirty="0"/>
              </a:p>
            </p:txBody>
          </p:sp>
        </mc:Choice>
        <mc:Fallback xmlns="">
          <p:sp>
            <p:nvSpPr>
              <p:cNvPr id="405" name="latex-rule"/>
              <p:cNvSpPr txBox="1">
                <a:spLocks noRot="1" noChangeAspect="1" noMove="1" noResize="1" noEditPoints="1" noAdjustHandles="1" noChangeArrowheads="1" noChangeShapeType="1" noTextEdit="1"/>
              </p:cNvSpPr>
              <p:nvPr/>
            </p:nvSpPr>
            <p:spPr>
              <a:xfrm>
                <a:off x="777240" y="1847088"/>
                <a:ext cx="2703450" cy="566928"/>
              </a:xfrm>
              <a:prstGeom prst="rect">
                <a:avLst/>
              </a:prstGeom>
              <a:blipFill>
                <a:blip r:embed="rId6"/>
                <a:stretch>
                  <a:fillRect/>
                </a:stretch>
              </a:blipFill>
            </p:spPr>
            <p:txBody>
              <a:bodyPr/>
              <a:lstStyle/>
              <a:p>
                <a:r>
                  <a:rPr lang="en-US">
                    <a:noFill/>
                  </a:rPr>
                  <a:t> </a:t>
                </a:r>
              </a:p>
            </p:txBody>
          </p:sp>
        </mc:Fallback>
      </mc:AlternateContent>
      <p:pic>
        <p:nvPicPr>
          <p:cNvPr id="406" name="rule-plot-406" descr="Points per cell against the lowest bent-up corner energy: 64 up to U = 0.375, falling as (3 / U) squared, one point above U = 2.45; at least 16 in partial cells"/>
          <p:cNvPicPr>
            <a:picLocks noChangeAspect="1"/>
          </p:cNvPicPr>
          <p:nvPr/>
        </p:nvPicPr>
        <p:blipFill>
          <a:blip r:embed="rId7"/>
          <a:stretch>
            <a:fillRect/>
          </a:stretch>
        </p:blipFill>
        <p:spPr>
          <a:xfrm>
            <a:off x="685800" y="2348512"/>
            <a:ext cx="5303520" cy="2086328"/>
          </a:xfrm>
          <a:prstGeom prst="rect">
            <a:avLst/>
          </a:prstGeom>
        </p:spPr>
      </p:pic>
      <p:sp>
        <p:nvSpPr>
          <p:cNvPr id="407" name="card-407"/>
          <p:cNvSpPr/>
          <p:nvPr/>
        </p:nvSpPr>
        <p:spPr>
          <a:xfrm>
            <a:off x="548640" y="4709160"/>
            <a:ext cx="2834640" cy="1600200"/>
          </a:xfrm>
          <a:prstGeom prst="roundRect">
            <a:avLst>
              <a:gd name="adj" fmla="val 6000"/>
            </a:avLst>
          </a:prstGeom>
          <a:solidFill>
            <a:schemeClr val="bg2"/>
          </a:solidFill>
          <a:ln>
            <a:noFill/>
          </a:ln>
        </p:spPr>
        <p:txBody>
          <a:bodyPr/>
          <a:lstStyle/>
          <a:p>
            <a:endParaRPr lang="en-US"/>
          </a:p>
        </p:txBody>
      </p:sp>
      <p:sp>
        <p:nvSpPr>
          <p:cNvPr id="408" name="tile-big-408"/>
          <p:cNvSpPr txBox="1"/>
          <p:nvPr/>
        </p:nvSpPr>
        <p:spPr>
          <a:xfrm>
            <a:off x="749808" y="4800600"/>
            <a:ext cx="2432304" cy="658368"/>
          </a:xfrm>
          <a:prstGeom prst="rect">
            <a:avLst/>
          </a:prstGeom>
          <a:noFill/>
          <a:ln/>
        </p:spPr>
        <p:txBody>
          <a:bodyPr wrap="square" lIns="0" tIns="0" rIns="0" bIns="0" rtlCol="0" anchor="ctr">
            <a:normAutofit/>
          </a:bodyPr>
          <a:lstStyle/>
          <a:p>
            <a:pPr marL="0" indent="0" algn="l">
              <a:spcAft>
                <a:spcPts val="0"/>
              </a:spcAft>
              <a:buNone/>
            </a:pPr>
            <a:r>
              <a:rPr lang="en-US" sz="3000" b="1" dirty="0">
                <a:solidFill>
                  <a:schemeClr val="accent1"/>
                </a:solidFill>
              </a:rPr>
              <a:t>1.11 M</a:t>
            </a:r>
            <a:endParaRPr lang="en-US" sz="3000" dirty="0"/>
          </a:p>
        </p:txBody>
      </p:sp>
      <p:sp>
        <p:nvSpPr>
          <p:cNvPr id="409" name="tile-label-409"/>
          <p:cNvSpPr txBox="1"/>
          <p:nvPr/>
        </p:nvSpPr>
        <p:spPr>
          <a:xfrm>
            <a:off x="749808" y="5495544"/>
            <a:ext cx="2432304" cy="310896"/>
          </a:xfrm>
          <a:prstGeom prst="rect">
            <a:avLst/>
          </a:prstGeom>
          <a:noFill/>
          <a:ln/>
        </p:spPr>
        <p:txBody>
          <a:bodyPr wrap="square" lIns="0" tIns="0" rIns="0" bIns="0" rtlCol="0" anchor="t">
            <a:normAutofit/>
          </a:bodyPr>
          <a:lstStyle/>
          <a:p>
            <a:pPr marL="0" indent="0" algn="l">
              <a:spcAft>
                <a:spcPts val="0"/>
              </a:spcAft>
              <a:buNone/>
            </a:pPr>
            <a:r>
              <a:rPr lang="en-US" sz="1400" b="1" dirty="0">
                <a:solidFill>
                  <a:schemeClr val="tx1"/>
                </a:solidFill>
              </a:rPr>
              <a:t>new points solved</a:t>
            </a:r>
            <a:endParaRPr lang="en-US" sz="1400" dirty="0"/>
          </a:p>
        </p:txBody>
      </p:sp>
      <p:sp>
        <p:nvSpPr>
          <p:cNvPr id="410" name="tile-sub-410"/>
          <p:cNvSpPr txBox="1"/>
          <p:nvPr/>
        </p:nvSpPr>
        <p:spPr>
          <a:xfrm>
            <a:off x="749808" y="5824728"/>
            <a:ext cx="2432304" cy="448056"/>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998 k states, 112 k past a fold; 23 min on 14 workers</a:t>
            </a:r>
            <a:endParaRPr lang="en-US" sz="1150" dirty="0"/>
          </a:p>
        </p:txBody>
      </p:sp>
      <p:sp>
        <p:nvSpPr>
          <p:cNvPr id="411" name="card-411"/>
          <p:cNvSpPr/>
          <p:nvPr/>
        </p:nvSpPr>
        <p:spPr>
          <a:xfrm>
            <a:off x="3474720" y="4709160"/>
            <a:ext cx="2834640" cy="1600200"/>
          </a:xfrm>
          <a:prstGeom prst="roundRect">
            <a:avLst>
              <a:gd name="adj" fmla="val 6000"/>
            </a:avLst>
          </a:prstGeom>
          <a:solidFill>
            <a:schemeClr val="bg2"/>
          </a:solidFill>
          <a:ln>
            <a:noFill/>
          </a:ln>
        </p:spPr>
        <p:txBody>
          <a:bodyPr/>
          <a:lstStyle/>
          <a:p>
            <a:endParaRPr lang="en-US"/>
          </a:p>
        </p:txBody>
      </p:sp>
      <p:sp>
        <p:nvSpPr>
          <p:cNvPr id="412" name="tile-big-412"/>
          <p:cNvSpPr txBox="1"/>
          <p:nvPr/>
        </p:nvSpPr>
        <p:spPr>
          <a:xfrm>
            <a:off x="3675888" y="4800600"/>
            <a:ext cx="2432304" cy="658368"/>
          </a:xfrm>
          <a:prstGeom prst="rect">
            <a:avLst/>
          </a:prstGeom>
          <a:noFill/>
          <a:ln/>
        </p:spPr>
        <p:txBody>
          <a:bodyPr wrap="square" lIns="0" tIns="0" rIns="0" bIns="0" rtlCol="0" anchor="ctr">
            <a:normAutofit/>
          </a:bodyPr>
          <a:lstStyle/>
          <a:p>
            <a:pPr marL="0" indent="0" algn="l">
              <a:spcAft>
                <a:spcPts val="0"/>
              </a:spcAft>
              <a:buNone/>
            </a:pPr>
            <a:r>
              <a:rPr lang="en-US" sz="3000" b="1" dirty="0">
                <a:solidFill>
                  <a:schemeClr val="accent1"/>
                </a:solidFill>
              </a:rPr>
              <a:t>7.6 M</a:t>
            </a:r>
            <a:endParaRPr lang="en-US" sz="3000" dirty="0"/>
          </a:p>
        </p:txBody>
      </p:sp>
      <p:sp>
        <p:nvSpPr>
          <p:cNvPr id="413" name="tile-label-413"/>
          <p:cNvSpPr txBox="1"/>
          <p:nvPr/>
        </p:nvSpPr>
        <p:spPr>
          <a:xfrm>
            <a:off x="3675888" y="5495544"/>
            <a:ext cx="2432304" cy="310896"/>
          </a:xfrm>
          <a:prstGeom prst="rect">
            <a:avLst/>
          </a:prstGeom>
          <a:noFill/>
          <a:ln/>
        </p:spPr>
        <p:txBody>
          <a:bodyPr wrap="square" lIns="0" tIns="0" rIns="0" bIns="0" rtlCol="0" anchor="t">
            <a:normAutofit/>
          </a:bodyPr>
          <a:lstStyle/>
          <a:p>
            <a:pPr marL="0" indent="0" algn="l">
              <a:spcAft>
                <a:spcPts val="0"/>
              </a:spcAft>
              <a:buNone/>
            </a:pPr>
            <a:r>
              <a:rPr lang="en-US" sz="1400" b="1" dirty="0">
                <a:solidFill>
                  <a:schemeClr val="tx1"/>
                </a:solidFill>
              </a:rPr>
              <a:t>states in the dataset</a:t>
            </a:r>
            <a:endParaRPr lang="en-US" sz="1400" dirty="0"/>
          </a:p>
        </p:txBody>
      </p:sp>
      <p:sp>
        <p:nvSpPr>
          <p:cNvPr id="414" name="tile-sub-414"/>
          <p:cNvSpPr txBox="1"/>
          <p:nvPr/>
        </p:nvSpPr>
        <p:spPr>
          <a:xfrm>
            <a:off x="3675888" y="5824728"/>
            <a:ext cx="2432304" cy="448056"/>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28.9 % with U &lt; 1, against 2.4 % in the production run</a:t>
            </a:r>
            <a:endParaRPr lang="en-US" sz="1150" dirty="0"/>
          </a:p>
        </p:txBody>
      </p:sp>
      <p:sp>
        <p:nvSpPr>
          <p:cNvPr id="430" name="badge-430"/>
          <p:cNvSpPr/>
          <p:nvPr/>
        </p:nvSpPr>
        <p:spPr>
          <a:xfrm>
            <a:off x="6629400" y="144475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1</a:t>
            </a:r>
          </a:p>
        </p:txBody>
      </p:sp>
      <p:sp>
        <p:nvSpPr>
          <p:cNvPr id="431" name="step-431"/>
          <p:cNvSpPr txBox="1"/>
          <p:nvPr/>
        </p:nvSpPr>
        <p:spPr>
          <a:xfrm>
            <a:off x="7178040" y="1417320"/>
            <a:ext cx="4434840" cy="114300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Density follows the energy</a:t>
            </a:r>
            <a:endParaRPr lang="en-US" sz="1300" dirty="0"/>
          </a:p>
          <a:p>
            <a:pPr marL="0" indent="0" algn="l">
              <a:spcAft>
                <a:spcPts val="200"/>
              </a:spcAft>
              <a:buNone/>
            </a:pPr>
            <a:r>
              <a:rPr lang="en-US" sz="1300" dirty="0">
                <a:solidFill>
                  <a:schemeClr val="tx1"/>
                </a:solidFill>
              </a:rPr>
              <a:t>U</a:t>
            </a:r>
            <a:r>
              <a:rPr lang="en-US" sz="1300" baseline="-25000" dirty="0">
                <a:solidFill>
                  <a:schemeClr val="tx1"/>
                </a:solidFill>
              </a:rPr>
              <a:t>min</a:t>
            </a:r>
            <a:r>
              <a:rPr lang="en-US" sz="1300" dirty="0">
                <a:solidFill>
                  <a:schemeClr val="tx1"/>
                </a:solidFill>
              </a:rPr>
              <a:t> is the lowest bent-up energy at the cell's 8 corners and u</a:t>
            </a:r>
            <a:r>
              <a:rPr lang="en-US" sz="1300" baseline="-25000" dirty="0">
                <a:solidFill>
                  <a:schemeClr val="tx1"/>
                </a:solidFill>
              </a:rPr>
              <a:t>ref</a:t>
            </a:r>
            <a:r>
              <a:rPr lang="en-US" sz="1300" dirty="0">
                <a:solidFill>
                  <a:schemeClr val="tx1"/>
                </a:solidFill>
              </a:rPr>
              <a:t> = 3: one point (the node) above U</a:t>
            </a:r>
            <a:r>
              <a:rPr lang="en-US" sz="1300" baseline="-25000" dirty="0">
                <a:solidFill>
                  <a:schemeClr val="tx1"/>
                </a:solidFill>
              </a:rPr>
              <a:t>min</a:t>
            </a:r>
            <a:r>
              <a:rPr lang="en-US" sz="1300" dirty="0">
                <a:solidFill>
                  <a:schemeClr val="tx1"/>
                </a:solidFill>
              </a:rPr>
              <a:t> = 2.45, all 64 below 0.375.</a:t>
            </a:r>
            <a:endParaRPr lang="en-US" sz="1300" dirty="0"/>
          </a:p>
        </p:txBody>
      </p:sp>
      <p:sp>
        <p:nvSpPr>
          <p:cNvPr id="432" name="badge-432"/>
          <p:cNvSpPr/>
          <p:nvPr/>
        </p:nvSpPr>
        <p:spPr>
          <a:xfrm>
            <a:off x="6629400" y="267919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2</a:t>
            </a:r>
          </a:p>
        </p:txBody>
      </p:sp>
      <p:sp>
        <p:nvSpPr>
          <p:cNvPr id="433" name="step-433"/>
          <p:cNvSpPr txBox="1"/>
          <p:nvPr/>
        </p:nvSpPr>
        <p:spPr>
          <a:xfrm>
            <a:off x="7178040" y="2651760"/>
            <a:ext cx="4434840" cy="114300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Partial cells: at least 16</a:t>
            </a:r>
            <a:endParaRPr lang="en-US" sz="1300" dirty="0"/>
          </a:p>
          <a:p>
            <a:pPr marL="0" indent="0" algn="l">
              <a:spcAft>
                <a:spcPts val="200"/>
              </a:spcAft>
              <a:buNone/>
            </a:pPr>
            <a:r>
              <a:rPr lang="en-US" sz="1300" dirty="0">
                <a:solidFill>
                  <a:schemeClr val="tx1"/>
                </a:solidFill>
              </a:rPr>
              <a:t>Cells where the bent-up branch holds at some corners only: its fold edges, and along φ₁ = φ₂, where p changes sign smoothly.</a:t>
            </a:r>
            <a:endParaRPr lang="en-US" sz="1300" dirty="0"/>
          </a:p>
        </p:txBody>
      </p:sp>
      <p:sp>
        <p:nvSpPr>
          <p:cNvPr id="434" name="badge-434"/>
          <p:cNvSpPr/>
          <p:nvPr/>
        </p:nvSpPr>
        <p:spPr>
          <a:xfrm>
            <a:off x="6629400" y="391363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3</a:t>
            </a:r>
          </a:p>
        </p:txBody>
      </p:sp>
      <p:sp>
        <p:nvSpPr>
          <p:cNvPr id="435" name="step-435"/>
          <p:cNvSpPr txBox="1"/>
          <p:nvPr/>
        </p:nvSpPr>
        <p:spPr>
          <a:xfrm>
            <a:off x="7178040" y="3886200"/>
            <a:ext cx="4434840" cy="114300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Spread through the cell</a:t>
            </a:r>
            <a:endParaRPr lang="en-US" sz="1300" dirty="0"/>
          </a:p>
          <a:p>
            <a:pPr marL="0" indent="0" algn="l">
              <a:spcAft>
                <a:spcPts val="200"/>
              </a:spcAft>
              <a:buNone/>
            </a:pPr>
            <a:r>
              <a:rPr lang="en-US" sz="1300" dirty="0">
                <a:solidFill>
                  <a:schemeClr val="tx1"/>
                </a:solidFill>
              </a:rPr>
              <a:t>The node, then a scrambled Sobol set with a random shift per cell. Only the bent-up branch on φ₁ + φ₂ ≥ 0 is solved; mirror and reflection give the rest.</a:t>
            </a:r>
            <a:endParaRPr lang="en-US" sz="1300" dirty="0"/>
          </a:p>
        </p:txBody>
      </p:sp>
      <p:sp>
        <p:nvSpPr>
          <p:cNvPr id="436" name="badge-436"/>
          <p:cNvSpPr/>
          <p:nvPr/>
        </p:nvSpPr>
        <p:spPr>
          <a:xfrm>
            <a:off x="6629400" y="514807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4</a:t>
            </a:r>
          </a:p>
        </p:txBody>
      </p:sp>
      <p:sp>
        <p:nvSpPr>
          <p:cNvPr id="437" name="step-437"/>
          <p:cNvSpPr txBox="1"/>
          <p:nvPr/>
        </p:nvSpPr>
        <p:spPr>
          <a:xfrm>
            <a:off x="7178040" y="5120640"/>
            <a:ext cx="4434840" cy="114300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Production tests, and negatives</a:t>
            </a:r>
            <a:endParaRPr lang="en-US" sz="1300" dirty="0"/>
          </a:p>
          <a:p>
            <a:pPr marL="0" indent="0" algn="l">
              <a:spcAft>
                <a:spcPts val="200"/>
              </a:spcAft>
              <a:buNone/>
            </a:pPr>
            <a:r>
              <a:rPr lang="en-US" sz="1300" dirty="0">
                <a:solidFill>
                  <a:schemeClr val="tx1"/>
                </a:solidFill>
              </a:rPr>
              <a:t>Warm start from the corners, nearest first, at most 3 tries: no jump in q, stable. A failure in a partial cell is kept as a negative example (no state).</a:t>
            </a:r>
            <a:endParaRPr lang="en-US" sz="1300" dirty="0"/>
          </a:p>
        </p:txBody>
      </p:sp>
      <p:sp>
        <p:nvSpPr>
          <p:cNvPr id="9" name="Slide Number"/>
          <p:cNvSpPr>
            <a:spLocks noGrp="1"/>
          </p:cNvSpPr>
          <p:nvPr>
            <p:ph type="sldNum" sz="quarter" idx="4294967295"/>
          </p:nvPr>
        </p:nvSpPr>
        <p:spPr>
          <a:xfrm>
            <a:off x="11155680" y="6400800"/>
            <a:ext cx="457200" cy="274320"/>
          </a:xfrm>
          <a:prstGeom prst="rect">
            <a:avLst/>
          </a:prstGeom>
        </p:spPr>
        <p:txBody>
          <a:bodyPr/>
          <a:lstStyle>
            <a:lvl1pPr>
              <a:defRPr sz="1000">
                <a:solidFill>
                  <a:schemeClr val="accent6"/>
                </a:solidFill>
              </a:defRPr>
            </a:lvl1pPr>
          </a:lstStyle>
          <a:p>
            <a:pPr algn="r"/>
            <a:fld id="{F7021451-1387-4CA6-816F-3879F97B5CBC}" type="slidenum">
              <a:rPr lang="en-US" b="0"/>
              <a:t>17</a:t>
            </a:fld>
            <a:endParaRPr lang="en-US"/>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000" name=""/>
        <p:cNvGrpSpPr/>
        <p:nvPr/>
      </p:nvGrpSpPr>
      <p:grpSpPr/>
      <p:sp>
        <p:nvSpPr>
          <p:cNvPr id="1001"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Refinement moves the data to low energy</a:t>
            </a:r>
          </a:p>
        </p:txBody>
      </p:sp>
      <p:pic>
        <p:nvPicPr>
          <p:cNvPr id="3" name="Picture 2" descr="Energy histograms on the same bins and axes: the production run (2.98 M states, 2.4 % with U below 1) and the training dataset (7.60 M states, 28.9 % with U below 1)"/>
          <p:cNvPicPr>
            <a:picLocks noChangeAspect="1"/>
          </p:cNvPicPr>
          <p:nvPr/>
        </p:nvPicPr>
        <p:blipFill>
          <a:blip r:embed="rId3"/>
          <a:stretch>
            <a:fillRect/>
          </a:stretch>
        </p:blipFill>
        <p:spPr>
          <a:xfrm>
            <a:off x="1325880" y="1234440"/>
            <a:ext cx="9509760" cy="4125699"/>
          </a:xfrm>
          <a:prstGeom prst="rect">
            <a:avLst/>
          </a:prstGeom>
        </p:spPr>
      </p:pic>
      <p:sp>
        <p:nvSpPr>
          <p:cNvPr id="1002" name="text-103"/>
          <p:cNvSpPr txBox="1"/>
          <p:nvPr/>
        </p:nvSpPr>
        <p:spPr>
          <a:xfrm>
            <a:off x="1325880" y="5543019"/>
            <a:ext cx="9509760" cy="548640"/>
          </a:xfrm>
          <a:prstGeom prst="rect">
            <a:avLst/>
          </a:prstGeom>
          <a:noFill/>
          <a:ln/>
        </p:spPr>
        <p:txBody>
          <a:bodyPr wrap="square" lIns="0" tIns="0" rIns="0" bIns="0" rtlCol="0" anchor="t"/>
          <a:lstStyle/>
          <a:p>
            <a:pPr marL="0" indent="0">
              <a:buNone/>
            </a:pPr>
            <a:r>
              <a:rPr lang="en-US" sz="1100" i="1" dirty="0">
                <a:solidFill>
                  <a:schemeClr val="accent5"/>
                </a:solidFill>
              </a:rPr>
              <a:t>Same bins and axes. Before: one state per grid node, 2.4 % of them with U &lt; 1. After: both branches at every node plus 4.0 M refined states (998 k solves and their symmetry images); 28.9 % with U &lt; 1 and 24.6 % with 1 ≤ U &lt; 3. The grid's high-energy states are all kept.</a:t>
            </a:r>
          </a:p>
        </p:txBody>
      </p:sp>
      <p:sp>
        <p:nvSpPr>
          <p:cNvPr id="100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000" name=""/>
        <p:cNvGrpSpPr/>
        <p:nvPr/>
      </p:nvGrpSpPr>
      <p:grpSpPr/>
      <p:sp>
        <p:nvSpPr>
          <p:cNvPr id="1001"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Inside a cell: new points spread evenly</a:t>
            </a:r>
          </a:p>
        </p:txBody>
      </p:sp>
      <p:pic>
        <p:nvPicPr>
          <p:cNvPr id="3" name="Picture 2" descr="A grid cell drawn as a cube: 8 solved corners, the cell's own corner marked, and 15 new points spread through the inside"/>
          <p:cNvPicPr>
            <a:picLocks noChangeAspect="1"/>
          </p:cNvPicPr>
          <p:nvPr/>
        </p:nvPicPr>
        <p:blipFill>
          <a:blip r:embed="rId3"/>
          <a:stretch>
            <a:fillRect/>
          </a:stretch>
        </p:blipFill>
        <p:spPr>
          <a:xfrm>
            <a:off x="548640" y="1325880"/>
            <a:ext cx="3579725" cy="4343400"/>
          </a:xfrm>
          <a:prstGeom prst="rect">
            <a:avLst/>
          </a:prstGeom>
        </p:spPr>
      </p:pic>
      <p:pic>
        <p:nvPicPr>
          <p:cNvPr id="450" name="Picture 450" descr="16 points in a cell placed four ways: random (clumps and holes), a regular lattice (same in every cell), a Sobol sequence (one point per square), and Sobol shifted per cell"/>
          <p:cNvPicPr>
            <a:picLocks noChangeAspect="1"/>
          </p:cNvPicPr>
          <p:nvPr/>
        </p:nvPicPr>
        <p:blipFill>
          <a:blip r:embed="rId4"/>
          <a:stretch>
            <a:fillRect/>
          </a:stretch>
        </p:blipFill>
        <p:spPr>
          <a:xfrm>
            <a:off x="4448405" y="1325880"/>
            <a:ext cx="7191907" cy="2453137"/>
          </a:xfrm>
          <a:prstGeom prst="rect">
            <a:avLst/>
          </a:prstGeom>
        </p:spPr>
      </p:pic>
      <p:sp>
        <p:nvSpPr>
          <p:cNvPr id="1002" name="text-103"/>
          <p:cNvSpPr txBox="1"/>
          <p:nvPr/>
        </p:nvSpPr>
        <p:spPr>
          <a:xfrm>
            <a:off x="548640" y="5715000"/>
            <a:ext cx="3579725" cy="548640"/>
          </a:xfrm>
          <a:prstGeom prst="rect">
            <a:avLst/>
          </a:prstGeom>
          <a:noFill/>
          <a:ln/>
        </p:spPr>
        <p:txBody>
          <a:bodyPr wrap="square" lIns="0" tIns="0" rIns="0" bIns="0" rtlCol="0" anchor="t"/>
          <a:lstStyle/>
          <a:p>
            <a:pPr marL="0" indent="0">
              <a:buNone/>
            </a:pPr>
            <a:r>
              <a:rPr lang="en-US" sz="1100" i="1" dirty="0">
                <a:solidFill>
                  <a:schemeClr val="accent5"/>
                </a:solidFill>
              </a:rPr>
              <a:t>Example: n = 16, so the cell's own corner plus 15 new points, anywhere inside, d included: the data also covers values between the 30 d layers.</a:t>
            </a:r>
          </a:p>
        </p:txBody>
      </p:sp>
      <p:sp>
        <p:nvSpPr>
          <p:cNvPr id="440" name="badge-440"/>
          <p:cNvSpPr/>
          <p:nvPr/>
        </p:nvSpPr>
        <p:spPr>
          <a:xfrm>
            <a:off x="4448405" y="4126489"/>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1</a:t>
            </a:r>
          </a:p>
        </p:txBody>
      </p:sp>
      <p:sp>
        <p:nvSpPr>
          <p:cNvPr id="441" name="step-441"/>
          <p:cNvSpPr txBox="1"/>
          <p:nvPr/>
        </p:nvSpPr>
        <p:spPr>
          <a:xfrm>
            <a:off x="4978757" y="4099057"/>
            <a:ext cx="1684070" cy="2164583"/>
          </a:xfrm>
          <a:prstGeom prst="rect">
            <a:avLst/>
          </a:prstGeom>
          <a:noFill/>
          <a:ln/>
        </p:spPr>
        <p:txBody>
          <a:bodyPr wrap="square" lIns="0" tIns="0" rIns="0" bIns="0" rtlCol="0" anchor="t">
            <a:normAutofit/>
          </a:bodyPr>
          <a:lstStyle/>
          <a:p>
            <a:pPr marL="0" indent="0" algn="l">
              <a:spcAft>
                <a:spcPts val="200"/>
              </a:spcAft>
              <a:buNone/>
            </a:pPr>
            <a:r>
              <a:rPr lang="en-US" sz="1200" b="1" dirty="0">
                <a:solidFill>
                  <a:schemeClr val="tx1"/>
                </a:solidFill>
              </a:rPr>
              <a:t>What a cell is</a:t>
            </a:r>
            <a:endParaRPr lang="en-US" sz="1200" dirty="0"/>
          </a:p>
          <a:p>
            <a:pPr marL="0" indent="0" algn="l">
              <a:spcAft>
                <a:spcPts val="200"/>
              </a:spcAft>
              <a:buNone/>
            </a:pPr>
            <a:r>
              <a:rPr lang="en-US" sz="1200" dirty="0">
                <a:solidFill>
                  <a:schemeClr val="tx1"/>
                </a:solidFill>
              </a:rPr>
              <a:t>The box between 8 neighbouring grid points, 0.01 wide in φ₁, φ₂ and d. Its corners are already solved.</a:t>
            </a:r>
            <a:endParaRPr lang="en-US" sz="1200" dirty="0"/>
          </a:p>
        </p:txBody>
      </p:sp>
      <p:sp>
        <p:nvSpPr>
          <p:cNvPr id="442" name="badge-442"/>
          <p:cNvSpPr/>
          <p:nvPr/>
        </p:nvSpPr>
        <p:spPr>
          <a:xfrm>
            <a:off x="6937148" y="4126489"/>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2</a:t>
            </a:r>
          </a:p>
        </p:txBody>
      </p:sp>
      <p:sp>
        <p:nvSpPr>
          <p:cNvPr id="443" name="step-443"/>
          <p:cNvSpPr txBox="1"/>
          <p:nvPr/>
        </p:nvSpPr>
        <p:spPr>
          <a:xfrm>
            <a:off x="7467500" y="4099057"/>
            <a:ext cx="1684070" cy="2164583"/>
          </a:xfrm>
          <a:prstGeom prst="rect">
            <a:avLst/>
          </a:prstGeom>
          <a:noFill/>
          <a:ln/>
        </p:spPr>
        <p:txBody>
          <a:bodyPr wrap="square" lIns="0" tIns="0" rIns="0" bIns="0" rtlCol="0" anchor="t">
            <a:normAutofit/>
          </a:bodyPr>
          <a:lstStyle/>
          <a:p>
            <a:pPr marL="0" indent="0" algn="l">
              <a:spcAft>
                <a:spcPts val="200"/>
              </a:spcAft>
              <a:buNone/>
            </a:pPr>
            <a:r>
              <a:rPr lang="en-US" sz="1200" b="1" dirty="0">
                <a:solidFill>
                  <a:schemeClr val="tx1"/>
                </a:solidFill>
              </a:rPr>
              <a:t>Spread evenly: Sobol</a:t>
            </a:r>
            <a:endParaRPr lang="en-US" sz="1200" dirty="0"/>
          </a:p>
          <a:p>
            <a:pPr marL="0" indent="0" algn="l">
              <a:spcAft>
                <a:spcPts val="200"/>
              </a:spcAft>
              <a:buNone/>
            </a:pPr>
            <a:r>
              <a:rPr lang="en-US" sz="1200" dirty="0">
                <a:solidFill>
                  <a:schemeClr val="tx1"/>
                </a:solidFill>
              </a:rPr>
              <a:t>A recipe that gives every part of the box its share of points: no clumps, no holes.</a:t>
            </a:r>
            <a:endParaRPr lang="en-US" sz="1200" dirty="0"/>
          </a:p>
        </p:txBody>
      </p:sp>
      <p:sp>
        <p:nvSpPr>
          <p:cNvPr id="444" name="badge-444"/>
          <p:cNvSpPr/>
          <p:nvPr/>
        </p:nvSpPr>
        <p:spPr>
          <a:xfrm>
            <a:off x="9425890" y="4126489"/>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3</a:t>
            </a:r>
          </a:p>
        </p:txBody>
      </p:sp>
      <p:sp>
        <p:nvSpPr>
          <p:cNvPr id="445" name="step-445"/>
          <p:cNvSpPr txBox="1"/>
          <p:nvPr/>
        </p:nvSpPr>
        <p:spPr>
          <a:xfrm>
            <a:off x="9956242" y="4099057"/>
            <a:ext cx="1684070" cy="2164583"/>
          </a:xfrm>
          <a:prstGeom prst="rect">
            <a:avLst/>
          </a:prstGeom>
          <a:noFill/>
          <a:ln/>
        </p:spPr>
        <p:txBody>
          <a:bodyPr wrap="square" lIns="0" tIns="0" rIns="0" bIns="0" rtlCol="0" anchor="t">
            <a:normAutofit/>
          </a:bodyPr>
          <a:lstStyle/>
          <a:p>
            <a:pPr marL="0" indent="0" algn="l">
              <a:spcAft>
                <a:spcPts val="200"/>
              </a:spcAft>
              <a:buNone/>
            </a:pPr>
            <a:r>
              <a:rPr lang="en-US" sz="1200" b="1" dirty="0">
                <a:solidFill>
                  <a:schemeClr val="tx1"/>
                </a:solidFill>
              </a:rPr>
              <a:t>A new shift in each cell</a:t>
            </a:r>
            <a:endParaRPr lang="en-US" sz="1200" dirty="0"/>
          </a:p>
          <a:p>
            <a:pPr marL="0" indent="0" algn="l">
              <a:spcAft>
                <a:spcPts val="200"/>
              </a:spcAft>
              <a:buNone/>
            </a:pPr>
            <a:r>
              <a:rPr lang="en-US" sz="1200" dirty="0">
                <a:solidFill>
                  <a:schemeClr val="tx1"/>
                </a:solidFill>
              </a:rPr>
              <a:t>Each cell slides its pattern by its own random amount, so neighbouring cells never share one pattern.</a:t>
            </a:r>
            <a:endParaRPr lang="en-US" sz="1200" dirty="0"/>
          </a:p>
        </p:txBody>
      </p:sp>
      <p:sp>
        <p:nvSpPr>
          <p:cNvPr id="100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000" name=""/>
        <p:cNvGrpSpPr/>
        <p:nvPr/>
      </p:nvGrpSpPr>
      <p:grpSpPr/>
      <p:sp>
        <p:nvSpPr>
          <p:cNvPr id="1001"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Solving each new point from its neighbours</a:t>
            </a:r>
          </a:p>
        </p:txBody>
      </p:sp>
      <p:pic>
        <p:nvPicPr>
          <p:cNvPr id="3" name="Picture 2" descr="Left: a new point in a cell face, solved from the nearest corners holding the bent-up rod, up to three tries. Right: one solved rod and its three images in the clamp-angle square"/>
          <p:cNvPicPr>
            <a:picLocks noChangeAspect="1"/>
          </p:cNvPicPr>
          <p:nvPr/>
        </p:nvPicPr>
        <p:blipFill>
          <a:blip r:embed="rId3"/>
          <a:stretch>
            <a:fillRect/>
          </a:stretch>
        </p:blipFill>
        <p:spPr>
          <a:xfrm>
            <a:off x="548640" y="1280160"/>
            <a:ext cx="6126480" cy="3405229"/>
          </a:xfrm>
          <a:prstGeom prst="rect">
            <a:avLst/>
          </a:prstGeom>
        </p:spPr>
      </p:pic>
      <p:sp>
        <p:nvSpPr>
          <p:cNvPr id="460" name="badge-460"/>
          <p:cNvSpPr/>
          <p:nvPr/>
        </p:nvSpPr>
        <p:spPr>
          <a:xfrm>
            <a:off x="7315200" y="135331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1</a:t>
            </a:r>
          </a:p>
        </p:txBody>
      </p:sp>
      <p:sp>
        <p:nvSpPr>
          <p:cNvPr id="461" name="step-461"/>
          <p:cNvSpPr txBox="1"/>
          <p:nvPr/>
        </p:nvSpPr>
        <p:spPr>
          <a:xfrm>
            <a:off x="7845552" y="1325880"/>
            <a:ext cx="3794760" cy="118872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Start from a nearby answer</a:t>
            </a:r>
            <a:endParaRPr lang="en-US" sz="1300" dirty="0"/>
          </a:p>
          <a:p>
            <a:pPr marL="0" indent="0" algn="l">
              <a:spcAft>
                <a:spcPts val="200"/>
              </a:spcAft>
              <a:buNone/>
            </a:pPr>
            <a:r>
              <a:rPr lang="en-US" sz="1300" dirty="0">
                <a:solidFill>
                  <a:schemeClr val="tx1"/>
                </a:solidFill>
              </a:rPr>
              <a:t>Each rod is found by Newton's method, which improves a guess step by step. A solved corner rod, at most 0.01 away, is a very good guess.</a:t>
            </a:r>
            <a:endParaRPr lang="en-US" sz="1300" dirty="0"/>
          </a:p>
        </p:txBody>
      </p:sp>
      <p:sp>
        <p:nvSpPr>
          <p:cNvPr id="462" name="badge-462"/>
          <p:cNvSpPr/>
          <p:nvPr/>
        </p:nvSpPr>
        <p:spPr>
          <a:xfrm>
            <a:off x="7315200" y="2596896"/>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2</a:t>
            </a:r>
          </a:p>
        </p:txBody>
      </p:sp>
      <p:sp>
        <p:nvSpPr>
          <p:cNvPr id="463" name="step-463"/>
          <p:cNvSpPr txBox="1"/>
          <p:nvPr/>
        </p:nvSpPr>
        <p:spPr>
          <a:xfrm>
            <a:off x="7845552" y="2569464"/>
            <a:ext cx="3794760" cy="118872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Nearest corner first, up to 3 tries</a:t>
            </a:r>
            <a:endParaRPr lang="en-US" sz="1300" dirty="0"/>
          </a:p>
          <a:p>
            <a:pPr marL="0" indent="0" algn="l">
              <a:spcAft>
                <a:spcPts val="200"/>
              </a:spcAft>
              <a:buNone/>
            </a:pPr>
            <a:r>
              <a:rPr lang="en-US" sz="1300" dirty="0">
                <a:solidFill>
                  <a:schemeClr val="tx1"/>
                </a:solidFill>
              </a:rPr>
              <a:t>Only corners holding the bent-up rod are used. The answer is kept if it converged, did not snap to the other shape, and is stable.</a:t>
            </a:r>
            <a:endParaRPr lang="en-US" sz="1300" dirty="0"/>
          </a:p>
        </p:txBody>
      </p:sp>
      <p:sp>
        <p:nvSpPr>
          <p:cNvPr id="464" name="badge-464"/>
          <p:cNvSpPr/>
          <p:nvPr/>
        </p:nvSpPr>
        <p:spPr>
          <a:xfrm>
            <a:off x="7315200" y="3840480"/>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3</a:t>
            </a:r>
          </a:p>
        </p:txBody>
      </p:sp>
      <p:sp>
        <p:nvSpPr>
          <p:cNvPr id="465" name="step-465"/>
          <p:cNvSpPr txBox="1"/>
          <p:nvPr/>
        </p:nvSpPr>
        <p:spPr>
          <a:xfrm>
            <a:off x="7845552" y="3813048"/>
            <a:ext cx="3794760" cy="118872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If every try fails</a:t>
            </a:r>
            <a:endParaRPr lang="en-US" sz="1300" dirty="0"/>
          </a:p>
          <a:p>
            <a:pPr marL="0" indent="0" algn="l">
              <a:spcAft>
                <a:spcPts val="200"/>
              </a:spcAft>
              <a:buNone/>
            </a:pPr>
            <a:r>
              <a:rPr lang="en-US" sz="1300" dirty="0">
                <a:solidFill>
                  <a:schemeClr val="tx1"/>
                </a:solidFill>
              </a:rPr>
              <a:t>Near a fold the bent-up rod may not exist at that point: it is kept as a “no rod here” example, which shows where the shape ends. Elsewhere: a fresh solve, or the point is dropped.</a:t>
            </a:r>
            <a:endParaRPr lang="en-US" sz="1300" dirty="0"/>
          </a:p>
        </p:txBody>
      </p:sp>
      <p:sp>
        <p:nvSpPr>
          <p:cNvPr id="466" name="badge-466"/>
          <p:cNvSpPr/>
          <p:nvPr/>
        </p:nvSpPr>
        <p:spPr>
          <a:xfrm>
            <a:off x="7315200" y="5084064"/>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4</a:t>
            </a:r>
          </a:p>
        </p:txBody>
      </p:sp>
      <p:sp>
        <p:nvSpPr>
          <p:cNvPr id="467" name="step-467"/>
          <p:cNvSpPr txBox="1"/>
          <p:nvPr/>
        </p:nvSpPr>
        <p:spPr>
          <a:xfrm>
            <a:off x="7845552" y="5056632"/>
            <a:ext cx="3794760" cy="118872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One solve gives four rods</a:t>
            </a:r>
            <a:endParaRPr lang="en-US" sz="1300" dirty="0"/>
          </a:p>
          <a:p>
            <a:pPr marL="0" indent="0" algn="l">
              <a:spcAft>
                <a:spcPts val="200"/>
              </a:spcAft>
              <a:buNone/>
            </a:pPr>
            <a:r>
              <a:rPr lang="en-US" sz="1300" dirty="0">
                <a:solidFill>
                  <a:schemeClr val="tx1"/>
                </a:solidFill>
              </a:rPr>
              <a:t>A rod seen from behind (ends swapped) or turned upside down is still a valid rod, so only a quarter of the points are solved.</a:t>
            </a:r>
            <a:endParaRPr lang="en-US" sz="1300" dirty="0"/>
          </a:p>
        </p:txBody>
      </p:sp>
      <p:sp>
        <p:nvSpPr>
          <p:cNvPr id="480" name="card-480"/>
          <p:cNvSpPr/>
          <p:nvPr/>
        </p:nvSpPr>
        <p:spPr>
          <a:xfrm>
            <a:off x="548640" y="4913989"/>
            <a:ext cx="1889760" cy="1349651"/>
          </a:xfrm>
          <a:prstGeom prst="roundRect">
            <a:avLst>
              <a:gd name="adj" fmla="val 6000"/>
            </a:avLst>
          </a:prstGeom>
          <a:solidFill>
            <a:schemeClr val="bg2"/>
          </a:solidFill>
          <a:ln>
            <a:noFill/>
          </a:ln>
        </p:spPr>
        <p:txBody>
          <a:bodyPr/>
          <a:lstStyle/>
          <a:p>
            <a:endParaRPr lang="en-US"/>
          </a:p>
        </p:txBody>
      </p:sp>
      <p:sp>
        <p:nvSpPr>
          <p:cNvPr id="481" name="tile-big-481"/>
          <p:cNvSpPr txBox="1"/>
          <p:nvPr/>
        </p:nvSpPr>
        <p:spPr>
          <a:xfrm>
            <a:off x="731520" y="4968853"/>
            <a:ext cx="1524000" cy="548640"/>
          </a:xfrm>
          <a:prstGeom prst="rect">
            <a:avLst/>
          </a:prstGeom>
          <a:noFill/>
          <a:ln/>
        </p:spPr>
        <p:txBody>
          <a:bodyPr wrap="square" lIns="0" tIns="0" rIns="0" bIns="0" rtlCol="0" anchor="ctr">
            <a:normAutofit/>
          </a:bodyPr>
          <a:lstStyle/>
          <a:p>
            <a:pPr marL="0" indent="0" algn="l">
              <a:spcAft>
                <a:spcPts val="0"/>
              </a:spcAft>
              <a:buNone/>
            </a:pPr>
            <a:r>
              <a:rPr lang="en-US" sz="3000" b="1" dirty="0">
                <a:solidFill>
                  <a:schemeClr val="accent1"/>
                </a:solidFill>
              </a:rPr>
              <a:t>998 k</a:t>
            </a:r>
            <a:endParaRPr lang="en-US" sz="3000" dirty="0"/>
          </a:p>
        </p:txBody>
      </p:sp>
      <p:sp>
        <p:nvSpPr>
          <p:cNvPr id="482" name="tile-label-482"/>
          <p:cNvSpPr txBox="1"/>
          <p:nvPr/>
        </p:nvSpPr>
        <p:spPr>
          <a:xfrm>
            <a:off x="731520" y="5517493"/>
            <a:ext cx="1524000" cy="292608"/>
          </a:xfrm>
          <a:prstGeom prst="rect">
            <a:avLst/>
          </a:prstGeom>
          <a:noFill/>
          <a:ln/>
        </p:spPr>
        <p:txBody>
          <a:bodyPr wrap="square" lIns="0" tIns="0" rIns="0" bIns="0" rtlCol="0" anchor="t">
            <a:normAutofit/>
          </a:bodyPr>
          <a:lstStyle/>
          <a:p>
            <a:pPr marL="0" indent="0" algn="l">
              <a:spcAft>
                <a:spcPts val="0"/>
              </a:spcAft>
              <a:buNone/>
            </a:pPr>
            <a:r>
              <a:rPr lang="en-US" sz="1400" b="1" dirty="0">
                <a:solidFill>
                  <a:schemeClr val="tx1"/>
                </a:solidFill>
              </a:rPr>
              <a:t>rods accepted</a:t>
            </a:r>
            <a:endParaRPr lang="en-US" sz="1400" dirty="0"/>
          </a:p>
        </p:txBody>
      </p:sp>
      <p:sp>
        <p:nvSpPr>
          <p:cNvPr id="483" name="tile-sub-483"/>
          <p:cNvSpPr txBox="1"/>
          <p:nvPr/>
        </p:nvSpPr>
        <p:spPr>
          <a:xfrm>
            <a:off x="731520" y="5810101"/>
            <a:ext cx="1524000" cy="292608"/>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from 1.11 M new points</a:t>
            </a:r>
            <a:endParaRPr lang="en-US" sz="1150" dirty="0"/>
          </a:p>
        </p:txBody>
      </p:sp>
      <p:sp>
        <p:nvSpPr>
          <p:cNvPr id="484" name="card-484"/>
          <p:cNvSpPr/>
          <p:nvPr/>
        </p:nvSpPr>
        <p:spPr>
          <a:xfrm>
            <a:off x="2667000" y="4913989"/>
            <a:ext cx="1889760" cy="1349651"/>
          </a:xfrm>
          <a:prstGeom prst="roundRect">
            <a:avLst>
              <a:gd name="adj" fmla="val 6000"/>
            </a:avLst>
          </a:prstGeom>
          <a:solidFill>
            <a:schemeClr val="bg2"/>
          </a:solidFill>
          <a:ln>
            <a:noFill/>
          </a:ln>
        </p:spPr>
        <p:txBody>
          <a:bodyPr/>
          <a:lstStyle/>
          <a:p>
            <a:endParaRPr lang="en-US"/>
          </a:p>
        </p:txBody>
      </p:sp>
      <p:sp>
        <p:nvSpPr>
          <p:cNvPr id="485" name="tile-big-485"/>
          <p:cNvSpPr txBox="1"/>
          <p:nvPr/>
        </p:nvSpPr>
        <p:spPr>
          <a:xfrm>
            <a:off x="2849880" y="4968853"/>
            <a:ext cx="1524000" cy="548640"/>
          </a:xfrm>
          <a:prstGeom prst="rect">
            <a:avLst/>
          </a:prstGeom>
          <a:noFill/>
          <a:ln/>
        </p:spPr>
        <p:txBody>
          <a:bodyPr wrap="square" lIns="0" tIns="0" rIns="0" bIns="0" rtlCol="0" anchor="ctr">
            <a:normAutofit/>
          </a:bodyPr>
          <a:lstStyle/>
          <a:p>
            <a:pPr marL="0" indent="0" algn="l">
              <a:spcAft>
                <a:spcPts val="0"/>
              </a:spcAft>
              <a:buNone/>
            </a:pPr>
            <a:r>
              <a:rPr lang="en-US" sz="3000" b="1" dirty="0">
                <a:solidFill>
                  <a:schemeClr val="accent1"/>
                </a:solidFill>
              </a:rPr>
              <a:t>112 k</a:t>
            </a:r>
            <a:endParaRPr lang="en-US" sz="3000" dirty="0"/>
          </a:p>
        </p:txBody>
      </p:sp>
      <p:sp>
        <p:nvSpPr>
          <p:cNvPr id="486" name="tile-label-486"/>
          <p:cNvSpPr txBox="1"/>
          <p:nvPr/>
        </p:nvSpPr>
        <p:spPr>
          <a:xfrm>
            <a:off x="2849880" y="5517493"/>
            <a:ext cx="1524000" cy="292608"/>
          </a:xfrm>
          <a:prstGeom prst="rect">
            <a:avLst/>
          </a:prstGeom>
          <a:noFill/>
          <a:ln/>
        </p:spPr>
        <p:txBody>
          <a:bodyPr wrap="square" lIns="0" tIns="0" rIns="0" bIns="0" rtlCol="0" anchor="t">
            <a:normAutofit/>
          </a:bodyPr>
          <a:lstStyle/>
          <a:p>
            <a:pPr marL="0" indent="0" algn="l">
              <a:spcAft>
                <a:spcPts val="0"/>
              </a:spcAft>
              <a:buNone/>
            </a:pPr>
            <a:r>
              <a:rPr lang="en-US" sz="1400" b="1" dirty="0">
                <a:solidFill>
                  <a:schemeClr val="tx1"/>
                </a:solidFill>
              </a:rPr>
              <a:t>“no rod here”</a:t>
            </a:r>
            <a:endParaRPr lang="en-US" sz="1400" dirty="0"/>
          </a:p>
        </p:txBody>
      </p:sp>
      <p:sp>
        <p:nvSpPr>
          <p:cNvPr id="487" name="tile-sub-487"/>
          <p:cNvSpPr txBox="1"/>
          <p:nvPr/>
        </p:nvSpPr>
        <p:spPr>
          <a:xfrm>
            <a:off x="2849880" y="5810101"/>
            <a:ext cx="1524000" cy="292608"/>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kept: past a fold</a:t>
            </a:r>
            <a:endParaRPr lang="en-US" sz="1150" dirty="0"/>
          </a:p>
        </p:txBody>
      </p:sp>
      <p:sp>
        <p:nvSpPr>
          <p:cNvPr id="488" name="card-488"/>
          <p:cNvSpPr/>
          <p:nvPr/>
        </p:nvSpPr>
        <p:spPr>
          <a:xfrm>
            <a:off x="4785360" y="4913989"/>
            <a:ext cx="1889760" cy="1349651"/>
          </a:xfrm>
          <a:prstGeom prst="roundRect">
            <a:avLst>
              <a:gd name="adj" fmla="val 6000"/>
            </a:avLst>
          </a:prstGeom>
          <a:solidFill>
            <a:schemeClr val="bg2"/>
          </a:solidFill>
          <a:ln>
            <a:noFill/>
          </a:ln>
        </p:spPr>
        <p:txBody>
          <a:bodyPr/>
          <a:lstStyle/>
          <a:p>
            <a:endParaRPr lang="en-US"/>
          </a:p>
        </p:txBody>
      </p:sp>
      <p:sp>
        <p:nvSpPr>
          <p:cNvPr id="489" name="tile-big-489"/>
          <p:cNvSpPr txBox="1"/>
          <p:nvPr/>
        </p:nvSpPr>
        <p:spPr>
          <a:xfrm>
            <a:off x="4968240" y="4968853"/>
            <a:ext cx="1524000" cy="548640"/>
          </a:xfrm>
          <a:prstGeom prst="rect">
            <a:avLst/>
          </a:prstGeom>
          <a:noFill/>
          <a:ln/>
        </p:spPr>
        <p:txBody>
          <a:bodyPr wrap="square" lIns="0" tIns="0" rIns="0" bIns="0" rtlCol="0" anchor="ctr">
            <a:normAutofit/>
          </a:bodyPr>
          <a:lstStyle/>
          <a:p>
            <a:pPr marL="0" indent="0" algn="l">
              <a:spcAft>
                <a:spcPts val="0"/>
              </a:spcAft>
              <a:buNone/>
            </a:pPr>
            <a:r>
              <a:rPr lang="en-US" sz="3000" b="1" dirty="0">
                <a:solidFill>
                  <a:schemeClr val="accent1"/>
                </a:solidFill>
              </a:rPr>
              <a:t>9</a:t>
            </a:r>
            <a:endParaRPr lang="en-US" sz="3000" dirty="0"/>
          </a:p>
        </p:txBody>
      </p:sp>
      <p:sp>
        <p:nvSpPr>
          <p:cNvPr id="490" name="tile-label-490"/>
          <p:cNvSpPr txBox="1"/>
          <p:nvPr/>
        </p:nvSpPr>
        <p:spPr>
          <a:xfrm>
            <a:off x="4968240" y="5517493"/>
            <a:ext cx="1524000" cy="292608"/>
          </a:xfrm>
          <a:prstGeom prst="rect">
            <a:avLst/>
          </a:prstGeom>
          <a:noFill/>
          <a:ln/>
        </p:spPr>
        <p:txBody>
          <a:bodyPr wrap="square" lIns="0" tIns="0" rIns="0" bIns="0" rtlCol="0" anchor="t">
            <a:normAutofit/>
          </a:bodyPr>
          <a:lstStyle/>
          <a:p>
            <a:pPr marL="0" indent="0" algn="l">
              <a:spcAft>
                <a:spcPts val="0"/>
              </a:spcAft>
              <a:buNone/>
            </a:pPr>
            <a:r>
              <a:rPr lang="en-US" sz="1400" b="1" dirty="0">
                <a:solidFill>
                  <a:schemeClr val="tx1"/>
                </a:solidFill>
              </a:rPr>
              <a:t>dropped</a:t>
            </a:r>
            <a:endParaRPr lang="en-US" sz="1400" dirty="0"/>
          </a:p>
        </p:txBody>
      </p:sp>
      <p:sp>
        <p:nvSpPr>
          <p:cNvPr id="491" name="tile-sub-491"/>
          <p:cNvSpPr txBox="1"/>
          <p:nvPr/>
        </p:nvSpPr>
        <p:spPr>
          <a:xfrm>
            <a:off x="4968240" y="5810101"/>
            <a:ext cx="1524000" cy="292608"/>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3 more: solved afresh</a:t>
            </a:r>
            <a:endParaRPr lang="en-US" sz="1150" dirty="0"/>
          </a:p>
        </p:txBody>
      </p:sp>
      <p:sp>
        <p:nvSpPr>
          <p:cNvPr id="100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000" name=""/>
        <p:cNvGrpSpPr/>
        <p:nvPr/>
      </p:nvGrpSpPr>
      <p:grpSpPr/>
      <p:sp>
        <p:nvSpPr>
          <p:cNvPr id="1001"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In 3D: the new points gather where the energy is low</a:t>
            </a:r>
          </a:p>
        </p:txBody>
      </p:sp>
      <p:pic>
        <p:nvPicPr>
          <p:cNvPr id="3" name="Picture 2" descr="The domain (phi1, phi2, d) before and after refinement, 1 percent of the points drawn from each: an even cloud of grid states before; after, refined points concentrated at high d near the centre"/>
          <p:cNvPicPr>
            <a:picLocks noChangeAspect="1"/>
          </p:cNvPicPr>
          <p:nvPr/>
        </p:nvPicPr>
        <p:blipFill>
          <a:blip r:embed="rId3"/>
          <a:stretch>
            <a:fillRect/>
          </a:stretch>
        </p:blipFill>
        <p:spPr>
          <a:xfrm>
            <a:off x="1675990" y="1188720"/>
            <a:ext cx="8839715" cy="4434840"/>
          </a:xfrm>
          <a:prstGeom prst="rect">
            <a:avLst/>
          </a:prstGeom>
        </p:spPr>
      </p:pic>
      <p:sp>
        <p:nvSpPr>
          <p:cNvPr id="1002" name="text-103"/>
          <p:cNvSpPr txBox="1"/>
          <p:nvPr/>
        </p:nvSpPr>
        <p:spPr>
          <a:xfrm>
            <a:off x="914400" y="5715000"/>
            <a:ext cx="10360152" cy="594360"/>
          </a:xfrm>
          <a:prstGeom prst="rect">
            <a:avLst/>
          </a:prstGeom>
          <a:noFill/>
          <a:ln/>
        </p:spPr>
        <p:txBody>
          <a:bodyPr wrap="square" lIns="0" tIns="0" rIns="0" bIns="0" rtlCol="0" anchor="t"/>
          <a:lstStyle/>
          <a:p>
            <a:pPr marL="0" indent="0">
              <a:buNone/>
            </a:pPr>
            <a:r>
              <a:rPr lang="en-US" sz="1100" i="1" dirty="0">
                <a:solidFill>
                  <a:schemeClr val="accent5"/>
                </a:solidFill>
              </a:rPr>
              <a:t>Each side draws the same random 1 % of its points, so dot density is data density. Before: one state per grid node, evenly spread. After: refined points (orange) fill the low-energy region at high d near the centre; grid nodes (slate) still cover the rest. Orange away from the centre comes from the minimum of 16 points per partial cell: fold edges, and the diagonal φ₁ = φ₂.</a:t>
            </a:r>
          </a:p>
        </p:txBody>
      </p:sp>
      <p:sp>
        <p:nvSpPr>
          <p:cNvPr id="100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000" name=""/>
        <p:cNvGrpSpPr/>
        <p:nvPr/>
      </p:nvGrpSpPr>
      <p:grpSpPr/>
      <p:sp>
        <p:nvSpPr>
          <p:cNvPr id="1001"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Close up: more points inside the cells where U is low</a:t>
            </a:r>
          </a:p>
        </p:txBody>
      </p:sp>
      <p:pic>
        <p:nvPicPr>
          <p:cNvPr id="3" name="Picture 2" descr="A block of 5 by 5 by 3 grid cells near d = 0.97: 144 grid nodes before; after, 1,926 bent-up states, dense at the top where the energy is lowest and sparse at the bottom"/>
          <p:cNvPicPr>
            <a:picLocks noChangeAspect="1"/>
          </p:cNvPicPr>
          <p:nvPr/>
        </p:nvPicPr>
        <p:blipFill>
          <a:blip r:embed="rId3"/>
          <a:stretch>
            <a:fillRect/>
          </a:stretch>
        </p:blipFill>
        <p:spPr>
          <a:xfrm>
            <a:off x="1236312" y="1188720"/>
            <a:ext cx="9719071" cy="4434840"/>
          </a:xfrm>
          <a:prstGeom prst="rect">
            <a:avLst/>
          </a:prstGeom>
        </p:spPr>
      </p:pic>
      <p:sp>
        <p:nvSpPr>
          <p:cNvPr id="1002" name="text-103"/>
          <p:cNvSpPr txBox="1"/>
          <p:nvPr/>
        </p:nvSpPr>
        <p:spPr>
          <a:xfrm>
            <a:off x="914400" y="5715000"/>
            <a:ext cx="10360152" cy="594360"/>
          </a:xfrm>
          <a:prstGeom prst="rect">
            <a:avLst/>
          </a:prstGeom>
          <a:noFill/>
          <a:ln/>
        </p:spPr>
        <p:txBody>
          <a:bodyPr wrap="square" lIns="0" tIns="0" rIns="0" bIns="0" rtlCol="0" anchor="t"/>
          <a:lstStyle/>
          <a:p>
            <a:pPr marL="0" indent="0">
              <a:buNone/>
            </a:pPr>
            <a:r>
              <a:rPr lang="en-US" sz="1100" i="1" dirty="0">
                <a:solidFill>
                  <a:schemeClr val="accent5"/>
                </a:solidFill>
              </a:rPr>
              <a:t>Every bent-up point in 75 cells at d = 0.96–0.99, φ₁ ∈ [−0.05, 0], φ₂ ∈ [−0.03, 0.02]. The grid nodes stay; each cell adds its own points inside. Towards the top U falls (0.36 at the lowest) and the cells hold up to 64 points; at the bottom, where U reaches 1.8, as few as 5.</a:t>
            </a:r>
          </a:p>
        </p:txBody>
      </p:sp>
      <p:sp>
        <p:nvSpPr>
          <p:cNvPr id="100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theme/theme1.xml><?xml version="1.0" encoding="utf-8"?>
<a:theme xmlns:a="http://schemas.openxmlformats.org/drawingml/2006/main" name="Elastica">
  <a:themeElements>
    <a:clrScheme name="Elastica">
      <a:dk1>
        <a:srgbClr val="16222E"/>
      </a:dk1>
      <a:lt1>
        <a:srgbClr val="FFFFFF"/>
      </a:lt1>
      <a:dk2>
        <a:srgbClr val="2E4A5C"/>
      </a:dk2>
      <a:lt2>
        <a:srgbClr val="EEF2F4"/>
      </a:lt2>
      <a:accent1>
        <a:srgbClr val="D9822B"/>
      </a:accent1>
      <a:accent2>
        <a:srgbClr val="2A9D8F"/>
      </a:accent2>
      <a:accent3>
        <a:srgbClr val="C8553D"/>
      </a:accent3>
      <a:accent4>
        <a:srgbClr val="E9C46A"/>
      </a:accent4>
      <a:accent5>
        <a:srgbClr val="5C6B7A"/>
      </a:accent5>
      <a:accent6>
        <a:srgbClr val="8A96A3"/>
      </a:accent6>
      <a:hlink>
        <a:srgbClr val="2A9D8F"/>
      </a:hlink>
      <a:folHlink>
        <a:srgbClr val="5C6B7A"/>
      </a:folHlink>
    </a:clrScheme>
    <a:fontScheme name="Elastic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112</TotalTime>
  <Words>4545</Words>
  <Application>Microsoft Office PowerPoint</Application>
  <PresentationFormat>Widescreen</PresentationFormat>
  <Paragraphs>356</Paragraphs>
  <Slides>26</Slides>
  <Notes>26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Arial</vt:lpstr>
      <vt:lpstr>Calibri</vt:lpstr>
      <vt:lpstr>Cambria</vt:lpstr>
      <vt:lpstr>Cambria Math</vt:lpstr>
      <vt:lpstr>Elastica</vt:lpstr>
      <vt:lpstr>Mapping the clamped elastica across its snap surface</vt:lpstr>
      <vt:lpstr>One rod, three parameters, a map of equilibria</vt:lpstr>
      <vt:lpstr>Equilibria are stationary points of the bending energy</vt:lpstr>
      <vt:lpstr>Stationarity gives the elastica equation and a mixed weak form</vt:lpstr>
      <vt:lpstr>Each parameter point is one Newton solve on 203 unknowns</vt:lpstr>
      <vt:lpstr>The snap surface</vt:lpstr>
      <vt:lpstr>Two equilibria 0.01 rad apart: the rod has snapped</vt:lpstr>
      <vt:lpstr>Bent up or bent down: the first buckling mode decides</vt:lpstr>
      <vt:lpstr>A snap is a sign change of p with a jump</vt:lpstr>
      <vt:lpstr>Smooth fields, then a jump across an L-shaped surface</vt:lpstr>
      <vt:lpstr>The sign of p traces the snap surface</vt:lpstr>
      <vt:lpstr>The snap surface in 3D</vt:lpstr>
      <vt:lpstr>The sheet rises from the step in axial force</vt:lpstr>
      <vt:lpstr>Continuation strategy</vt:lpstr>
      <vt:lpstr>Traverse the grid; reject jumps and unstable results</vt:lpstr>
      <vt:lpstr>Going around a fold: defer, never jump</vt:lpstr>
      <vt:lpstr>A stability test catches what the jump test misses</vt:lpstr>
      <vt:lpstr>Deriving the exact first mode used for the cold start</vt:lpstr>
      <vt:lpstr>Exact first-mode cold start, then continue the clamp angles</vt:lpstr>
      <vt:lpstr>Mirror symmetry halves the number of solves</vt:lpstr>
      <vt:lpstr>Final run</vt:lpstr>
      <vt:lpstr>2.98 M equilibria, every one checked</vt:lpstr>
      <vt:lpstr>Constant-energy surfaces: shells around the straight rod</vt:lpstr>
      <vt:lpstr>Constant axial force fx: bounded in compression</vt:lpstr>
      <vt:lpstr>Constant transverse force fy: mirror-image pairs</vt:lpstr>
      <vt:lpstr>Constant clamp moment M₁; M₂ is its mirror image</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Mapping the clamped elastica across its snap surface</dc:title>
  <dc:subject>PptxGenJS Presentation</dc:subject>
  <dc:creator>PptxGenJS</dc:creator>
  <cp:lastModifiedBy>Bendale Goraksh Manish</cp:lastModifiedBy>
  <cp:revision>13</cp:revision>
  <dcterms:created xsi:type="dcterms:W3CDTF">2026-10-09T14:15:45Z</dcterms:created>
  <dcterms:modified xsi:type="dcterms:W3CDTF">2026-10-13T04:23:01Z</dcterms:modified>
</cp:coreProperties>
</file>