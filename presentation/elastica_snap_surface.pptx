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90" r:id="rId9"/>
    <p:sldId id="291" r:id="rId10"/>
    <p:sldId id="262" r:id="rId11"/>
    <p:sldId id="265" r:id="rId12"/>
    <p:sldId id="292" r:id="rId13"/>
    <p:sldId id="293" r:id="rId14"/>
    <p:sldId id="266" r:id="rId15"/>
    <p:sldId id="267" r:id="rId16"/>
    <p:sldId id="294" r:id="rId17"/>
    <p:sldId id="295" r:id="rId18"/>
    <p:sldId id="289" r:id="rId19"/>
    <p:sldId id="268" r:id="rId20"/>
    <p:sldId id="272" r:id="rId21"/>
    <p:sldId id="296" r:id="rId22"/>
    <p:sldId id="297" r:id="rId23"/>
    <p:sldId id="298" r:id="rId24"/>
    <p:sldId id="299" r:id="rId25"/>
    <p:sldId id="300" r:id="rId26"/>
    <p:sldId id="301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blem and governing math" id="{C37E3601-C24F-C817-9963-7F95C32A3C61}">
          <p14:sldIdLst>
            <p14:sldId id="256"/>
            <p14:sldId id="257"/>
            <p14:sldId id="258"/>
            <p14:sldId id="259"/>
            <p14:sldId id="260"/>
          </p14:sldIdLst>
        </p14:section>
        <p14:section name="The snap surface" id="{8EC7598D-7973-6D1C-AB16-2878DA9877AD}">
          <p14:sldIdLst>
            <p14:sldId id="261"/>
            <p14:sldId id="263"/>
            <p14:sldId id="290"/>
            <p14:sldId id="291"/>
            <p14:sldId id="262"/>
            <p14:sldId id="265"/>
            <p14:sldId id="292"/>
            <p14:sldId id="293"/>
          </p14:sldIdLst>
        </p14:section>
        <p14:section name="Continuation strategy" id="{95CDCF11-1B6B-B936-99DA-258805DCA0FC}">
          <p14:sldIdLst>
            <p14:sldId id="266"/>
            <p14:sldId id="267"/>
            <p14:sldId id="294"/>
            <p14:sldId id="295"/>
            <p14:sldId id="289"/>
            <p14:sldId id="268"/>
            <p14:sldId id="272"/>
          </p14:sldIdLst>
        </p14:section>
        <p14:section name="Production run" id="{3B1F6A52-8C0D-4E57-9A3C-5E2B7D4F9C61}">
          <p14:sldIdLst>
            <p14:sldId id="296"/>
            <p14:sldId id="297"/>
            <p14:sldId id="298"/>
            <p14:sldId id="299"/>
            <p14:sldId id="300"/>
            <p14:sldId id="30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88429" autoAdjust="0"/>
  </p:normalViewPr>
  <p:slideViewPr>
    <p:cSldViewPr snapToGrid="0" snapToObjects="1">
      <p:cViewPr varScale="1">
        <p:scale>
          <a:sx n="107" d="100"/>
          <a:sy n="107" d="100"/>
        </p:scale>
        <p:origin x="1027" y="8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89275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Today: how we map every stable equilibrium of a clamped rod as we change its end distance and its two clamp angles.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hard part is the snap: at some settings the rod jumps to a different shape, and the solver has to notice.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Plan: the math, the snap surface, how the continuation handles it, and the full production map.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A thin rod of unit length, clamped at both ends; EI = 1.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Three controls: the clamp distance d and the two clamp angles φ₁ and φ₂.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At every grid point we solve for the shape and the end forces, then record the clamp moments and the bending energy.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production grid has 30 d layers of 315 × 315 angle pairs: just under three million equilibria.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The rod settles where its bending energy is stationary, with its ends held where we put them.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θ along the arc keeps the length fixed automatically.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end position enters through two Lagrange multipliers, fx and fy: the reaction forces at the clamp.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Only stable stationary points are kept; the stability test comes later.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Setting the variation of the Lagrangian to zero gives the classic elastica equation.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In FEniCSx we solve the weak form: θ on 200 linear elements, refined towards the clamps, plus one global unknown each for fx and fy.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grading matters near d = 1 with large clamp angles: the tension is huge and the rod turns inside thin boundary layers at the clamps.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Per point we store both clamp moments and the bending energy.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Each point of the map is a single Newton solve on 203 unknowns, so one solve is cheap: about 11 ms.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Direct LU solve, cubic backtracking line search, tight tolerances.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A warm start from a neighbour normally converges in a few iterations; 50 is the cap before we call it a failure.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catch is the fold: the Jacobian goes singular exactly where the snap happens.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Now, what the snap looks like in the data.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This is the feature that makes the problem interesting, and hard.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Two converged shapes only a hundredth of a radian apart in clamp angle, yet completely different.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On the left the rod is bent down with U = 2.27; one step on it is bent up with U = 6.11.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branch the rod was on ends, so it jumps to another one.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Both solutions meet the tolerance, so convergence alone can't tell you a jump happened. We need a shape test.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To tell which branch a solution is on, we project its transverse shape onto the first clamped buckling mode.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y(s) is the deflection, w₁ = 1 − cos 2πs is the first mode; p is their normalised inner product.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Positive p means the rod bows up, negative means it bows down. The S-shape sits at p ≈ 0.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second mode is antisymmetric, so it says nothing about up versus down; the first mode alone is enough.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p itself shrinks as the rod straightens, so we compare q = p over a(d), the amplitude of the exact first mode at that d.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Between two neighbours, q jumps when it changes by more than 0.17 and by more than half its size.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Along this line at d = 0.90, q goes from −1.03 to +0.52 in one step: that is the snap. Normal neighbours differ by 0.003.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q can also pass through zero smoothly, through an S-shape near the diagonal. That is a crossing, not a snap.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same rule also catches a jump onto the unstable S-shaped family without a sign change; the solver rejects those too.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These are the fields on one layer, d = 0.90, over the full range of clamp angles.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Everything is smooth, except along an L-shaped edge where all the fields jump together.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energy nearly triples and the axial force doubles in a single grid step.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Colour is q: orange bent up, slate bent down. The jump rule on neighbouring grid points draws the snap in red.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black lines along the diagonal are smooth zero crossings, where the rod passes through an S-shape.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Stacking the snap curves of several layers: the L-shape shrinks towards the origin as the rod straightens.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Its corner sits on the anti-diagonal φ₁ = −φ₂ and its ends on the diagonal.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Stacking every layer gives the snap surface over the whole box.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It is the p = 0 contour of the tetrahedral grid, keeping only the part where p jumps, so smooth S-shape crossings are left out.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Seen down the d axis, each layer is the same L, and the sheet tilts in towards the origin as d approaches 1.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Here the d = 0.90 layer is coloured by the axial force, and the snap sheet rises from it.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Across the sheet the compressive force roughly doubles, at every d.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sheet comes from the shape alone, through p, and it sits exactly on that force step.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Now the solver: how it covers the box without ever jumping across the snap.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One cold start, at the angular origin and the smallest d. Then the solved region grows as a front, nearest grid distance first.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Each node is warm-started from a solved neighbour: its θ and both forces.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A result is kept only if q does not jump relative to that neighbour, and the equilibrium is stable.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Otherwise we try the next neighbour; after three failures from one branch, the node waits for the other branch.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Only half the box is solved; the mirror fills the rest.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The key rule: never accept a branch switch. A node that cannot be reached without a jump is deferred.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If three neighbours on one branch fail, the node only tries the other branch, so it waits for the front to arrive from the far side of the fold.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front gets there the long way round, through the smooth crossings near the diagonal.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In the production run this happened only near d = 1; 1,155 nodes waited, and one extra cold start was needed.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Newton converges to unstable equilibria as happily as to stable ones.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Usually a jump in q gives that away, but not on the anti-diagonal: there the rod is symmetric and the bent-up branch loses stability at a bifurcation, without a jump.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So every candidate also gets a stability test: the constrained second variation must have no negative direction.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We count negative directions from the inertia of a bordered tridiagonal matrix, which is linear in the number of elements and costs about 0.2 ms.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In production 17 unstable results were rejected, and a re-test of the final map found none.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The cold start needs a solution we know exactly. At zero clamp angles the problem is symmetric, fy vanishes and the elastica is the pendulum equation.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Integrating once and substituting gives the Jacobi elliptic sn function; the modulus k is the sine of half the peak angle.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clamp conditions need exactly one period of sn: four quarter-waves, which fixes λL = 4K(m) and the axial force.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end distance then fixes m through a one-dimensional root-find. For a small bow it reduces to the familiar sine shape and the Euler load.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The exact mode at zero clamp angles converges in two Newton iterations at any d.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From there we ramp the clamp angles to the target, at most a quarter radian per step, halving a step that fails.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Both the hump-up and hump-down modes are continued and the lower energy kept.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This is used once at the start, and otherwise only as a last resort when the front stalls.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Reflecting the rod about mid-span maps the clamp angles (φ₁, φ₂) to (−φ₂, −φ₁).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So only the half φ₁ + φ₂ ≥ 0 is solved; every accepted solution also fills its mirror node.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axial force, the energy and p carry over; fy flips sign and the two clamp moments swap.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Finally, the full production map, and what it says about energy, force and moment.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Every one of the almost three million grid points is solved, in about four hours on one core.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Checks independent of the front: the mirror pairs, the exact first mode on every layer, and 300 random points re-solved with scipy's BVP solver, worst error 0.27 %.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A stability re-test of the whole map found no unstable equilibrium.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bent-up share falls from 70 % to about half as the rod straightens.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Everything is in one VTU for ParaView.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Surfaces of constant bending energy, coloured by d; the faint red sheet is the snap surface.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Low energy is a bowl around the nearly straight rod; higher levels wrap around it.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level sets stop at the snap, because the energy jumps there.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Surfaces of constant axial force. Positive is compression.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Compression is bounded: it never reaches 100, and the high levels are small slivers inside the bent-up region.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Tension, by contrast, grows without bound as the rod is pulled straight with large clamp angles.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Surfaces of constant transverse force.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mirror flips fy, so fy = 0 on the whole anti-diagonal plane, and each positive level has a negative twin.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Surfaces of constant left clamp moment.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right moment needs no separate plot: by the mirror it is the left moment at the reflected angles.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Both are in the VTU for exploration in ParaView.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1554480"/>
            <a:ext cx="749808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3794760"/>
            <a:ext cx="74980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marL="0" indent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22960" y="365760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000" dirty="0">
                <a:solidFill>
                  <a:schemeClr val="accent1"/>
                </a:solidFill>
              </a:defRPr>
            </a:lvl1pPr>
          </a:lstStyle>
          <a:p>
            <a:pPr marL="0" indent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6"/>
                </a:solidFill>
              </a:rPr>
              <a:t>Elastica snap-surface study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5720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new_eq1_885477.png"/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new_eq3_417921.png"/><Relationship Id="rId4" Type="http://schemas.openxmlformats.org/officeDocument/2006/relationships/image" Target="../media/new_eq2_23433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new_eq5_705598.png"/><Relationship Id="rId4" Type="http://schemas.openxmlformats.org/officeDocument/2006/relationships/image" Target="../media/new_eq4_15315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new_eq6_1113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new_eq8_136579.png"/><Relationship Id="rId4" Type="http://schemas.openxmlformats.org/officeDocument/2006/relationships/image" Target="../media/new_eq7_13169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11" Type="http://schemas.openxmlformats.org/officeDocument/2006/relationships/image" Target="../media/new_eq10_962326.png"/><Relationship Id="rId6" Type="http://schemas.openxmlformats.org/officeDocument/2006/relationships/image" Target="../media/image24.png"/><Relationship Id="rId10" Type="http://schemas.openxmlformats.org/officeDocument/2006/relationships/image" Target="../media/new_eq9_240358.png"/><Relationship Id="rId9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81.png"/><Relationship Id="rId5" Type="http://schemas.openxmlformats.org/officeDocument/2006/relationships/image" Target="../media/image23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3.png"/><Relationship Id="rId5" Type="http://schemas.openxmlformats.org/officeDocument/2006/relationships/image" Target="../media/new_eq11_433747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1554480"/>
            <a:ext cx="7498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000" dirty="0">
                <a:solidFill>
                  <a:schemeClr val="bg1"/>
                </a:solidFill>
              </a:rPr>
              <a:t>Mapping the clamped elastica across its snap surface</a:t>
            </a:r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379476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bg2"/>
                </a:solidFill>
              </a:rPr>
              <a:t>Continuation with buckling-mode branch tracking in FEniCSx / PETSc</a:t>
            </a:r>
            <a:endParaRPr lang="en-US" sz="1800" dirty="0"/>
          </a:p>
        </p:txBody>
      </p:sp>
      <p:pic>
        <p:nvPicPr>
          <p:cNvPr id="4" name="figure-1" descr="/tmp/claude-1000/-home-goraksh/bd4a8aa0-f932-4355-8328-b02b4cf010d1/scratchpad/deck/fig/family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4892040"/>
            <a:ext cx="4480560" cy="125178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One rod, three parameters, a map of equilibria</a:t>
            </a:r>
            <a:endParaRPr lang="en-US" sz="3000" dirty="0"/>
          </a:p>
        </p:txBody>
      </p:sp>
      <p:pic>
        <p:nvPicPr>
          <p:cNvPr id="3" name="figure-2" descr="/tmp/claude-1000/-home-goraksh/bd4a8aa0-f932-4355-8328-b02b4cf010d1/scratchpad/deck/fig/schema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6217920" cy="346477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548640" y="506497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For every point (d, φ₁, φ₂) solve for the tangent angle θ(s) and the end forces f</a:t>
            </a:r>
            <a:r>
              <a:rPr lang="en-US" sz="1600" baseline="-25000" dirty="0">
                <a:solidFill>
                  <a:schemeClr val="tx1"/>
                </a:solidFill>
              </a:rPr>
              <a:t>x</a:t>
            </a:r>
            <a:r>
              <a:rPr lang="en-US" sz="1600" dirty="0">
                <a:solidFill>
                  <a:schemeClr val="tx1"/>
                </a:solidFill>
              </a:rPr>
              <a:t>, f</a:t>
            </a:r>
            <a:r>
              <a:rPr lang="en-US" sz="1600" baseline="-25000" dirty="0">
                <a:solidFill>
                  <a:schemeClr val="tx1"/>
                </a:solidFill>
              </a:rPr>
              <a:t>y</a:t>
            </a:r>
            <a:r>
              <a:rPr lang="en-US" sz="1600" dirty="0">
                <a:solidFill>
                  <a:schemeClr val="tx1"/>
                </a:solidFill>
              </a:rPr>
              <a:t>; record both clamp moments and the bending energy U.</a:t>
            </a:r>
          </a:p>
        </p:txBody>
      </p:sp>
      <p:sp>
        <p:nvSpPr>
          <p:cNvPr id="5" name="card-4"/>
          <p:cNvSpPr/>
          <p:nvPr/>
        </p:nvSpPr>
        <p:spPr>
          <a:xfrm>
            <a:off x="6949440" y="1463040"/>
            <a:ext cx="46634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badge-5"/>
          <p:cNvSpPr/>
          <p:nvPr/>
        </p:nvSpPr>
        <p:spPr>
          <a:xfrm>
            <a:off x="7178040" y="182880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badge-label-6"/>
          <p:cNvSpPr txBox="1"/>
          <p:nvPr/>
        </p:nvSpPr>
        <p:spPr>
          <a:xfrm>
            <a:off x="71780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d</a:t>
            </a:r>
            <a:endParaRPr lang="en-US" sz="1800" dirty="0"/>
          </a:p>
        </p:txBody>
      </p:sp>
      <p:sp>
        <p:nvSpPr>
          <p:cNvPr id="8" name="text-7"/>
          <p:cNvSpPr txBox="1"/>
          <p:nvPr/>
        </p:nvSpPr>
        <p:spPr>
          <a:xfrm>
            <a:off x="8046720" y="1691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End-to-end distance (L = 1)</a:t>
            </a:r>
            <a:endParaRPr lang="en-US" sz="1700" dirty="0"/>
          </a:p>
        </p:txBody>
      </p:sp>
      <p:sp>
        <p:nvSpPr>
          <p:cNvPr id="9" name="text-8"/>
          <p:cNvSpPr txBox="1"/>
          <p:nvPr/>
        </p:nvSpPr>
        <p:spPr>
          <a:xfrm>
            <a:off x="8046720" y="21031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0.70 – 0.99;  Δd = 0.01</a:t>
            </a:r>
          </a:p>
        </p:txBody>
      </p:sp>
      <p:sp>
        <p:nvSpPr>
          <p:cNvPr id="10" name="card-9"/>
          <p:cNvSpPr/>
          <p:nvPr/>
        </p:nvSpPr>
        <p:spPr>
          <a:xfrm>
            <a:off x="6949440" y="3063240"/>
            <a:ext cx="46634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badge-10"/>
          <p:cNvSpPr/>
          <p:nvPr/>
        </p:nvSpPr>
        <p:spPr>
          <a:xfrm>
            <a:off x="7178040" y="34290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badge-label-11"/>
          <p:cNvSpPr txBox="1"/>
          <p:nvPr/>
        </p:nvSpPr>
        <p:spPr>
          <a:xfrm>
            <a:off x="717804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φ₁</a:t>
            </a:r>
            <a:endParaRPr lang="en-US" sz="1800" dirty="0"/>
          </a:p>
        </p:txBody>
      </p:sp>
      <p:sp>
        <p:nvSpPr>
          <p:cNvPr id="13" name="text-12"/>
          <p:cNvSpPr txBox="1"/>
          <p:nvPr/>
        </p:nvSpPr>
        <p:spPr>
          <a:xfrm>
            <a:off x="8046720" y="32918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Clamp angle at s = 0</a:t>
            </a:r>
            <a:endParaRPr lang="en-US" sz="1700" dirty="0"/>
          </a:p>
        </p:txBody>
      </p:sp>
      <p:sp>
        <p:nvSpPr>
          <p:cNvPr id="14" name="text-13"/>
          <p:cNvSpPr txBox="1"/>
          <p:nvPr/>
        </p:nvSpPr>
        <p:spPr>
          <a:xfrm>
            <a:off x="8046720" y="37033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−π/2 to π/2;  Δφ = π/314 ≈ 0.01</a:t>
            </a:r>
          </a:p>
        </p:txBody>
      </p:sp>
      <p:sp>
        <p:nvSpPr>
          <p:cNvPr id="15" name="card-14"/>
          <p:cNvSpPr/>
          <p:nvPr/>
        </p:nvSpPr>
        <p:spPr>
          <a:xfrm>
            <a:off x="6949440" y="4663440"/>
            <a:ext cx="46634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badge-15"/>
          <p:cNvSpPr/>
          <p:nvPr/>
        </p:nvSpPr>
        <p:spPr>
          <a:xfrm>
            <a:off x="7178040" y="50292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badge-label-16"/>
          <p:cNvSpPr txBox="1"/>
          <p:nvPr/>
        </p:nvSpPr>
        <p:spPr>
          <a:xfrm>
            <a:off x="7178040" y="5029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φ₂</a:t>
            </a:r>
            <a:endParaRPr lang="en-US" sz="1800" dirty="0"/>
          </a:p>
        </p:txBody>
      </p:sp>
      <p:sp>
        <p:nvSpPr>
          <p:cNvPr id="18" name="text-17"/>
          <p:cNvSpPr txBox="1"/>
          <p:nvPr/>
        </p:nvSpPr>
        <p:spPr>
          <a:xfrm>
            <a:off x="8046720" y="4892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Clamp angle at s = L</a:t>
            </a:r>
            <a:endParaRPr lang="en-US" sz="1700" dirty="0"/>
          </a:p>
        </p:txBody>
      </p:sp>
      <p:sp>
        <p:nvSpPr>
          <p:cNvPr id="19" name="text-18"/>
          <p:cNvSpPr txBox="1"/>
          <p:nvPr/>
        </p:nvSpPr>
        <p:spPr>
          <a:xfrm>
            <a:off x="8046720" y="53035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Same range as φ₁; grid 30 × 315 × 315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Equilibria are stationary points of the bending energy</a:t>
            </a:r>
            <a:endParaRPr lang="en-US" sz="3000" dirty="0"/>
          </a:p>
        </p:txBody>
      </p:sp>
      <p:sp>
        <p:nvSpPr>
          <p:cNvPr id="3" name="card-19"/>
          <p:cNvSpPr/>
          <p:nvPr/>
        </p:nvSpPr>
        <p:spPr>
          <a:xfrm>
            <a:off x="548640" y="1417320"/>
            <a:ext cx="110642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-20"/>
          <p:cNvSpPr txBox="1"/>
          <p:nvPr/>
        </p:nvSpPr>
        <p:spPr>
          <a:xfrm>
            <a:off x="777240" y="1691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Bending energy</a:t>
            </a:r>
            <a:endParaRPr lang="en-US" sz="1800" dirty="0"/>
          </a:p>
        </p:txBody>
      </p:sp>
      <p:sp>
        <p:nvSpPr>
          <p:cNvPr id="5" name="text-21"/>
          <p:cNvSpPr txBox="1"/>
          <p:nvPr/>
        </p:nvSpPr>
        <p:spPr>
          <a:xfrm>
            <a:off x="777240" y="2057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Inextensible Euler–Bernoulli rod, EI = 1</a:t>
            </a:r>
            <a:endParaRPr lang="en-US" sz="11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latex-energy"/>
              <p:cNvSpPr txBox="1"/>
              <p:nvPr/>
            </p:nvSpPr>
            <p:spPr>
              <a:xfrm>
                <a:off x="3200400" y="1599286"/>
                <a:ext cx="8229600" cy="77906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sz="16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Π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nary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  <m:sSup>
                        <m:sSupPr>
                          <m:ctrlP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6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  <m:sup>
                          <m: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6" name="latex-energy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0" y="1599286"/>
                <a:ext cx="8229600" cy="77906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ard-23"/>
          <p:cNvSpPr/>
          <p:nvPr/>
        </p:nvSpPr>
        <p:spPr>
          <a:xfrm>
            <a:off x="548640" y="2743200"/>
            <a:ext cx="110642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-24"/>
          <p:cNvSpPr txBox="1"/>
          <p:nvPr/>
        </p:nvSpPr>
        <p:spPr>
          <a:xfrm>
            <a:off x="77724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Constraints</a:t>
            </a:r>
            <a:endParaRPr lang="en-US" sz="1800" dirty="0"/>
          </a:p>
        </p:txBody>
      </p:sp>
      <p:sp>
        <p:nvSpPr>
          <p:cNvPr id="9" name="text-25"/>
          <p:cNvSpPr txBox="1"/>
          <p:nvPr/>
        </p:nvSpPr>
        <p:spPr>
          <a:xfrm>
            <a:off x="777240" y="33832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End position fixed, both ends clamped</a:t>
            </a:r>
            <a:endParaRPr lang="en-US" sz="11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latex-constraints"/>
              <p:cNvSpPr txBox="1"/>
              <p:nvPr/>
            </p:nvSpPr>
            <p:spPr>
              <a:xfrm>
                <a:off x="3200400" y="2925166"/>
                <a:ext cx="8229600" cy="77906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r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nary>
                        <m:naryPr>
                          <m:limLoc m:val="subSup"/>
                          <m:ctrlPr>
                            <a:rPr lang="en-US" sz="160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func>
                            <m:func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nary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func>
                            <m:func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nary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=0, 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latex-constraint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0" y="2925166"/>
                <a:ext cx="8229600" cy="7790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ard-27"/>
          <p:cNvSpPr/>
          <p:nvPr/>
        </p:nvSpPr>
        <p:spPr>
          <a:xfrm>
            <a:off x="548640" y="4069080"/>
            <a:ext cx="110642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-28"/>
          <p:cNvSpPr txBox="1"/>
          <p:nvPr/>
        </p:nvSpPr>
        <p:spPr>
          <a:xfrm>
            <a:off x="777240" y="4343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Lagrangian</a:t>
            </a:r>
            <a:endParaRPr lang="en-US" sz="1800" dirty="0"/>
          </a:p>
        </p:txBody>
      </p:sp>
      <p:sp>
        <p:nvSpPr>
          <p:cNvPr id="13" name="text-29"/>
          <p:cNvSpPr txBox="1"/>
          <p:nvPr/>
        </p:nvSpPr>
        <p:spPr>
          <a:xfrm>
            <a:off x="777240" y="47091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f</a:t>
            </a:r>
            <a:r>
              <a:rPr lang="en-US" sz="1100" baseline="-40000" dirty="0">
                <a:solidFill>
                  <a:schemeClr val="accent5"/>
                </a:solidFill>
              </a:rPr>
              <a:t>x</a:t>
            </a:r>
            <a:r>
              <a:rPr lang="en-US" sz="1100" dirty="0">
                <a:solidFill>
                  <a:schemeClr val="accent5"/>
                </a:solidFill>
              </a:rPr>
              <a:t>, f</a:t>
            </a:r>
            <a:r>
              <a:rPr lang="en-US" sz="1100" baseline="-40000" dirty="0">
                <a:solidFill>
                  <a:schemeClr val="accent5"/>
                </a:solidFill>
              </a:rPr>
              <a:t>y</a:t>
            </a:r>
            <a:r>
              <a:rPr lang="en-US" sz="1100" dirty="0">
                <a:solidFill>
                  <a:schemeClr val="accent5"/>
                </a:solidFill>
              </a:rPr>
              <a:t> enforce the two end-position integrals</a:t>
            </a:r>
            <a:endParaRPr lang="en-US" sz="11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latex-lagrangian"/>
              <p:cNvSpPr txBox="1"/>
              <p:nvPr/>
            </p:nvSpPr>
            <p:spPr>
              <a:xfrm>
                <a:off x="3200400" y="4251046"/>
                <a:ext cx="8229600" cy="77906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6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nary>
                      <m:sSup>
                        <m:sSup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p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limLoc m:val="subSup"/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p>
                            <m:e>
                              <m:func>
                                <m:funcPr>
                                  <m:ctrl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</m:e>
                          </m:nary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 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𝑑𝑠</m:t>
                          </m:r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func>
                            <m:func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nary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4" name="latex-lagrangia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0" y="4251046"/>
                <a:ext cx="8229600" cy="77906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-31"/>
          <p:cNvSpPr txBox="1"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f</a:t>
            </a:r>
            <a:r>
              <a:rPr lang="en-US" sz="1500" baseline="-40000" dirty="0">
                <a:solidFill>
                  <a:schemeClr val="tx2"/>
                </a:solidFill>
              </a:rPr>
              <a:t>x</a:t>
            </a:r>
            <a:r>
              <a:rPr lang="en-US" sz="1500" dirty="0">
                <a:solidFill>
                  <a:schemeClr val="tx2"/>
                </a:solidFill>
              </a:rPr>
              <a:t> and f</a:t>
            </a:r>
            <a:r>
              <a:rPr lang="en-US" sz="1500" baseline="-40000" dirty="0">
                <a:solidFill>
                  <a:schemeClr val="tx2"/>
                </a:solidFill>
              </a:rPr>
              <a:t>y</a:t>
            </a:r>
            <a:r>
              <a:rPr lang="en-US" sz="1500" dirty="0">
                <a:solidFill>
                  <a:schemeClr val="tx2"/>
                </a:solidFill>
              </a:rPr>
              <a:t> are the Lagrange multipliers of the end-position constraints — physically, the reaction forces at the right clamp. The study maps every stable stationary point of ℒ the continuation reaches over the (d, φ₁, φ₂) box.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Stationarity gives the elastica equation and a mixed weak form</a:t>
            </a:r>
            <a:endParaRPr lang="en-US" sz="3000" dirty="0"/>
          </a:p>
        </p:txBody>
      </p:sp>
      <p:sp>
        <p:nvSpPr>
          <p:cNvPr id="3" name="card-32"/>
          <p:cNvSpPr/>
          <p:nvPr/>
        </p:nvSpPr>
        <p:spPr>
          <a:xfrm>
            <a:off x="548640" y="1417320"/>
            <a:ext cx="4206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-33"/>
          <p:cNvSpPr txBox="1"/>
          <p:nvPr/>
        </p:nvSpPr>
        <p:spPr>
          <a:xfrm>
            <a:off x="777240" y="15544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Euler–Lagrange equation</a:t>
            </a:r>
            <a:endParaRPr lang="en-US" sz="17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latex-strong"/>
              <p:cNvSpPr txBox="1"/>
              <p:nvPr/>
            </p:nvSpPr>
            <p:spPr>
              <a:xfrm>
                <a:off x="777240" y="2103120"/>
                <a:ext cx="379476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′′+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func>
                        <m:func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func>
                        <m:func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5" name="latex-strong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" y="2103120"/>
                <a:ext cx="3794760" cy="411480"/>
              </a:xfrm>
              <a:prstGeom prst="rect">
                <a:avLst/>
              </a:prstGeom>
              <a:blipFill>
                <a:blip r:embed="rId3"/>
                <a:stretch>
                  <a:fillRect l="-1929"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-35"/>
          <p:cNvSpPr txBox="1"/>
          <p:nvPr/>
        </p:nvSpPr>
        <p:spPr>
          <a:xfrm>
            <a:off x="777240" y="26060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θ(0) = φ₁,  θ(L) = φ₂</a:t>
            </a:r>
            <a:endParaRPr lang="en-US" sz="1500" dirty="0"/>
          </a:p>
        </p:txBody>
      </p:sp>
      <p:sp>
        <p:nvSpPr>
          <p:cNvPr id="7" name="card-36"/>
          <p:cNvSpPr/>
          <p:nvPr/>
        </p:nvSpPr>
        <p:spPr>
          <a:xfrm>
            <a:off x="5029200" y="1417320"/>
            <a:ext cx="6583680" cy="356616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-37"/>
          <p:cNvSpPr txBox="1"/>
          <p:nvPr/>
        </p:nvSpPr>
        <p:spPr>
          <a:xfrm>
            <a:off x="5257800" y="155448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Residuals assembled by FEniCSx (solver.py)</a:t>
            </a:r>
            <a:endParaRPr lang="en-US" sz="17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latex-w0"/>
              <p:cNvSpPr txBox="1"/>
              <p:nvPr/>
            </p:nvSpPr>
            <p:spPr>
              <a:xfrm>
                <a:off x="5257800" y="2057400"/>
                <a:ext cx="6172200" cy="75959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′−</m:t>
                              </m:r>
                              <m:sSub>
                                <m:sSub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func>
                                <m:funcPr>
                                  <m:ctrl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 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func>
                                <m:funcPr>
                                  <m:ctrl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 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</m:nary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=0 ∀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9" name="latex-w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800" y="2057400"/>
                <a:ext cx="6172200" cy="75959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latex-w1"/>
              <p:cNvSpPr txBox="1"/>
              <p:nvPr/>
            </p:nvSpPr>
            <p:spPr>
              <a:xfrm>
                <a:off x="5257800" y="2926080"/>
                <a:ext cx="6172200" cy="75959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</m:d>
                        </m:e>
                      </m:nary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latex-w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800" y="2926080"/>
                <a:ext cx="6172200" cy="75959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latex-w2"/>
              <p:cNvSpPr txBox="1"/>
              <p:nvPr/>
            </p:nvSpPr>
            <p:spPr>
              <a:xfrm>
                <a:off x="5257800" y="3794760"/>
                <a:ext cx="6172200" cy="75959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func>
                            <m:func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nary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1" name="latex-w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800" y="3794760"/>
                <a:ext cx="6172200" cy="75959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badge-41"/>
          <p:cNvSpPr/>
          <p:nvPr/>
        </p:nvSpPr>
        <p:spPr>
          <a:xfrm>
            <a:off x="548640" y="34290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badge-label-42"/>
          <p:cNvSpPr txBox="1"/>
          <p:nvPr/>
        </p:nvSpPr>
        <p:spPr>
          <a:xfrm>
            <a:off x="54864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4" name="text-43"/>
          <p:cNvSpPr txBox="1"/>
          <p:nvPr/>
        </p:nvSpPr>
        <p:spPr>
          <a:xfrm>
            <a:off x="1097280" y="340156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θ ∈ P1 Lagrange on 200 elements, graded towards both clamps</a:t>
            </a:r>
          </a:p>
        </p:txBody>
      </p:sp>
      <p:sp>
        <p:nvSpPr>
          <p:cNvPr id="15" name="badge-44"/>
          <p:cNvSpPr/>
          <p:nvPr/>
        </p:nvSpPr>
        <p:spPr>
          <a:xfrm>
            <a:off x="548640" y="39593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badge-label-45"/>
          <p:cNvSpPr txBox="1"/>
          <p:nvPr/>
        </p:nvSpPr>
        <p:spPr>
          <a:xfrm>
            <a:off x="548640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7" name="text-46"/>
          <p:cNvSpPr txBox="1"/>
          <p:nvPr/>
        </p:nvSpPr>
        <p:spPr>
          <a:xfrm>
            <a:off x="1097280" y="3931920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f</a:t>
            </a:r>
            <a:r>
              <a:rPr lang="en-US" sz="1400" baseline="-40000" dirty="0">
                <a:solidFill>
                  <a:schemeClr val="tx1"/>
                </a:solidFill>
              </a:rPr>
              <a:t>x</a:t>
            </a:r>
            <a:r>
              <a:rPr lang="en-US" sz="1400" dirty="0">
                <a:solidFill>
                  <a:schemeClr val="tx1"/>
                </a:solidFill>
              </a:rPr>
              <a:t>, f</a:t>
            </a:r>
            <a:r>
              <a:rPr lang="en-US" sz="1400" baseline="-40000" dirty="0">
                <a:solidFill>
                  <a:schemeClr val="tx1"/>
                </a:solidFill>
              </a:rPr>
              <a:t>y</a:t>
            </a:r>
            <a:r>
              <a:rPr lang="en-US" sz="1400" dirty="0">
                <a:solidFill>
                  <a:schemeClr val="tx1"/>
                </a:solidFill>
              </a:rPr>
              <a:t> ∈ “Real” space: one global DOF each</a:t>
            </a:r>
            <a:endParaRPr lang="en-US" sz="1400" dirty="0"/>
          </a:p>
        </p:txBody>
      </p:sp>
      <p:sp>
        <p:nvSpPr>
          <p:cNvPr id="18" name="badge-47"/>
          <p:cNvSpPr/>
          <p:nvPr/>
        </p:nvSpPr>
        <p:spPr>
          <a:xfrm>
            <a:off x="548640" y="448970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badge-label-48"/>
          <p:cNvSpPr txBox="1"/>
          <p:nvPr/>
        </p:nvSpPr>
        <p:spPr>
          <a:xfrm>
            <a:off x="548640" y="4489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-49"/>
          <p:cNvSpPr txBox="1"/>
          <p:nvPr/>
        </p:nvSpPr>
        <p:spPr>
          <a:xfrm>
            <a:off x="1097280" y="4462272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Clamp angles imposed as Dirichlet BCs on θ</a:t>
            </a:r>
            <a:endParaRPr lang="en-US" sz="1400" dirty="0"/>
          </a:p>
        </p:txBody>
      </p:sp>
      <p:sp>
        <p:nvSpPr>
          <p:cNvPr id="21" name="card-50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-51"/>
          <p:cNvSpPr txBox="1"/>
          <p:nvPr/>
        </p:nvSpPr>
        <p:spPr>
          <a:xfrm>
            <a:off x="777240" y="54406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Post-processed per point</a:t>
            </a:r>
            <a:endParaRPr lang="en-US" sz="17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1" name="latex-outputs"/>
              <p:cNvSpPr txBox="1"/>
              <p:nvPr/>
            </p:nvSpPr>
            <p:spPr>
              <a:xfrm>
                <a:off x="3657600" y="5230368"/>
                <a:ext cx="3986030" cy="56692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(0), 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),  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sSup>
                            <m:s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p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nary>
                      <m:sSup>
                        <m:sSup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​</m:t>
                          </m:r>
                        </m:e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01" name="latex-output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0" y="5230368"/>
                <a:ext cx="3986030" cy="56692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402" name="caption-402"/>
          <p:cNvSpPr txBox="1"/>
          <p:nvPr/>
        </p:nvSpPr>
        <p:spPr>
          <a:xfrm>
            <a:off x="3657600" y="581558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Moments: end-element slope plus a half-element Taylor correction (second order)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chemeClr val="tx1"/>
                </a:solidFill>
              </a:rPr>
              <a:t>Each parameter point is one Newton solve on 203 unknowns</a:t>
            </a:r>
          </a:p>
        </p:txBody>
      </p:sp>
      <p:sp>
        <p:nvSpPr>
          <p:cNvPr id="3" name="card-53"/>
          <p:cNvSpPr/>
          <p:nvPr/>
        </p:nvSpPr>
        <p:spPr>
          <a:xfrm>
            <a:off x="548640" y="1417320"/>
            <a:ext cx="11064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latex-newton"/>
              <p:cNvSpPr txBox="1"/>
              <p:nvPr/>
            </p:nvSpPr>
            <p:spPr>
              <a:xfrm>
                <a:off x="822960" y="1508760"/>
                <a:ext cx="5440680" cy="8229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sz="16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600" b="1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1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p>
                              <m:r>
                                <a:rPr lang="en-US" sz="1600" b="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  <m:r>
                        <a:rPr lang="en-US" sz="16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b="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sz="1600" b="1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𝐮</m:t>
                      </m:r>
                      <m:r>
                        <a:rPr lang="en-US" sz="16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sz="1600" b="1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𝐅</m:t>
                      </m:r>
                      <m:d>
                        <m:dPr>
                          <m:ctrlPr>
                            <a:rPr lang="en-US" sz="16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600" b="1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1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p>
                              <m:r>
                                <a:rPr lang="en-US" sz="1600" b="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  <m:r>
                        <a:rPr lang="en-US" sz="16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,  </m:t>
                      </m:r>
                      <m:sSup>
                        <m:sSupPr>
                          <m:ctrlPr>
                            <a:rPr lang="en-US" sz="16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𝐮</m:t>
                          </m:r>
                        </m:e>
                        <m:sup>
                          <m:r>
                            <a:rPr lang="en-US" sz="16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600" b="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en-US" sz="16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𝐮</m:t>
                          </m:r>
                        </m:e>
                        <m:sup>
                          <m:r>
                            <a:rPr lang="en-US" sz="16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sz="16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16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6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b="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sz="1600" b="1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𝐮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" name="latex-newt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1508760"/>
                <a:ext cx="5440680" cy="8229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-55"/>
          <p:cNvSpPr txBox="1"/>
          <p:nvPr/>
        </p:nvSpPr>
        <p:spPr>
          <a:xfrm>
            <a:off x="6400800" y="18059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6">
                    <a:lumMod val="75000"/>
                  </a:schemeClr>
                </a:solidFill>
              </a:rPr>
              <a:t>u = (θ₀ … θ₂₀₀, f</a:t>
            </a:r>
            <a:r>
              <a:rPr lang="en-US" sz="1500" baseline="-40000" dirty="0">
                <a:solidFill>
                  <a:schemeClr val="accent6">
                    <a:lumMod val="75000"/>
                  </a:schemeClr>
                </a:solidFill>
              </a:rPr>
              <a:t>x</a:t>
            </a:r>
            <a:r>
              <a:rPr lang="en-US" sz="1500" dirty="0">
                <a:solidFill>
                  <a:schemeClr val="accent6">
                    <a:lumMod val="75000"/>
                  </a:schemeClr>
                </a:solidFill>
              </a:rPr>
              <a:t>, f</a:t>
            </a:r>
            <a:r>
              <a:rPr lang="en-US" sz="1500" baseline="-40000" dirty="0">
                <a:solidFill>
                  <a:schemeClr val="accent6">
                    <a:lumMod val="75000"/>
                  </a:schemeClr>
                </a:solidFill>
              </a:rPr>
              <a:t>y</a:t>
            </a:r>
            <a:r>
              <a:rPr lang="en-US" sz="1500" dirty="0">
                <a:solidFill>
                  <a:schemeClr val="accent6">
                    <a:lumMod val="75000"/>
                  </a:schemeClr>
                </a:solidFill>
              </a:rPr>
              <a:t>);  (0 &lt; α</a:t>
            </a:r>
            <a:r>
              <a:rPr lang="en-US" sz="1500" baseline="-40000" dirty="0">
                <a:solidFill>
                  <a:schemeClr val="accent6">
                    <a:lumMod val="75000"/>
                  </a:schemeClr>
                </a:solidFill>
              </a:rPr>
              <a:t>k</a:t>
            </a:r>
            <a:r>
              <a:rPr lang="en-US" sz="1500" dirty="0">
                <a:solidFill>
                  <a:schemeClr val="accent6">
                    <a:lumMod val="75000"/>
                  </a:schemeClr>
                </a:solidFill>
              </a:rPr>
              <a:t> &lt; 1) from cubic backtracking line search</a:t>
            </a:r>
          </a:p>
        </p:txBody>
      </p:sp>
      <p:sp>
        <p:nvSpPr>
          <p:cNvPr id="6" name="card-56"/>
          <p:cNvSpPr/>
          <p:nvPr/>
        </p:nvSpPr>
        <p:spPr>
          <a:xfrm>
            <a:off x="548640" y="2697480"/>
            <a:ext cx="256032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-57"/>
          <p:cNvSpPr txBox="1"/>
          <p:nvPr/>
        </p:nvSpPr>
        <p:spPr>
          <a:xfrm>
            <a:off x="777240" y="28346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203</a:t>
            </a:r>
          </a:p>
        </p:txBody>
      </p:sp>
      <p:sp>
        <p:nvSpPr>
          <p:cNvPr id="8" name="text-58"/>
          <p:cNvSpPr txBox="1"/>
          <p:nvPr/>
        </p:nvSpPr>
        <p:spPr>
          <a:xfrm>
            <a:off x="777240" y="3611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unknowns per point</a:t>
            </a:r>
            <a:endParaRPr lang="en-US" sz="1500" dirty="0"/>
          </a:p>
        </p:txBody>
      </p:sp>
      <p:sp>
        <p:nvSpPr>
          <p:cNvPr id="9" name="text-59"/>
          <p:cNvSpPr txBox="1"/>
          <p:nvPr/>
        </p:nvSpPr>
        <p:spPr>
          <a:xfrm>
            <a:off x="777240" y="39776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201 nodal angles + 2 multipliers</a:t>
            </a:r>
          </a:p>
        </p:txBody>
      </p:sp>
      <p:sp>
        <p:nvSpPr>
          <p:cNvPr id="10" name="card-60"/>
          <p:cNvSpPr/>
          <p:nvPr/>
        </p:nvSpPr>
        <p:spPr>
          <a:xfrm>
            <a:off x="3383280" y="2697480"/>
            <a:ext cx="256032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-61"/>
          <p:cNvSpPr txBox="1"/>
          <p:nvPr/>
        </p:nvSpPr>
        <p:spPr>
          <a:xfrm>
            <a:off x="3611880" y="28346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</a:t>
            </a:r>
            <a:endParaRPr lang="en-US" sz="3600" dirty="0"/>
          </a:p>
        </p:txBody>
      </p:sp>
      <p:sp>
        <p:nvSpPr>
          <p:cNvPr id="12" name="text-62"/>
          <p:cNvSpPr txBox="1"/>
          <p:nvPr/>
        </p:nvSpPr>
        <p:spPr>
          <a:xfrm>
            <a:off x="3611880" y="3611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MUMPS direct solve</a:t>
            </a:r>
            <a:endParaRPr lang="en-US" sz="1500" dirty="0"/>
          </a:p>
        </p:txBody>
      </p:sp>
      <p:sp>
        <p:nvSpPr>
          <p:cNvPr id="13" name="text-63"/>
          <p:cNvSpPr txBox="1"/>
          <p:nvPr/>
        </p:nvSpPr>
        <p:spPr>
          <a:xfrm>
            <a:off x="3611880" y="39776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KSP preonly: exact linear steps</a:t>
            </a:r>
            <a:endParaRPr lang="en-US" sz="1200" dirty="0"/>
          </a:p>
        </p:txBody>
      </p:sp>
      <p:sp>
        <p:nvSpPr>
          <p:cNvPr id="14" name="card-64"/>
          <p:cNvSpPr/>
          <p:nvPr/>
        </p:nvSpPr>
        <p:spPr>
          <a:xfrm>
            <a:off x="6217920" y="2697480"/>
            <a:ext cx="256032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-65"/>
          <p:cNvSpPr txBox="1"/>
          <p:nvPr/>
        </p:nvSpPr>
        <p:spPr>
          <a:xfrm>
            <a:off x="6446520" y="28346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10⁻¹⁰</a:t>
            </a:r>
            <a:endParaRPr lang="en-US" sz="3600" dirty="0"/>
          </a:p>
        </p:txBody>
      </p:sp>
      <p:sp>
        <p:nvSpPr>
          <p:cNvPr id="16" name="text-66"/>
          <p:cNvSpPr txBox="1"/>
          <p:nvPr/>
        </p:nvSpPr>
        <p:spPr>
          <a:xfrm>
            <a:off x="6446520" y="3611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relative tolerance</a:t>
            </a:r>
            <a:endParaRPr lang="en-US" sz="1500" dirty="0"/>
          </a:p>
        </p:txBody>
      </p:sp>
      <p:sp>
        <p:nvSpPr>
          <p:cNvPr id="17" name="text-67"/>
          <p:cNvSpPr txBox="1"/>
          <p:nvPr/>
        </p:nvSpPr>
        <p:spPr>
          <a:xfrm>
            <a:off x="6446520" y="39776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absolute 10⁻¹²</a:t>
            </a:r>
            <a:endParaRPr lang="en-US" sz="1200" dirty="0"/>
          </a:p>
        </p:txBody>
      </p:sp>
      <p:sp>
        <p:nvSpPr>
          <p:cNvPr id="18" name="card-68"/>
          <p:cNvSpPr/>
          <p:nvPr/>
        </p:nvSpPr>
        <p:spPr>
          <a:xfrm>
            <a:off x="9052560" y="2697480"/>
            <a:ext cx="256032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-69"/>
          <p:cNvSpPr txBox="1"/>
          <p:nvPr/>
        </p:nvSpPr>
        <p:spPr>
          <a:xfrm>
            <a:off x="9281160" y="28346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</a:p>
        </p:txBody>
      </p:sp>
      <p:sp>
        <p:nvSpPr>
          <p:cNvPr id="20" name="text-70"/>
          <p:cNvSpPr txBox="1"/>
          <p:nvPr/>
        </p:nvSpPr>
        <p:spPr>
          <a:xfrm>
            <a:off x="9281160" y="3611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max Newton its</a:t>
            </a:r>
          </a:p>
        </p:txBody>
      </p:sp>
      <p:sp>
        <p:nvSpPr>
          <p:cNvPr id="21" name="text-71"/>
          <p:cNvSpPr txBox="1"/>
          <p:nvPr/>
        </p:nvSpPr>
        <p:spPr>
          <a:xfrm>
            <a:off x="9281160" y="39776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indent="0">
              <a:buNone/>
              <a:defRPr sz="1200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per warm start; more counts as a failure</a:t>
            </a:r>
          </a:p>
        </p:txBody>
      </p:sp>
      <p:sp>
        <p:nvSpPr>
          <p:cNvPr id="22" name="text-72"/>
          <p:cNvSpPr txBox="1"/>
          <p:nvPr/>
        </p:nvSpPr>
        <p:spPr>
          <a:xfrm>
            <a:off x="548640" y="489204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At a fold of the solution branch, the Jacobian becomes singular, so the snap surface is exactly where the Newton solver fails, and where the continuation logic has to take over.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The snap surface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22960" y="3657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accent1"/>
                </a:solidFill>
              </a:rPr>
              <a:t>Where the equilibrium jumps from one branch to another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Two equilibria 0.01 rad apart: the rod has snapped</a:t>
            </a:r>
            <a:endParaRPr lang="en-US" sz="3000" dirty="0"/>
          </a:p>
        </p:txBody>
      </p:sp>
      <p:pic>
        <p:nvPicPr>
          <p:cNvPr id="3" name="figure-84" descr="Two rod shapes at d = 0.90, phi2 = 0, either side of the sna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762507"/>
            <a:ext cx="6035040" cy="3072733"/>
          </a:xfrm>
          <a:prstGeom prst="rect">
            <a:avLst/>
          </a:prstGeom>
        </p:spPr>
      </p:pic>
      <p:sp>
        <p:nvSpPr>
          <p:cNvPr id="4" name="text-85"/>
          <p:cNvSpPr txBox="1"/>
          <p:nvPr/>
        </p:nvSpPr>
        <p:spPr>
          <a:xfrm>
            <a:off x="548640" y="539496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d = 0.90, φ₂ = 0, production run. Converged solutions on either side of the jump.</a:t>
            </a:r>
          </a:p>
        </p:txBody>
      </p:sp>
      <p:sp>
        <p:nvSpPr>
          <p:cNvPr id="5" name="text-86"/>
          <p:cNvSpPr txBox="1"/>
          <p:nvPr/>
        </p:nvSpPr>
        <p:spPr>
          <a:xfrm>
            <a:off x="6766560" y="14630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Why Newton struggles here</a:t>
            </a:r>
            <a:endParaRPr lang="en-US" sz="1900" dirty="0"/>
          </a:p>
        </p:txBody>
      </p:sp>
      <p:sp>
        <p:nvSpPr>
          <p:cNvPr id="6" name="badge-87"/>
          <p:cNvSpPr/>
          <p:nvPr/>
        </p:nvSpPr>
        <p:spPr>
          <a:xfrm>
            <a:off x="6766560" y="21488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badge-label-88"/>
          <p:cNvSpPr txBox="1"/>
          <p:nvPr/>
        </p:nvSpPr>
        <p:spPr>
          <a:xfrm>
            <a:off x="676656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step-89"/>
          <p:cNvSpPr txBox="1"/>
          <p:nvPr/>
        </p:nvSpPr>
        <p:spPr>
          <a:xfrm>
            <a:off x="7315200" y="2121408"/>
            <a:ext cx="4297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Fold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The branch ends; the Jacobian goes singular and Newton steps blow up.</a:t>
            </a:r>
            <a:endParaRPr lang="en-US" sz="1500" dirty="0"/>
          </a:p>
        </p:txBody>
      </p:sp>
      <p:sp>
        <p:nvSpPr>
          <p:cNvPr id="9" name="badge-90"/>
          <p:cNvSpPr/>
          <p:nvPr/>
        </p:nvSpPr>
        <p:spPr>
          <a:xfrm>
            <a:off x="6766560" y="33832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badge-label-91"/>
          <p:cNvSpPr txBox="1"/>
          <p:nvPr/>
        </p:nvSpPr>
        <p:spPr>
          <a:xfrm>
            <a:off x="6766560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step-92"/>
          <p:cNvSpPr txBox="1"/>
          <p:nvPr/>
        </p:nvSpPr>
        <p:spPr>
          <a:xfrm>
            <a:off x="7315200" y="3355848"/>
            <a:ext cx="4297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Silent branch switch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 warm start from one side converges, but to the other branch.</a:t>
            </a:r>
            <a:endParaRPr lang="en-US" sz="1500" dirty="0"/>
          </a:p>
        </p:txBody>
      </p:sp>
      <p:sp>
        <p:nvSpPr>
          <p:cNvPr id="12" name="badge-93"/>
          <p:cNvSpPr/>
          <p:nvPr/>
        </p:nvSpPr>
        <p:spPr>
          <a:xfrm>
            <a:off x="6766560" y="46177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badge-label-94"/>
          <p:cNvSpPr txBox="1"/>
          <p:nvPr/>
        </p:nvSpPr>
        <p:spPr>
          <a:xfrm>
            <a:off x="6766560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step-95"/>
          <p:cNvSpPr txBox="1"/>
          <p:nvPr/>
        </p:nvSpPr>
        <p:spPr>
          <a:xfrm>
            <a:off x="7315200" y="4590288"/>
            <a:ext cx="4297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Residual can't tell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Both sides meet 10⁻¹⁰, so convergence alone says nothing about which branch you are on.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Buckling-mode proj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Bent up or bent down: the first buckling mode decides</a:t>
            </a:r>
            <a:endParaRPr lang="en-US" sz="3000" dirty="0"/>
          </a:p>
        </p:txBody>
      </p:sp>
      <p:pic>
        <p:nvPicPr>
          <p:cNvPr id="401" name="figure-401" descr="Bent-up, bent-down and S-shaped rods at d = 0.90 with their projection p, and the first mo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941694"/>
            <a:ext cx="5669280" cy="3660411"/>
          </a:xfrm>
          <a:prstGeom prst="rect">
            <a:avLst/>
          </a:prstGeom>
        </p:spPr>
      </p:pic>
      <p:sp>
        <p:nvSpPr>
          <p:cNvPr id="402" name="card-402"/>
          <p:cNvSpPr/>
          <p:nvPr/>
        </p:nvSpPr>
        <p:spPr>
          <a:xfrm>
            <a:off x="6355080" y="1417320"/>
            <a:ext cx="5257800" cy="16002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3" name="latex-p"/>
              <p:cNvSpPr txBox="1"/>
              <p:nvPr/>
            </p:nvSpPr>
            <p:spPr>
              <a:xfrm>
                <a:off x="6583680" y="1525524"/>
                <a:ext cx="2002536" cy="68884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‖</m:t>
                          </m:r>
                          <m:sSub>
                            <m:sSubPr>
                              <m:ctrlPr>
                                <a:rPr lang="en-US" sz="18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‖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nary>
                      <m:r>
                        <a:rPr lang="en-US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sSub>
                        <m:sSubPr>
                          <m:ctrlP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</m:oMath>
                  </m:oMathPara>
                </a14:m>
                <a:endParaRPr lang="en-US" sz="1800" dirty="0"/>
              </a:p>
            </p:txBody>
          </p:sp>
        </mc:Choice>
        <mc:Fallback xmlns="">
          <p:sp>
            <p:nvSpPr>
              <p:cNvPr id="403" name="latex-p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0" y="1525524"/>
                <a:ext cx="2002536" cy="68884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 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4" name="latex-yw"/>
              <p:cNvSpPr txBox="1"/>
              <p:nvPr/>
            </p:nvSpPr>
            <p:spPr>
              <a:xfrm>
                <a:off x="6583680" y="2321052"/>
                <a:ext cx="3520440" cy="52425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limLoc m:val="subSup"/>
                          <m:ctrlP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e>
                      </m:nary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𝑑𝑡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,  </m:t>
                      </m:r>
                      <m:sSub>
                        <m:sSubPr>
                          <m:ctrlP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)=1−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cos</m:t>
                      </m:r>
                      <m:f>
                        <m:fPr>
                          <m:ctrlP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num>
                        <m:den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</m:oMath>
                  </m:oMathPara>
                </a14:m>
                <a:endParaRPr lang="en-US" sz="1500" dirty="0"/>
              </a:p>
            </p:txBody>
          </p:sp>
        </mc:Choice>
        <mc:Fallback xmlns="">
          <p:sp>
            <p:nvSpPr>
              <p:cNvPr id="404" name="latex-yw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0" y="2321052"/>
                <a:ext cx="3520440" cy="52425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405" name="badge-405"/>
          <p:cNvSpPr/>
          <p:nvPr/>
        </p:nvSpPr>
        <p:spPr>
          <a:xfrm>
            <a:off x="6355080" y="331927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406" name="step-406"/>
          <p:cNvSpPr txBox="1"/>
          <p:nvPr/>
        </p:nvSpPr>
        <p:spPr>
          <a:xfrm>
            <a:off x="6903720" y="329184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First clamped buckling mode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w₁ is the symmetric hump; the second mode is antisymmetric and carries no up/down information.</a:t>
            </a:r>
            <a:endParaRPr lang="en-US" sz="1300" dirty="0"/>
          </a:p>
        </p:txBody>
      </p:sp>
      <p:sp>
        <p:nvSpPr>
          <p:cNvPr id="407" name="badge-407"/>
          <p:cNvSpPr/>
          <p:nvPr/>
        </p:nvSpPr>
        <p:spPr>
          <a:xfrm>
            <a:off x="6355080" y="427939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408" name="step-408"/>
          <p:cNvSpPr txBox="1"/>
          <p:nvPr/>
        </p:nvSpPr>
        <p:spPr>
          <a:xfrm>
            <a:off x="6903720" y="425196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Sign = branch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p &gt; 0: bent up.  p &lt; 0: bent down.  The S-shape has p ≈ 0.</a:t>
            </a:r>
            <a:endParaRPr lang="en-US" sz="1300" dirty="0"/>
          </a:p>
        </p:txBody>
      </p:sp>
      <p:sp>
        <p:nvSpPr>
          <p:cNvPr id="409" name="badge-409"/>
          <p:cNvSpPr/>
          <p:nvPr/>
        </p:nvSpPr>
        <p:spPr>
          <a:xfrm>
            <a:off x="6355080" y="52395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410" name="step-410"/>
          <p:cNvSpPr txBox="1"/>
          <p:nvPr/>
        </p:nvSpPr>
        <p:spPr>
          <a:xfrm>
            <a:off x="6903720" y="521208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Built-in symmetry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p is unchanged by the mirror (φ₁, φ₂) → (−φ₂, −φ₁) and flips under (φ₁, φ₂) → (−φ₁, −φ₂).</a:t>
            </a:r>
            <a:endParaRPr lang="en-US" sz="1300" dirty="0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Jump ru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A snap is a sign change of p with a jump</a:t>
            </a:r>
            <a:endParaRPr lang="en-US" sz="3000" dirty="0"/>
          </a:p>
        </p:txBody>
      </p:sp>
      <p:pic>
        <p:nvPicPr>
          <p:cNvPr id="401" name="figure-401" descr="Energy and q along phi1 at d = 0.90, phi2 = 0; q jumps from -1.03 to +0.52 at the sna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502786"/>
            <a:ext cx="5669280" cy="4538228"/>
          </a:xfrm>
          <a:prstGeom prst="rect">
            <a:avLst/>
          </a:prstGeom>
        </p:spPr>
      </p:pic>
      <p:sp>
        <p:nvSpPr>
          <p:cNvPr id="402" name="card-402"/>
          <p:cNvSpPr/>
          <p:nvPr/>
        </p:nvSpPr>
        <p:spPr>
          <a:xfrm>
            <a:off x="6355080" y="1417320"/>
            <a:ext cx="5257800" cy="16002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3" name="latex-q"/>
              <p:cNvSpPr txBox="1"/>
              <p:nvPr/>
            </p:nvSpPr>
            <p:spPr>
              <a:xfrm>
                <a:off x="6583680" y="1543812"/>
                <a:ext cx="853440" cy="51511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US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num>
                        <m:den>
                          <m: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sz="1800" dirty="0"/>
              </a:p>
            </p:txBody>
          </p:sp>
        </mc:Choice>
        <mc:Fallback xmlns="">
          <p:sp>
            <p:nvSpPr>
              <p:cNvPr id="403" name="latex-q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0" y="1543812"/>
                <a:ext cx="853440" cy="51511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 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4" name="latex-jump"/>
              <p:cNvSpPr txBox="1"/>
              <p:nvPr/>
            </p:nvSpPr>
            <p:spPr>
              <a:xfrm>
                <a:off x="6583680" y="2302764"/>
                <a:ext cx="3453384" cy="42367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|&gt;0.17 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and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 |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|&gt;</m:t>
                      </m:r>
                      <m:f>
                        <m:fPr>
                          <m:ctrlP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(|</m:t>
                      </m:r>
                      <m:sSub>
                        <m:sSubPr>
                          <m:ctrlP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|,|</m:t>
                      </m:r>
                      <m:sSub>
                        <m:sSubPr>
                          <m:ctrlP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|)</m:t>
                      </m:r>
                    </m:oMath>
                  </m:oMathPara>
                </a14:m>
                <a:endParaRPr lang="en-US" sz="1500" dirty="0"/>
              </a:p>
            </p:txBody>
          </p:sp>
        </mc:Choice>
        <mc:Fallback xmlns="">
          <p:sp>
            <p:nvSpPr>
              <p:cNvPr id="404" name="latex-jump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0" y="2302764"/>
                <a:ext cx="3453384" cy="42367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405" name="badge-405"/>
          <p:cNvSpPr/>
          <p:nvPr/>
        </p:nvSpPr>
        <p:spPr>
          <a:xfrm>
            <a:off x="6355080" y="331927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406" name="step-406"/>
          <p:cNvSpPr txBox="1"/>
          <p:nvPr/>
        </p:nvSpPr>
        <p:spPr>
          <a:xfrm>
            <a:off x="6903720" y="329184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Scale out d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p shrinks like √(1 − d); a(d) is |p| of the exact first mode at (d, 0, 0), so q = ±1 there at every d.</a:t>
            </a:r>
            <a:endParaRPr lang="en-US" sz="1300" dirty="0"/>
          </a:p>
        </p:txBody>
      </p:sp>
      <p:sp>
        <p:nvSpPr>
          <p:cNvPr id="407" name="badge-407"/>
          <p:cNvSpPr/>
          <p:nvPr/>
        </p:nvSpPr>
        <p:spPr>
          <a:xfrm>
            <a:off x="6355080" y="427939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408" name="step-408"/>
          <p:cNvSpPr txBox="1"/>
          <p:nvPr/>
        </p:nvSpPr>
        <p:spPr>
          <a:xfrm>
            <a:off x="6903720" y="425196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Snap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Sign change with a jump: q goes −1.03 → +0.52 in one 0.01 step. Smooth neighbours differ by about 0.003.</a:t>
            </a:r>
            <a:endParaRPr lang="en-US" sz="1300" dirty="0"/>
          </a:p>
        </p:txBody>
      </p:sp>
      <p:sp>
        <p:nvSpPr>
          <p:cNvPr id="409" name="badge-409"/>
          <p:cNvSpPr/>
          <p:nvPr/>
        </p:nvSpPr>
        <p:spPr>
          <a:xfrm>
            <a:off x="6355080" y="52395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410" name="step-410"/>
          <p:cNvSpPr txBox="1"/>
          <p:nvPr/>
        </p:nvSpPr>
        <p:spPr>
          <a:xfrm>
            <a:off x="6903720" y="521208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Smooth crossing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Sign change without a jump, through the S-shape near φ₁ = φ₂. Not a snap.</a:t>
            </a:r>
            <a:endParaRPr lang="en-US" sz="1300" dirty="0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Smooth fields, then a jump across an L-shaped surface</a:t>
            </a:r>
            <a:endParaRPr lang="en-US" sz="3000" dirty="0"/>
          </a:p>
        </p:txBody>
      </p:sp>
      <p:pic>
        <p:nvPicPr>
          <p:cNvPr id="3" name="figure-73" descr="Bending energy and axial force on the d = 0.90 lay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90270"/>
            <a:ext cx="8412480" cy="3633559"/>
          </a:xfrm>
          <a:prstGeom prst="rect">
            <a:avLst/>
          </a:prstGeom>
        </p:spPr>
      </p:pic>
      <p:sp>
        <p:nvSpPr>
          <p:cNvPr id="4" name="text-74"/>
          <p:cNvSpPr txBox="1"/>
          <p:nvPr/>
        </p:nvSpPr>
        <p:spPr>
          <a:xfrm>
            <a:off x="548640" y="5166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Production run, d = 0.90 layer: φ₁, φ₂ ∈ [−π/2, π/2], Δφ ≈ 0.01, 99,225 points.</a:t>
            </a:r>
          </a:p>
        </p:txBody>
      </p:sp>
      <p:sp>
        <p:nvSpPr>
          <p:cNvPr id="5" name="card-75"/>
          <p:cNvSpPr/>
          <p:nvPr/>
        </p:nvSpPr>
        <p:spPr>
          <a:xfrm>
            <a:off x="9098280" y="1463040"/>
            <a:ext cx="251460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-76"/>
          <p:cNvSpPr txBox="1"/>
          <p:nvPr/>
        </p:nvSpPr>
        <p:spPr>
          <a:xfrm>
            <a:off x="9281160" y="16002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Smooth interior</a:t>
            </a:r>
            <a:endParaRPr lang="en-US" sz="1500" dirty="0"/>
          </a:p>
        </p:txBody>
      </p:sp>
      <p:sp>
        <p:nvSpPr>
          <p:cNvPr id="7" name="text-77"/>
          <p:cNvSpPr txBox="1"/>
          <p:nvPr/>
        </p:nvSpPr>
        <p:spPr>
          <a:xfrm>
            <a:off x="9281160" y="19202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Grid neighbours differ by |Δq| ≈ 0.003</a:t>
            </a:r>
          </a:p>
        </p:txBody>
      </p:sp>
      <p:sp>
        <p:nvSpPr>
          <p:cNvPr id="8" name="card-78"/>
          <p:cNvSpPr/>
          <p:nvPr/>
        </p:nvSpPr>
        <p:spPr>
          <a:xfrm>
            <a:off x="9098280" y="2788920"/>
            <a:ext cx="251460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-79"/>
          <p:cNvSpPr txBox="1"/>
          <p:nvPr/>
        </p:nvSpPr>
        <p:spPr>
          <a:xfrm>
            <a:off x="9281160" y="2926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Sharp edge</a:t>
            </a:r>
            <a:endParaRPr lang="en-US" sz="1500" dirty="0"/>
          </a:p>
        </p:txBody>
      </p:sp>
      <p:sp>
        <p:nvSpPr>
          <p:cNvPr id="10" name="text-80"/>
          <p:cNvSpPr txBox="1"/>
          <p:nvPr/>
        </p:nvSpPr>
        <p:spPr>
          <a:xfrm>
            <a:off x="9281160" y="32461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Jump at φ₁ ≈ −0.57 and, by symmetry, φ₂ ≈ +0.57</a:t>
            </a:r>
            <a:endParaRPr lang="en-US" sz="1300" dirty="0"/>
          </a:p>
        </p:txBody>
      </p:sp>
      <p:sp>
        <p:nvSpPr>
          <p:cNvPr id="11" name="card-81"/>
          <p:cNvSpPr/>
          <p:nvPr/>
        </p:nvSpPr>
        <p:spPr>
          <a:xfrm>
            <a:off x="9098280" y="4114800"/>
            <a:ext cx="251460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-82"/>
          <p:cNvSpPr txBox="1"/>
          <p:nvPr/>
        </p:nvSpPr>
        <p:spPr>
          <a:xfrm>
            <a:off x="9281160" y="4251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Large jump</a:t>
            </a:r>
            <a:endParaRPr lang="en-US" sz="1500" dirty="0"/>
          </a:p>
        </p:txBody>
      </p:sp>
      <p:sp>
        <p:nvSpPr>
          <p:cNvPr id="13" name="text-83"/>
          <p:cNvSpPr txBox="1"/>
          <p:nvPr/>
        </p:nvSpPr>
        <p:spPr>
          <a:xfrm>
            <a:off x="9281160" y="45720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U 2.27 → 6.11 and f</a:t>
            </a:r>
            <a:r>
              <a:rPr lang="en-US" sz="1300" baseline="-25000" dirty="0">
                <a:solidFill>
                  <a:schemeClr val="tx1"/>
                </a:solidFill>
              </a:rPr>
              <a:t>x</a:t>
            </a:r>
            <a:r>
              <a:rPr lang="en-US" sz="1300" dirty="0">
                <a:solidFill>
                  <a:schemeClr val="tx1"/>
                </a:solidFill>
              </a:rPr>
              <a:t> 28 → 59 in a single 0.01 step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chemeClr val="tx1"/>
                </a:solidFill>
              </a:rPr>
              <a:t>The sign of p traces the snap surface</a:t>
            </a:r>
          </a:p>
        </p:txBody>
      </p:sp>
      <p:pic>
        <p:nvPicPr>
          <p:cNvPr id="3" name="figure-101" descr="q on the d = 0.90 layer with snap and smooth-crossing edg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35714"/>
            <a:ext cx="5120640" cy="4169453"/>
          </a:xfrm>
          <a:prstGeom prst="rect">
            <a:avLst/>
          </a:prstGeom>
        </p:spPr>
      </p:pic>
      <p:pic>
        <p:nvPicPr>
          <p:cNvPr id="4" name="figure-102" descr="Snap curves on seven d layers from 0.70 to 0.9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6448" y="1325880"/>
            <a:ext cx="4512224" cy="4389120"/>
          </a:xfrm>
          <a:prstGeom prst="rect">
            <a:avLst/>
          </a:prstGeom>
        </p:spPr>
      </p:pic>
      <p:sp>
        <p:nvSpPr>
          <p:cNvPr id="5" name="text-103"/>
          <p:cNvSpPr txBox="1"/>
          <p:nvPr/>
        </p:nvSpPr>
        <p:spPr>
          <a:xfrm>
            <a:off x="548640" y="57607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Red: snap edges, where p changes sign with a jump. Black: smooth crossings through the S-shape.</a:t>
            </a:r>
          </a:p>
        </p:txBody>
      </p:sp>
      <p:sp>
        <p:nvSpPr>
          <p:cNvPr id="6" name="text-104"/>
          <p:cNvSpPr txBox="1"/>
          <p:nvPr/>
        </p:nvSpPr>
        <p:spPr>
          <a:xfrm>
            <a:off x="6492240" y="57607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As d → 1 the L closes in: at φ₂ = 0 the snap sits at φ₁ ≈ −0.98 (d = 0.70), −0.57 (0.90) and −0.18 (0.99).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nap surface 3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The snap surface in 3D</a:t>
            </a:r>
            <a:endParaRPr lang="en-US" sz="3000" dirty="0"/>
          </a:p>
        </p:txBody>
      </p:sp>
      <p:pic>
        <p:nvPicPr>
          <p:cNvPr id="401" name="figure-401" descr="Snap surface over (phi1, phi2, d), coloured by 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115" y="1280160"/>
            <a:ext cx="4812609" cy="4297680"/>
          </a:xfrm>
          <a:prstGeom prst="rect">
            <a:avLst/>
          </a:prstGeom>
        </p:spPr>
      </p:pic>
      <p:pic>
        <p:nvPicPr>
          <p:cNvPr id="402" name="figure-402" descr="Snap surface seen down the d axis, coloured by 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910" y="1280160"/>
            <a:ext cx="4646141" cy="4297680"/>
          </a:xfrm>
          <a:prstGeom prst="rect">
            <a:avLst/>
          </a:prstGeom>
        </p:spPr>
      </p:pic>
      <p:sp>
        <p:nvSpPr>
          <p:cNvPr id="403" name="caption-403"/>
          <p:cNvSpPr txBox="1"/>
          <p:nvPr/>
        </p:nvSpPr>
        <p:spPr>
          <a:xfrm>
            <a:off x="548640" y="56692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Oblique view, d stretched ×8. The p = 0 contour of the 17.2 M-tetrahedron grid, kept where p jumps: 29,756 snap edges, area 2.62.</a:t>
            </a:r>
            <a:endParaRPr lang="en-US" sz="1100" dirty="0"/>
          </a:p>
        </p:txBody>
      </p:sp>
      <p:sp>
        <p:nvSpPr>
          <p:cNvPr id="404" name="caption-404"/>
          <p:cNvSpPr txBox="1"/>
          <p:nvPr/>
        </p:nvSpPr>
        <p:spPr>
          <a:xfrm>
            <a:off x="6355080" y="5669280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Down the d axis: every layer is the L-shape, and the sheet closes in on the origin as d → 1. Colour: d.</a:t>
            </a:r>
            <a:endParaRPr lang="en-US" sz="1100" dirty="0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xial force ste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The sheet rises from the step in axial force</a:t>
            </a:r>
            <a:endParaRPr lang="en-US" sz="3000" dirty="0"/>
          </a:p>
        </p:txBody>
      </p:sp>
      <p:pic>
        <p:nvPicPr>
          <p:cNvPr id="401" name="figure-401" descr="The d = 0.90 layer coloured by fx with the snap sheet above i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990" y="1280160"/>
            <a:ext cx="5514019" cy="4572000"/>
          </a:xfrm>
          <a:prstGeom prst="rect">
            <a:avLst/>
          </a:prstGeom>
        </p:spPr>
      </p:pic>
      <p:sp>
        <p:nvSpPr>
          <p:cNvPr id="402" name="caption-402"/>
          <p:cNvSpPr txBox="1"/>
          <p:nvPr/>
        </p:nvSpPr>
        <p:spPr>
          <a:xfrm>
            <a:off x="548640" y="589788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Layer d = 0.90 coloured by f</a:t>
            </a:r>
            <a:r>
              <a:rPr lang="en-US" sz="1100" baseline="-25000" dirty="0">
                <a:solidFill>
                  <a:schemeClr val="accent5"/>
                </a:solidFill>
              </a:rPr>
              <a:t>x</a:t>
            </a:r>
            <a:r>
              <a:rPr lang="en-US" sz="1100" dirty="0">
                <a:solidFill>
                  <a:schemeClr val="accent5"/>
                </a:solidFill>
              </a:rPr>
              <a:t> (clipped at ±80); the snap sheet above it is translucent.</a:t>
            </a:r>
            <a:endParaRPr lang="en-US" sz="1100" dirty="0"/>
          </a:p>
        </p:txBody>
      </p:sp>
      <p:sp>
        <p:nvSpPr>
          <p:cNvPr id="403" name="text-403"/>
          <p:cNvSpPr txBox="1"/>
          <p:nvPr/>
        </p:nvSpPr>
        <p:spPr>
          <a:xfrm>
            <a:off x="6766560" y="13716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Across the snap at φ₂ = 0, f</a:t>
            </a:r>
            <a:r>
              <a:rPr lang="en-US" sz="1400" baseline="-25000" dirty="0">
                <a:solidFill>
                  <a:schemeClr val="tx1"/>
                </a:solidFill>
              </a:rPr>
              <a:t>x</a:t>
            </a:r>
            <a:r>
              <a:rPr lang="en-US" sz="1400" dirty="0">
                <a:solidFill>
                  <a:schemeClr val="tx1"/>
                </a:solidFill>
              </a:rPr>
              <a:t> roughly doubles at every d:</a:t>
            </a:r>
            <a:endParaRPr lang="en-US" sz="1400" dirty="0"/>
          </a:p>
        </p:txBody>
      </p:sp>
      <p:sp>
        <p:nvSpPr>
          <p:cNvPr id="404" name="card-404"/>
          <p:cNvSpPr/>
          <p:nvPr/>
        </p:nvSpPr>
        <p:spPr>
          <a:xfrm>
            <a:off x="6766560" y="1874520"/>
            <a:ext cx="4846320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5" name="big-405"/>
          <p:cNvSpPr txBox="1"/>
          <p:nvPr/>
        </p:nvSpPr>
        <p:spPr>
          <a:xfrm>
            <a:off x="6995160" y="18745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2400" b="1" dirty="0">
                <a:solidFill>
                  <a:schemeClr val="accent1"/>
                </a:solidFill>
              </a:rPr>
              <a:t>30.1 → 61.5</a:t>
            </a:r>
            <a:endParaRPr lang="en-US" sz="2400" dirty="0"/>
          </a:p>
        </p:txBody>
      </p:sp>
      <p:sp>
        <p:nvSpPr>
          <p:cNvPr id="406" name="where-406"/>
          <p:cNvSpPr txBox="1"/>
          <p:nvPr/>
        </p:nvSpPr>
        <p:spPr>
          <a:xfrm>
            <a:off x="9418320" y="18745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d = 0.80, jump at φ₁ ≈ −0.80</a:t>
            </a:r>
            <a:endParaRPr lang="en-US" sz="1150" dirty="0"/>
          </a:p>
        </p:txBody>
      </p:sp>
      <p:sp>
        <p:nvSpPr>
          <p:cNvPr id="407" name="card-407"/>
          <p:cNvSpPr/>
          <p:nvPr/>
        </p:nvSpPr>
        <p:spPr>
          <a:xfrm>
            <a:off x="6766560" y="2971800"/>
            <a:ext cx="4846320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8" name="big-408"/>
          <p:cNvSpPr txBox="1"/>
          <p:nvPr/>
        </p:nvSpPr>
        <p:spPr>
          <a:xfrm>
            <a:off x="6995160" y="29718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2400" b="1" dirty="0">
                <a:solidFill>
                  <a:schemeClr val="accent1"/>
                </a:solidFill>
              </a:rPr>
              <a:t>28.3 → 58.7</a:t>
            </a:r>
            <a:endParaRPr lang="en-US" sz="2400" dirty="0"/>
          </a:p>
        </p:txBody>
      </p:sp>
      <p:sp>
        <p:nvSpPr>
          <p:cNvPr id="409" name="where-409"/>
          <p:cNvSpPr txBox="1"/>
          <p:nvPr/>
        </p:nvSpPr>
        <p:spPr>
          <a:xfrm>
            <a:off x="9418320" y="2971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d = 0.90, jump at φ₁ ≈ −0.57</a:t>
            </a:r>
            <a:endParaRPr lang="en-US" sz="1150" dirty="0"/>
          </a:p>
        </p:txBody>
      </p:sp>
      <p:sp>
        <p:nvSpPr>
          <p:cNvPr id="410" name="card-410"/>
          <p:cNvSpPr/>
          <p:nvPr/>
        </p:nvSpPr>
        <p:spPr>
          <a:xfrm>
            <a:off x="6766560" y="4069080"/>
            <a:ext cx="4846320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1" name="big-411"/>
          <p:cNvSpPr txBox="1"/>
          <p:nvPr/>
        </p:nvSpPr>
        <p:spPr>
          <a:xfrm>
            <a:off x="6995160" y="40690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2400" b="1" dirty="0">
                <a:solidFill>
                  <a:schemeClr val="accent1"/>
                </a:solidFill>
              </a:rPr>
              <a:t>27.4 → 55.4</a:t>
            </a:r>
            <a:endParaRPr lang="en-US" sz="2400" dirty="0"/>
          </a:p>
        </p:txBody>
      </p:sp>
      <p:sp>
        <p:nvSpPr>
          <p:cNvPr id="412" name="where-412"/>
          <p:cNvSpPr txBox="1"/>
          <p:nvPr/>
        </p:nvSpPr>
        <p:spPr>
          <a:xfrm>
            <a:off x="9418320" y="40690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d = 0.97, jump at φ₁ ≈ −0.31</a:t>
            </a:r>
            <a:endParaRPr lang="en-US" sz="1150" dirty="0"/>
          </a:p>
        </p:txBody>
      </p:sp>
      <p:sp>
        <p:nvSpPr>
          <p:cNvPr id="413" name="text-413"/>
          <p:cNvSpPr txBox="1"/>
          <p:nvPr/>
        </p:nvSpPr>
        <p:spPr>
          <a:xfrm>
            <a:off x="6766560" y="52120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The surface is built from the shape alone, through the sign of p, yet it lands exactly on the step the forces see.</a:t>
            </a:r>
            <a:endParaRPr lang="en-US" sz="1300" dirty="0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000" dirty="0">
                <a:solidFill>
                  <a:schemeClr val="bg1"/>
                </a:solidFill>
              </a:rPr>
              <a:t>Continuation strategy</a:t>
            </a:r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22960" y="3657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accent1"/>
                </a:solidFill>
              </a:rPr>
              <a:t>How the solver walks the parameter space and guards against branch switches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chemeClr val="tx1"/>
                </a:solidFill>
              </a:rPr>
              <a:t>Traverse the grid; reject jumps and unstable results</a:t>
            </a:r>
          </a:p>
        </p:txBody>
      </p:sp>
      <p:sp>
        <p:nvSpPr>
          <p:cNvPr id="3" name="flow-box-105"/>
          <p:cNvSpPr/>
          <p:nvPr/>
        </p:nvSpPr>
        <p:spPr>
          <a:xfrm>
            <a:off x="548640" y="1508760"/>
            <a:ext cx="19659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-106"/>
          <p:cNvSpPr txBox="1"/>
          <p:nvPr/>
        </p:nvSpPr>
        <p:spPr>
          <a:xfrm>
            <a:off x="685800" y="160020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Cold-start once at φ₁ = φ₂ = 0, smallest d; visit nodes by grid distance from it</a:t>
            </a:r>
            <a:endParaRPr lang="en-US" sz="1400" dirty="0"/>
          </a:p>
        </p:txBody>
      </p:sp>
      <p:sp>
        <p:nvSpPr>
          <p:cNvPr id="5" name="flow-arrow-107"/>
          <p:cNvSpPr/>
          <p:nvPr/>
        </p:nvSpPr>
        <p:spPr>
          <a:xfrm>
            <a:off x="2542032" y="2171700"/>
            <a:ext cx="256032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6" name="flow-box-108"/>
          <p:cNvSpPr/>
          <p:nvPr/>
        </p:nvSpPr>
        <p:spPr>
          <a:xfrm>
            <a:off x="2825496" y="1508760"/>
            <a:ext cx="19659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-109"/>
          <p:cNvSpPr txBox="1"/>
          <p:nvPr/>
        </p:nvSpPr>
        <p:spPr>
          <a:xfrm>
            <a:off x="2962656" y="160020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Warm-start θ, f</a:t>
            </a:r>
            <a:r>
              <a:rPr lang="en-US" sz="1400" baseline="-40000" dirty="0">
                <a:solidFill>
                  <a:schemeClr val="tx1"/>
                </a:solidFill>
              </a:rPr>
              <a:t>x</a:t>
            </a:r>
            <a:r>
              <a:rPr lang="en-US" sz="1400" dirty="0">
                <a:solidFill>
                  <a:schemeClr val="tx1"/>
                </a:solidFill>
              </a:rPr>
              <a:t>, f</a:t>
            </a:r>
            <a:r>
              <a:rPr lang="en-US" sz="1400" baseline="-40000" dirty="0">
                <a:solidFill>
                  <a:schemeClr val="tx1"/>
                </a:solidFill>
              </a:rPr>
              <a:t>y</a:t>
            </a:r>
            <a:r>
              <a:rPr lang="en-US" sz="1400" dirty="0">
                <a:solidFill>
                  <a:schemeClr val="tx1"/>
                </a:solidFill>
              </a:rPr>
              <a:t> from a solved grid neighbour, nearest first</a:t>
            </a:r>
            <a:endParaRPr lang="en-US" sz="1400" dirty="0"/>
          </a:p>
        </p:txBody>
      </p:sp>
      <p:sp>
        <p:nvSpPr>
          <p:cNvPr id="8" name="flow-arrow-110"/>
          <p:cNvSpPr/>
          <p:nvPr/>
        </p:nvSpPr>
        <p:spPr>
          <a:xfrm>
            <a:off x="4818888" y="2171700"/>
            <a:ext cx="256032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9" name="flow-box-111"/>
          <p:cNvSpPr/>
          <p:nvPr/>
        </p:nvSpPr>
        <p:spPr>
          <a:xfrm>
            <a:off x="5102352" y="1508760"/>
            <a:ext cx="19659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-112"/>
          <p:cNvSpPr txBox="1"/>
          <p:nvPr/>
        </p:nvSpPr>
        <p:spPr>
          <a:xfrm>
            <a:off x="5239512" y="160020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Newton solve (SNES, at most 50 iterations)</a:t>
            </a:r>
            <a:endParaRPr lang="en-US" sz="1400" dirty="0"/>
          </a:p>
        </p:txBody>
      </p:sp>
      <p:sp>
        <p:nvSpPr>
          <p:cNvPr id="11" name="flow-arrow-113"/>
          <p:cNvSpPr/>
          <p:nvPr/>
        </p:nvSpPr>
        <p:spPr>
          <a:xfrm>
            <a:off x="7095744" y="2171700"/>
            <a:ext cx="256032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2" name="flow-box-114"/>
          <p:cNvSpPr/>
          <p:nvPr/>
        </p:nvSpPr>
        <p:spPr>
          <a:xfrm>
            <a:off x="7379208" y="1508760"/>
            <a:ext cx="1965960" cy="1325880"/>
          </a:xfrm>
          <a:prstGeom prst="roundRect">
            <a:avLst>
              <a:gd name="adj" fmla="val 5517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-115"/>
          <p:cNvSpPr txBox="1"/>
          <p:nvPr/>
        </p:nvSpPr>
        <p:spPr>
          <a:xfrm>
            <a:off x="7516368" y="160020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</a:rPr>
              <a:t>No jump in q, and stable?</a:t>
            </a:r>
          </a:p>
        </p:txBody>
      </p:sp>
      <p:sp>
        <p:nvSpPr>
          <p:cNvPr id="14" name="flow-arrow-116"/>
          <p:cNvSpPr/>
          <p:nvPr/>
        </p:nvSpPr>
        <p:spPr>
          <a:xfrm>
            <a:off x="9372600" y="2171700"/>
            <a:ext cx="256032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5" name="flow-box-117"/>
          <p:cNvSpPr/>
          <p:nvPr/>
        </p:nvSpPr>
        <p:spPr>
          <a:xfrm>
            <a:off x="9656064" y="1508760"/>
            <a:ext cx="19659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-118"/>
          <p:cNvSpPr txBox="1"/>
          <p:nvPr/>
        </p:nvSpPr>
        <p:spPr>
          <a:xfrm>
            <a:off x="9793224" y="160020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Accept, store, and write the mirror point</a:t>
            </a:r>
            <a:endParaRPr lang="en-US" sz="1400" dirty="0"/>
          </a:p>
        </p:txBody>
      </p:sp>
      <p:sp>
        <p:nvSpPr>
          <p:cNvPr id="17" name="text-119"/>
          <p:cNvSpPr txBox="1"/>
          <p:nvPr/>
        </p:nvSpPr>
        <p:spPr>
          <a:xfrm>
            <a:off x="9345168" y="180594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accent2"/>
                </a:solidFill>
              </a:rPr>
              <a:t>yes</a:t>
            </a:r>
            <a:endParaRPr lang="en-US" sz="1200" dirty="0"/>
          </a:p>
        </p:txBody>
      </p:sp>
      <p:sp>
        <p:nvSpPr>
          <p:cNvPr id="18" name="flow-arrow-120"/>
          <p:cNvSpPr/>
          <p:nvPr/>
        </p:nvSpPr>
        <p:spPr>
          <a:xfrm>
            <a:off x="8362188" y="2862072"/>
            <a:ext cx="0" cy="548640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-121"/>
          <p:cNvSpPr txBox="1"/>
          <p:nvPr/>
        </p:nvSpPr>
        <p:spPr>
          <a:xfrm>
            <a:off x="8453628" y="29443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no</a:t>
            </a:r>
            <a:endParaRPr lang="en-US" sz="1200" dirty="0"/>
          </a:p>
        </p:txBody>
      </p:sp>
      <p:sp>
        <p:nvSpPr>
          <p:cNvPr id="20" name="flow-box-122"/>
          <p:cNvSpPr/>
          <p:nvPr/>
        </p:nvSpPr>
        <p:spPr>
          <a:xfrm>
            <a:off x="5618988" y="3429000"/>
            <a:ext cx="420624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-123"/>
          <p:cNvSpPr txBox="1"/>
          <p:nvPr/>
        </p:nvSpPr>
        <p:spPr>
          <a:xfrm>
            <a:off x="5756148" y="347472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Rejected or diverged: try the next neighbour. After 3 failures from one branch, wait for the other; a waiting node retries whenever a neighbour is solved.</a:t>
            </a:r>
          </a:p>
        </p:txBody>
      </p:sp>
      <p:sp>
        <p:nvSpPr>
          <p:cNvPr id="22" name="card-124"/>
          <p:cNvSpPr/>
          <p:nvPr/>
        </p:nvSpPr>
        <p:spPr>
          <a:xfrm>
            <a:off x="548640" y="4663440"/>
            <a:ext cx="3493008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-125"/>
          <p:cNvSpPr txBox="1"/>
          <p:nvPr/>
        </p:nvSpPr>
        <p:spPr>
          <a:xfrm>
            <a:off x="731520" y="47731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Grid</a:t>
            </a:r>
            <a:endParaRPr lang="en-US" sz="1500" dirty="0"/>
          </a:p>
        </p:txBody>
      </p:sp>
      <p:sp>
        <p:nvSpPr>
          <p:cNvPr id="24" name="text-126"/>
          <p:cNvSpPr txBox="1"/>
          <p:nvPr/>
        </p:nvSpPr>
        <p:spPr>
          <a:xfrm>
            <a:off x="731520" y="512064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Rectilinear (d, φ₁, φ₂) grid split into 6 tetrahedra per cell; warm starts come from the 26 grid neighbours</a:t>
            </a:r>
            <a:endParaRPr lang="en-US" sz="1300" dirty="0"/>
          </a:p>
        </p:txBody>
      </p:sp>
      <p:sp>
        <p:nvSpPr>
          <p:cNvPr id="25" name="card-127"/>
          <p:cNvSpPr/>
          <p:nvPr/>
        </p:nvSpPr>
        <p:spPr>
          <a:xfrm>
            <a:off x="4334256" y="4663440"/>
            <a:ext cx="3493008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-128"/>
          <p:cNvSpPr txBox="1"/>
          <p:nvPr/>
        </p:nvSpPr>
        <p:spPr>
          <a:xfrm>
            <a:off x="4517136" y="47731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Restartable</a:t>
            </a:r>
            <a:endParaRPr lang="en-US" sz="1500" dirty="0"/>
          </a:p>
        </p:txBody>
      </p:sp>
      <p:sp>
        <p:nvSpPr>
          <p:cNvPr id="27" name="text-129"/>
          <p:cNvSpPr txBox="1"/>
          <p:nvPr/>
        </p:nvSpPr>
        <p:spPr>
          <a:xfrm>
            <a:off x="4517136" y="512064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Live NPZ checkpoints, also on Ctrl-C; a resume reloads every stored θ as a warm-start source</a:t>
            </a:r>
          </a:p>
        </p:txBody>
      </p:sp>
      <p:sp>
        <p:nvSpPr>
          <p:cNvPr id="28" name="card-130"/>
          <p:cNvSpPr/>
          <p:nvPr/>
        </p:nvSpPr>
        <p:spPr>
          <a:xfrm>
            <a:off x="8119872" y="4663440"/>
            <a:ext cx="3493008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-131"/>
          <p:cNvSpPr txBox="1"/>
          <p:nvPr/>
        </p:nvSpPr>
        <p:spPr>
          <a:xfrm>
            <a:off x="8302752" y="47731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Half domain</a:t>
            </a:r>
            <a:endParaRPr lang="en-US" sz="1500" dirty="0"/>
          </a:p>
        </p:txBody>
      </p:sp>
      <p:sp>
        <p:nvSpPr>
          <p:cNvPr id="30" name="text-132"/>
          <p:cNvSpPr txBox="1"/>
          <p:nvPr/>
        </p:nvSpPr>
        <p:spPr>
          <a:xfrm>
            <a:off x="8302752" y="512064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Only φ₁ + φ₂ ≥ 0 is solved; a precomputed mirror index fills the other half</a:t>
            </a:r>
            <a:endParaRPr lang="en-US" sz="13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fer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Going around a fold: defer, never jump</a:t>
            </a:r>
            <a:endParaRPr lang="en-US" sz="3000" dirty="0"/>
          </a:p>
        </p:txBody>
      </p:sp>
      <p:pic>
        <p:nvPicPr>
          <p:cNvPr id="401" name="figure-401" descr="Order in which the d = 0.99 layer was solved, with the deferred nodes highlight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280622"/>
            <a:ext cx="5486400" cy="4525356"/>
          </a:xfrm>
          <a:prstGeom prst="rect">
            <a:avLst/>
          </a:prstGeom>
        </p:spPr>
      </p:pic>
      <p:sp>
        <p:nvSpPr>
          <p:cNvPr id="402" name="caption-402"/>
          <p:cNvSpPr txBox="1"/>
          <p:nvPr/>
        </p:nvSpPr>
        <p:spPr>
          <a:xfrm>
            <a:off x="548640" y="58521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d = 0.99 layer: the front grows outward; orange nodes had to wait for a neighbour on the other branch.</a:t>
            </a:r>
            <a:endParaRPr lang="en-US" sz="1100" dirty="0"/>
          </a:p>
        </p:txBody>
      </p:sp>
      <p:sp>
        <p:nvSpPr>
          <p:cNvPr id="403" name="badge-403"/>
          <p:cNvSpPr/>
          <p:nvPr/>
        </p:nvSpPr>
        <p:spPr>
          <a:xfrm>
            <a:off x="6263640" y="14447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404" name="step-404"/>
          <p:cNvSpPr txBox="1"/>
          <p:nvPr/>
        </p:nvSpPr>
        <p:spPr>
          <a:xfrm>
            <a:off x="6812280" y="1417320"/>
            <a:ext cx="48006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Defer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A node with no acceptable warm start is set aside, not forced; it is retried each time a new neighbour is solved.</a:t>
            </a:r>
            <a:endParaRPr lang="en-US" sz="1300" dirty="0"/>
          </a:p>
        </p:txBody>
      </p:sp>
      <p:sp>
        <p:nvSpPr>
          <p:cNvPr id="405" name="badge-405"/>
          <p:cNvSpPr/>
          <p:nvPr/>
        </p:nvSpPr>
        <p:spPr>
          <a:xfrm>
            <a:off x="6263640" y="2468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406" name="step-406"/>
          <p:cNvSpPr txBox="1"/>
          <p:nvPr/>
        </p:nvSpPr>
        <p:spPr>
          <a:xfrm>
            <a:off x="6812280" y="2441448"/>
            <a:ext cx="48006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Wait for the other branch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After 3 failures from neighbours on one branch it only tries the other, so a node past a fold waits for the far side.</a:t>
            </a:r>
            <a:endParaRPr lang="en-US" sz="1300" dirty="0"/>
          </a:p>
        </p:txBody>
      </p:sp>
      <p:sp>
        <p:nvSpPr>
          <p:cNvPr id="407" name="badge-407"/>
          <p:cNvSpPr/>
          <p:nvPr/>
        </p:nvSpPr>
        <p:spPr>
          <a:xfrm>
            <a:off x="6263640" y="349300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408" name="step-408"/>
          <p:cNvSpPr txBox="1"/>
          <p:nvPr/>
        </p:nvSpPr>
        <p:spPr>
          <a:xfrm>
            <a:off x="6812280" y="3465576"/>
            <a:ext cx="48006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The long way round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The front reaches the cut-off region through the smooth crossings and approaches it from the far side.</a:t>
            </a:r>
            <a:endParaRPr lang="en-US" sz="1300" dirty="0"/>
          </a:p>
        </p:txBody>
      </p:sp>
      <p:sp>
        <p:nvSpPr>
          <p:cNvPr id="409" name="badge-409"/>
          <p:cNvSpPr/>
          <p:nvPr/>
        </p:nvSpPr>
        <p:spPr>
          <a:xfrm>
            <a:off x="6263640" y="451713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410" name="step-410"/>
          <p:cNvSpPr txBox="1"/>
          <p:nvPr/>
        </p:nvSpPr>
        <p:spPr>
          <a:xfrm>
            <a:off x="6812280" y="4489704"/>
            <a:ext cx="48006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Last resort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Only if the whole front stalls is the nearest waiting node cold-started.</a:t>
            </a:r>
            <a:endParaRPr lang="en-US" sz="1300" dirty="0"/>
          </a:p>
        </p:txBody>
      </p:sp>
      <p:sp>
        <p:nvSpPr>
          <p:cNvPr id="411" name="caption-411"/>
          <p:cNvSpPr txBox="1"/>
          <p:nvPr/>
        </p:nvSpPr>
        <p:spPr>
          <a:xfrm>
            <a:off x="6263640" y="562356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Production run: 1,155 nodes waited (all at d ≥ 0.97); one extra cold start, at (0.99, 0.20, 0.20).</a:t>
            </a:r>
            <a:endParaRPr lang="en-US" sz="1150" dirty="0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tability te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A stability test catches what the jump test misses</a:t>
            </a:r>
            <a:endParaRPr lang="en-US" sz="3000" dirty="0"/>
          </a:p>
        </p:txBody>
      </p:sp>
      <p:sp>
        <p:nvSpPr>
          <p:cNvPr id="401" name="card-401"/>
          <p:cNvSpPr/>
          <p:nvPr/>
        </p:nvSpPr>
        <p:spPr>
          <a:xfrm>
            <a:off x="548640" y="1417320"/>
            <a:ext cx="5760720" cy="283464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2" name="card-head-402"/>
          <p:cNvSpPr txBox="1"/>
          <p:nvPr/>
        </p:nvSpPr>
        <p:spPr>
          <a:xfrm>
            <a:off x="777240" y="153619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Constrained second variation</a:t>
            </a:r>
            <a:endParaRPr lang="en-US" sz="15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3" name="latex-Q"/>
              <p:cNvSpPr txBox="1"/>
              <p:nvPr/>
            </p:nvSpPr>
            <p:spPr>
              <a:xfrm>
                <a:off x="777240" y="1944624"/>
                <a:ext cx="3526536" cy="59131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]=</m:t>
                      </m:r>
                      <m:nary>
                        <m:naryPr>
                          <m:limLoc m:val="subSup"/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sSup>
                            <m:s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p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nary>
                      <m:sSup>
                        <m:sSup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​</m:t>
                          </m:r>
                        </m:e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−(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cos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sin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 </m:t>
                      </m:r>
                      <m:sSup>
                        <m:sSup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03" name="latex-Q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" y="1944624"/>
                <a:ext cx="3526536" cy="5913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 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4" name="latex-Qc"/>
              <p:cNvSpPr txBox="1"/>
              <p:nvPr/>
            </p:nvSpPr>
            <p:spPr>
              <a:xfrm>
                <a:off x="777240" y="2641092"/>
                <a:ext cx="3855720" cy="52425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(0)=</m:t>
                      </m:r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)=0, </m:t>
                      </m:r>
                      <m:nary>
                        <m:naryPr>
                          <m:limLoc m:val="subSup"/>
                          <m:ctrlPr>
                            <a:rPr lang="en-US" sz="1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en-US" sz="1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cos</m:t>
                      </m:r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en-US" sz="1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en-US" sz="1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sin</m:t>
                      </m:r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404" name="latex-Qc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" y="2641092"/>
                <a:ext cx="3855720" cy="52425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 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5" name="latex-inertia"/>
              <p:cNvSpPr txBox="1"/>
              <p:nvPr/>
            </p:nvSpPr>
            <p:spPr>
              <a:xfrm>
                <a:off x="777240" y="3438144"/>
                <a:ext cx="2837688" cy="2560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b>
                      </m:sSub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neg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)+</m:t>
                      </m:r>
                      <m:r>
                        <m:rPr>
                          <m:sty m:val="p"/>
                        </m:rP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pos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15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)−2</m:t>
                      </m:r>
                    </m:oMath>
                  </m:oMathPara>
                </a14:m>
                <a:endParaRPr lang="en-US" sz="1500" dirty="0"/>
              </a:p>
            </p:txBody>
          </p:sp>
        </mc:Choice>
        <mc:Fallback xmlns="">
          <p:sp>
            <p:nvSpPr>
              <p:cNvPr id="405" name="latex-inertia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" y="3438144"/>
                <a:ext cx="2837688" cy="2560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406" name="caption-406"/>
          <p:cNvSpPr txBox="1"/>
          <p:nvPr/>
        </p:nvSpPr>
        <p:spPr>
          <a:xfrm>
            <a:off x="777240" y="38404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Stable when n₋ = 0: no direction lowers the energy.</a:t>
            </a:r>
            <a:endParaRPr lang="en-US" sz="1150" dirty="0"/>
          </a:p>
        </p:txBody>
      </p:sp>
      <p:sp>
        <p:nvSpPr>
          <p:cNvPr id="407" name="card-407"/>
          <p:cNvSpPr/>
          <p:nvPr/>
        </p:nvSpPr>
        <p:spPr>
          <a:xfrm>
            <a:off x="548640" y="4480560"/>
            <a:ext cx="2834640" cy="169164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8" name="tile-big-408"/>
          <p:cNvSpPr txBox="1"/>
          <p:nvPr/>
        </p:nvSpPr>
        <p:spPr>
          <a:xfrm>
            <a:off x="749808" y="4590288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17</a:t>
            </a:r>
            <a:endParaRPr lang="en-US" sz="3000" dirty="0"/>
          </a:p>
        </p:txBody>
      </p:sp>
      <p:sp>
        <p:nvSpPr>
          <p:cNvPr id="409" name="tile-label-409"/>
          <p:cNvSpPr txBox="1"/>
          <p:nvPr/>
        </p:nvSpPr>
        <p:spPr>
          <a:xfrm>
            <a:off x="749808" y="5303520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unstable results rejected</a:t>
            </a:r>
            <a:endParaRPr lang="en-US" sz="1400" dirty="0"/>
          </a:p>
        </p:txBody>
      </p:sp>
      <p:sp>
        <p:nvSpPr>
          <p:cNvPr id="410" name="tile-sub-410"/>
          <p:cNvSpPr txBox="1"/>
          <p:nvPr/>
        </p:nvSpPr>
        <p:spPr>
          <a:xfrm>
            <a:off x="749808" y="5650992"/>
            <a:ext cx="243230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during the production run</a:t>
            </a:r>
            <a:endParaRPr lang="en-US" sz="1150" dirty="0"/>
          </a:p>
        </p:txBody>
      </p:sp>
      <p:sp>
        <p:nvSpPr>
          <p:cNvPr id="411" name="card-411"/>
          <p:cNvSpPr/>
          <p:nvPr/>
        </p:nvSpPr>
        <p:spPr>
          <a:xfrm>
            <a:off x="3474720" y="4480560"/>
            <a:ext cx="2834640" cy="169164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2" name="tile-big-412"/>
          <p:cNvSpPr txBox="1"/>
          <p:nvPr/>
        </p:nvSpPr>
        <p:spPr>
          <a:xfrm>
            <a:off x="3675888" y="4590288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0</a:t>
            </a:r>
            <a:endParaRPr lang="en-US" sz="3000" dirty="0"/>
          </a:p>
        </p:txBody>
      </p:sp>
      <p:sp>
        <p:nvSpPr>
          <p:cNvPr id="413" name="tile-label-413"/>
          <p:cNvSpPr txBox="1"/>
          <p:nvPr/>
        </p:nvSpPr>
        <p:spPr>
          <a:xfrm>
            <a:off x="3675888" y="5303520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unstable in the final map</a:t>
            </a:r>
            <a:endParaRPr lang="en-US" sz="1400" dirty="0"/>
          </a:p>
        </p:txBody>
      </p:sp>
      <p:sp>
        <p:nvSpPr>
          <p:cNvPr id="414" name="tile-sub-414"/>
          <p:cNvSpPr txBox="1"/>
          <p:nvPr/>
        </p:nvSpPr>
        <p:spPr>
          <a:xfrm>
            <a:off x="3675888" y="5650992"/>
            <a:ext cx="243230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all 2,976,750 nodes re-tested</a:t>
            </a:r>
            <a:endParaRPr lang="en-US" sz="1150" dirty="0"/>
          </a:p>
        </p:txBody>
      </p:sp>
      <p:sp>
        <p:nvSpPr>
          <p:cNvPr id="415" name="badge-415"/>
          <p:cNvSpPr/>
          <p:nvPr/>
        </p:nvSpPr>
        <p:spPr>
          <a:xfrm>
            <a:off x="6629400" y="14447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416" name="step-416"/>
          <p:cNvSpPr txBox="1"/>
          <p:nvPr/>
        </p:nvSpPr>
        <p:spPr>
          <a:xfrm>
            <a:off x="7178040" y="1417320"/>
            <a:ext cx="4434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Why the jump test is not enough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On φ₁ = −φ₂ the rod is symmetric (f</a:t>
            </a:r>
            <a:r>
              <a:rPr lang="en-US" sz="1300" baseline="-25000" dirty="0">
                <a:solidFill>
                  <a:schemeClr val="tx1"/>
                </a:solidFill>
              </a:rPr>
              <a:t>y</a:t>
            </a:r>
            <a:r>
              <a:rPr lang="en-US" sz="1300" dirty="0">
                <a:solidFill>
                  <a:schemeClr val="tx1"/>
                </a:solidFill>
              </a:rPr>
              <a:t> = 0); the bent-up branch loses stability at a symmetry-breaking bifurcation, not a fold. Newton follows it smoothly, with no jump in q.</a:t>
            </a:r>
            <a:endParaRPr lang="en-US" sz="1300" dirty="0"/>
          </a:p>
        </p:txBody>
      </p:sp>
      <p:sp>
        <p:nvSpPr>
          <p:cNvPr id="417" name="badge-417"/>
          <p:cNvSpPr/>
          <p:nvPr/>
        </p:nvSpPr>
        <p:spPr>
          <a:xfrm>
            <a:off x="6629400" y="299923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418" name="step-418"/>
          <p:cNvSpPr txBox="1"/>
          <p:nvPr/>
        </p:nvSpPr>
        <p:spPr>
          <a:xfrm>
            <a:off x="7178040" y="2971800"/>
            <a:ext cx="4434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Inertia of a bordered matrix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A is the tridiagonal P1 form, C the two constraint vectors (Haynsworth). One LDLᵀ sweep: O(N), about 0.2 ms against an 11 ms solve.</a:t>
            </a:r>
            <a:endParaRPr lang="en-US" sz="1300" dirty="0"/>
          </a:p>
        </p:txBody>
      </p:sp>
      <p:sp>
        <p:nvSpPr>
          <p:cNvPr id="419" name="badge-419"/>
          <p:cNvSpPr/>
          <p:nvPr/>
        </p:nvSpPr>
        <p:spPr>
          <a:xfrm>
            <a:off x="6629400" y="45537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420" name="step-420"/>
          <p:cNvSpPr txBox="1"/>
          <p:nvPr/>
        </p:nvSpPr>
        <p:spPr>
          <a:xfrm>
            <a:off x="7178040" y="4526280"/>
            <a:ext cx="4434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Every candidate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Warm starts and cold starts alike: an unstable result counts as a failure and the node moves on to the next neighbour.</a:t>
            </a:r>
            <a:endParaRPr lang="en-US" sz="1300" dirty="0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xact first mode deriv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Deriving the exact first mode used for the cold start</a:t>
            </a:r>
            <a:endParaRPr lang="en-US" sz="3000" dirty="0"/>
          </a:p>
        </p:txBody>
      </p:sp>
      <p:sp>
        <p:nvSpPr>
          <p:cNvPr id="3" name="step-card-1"/>
          <p:cNvSpPr/>
          <p:nvPr/>
        </p:nvSpPr>
        <p:spPr>
          <a:xfrm>
            <a:off x="548640" y="1417320"/>
            <a:ext cx="11064240" cy="713232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step-badge-1"/>
          <p:cNvSpPr/>
          <p:nvPr/>
        </p:nvSpPr>
        <p:spPr>
          <a:xfrm>
            <a:off x="777240" y="15819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5" name="step-text-1"/>
          <p:cNvSpPr txBox="1"/>
          <p:nvPr/>
        </p:nvSpPr>
        <p:spPr>
          <a:xfrm>
            <a:off x="1325880" y="1453896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φ₁ = φ₂ = 0 is mirror-symmetric, so f</a:t>
            </a:r>
            <a:r>
              <a:rPr lang="en-US" sz="1400" baseline="-25000" dirty="0">
                <a:solidFill>
                  <a:schemeClr val="tx1"/>
                </a:solidFill>
              </a:rPr>
              <a:t>y</a:t>
            </a:r>
            <a:r>
              <a:rPr lang="en-US" sz="1400" dirty="0">
                <a:solidFill>
                  <a:schemeClr val="tx1"/>
                </a:solidFill>
              </a:rPr>
              <a:t> = 0 and the elastica is a pendulum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latex-mode-1"/>
              <p:cNvSpPr txBox="1"/>
              <p:nvPr/>
            </p:nvSpPr>
            <p:spPr>
              <a:xfrm>
                <a:off x="5532120" y="1453896"/>
                <a:ext cx="589788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′′+</m:t>
                      </m:r>
                      <m:sSup>
                        <m:sSupPr>
                          <m:ctrlP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func>
                        <m:funcPr>
                          <m:ctrlP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=0, </m:t>
                      </m:r>
                      <m:sSup>
                        <m:sSupPr>
                          <m:ctrlP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sSub>
                        <m:sSubPr>
                          <m:ctrlP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6" name="latex-mode-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2120" y="1453896"/>
                <a:ext cx="5897880" cy="64008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tep-card-2"/>
          <p:cNvSpPr/>
          <p:nvPr/>
        </p:nvSpPr>
        <p:spPr>
          <a:xfrm>
            <a:off x="548640" y="2221992"/>
            <a:ext cx="11064240" cy="713232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tep-badge-2"/>
          <p:cNvSpPr/>
          <p:nvPr/>
        </p:nvSpPr>
        <p:spPr>
          <a:xfrm>
            <a:off x="777240" y="23865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9" name="step-text-2"/>
          <p:cNvSpPr txBox="1"/>
          <p:nvPr/>
        </p:nvSpPr>
        <p:spPr>
          <a:xfrm>
            <a:off x="1325880" y="2258568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Multiply by θ′ and integrate once; θ′ = 0 at the peak angle α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1" name="latex-mode-2"/>
              <p:cNvSpPr txBox="1"/>
              <p:nvPr/>
            </p:nvSpPr>
            <p:spPr>
              <a:xfrm>
                <a:off x="6856476" y="2438400"/>
                <a:ext cx="3249168" cy="28041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p>
                        <m:sSup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sSup>
                        <m:sSup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​</m:t>
                          </m:r>
                        </m:e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=4</m:t>
                      </m:r>
                      <m:sSup>
                        <m:sSup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p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e>
                            <m:sup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f>
                            <m:f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num>
                            <m:den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,  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sin</m:t>
                      </m:r>
                      <m:f>
                        <m:f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01" name="latex-mode-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6476" y="2438400"/>
                <a:ext cx="3249168" cy="28041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11" name="step-card-3"/>
          <p:cNvSpPr/>
          <p:nvPr/>
        </p:nvSpPr>
        <p:spPr>
          <a:xfrm>
            <a:off x="548640" y="3026664"/>
            <a:ext cx="11064240" cy="713232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tep-badge-3"/>
          <p:cNvSpPr/>
          <p:nvPr/>
        </p:nvSpPr>
        <p:spPr>
          <a:xfrm>
            <a:off x="777240" y="319125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3" name="step-text-3"/>
          <p:cNvSpPr txBox="1"/>
          <p:nvPr/>
        </p:nvSpPr>
        <p:spPr>
          <a:xfrm>
            <a:off x="1325880" y="306324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Substituting sin(θ/2) = k sin ψ gives ψ′ = λ√(1 − m sin²ψ), so sin ψ = sn(λs | 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latex-mode-3"/>
              <p:cNvSpPr txBox="1"/>
              <p:nvPr/>
            </p:nvSpPr>
            <p:spPr>
              <a:xfrm>
                <a:off x="6710172" y="3249168"/>
                <a:ext cx="3541776" cy="2682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)=2</m:t>
                      </m:r>
                      <m:r>
                        <m:rPr>
                          <m:sty m:val="p"/>
                        </m:rP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arcsin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 </m:t>
                          </m:r>
                          <m:r>
                            <m:rPr>
                              <m:sty m:val="p"/>
                            </m:r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sn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 | 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,  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02" name="latex-mode-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0172" y="3249168"/>
                <a:ext cx="3541776" cy="26822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15" name="step-card-4"/>
          <p:cNvSpPr/>
          <p:nvPr/>
        </p:nvSpPr>
        <p:spPr>
          <a:xfrm>
            <a:off x="548640" y="3831336"/>
            <a:ext cx="11064240" cy="713232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tep-badge-4"/>
          <p:cNvSpPr/>
          <p:nvPr/>
        </p:nvSpPr>
        <p:spPr>
          <a:xfrm>
            <a:off x="777240" y="399592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7" name="step-text-4"/>
          <p:cNvSpPr txBox="1"/>
          <p:nvPr/>
        </p:nvSpPr>
        <p:spPr>
          <a:xfrm>
            <a:off x="1325880" y="3867912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θ(L) = 0 and ∫ sin θ ds = 0 need one full period of sn (4K): four quarter-waves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latex-mode-4"/>
              <p:cNvSpPr txBox="1"/>
              <p:nvPr/>
            </p:nvSpPr>
            <p:spPr>
              <a:xfrm>
                <a:off x="5532120" y="3867912"/>
                <a:ext cx="589788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=4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 ⇒ 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  <m:d>
                                    <m:dPr>
                                      <m:ctrlP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8" name="latex-mode-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2120" y="3867912"/>
                <a:ext cx="5897880" cy="64008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step-card-5"/>
          <p:cNvSpPr/>
          <p:nvPr/>
        </p:nvSpPr>
        <p:spPr>
          <a:xfrm>
            <a:off x="548640" y="4636008"/>
            <a:ext cx="11064240" cy="713232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tep-badge-5"/>
          <p:cNvSpPr/>
          <p:nvPr/>
        </p:nvSpPr>
        <p:spPr>
          <a:xfrm>
            <a:off x="777240" y="48006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21" name="step-text-5"/>
          <p:cNvSpPr txBox="1"/>
          <p:nvPr/>
        </p:nvSpPr>
        <p:spPr>
          <a:xfrm>
            <a:off x="1325880" y="4672584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The end distance fixes m; d/L falls monotonically in m, so a 1-D root-find is safe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latex-mode-5"/>
              <p:cNvSpPr txBox="1"/>
              <p:nvPr/>
            </p:nvSpPr>
            <p:spPr>
              <a:xfrm>
                <a:off x="5532120" y="4672584"/>
                <a:ext cx="589788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func>
                            <m:func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nary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</m:den>
                      </m:f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2" name="latex-mode-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2120" y="4672584"/>
                <a:ext cx="5897880" cy="64008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step-card-6"/>
          <p:cNvSpPr/>
          <p:nvPr/>
        </p:nvSpPr>
        <p:spPr>
          <a:xfrm>
            <a:off x="548640" y="5440680"/>
            <a:ext cx="11064240" cy="713232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tep-badge-6"/>
          <p:cNvSpPr/>
          <p:nvPr/>
        </p:nvSpPr>
        <p:spPr>
          <a:xfrm>
            <a:off x="777240" y="560527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25" name="step-text-6"/>
          <p:cNvSpPr txBox="1"/>
          <p:nvPr/>
        </p:nvSpPr>
        <p:spPr>
          <a:xfrm>
            <a:off x="1325880" y="5477256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Small bow, m → 0: the A sin(2πs/L) shape with A = 2√(1 − d/L), and the Euler load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latex-mode-6"/>
              <p:cNvSpPr txBox="1"/>
              <p:nvPr/>
            </p:nvSpPr>
            <p:spPr>
              <a:xfrm>
                <a:off x="5532120" y="5477256"/>
                <a:ext cx="589788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≈2</m:t>
                      </m:r>
                      <m:rad>
                        <m:radPr>
                          <m:degHide m:val="on"/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ra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func>
                        <m:func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f>
                            <m:f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func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≈1−</m:t>
                      </m:r>
                      <m:f>
                        <m:f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f>
                        <m:f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  <m:sSup>
                            <m:s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6" name="latex-mode-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2120" y="5477256"/>
                <a:ext cx="5897880" cy="64008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96FF2F9-779B-490F-DB57-7E5494C00183}"/>
                  </a:ext>
                </a:extLst>
              </p:cNvPr>
              <p:cNvSpPr txBox="1"/>
              <p:nvPr/>
            </p:nvSpPr>
            <p:spPr>
              <a:xfrm>
                <a:off x="6308123" y="6272086"/>
                <a:ext cx="4460789" cy="4926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GB" sz="105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  <m:d>
                        <m:dPr>
                          <m:ctrlPr>
                            <a:rPr lang="en-GB" sz="105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05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GB" sz="1050" i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en-GB" sz="105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05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GB" sz="105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GB" sz="105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/2</m:t>
                          </m:r>
                        </m:sup>
                        <m:e>
                          <m:f>
                            <m:fPr>
                              <m:ctrlPr>
                                <a:rPr lang="en-GB" sz="1050" i="1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sz="1050" i="1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GB" sz="1050" i="1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GB" sz="1050" i="1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GB" sz="1050" i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050" i="1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func>
                                    <m:funcPr>
                                      <m:ctrlPr>
                                        <a:rPr lang="en-GB" sz="1050" i="1">
                                          <a:solidFill>
                                            <a:schemeClr val="bg1">
                                              <a:lumMod val="6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p>
                                        <m:sSupPr>
                                          <m:ctrlPr>
                                            <a:rPr lang="en-GB" sz="1050" i="0">
                                              <a:solidFill>
                                                <a:schemeClr val="bg1">
                                                  <a:lumMod val="6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050" i="0">
                                              <a:solidFill>
                                                <a:schemeClr val="bg1">
                                                  <a:lumMod val="6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sin</m:t>
                                          </m:r>
                                        </m:e>
                                        <m:sup>
                                          <m:r>
                                            <a:rPr lang="en-GB" sz="1050" i="0">
                                              <a:solidFill>
                                                <a:schemeClr val="bg1">
                                                  <a:lumMod val="6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fName>
                                    <m:e>
                                      <m:r>
                                        <a:rPr lang="en-GB" sz="1050" i="1">
                                          <a:solidFill>
                                            <a:schemeClr val="bg1">
                                              <a:lumMod val="6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𝜓</m:t>
                                      </m:r>
                                    </m:e>
                                  </m:func>
                                </m:e>
                              </m:rad>
                            </m:den>
                          </m:f>
                        </m:e>
                      </m:nary>
                      <m:r>
                        <a:rPr lang="en-GB" sz="1050" i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,  </m:t>
                      </m:r>
                      <m:r>
                        <a:rPr lang="en-GB" sz="105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GB" sz="105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05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GB" sz="1050" i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en-GB" sz="105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05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GB" sz="105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GB" sz="105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/2</m:t>
                          </m:r>
                        </m:sup>
                        <m:e>
                          <m:rad>
                            <m:radPr>
                              <m:degHide m:val="on"/>
                              <m:ctrlPr>
                                <a:rPr lang="en-GB" sz="1050" i="1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GB" sz="1050" i="0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GB" sz="1050" i="1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func>
                                <m:funcPr>
                                  <m:ctrlPr>
                                    <a:rPr lang="en-GB" sz="1050" i="1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p>
                                    <m:sSupPr>
                                      <m:ctrlPr>
                                        <a:rPr lang="en-GB" sz="1050" i="0">
                                          <a:solidFill>
                                            <a:schemeClr val="bg1">
                                              <a:lumMod val="6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050" i="0">
                                          <a:solidFill>
                                            <a:schemeClr val="bg1">
                                              <a:lumMod val="6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e>
                                    <m:sup>
                                      <m:r>
                                        <a:rPr lang="en-GB" sz="1050" i="0">
                                          <a:solidFill>
                                            <a:schemeClr val="bg1">
                                              <a:lumMod val="6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fName>
                                <m:e>
                                  <m:r>
                                    <a:rPr lang="en-GB" sz="1050" i="1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𝜓</m:t>
                                  </m:r>
                                </m:e>
                              </m:func>
                            </m:e>
                          </m:rad>
                        </m:e>
                      </m:nary>
                      <m:r>
                        <a:rPr lang="en-GB" sz="1050" i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r>
                        <a:rPr lang="en-GB" sz="105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GB" sz="105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𝜓</m:t>
                      </m:r>
                    </m:oMath>
                  </m:oMathPara>
                </a14:m>
                <a:endParaRPr lang="en-GB" sz="1050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96FF2F9-779B-490F-DB57-7E5494C00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8123" y="6272086"/>
                <a:ext cx="4460789" cy="492699"/>
              </a:xfrm>
              <a:prstGeom prst="rect">
                <a:avLst/>
              </a:prstGeom>
              <a:blipFill>
                <a:blip r:embed="rId9"/>
                <a:stretch>
                  <a:fillRect t="-124691" b="-18271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Exact first-mode cold start, then continue the clamp angles</a:t>
            </a:r>
            <a:endParaRPr lang="en-US" sz="3000" dirty="0"/>
          </a:p>
        </p:txBody>
      </p:sp>
      <p:sp>
        <p:nvSpPr>
          <p:cNvPr id="3" name="card-133"/>
          <p:cNvSpPr/>
          <p:nvPr/>
        </p:nvSpPr>
        <p:spPr>
          <a:xfrm>
            <a:off x="548640" y="1417320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5" name="figure-135" descr="Rod shapes during the cold start at d = 0.90, φ1 = 0.60, φ2 = -0.40: exact first mode, two continuation steps, and the kept and discarded branch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0320"/>
            <a:ext cx="5394960" cy="3596640"/>
          </a:xfrm>
          <a:prstGeom prst="rect">
            <a:avLst/>
          </a:prstGeom>
        </p:spPr>
      </p:pic>
      <p:sp>
        <p:nvSpPr>
          <p:cNvPr id="6" name="text-136"/>
          <p:cNvSpPr txBox="1"/>
          <p:nvPr/>
        </p:nvSpPr>
        <p:spPr>
          <a:xfrm>
            <a:off x="6217920" y="26060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Predictor for each continuation step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latex-amp"/>
              <p:cNvSpPr txBox="1"/>
              <p:nvPr/>
            </p:nvSpPr>
            <p:spPr>
              <a:xfrm>
                <a:off x="6217920" y="3017520"/>
                <a:ext cx="5425135" cy="6622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𝛥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f>
                            <m:f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𝛥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f>
                        <m:f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7" name="latex-amp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7920" y="3017520"/>
                <a:ext cx="5425135" cy="66220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badge-138"/>
          <p:cNvSpPr/>
          <p:nvPr/>
        </p:nvSpPr>
        <p:spPr>
          <a:xfrm>
            <a:off x="6217920" y="38862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badge-label-139"/>
          <p:cNvSpPr txBox="1"/>
          <p:nvPr/>
        </p:nvSpPr>
        <p:spPr>
          <a:xfrm>
            <a:off x="621792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-140"/>
          <p:cNvSpPr txBox="1"/>
          <p:nvPr/>
        </p:nvSpPr>
        <p:spPr>
          <a:xfrm>
            <a:off x="6766560" y="3858768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Exact at φ₁ = φ₂ = 0 for any d, with ∫ sin θ ds = 0: Newton converges in 2 iterations</a:t>
            </a:r>
            <a:endParaRPr lang="en-US" sz="1400" dirty="0"/>
          </a:p>
        </p:txBody>
      </p:sp>
      <p:sp>
        <p:nvSpPr>
          <p:cNvPr id="11" name="badge-141"/>
          <p:cNvSpPr/>
          <p:nvPr/>
        </p:nvSpPr>
        <p:spPr>
          <a:xfrm>
            <a:off x="6217920" y="46634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badge-label-142"/>
          <p:cNvSpPr txBox="1"/>
          <p:nvPr/>
        </p:nvSpPr>
        <p:spPr>
          <a:xfrm>
            <a:off x="6217920" y="4663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-143"/>
          <p:cNvSpPr txBox="1"/>
          <p:nvPr/>
        </p:nvSpPr>
        <p:spPr>
          <a:xfrm>
            <a:off x="6766560" y="4636008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Steps ≤ 0.25 rad, ≤ 15 Newton iterations each; a failed step halves, giving up below 0.02 rad (a fold)</a:t>
            </a:r>
            <a:endParaRPr lang="en-US" sz="1400" dirty="0"/>
          </a:p>
        </p:txBody>
      </p:sp>
      <p:sp>
        <p:nvSpPr>
          <p:cNvPr id="14" name="badge-144"/>
          <p:cNvSpPr/>
          <p:nvPr/>
        </p:nvSpPr>
        <p:spPr>
          <a:xfrm>
            <a:off x="6217920" y="5440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badge-label-145"/>
          <p:cNvSpPr txBox="1"/>
          <p:nvPr/>
        </p:nvSpPr>
        <p:spPr>
          <a:xfrm>
            <a:off x="6217920" y="5440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-146"/>
          <p:cNvSpPr txBox="1"/>
          <p:nvPr/>
        </p:nvSpPr>
        <p:spPr>
          <a:xfrm>
            <a:off x="6766560" y="5413248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Both hump signs are continued and the lower energy kept, so the result does not depend on which branch the ramp follows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latex-mode-6">
                <a:extLst>
                  <a:ext uri="{FF2B5EF4-FFF2-40B4-BE49-F238E27FC236}">
                    <a16:creationId xmlns:a16="http://schemas.microsoft.com/office/drawing/2014/main" id="{905E2A91-4C29-9579-8B30-63193110ECA0}"/>
                  </a:ext>
                </a:extLst>
              </p:cNvPr>
              <p:cNvSpPr txBox="1"/>
              <p:nvPr/>
            </p:nvSpPr>
            <p:spPr>
              <a:xfrm>
                <a:off x="1534616" y="1549123"/>
                <a:ext cx="8635087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≈2</m:t>
                      </m:r>
                      <m:rad>
                        <m:radPr>
                          <m:degHide m:val="on"/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ra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func>
                        <m:func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f>
                            <m:f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func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≈1−</m:t>
                      </m:r>
                      <m:f>
                        <m:f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f>
                        <m:f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  <m:sSup>
                            <m:s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8" name="latex-mode-6">
                <a:extLst>
                  <a:ext uri="{FF2B5EF4-FFF2-40B4-BE49-F238E27FC236}">
                    <a16:creationId xmlns:a16="http://schemas.microsoft.com/office/drawing/2014/main" id="{905E2A91-4C29-9579-8B30-63193110EC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4616" y="1549123"/>
                <a:ext cx="8635087" cy="64008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chemeClr val="tx1"/>
                </a:solidFill>
              </a:rPr>
              <a:t>Mirror symmetry halves the number of solves</a:t>
            </a:r>
          </a:p>
        </p:txBody>
      </p:sp>
      <p:sp>
        <p:nvSpPr>
          <p:cNvPr id="3" name="card-223"/>
          <p:cNvSpPr/>
          <p:nvPr/>
        </p:nvSpPr>
        <p:spPr>
          <a:xfrm>
            <a:off x="548640" y="1417320"/>
            <a:ext cx="1106424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1" name="latex-sym"/>
              <p:cNvSpPr txBox="1"/>
              <p:nvPr/>
            </p:nvSpPr>
            <p:spPr>
              <a:xfrm>
                <a:off x="1984248" y="1653540"/>
                <a:ext cx="8238744" cy="30480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)↦(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,−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,−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): </m:t>
                      </m:r>
                      <m:acc>
                        <m:accPr>
                          <m:chr m:val="̃"/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)=−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), 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acc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, 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acc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, 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</m:acc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, </m:t>
                      </m:r>
                      <m:acc>
                        <m:accPr>
                          <m:chr m:val="̃"/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01" name="latex-sym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4248" y="1653540"/>
                <a:ext cx="8238744" cy="3048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 </a:t>
                </a:r>
              </a:p>
            </p:txBody>
          </p:sp>
        </mc:Fallback>
      </mc:AlternateContent>
      <p:pic>
        <p:nvPicPr>
          <p:cNvPr id="5" name="figure-225" descr="Solved half of the angle square, and theta with its mirror image at d = 0.9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216" y="2423160"/>
            <a:ext cx="7314929" cy="3226003"/>
          </a:xfrm>
          <a:prstGeom prst="rect">
            <a:avLst/>
          </a:prstGeom>
        </p:spPr>
      </p:pic>
      <p:sp>
        <p:nvSpPr>
          <p:cNvPr id="6" name="badge-226"/>
          <p:cNvSpPr/>
          <p:nvPr/>
        </p:nvSpPr>
        <p:spPr>
          <a:xfrm>
            <a:off x="8412480" y="26060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badge-label-227"/>
          <p:cNvSpPr txBox="1"/>
          <p:nvPr/>
        </p:nvSpPr>
        <p:spPr>
          <a:xfrm>
            <a:off x="841248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-228"/>
          <p:cNvSpPr txBox="1"/>
          <p:nvPr/>
        </p:nvSpPr>
        <p:spPr>
          <a:xfrm>
            <a:off x="8961120" y="2578608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Reflecting the rod about mid-span maps (φ₁, φ₂) to (−φ₂, −φ₁)</a:t>
            </a:r>
            <a:endParaRPr lang="en-US" sz="1400" dirty="0"/>
          </a:p>
        </p:txBody>
      </p:sp>
      <p:sp>
        <p:nvSpPr>
          <p:cNvPr id="9" name="badge-229"/>
          <p:cNvSpPr/>
          <p:nvPr/>
        </p:nvSpPr>
        <p:spPr>
          <a:xfrm>
            <a:off x="8412480" y="37033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badge-label-230"/>
          <p:cNvSpPr txBox="1"/>
          <p:nvPr/>
        </p:nvSpPr>
        <p:spPr>
          <a:xfrm>
            <a:off x="841248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-231"/>
          <p:cNvSpPr txBox="1"/>
          <p:nvPr/>
        </p:nvSpPr>
        <p:spPr>
          <a:xfrm>
            <a:off x="8961120" y="3675888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Only φ₁ + φ₂ ≥ 0 is solved; points on the anti-diagonal are solved once</a:t>
            </a:r>
            <a:endParaRPr lang="en-US" sz="1400" dirty="0"/>
          </a:p>
        </p:txBody>
      </p:sp>
      <p:sp>
        <p:nvSpPr>
          <p:cNvPr id="12" name="badge-232"/>
          <p:cNvSpPr/>
          <p:nvPr/>
        </p:nvSpPr>
        <p:spPr>
          <a:xfrm>
            <a:off x="8412480" y="48006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badge-label-233"/>
          <p:cNvSpPr txBox="1"/>
          <p:nvPr/>
        </p:nvSpPr>
        <p:spPr>
          <a:xfrm>
            <a:off x="8412480" y="4800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-234"/>
          <p:cNvSpPr txBox="1"/>
          <p:nvPr/>
        </p:nvSpPr>
        <p:spPr>
          <a:xfrm>
            <a:off x="8961120" y="4773168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f</a:t>
            </a:r>
            <a:r>
              <a:rPr lang="en-US" sz="1400" baseline="-25000" dirty="0">
                <a:solidFill>
                  <a:schemeClr val="tx1"/>
                </a:solidFill>
              </a:rPr>
              <a:t>x</a:t>
            </a:r>
            <a:r>
              <a:rPr lang="en-US" sz="1400" dirty="0">
                <a:solidFill>
                  <a:schemeClr val="tx1"/>
                </a:solidFill>
              </a:rPr>
              <a:t>, U and p carry over, f</a:t>
            </a:r>
            <a:r>
              <a:rPr lang="en-US" sz="1400" baseline="-25000" dirty="0">
                <a:solidFill>
                  <a:schemeClr val="tx1"/>
                </a:solidFill>
              </a:rPr>
              <a:t>y</a:t>
            </a:r>
            <a:r>
              <a:rPr lang="en-US" sz="1400" dirty="0">
                <a:solidFill>
                  <a:schemeClr val="tx1"/>
                </a:solidFill>
              </a:rPr>
              <a:t> flips sign, and the left and right moments swap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duction ru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idx="100" hasCustomPrompt="1"/>
          </p:nvPr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000" b="1">
                <a:solidFill>
                  <a:schemeClr val="bg1"/>
                </a:solidFill>
              </a:rPr>
              <a:t>Final </a:t>
            </a:r>
            <a:r>
              <a:rPr lang="en-US" sz="4000" b="1" dirty="0">
                <a:solidFill>
                  <a:schemeClr val="bg1"/>
                </a:solidFill>
              </a:rPr>
              <a:t>run</a:t>
            </a:r>
            <a:endParaRPr lang="en-US" sz="4000" dirty="0"/>
          </a:p>
        </p:txBody>
      </p:sp>
      <p:sp>
        <p:nvSpPr>
          <p:cNvPr id="3" name="Subtitle"/>
          <p:cNvSpPr>
            <a:spLocks noGrp="1"/>
          </p:cNvSpPr>
          <p:nvPr>
            <p:ph type="body" idx="101" hasCustomPrompt="1"/>
          </p:nvPr>
        </p:nvSpPr>
        <p:spPr>
          <a:xfrm>
            <a:off x="822960" y="3657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accent1"/>
                </a:solidFill>
              </a:rPr>
              <a:t>d ∈ [0.70, 0.99], φ₁, φ₂ ∈ [−π/2, π/2], Δ = 0.01: 2.98 M equilibria and their level sets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duction 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2.98 M equilibria, every one checked</a:t>
            </a:r>
            <a:endParaRPr lang="en-US" sz="3000" dirty="0"/>
          </a:p>
        </p:txBody>
      </p:sp>
      <p:sp>
        <p:nvSpPr>
          <p:cNvPr id="401" name="card-401"/>
          <p:cNvSpPr/>
          <p:nvPr/>
        </p:nvSpPr>
        <p:spPr>
          <a:xfrm>
            <a:off x="548640" y="1371600"/>
            <a:ext cx="26060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2" name="tile-big-402"/>
          <p:cNvSpPr txBox="1"/>
          <p:nvPr/>
        </p:nvSpPr>
        <p:spPr>
          <a:xfrm>
            <a:off x="749808" y="1481328"/>
            <a:ext cx="2203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2,976,750</a:t>
            </a:r>
            <a:endParaRPr lang="en-US" sz="3000" dirty="0"/>
          </a:p>
        </p:txBody>
      </p:sp>
      <p:sp>
        <p:nvSpPr>
          <p:cNvPr id="403" name="tile-label-403"/>
          <p:cNvSpPr txBox="1"/>
          <p:nvPr/>
        </p:nvSpPr>
        <p:spPr>
          <a:xfrm>
            <a:off x="749808" y="2194560"/>
            <a:ext cx="220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equilibria</a:t>
            </a:r>
            <a:endParaRPr lang="en-US" sz="1400" dirty="0"/>
          </a:p>
        </p:txBody>
      </p:sp>
      <p:sp>
        <p:nvSpPr>
          <p:cNvPr id="404" name="tile-sub-404"/>
          <p:cNvSpPr txBox="1"/>
          <p:nvPr/>
        </p:nvSpPr>
        <p:spPr>
          <a:xfrm>
            <a:off x="749808" y="2542032"/>
            <a:ext cx="22037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30 × 315 × 315 grid; 1.49 M Newton solves, the mirror fills the rest</a:t>
            </a:r>
            <a:endParaRPr lang="en-US" sz="1150" dirty="0"/>
          </a:p>
        </p:txBody>
      </p:sp>
      <p:sp>
        <p:nvSpPr>
          <p:cNvPr id="405" name="card-405"/>
          <p:cNvSpPr/>
          <p:nvPr/>
        </p:nvSpPr>
        <p:spPr>
          <a:xfrm>
            <a:off x="3383280" y="1371600"/>
            <a:ext cx="26060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6" name="tile-big-406"/>
          <p:cNvSpPr txBox="1"/>
          <p:nvPr/>
        </p:nvSpPr>
        <p:spPr>
          <a:xfrm>
            <a:off x="3584448" y="1481328"/>
            <a:ext cx="2203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 4 h</a:t>
            </a:r>
            <a:endParaRPr lang="en-US" sz="3000" dirty="0"/>
          </a:p>
        </p:txBody>
      </p:sp>
      <p:sp>
        <p:nvSpPr>
          <p:cNvPr id="407" name="tile-label-407"/>
          <p:cNvSpPr txBox="1"/>
          <p:nvPr/>
        </p:nvSpPr>
        <p:spPr>
          <a:xfrm>
            <a:off x="3584448" y="2194560"/>
            <a:ext cx="220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on one core</a:t>
            </a:r>
            <a:endParaRPr lang="en-US" sz="1400" dirty="0"/>
          </a:p>
        </p:txBody>
      </p:sp>
      <p:sp>
        <p:nvSpPr>
          <p:cNvPr id="408" name="tile-sub-408"/>
          <p:cNvSpPr txBox="1"/>
          <p:nvPr/>
        </p:nvSpPr>
        <p:spPr>
          <a:xfrm>
            <a:off x="3584448" y="2542032"/>
            <a:ext cx="22037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about 11 ms per solve, from one cold start (plus one more near d = 1)</a:t>
            </a:r>
            <a:endParaRPr lang="en-US" sz="1150" dirty="0"/>
          </a:p>
        </p:txBody>
      </p:sp>
      <p:sp>
        <p:nvSpPr>
          <p:cNvPr id="409" name="card-409"/>
          <p:cNvSpPr/>
          <p:nvPr/>
        </p:nvSpPr>
        <p:spPr>
          <a:xfrm>
            <a:off x="6217920" y="1371600"/>
            <a:ext cx="26060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0" name="tile-big-410"/>
          <p:cNvSpPr txBox="1"/>
          <p:nvPr/>
        </p:nvSpPr>
        <p:spPr>
          <a:xfrm>
            <a:off x="6419088" y="1481328"/>
            <a:ext cx="2203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0.27 %</a:t>
            </a:r>
            <a:endParaRPr lang="en-US" sz="3000" dirty="0"/>
          </a:p>
        </p:txBody>
      </p:sp>
      <p:sp>
        <p:nvSpPr>
          <p:cNvPr id="411" name="tile-label-411"/>
          <p:cNvSpPr txBox="1"/>
          <p:nvPr/>
        </p:nvSpPr>
        <p:spPr>
          <a:xfrm>
            <a:off x="6419088" y="2194560"/>
            <a:ext cx="220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max error vs. BVP</a:t>
            </a:r>
            <a:endParaRPr lang="en-US" sz="1400" dirty="0"/>
          </a:p>
        </p:txBody>
      </p:sp>
      <p:sp>
        <p:nvSpPr>
          <p:cNvPr id="412" name="tile-sub-412"/>
          <p:cNvSpPr txBox="1"/>
          <p:nvPr/>
        </p:nvSpPr>
        <p:spPr>
          <a:xfrm>
            <a:off x="6419088" y="2542032"/>
            <a:ext cx="22037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300 random nodes re-solved with scipy solve_bvp; median 0.014 %</a:t>
            </a:r>
            <a:endParaRPr lang="en-US" sz="1150" dirty="0"/>
          </a:p>
        </p:txBody>
      </p:sp>
      <p:sp>
        <p:nvSpPr>
          <p:cNvPr id="413" name="card-413"/>
          <p:cNvSpPr/>
          <p:nvPr/>
        </p:nvSpPr>
        <p:spPr>
          <a:xfrm>
            <a:off x="9052560" y="1371600"/>
            <a:ext cx="26060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4" name="tile-big-414"/>
          <p:cNvSpPr txBox="1"/>
          <p:nvPr/>
        </p:nvSpPr>
        <p:spPr>
          <a:xfrm>
            <a:off x="9253728" y="1481328"/>
            <a:ext cx="2203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0</a:t>
            </a:r>
            <a:endParaRPr lang="en-US" sz="3000" dirty="0"/>
          </a:p>
        </p:txBody>
      </p:sp>
      <p:sp>
        <p:nvSpPr>
          <p:cNvPr id="415" name="tile-label-415"/>
          <p:cNvSpPr txBox="1"/>
          <p:nvPr/>
        </p:nvSpPr>
        <p:spPr>
          <a:xfrm>
            <a:off x="9253728" y="2194560"/>
            <a:ext cx="220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unstable equilibria</a:t>
            </a:r>
            <a:endParaRPr lang="en-US" sz="1400" dirty="0"/>
          </a:p>
        </p:txBody>
      </p:sp>
      <p:sp>
        <p:nvSpPr>
          <p:cNvPr id="416" name="tile-sub-416"/>
          <p:cNvSpPr txBox="1"/>
          <p:nvPr/>
        </p:nvSpPr>
        <p:spPr>
          <a:xfrm>
            <a:off x="9253728" y="2542032"/>
            <a:ext cx="22037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stability test on all 2,976,750 nodes</a:t>
            </a:r>
            <a:endParaRPr lang="en-US" sz="1150" dirty="0"/>
          </a:p>
        </p:txBody>
      </p:sp>
      <p:sp>
        <p:nvSpPr>
          <p:cNvPr id="417" name="card-417"/>
          <p:cNvSpPr/>
          <p:nvPr/>
        </p:nvSpPr>
        <p:spPr>
          <a:xfrm>
            <a:off x="548640" y="3429000"/>
            <a:ext cx="3566160" cy="22402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8" name="card-head-418"/>
          <p:cNvSpPr txBox="1"/>
          <p:nvPr/>
        </p:nvSpPr>
        <p:spPr>
          <a:xfrm>
            <a:off x="731520" y="35661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Exact checks pass</a:t>
            </a:r>
            <a:endParaRPr lang="en-US" sz="1500" dirty="0"/>
          </a:p>
        </p:txBody>
      </p:sp>
      <p:sp>
        <p:nvSpPr>
          <p:cNvPr id="419" name="card-body-419"/>
          <p:cNvSpPr txBox="1"/>
          <p:nvPr/>
        </p:nvSpPr>
        <p:spPr>
          <a:xfrm>
            <a:off x="731520" y="3913632"/>
            <a:ext cx="320040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Mirror pairs agree to 3 × 10⁻⁸. At φ₁ = φ₂ = 0 every layer matches the exact first mode: f</a:t>
            </a:r>
            <a:r>
              <a:rPr lang="en-US" sz="1300" baseline="-25000" dirty="0">
                <a:solidFill>
                  <a:schemeClr val="tx1"/>
                </a:solidFill>
              </a:rPr>
              <a:t>x</a:t>
            </a:r>
            <a:r>
              <a:rPr lang="en-US" sz="1300" dirty="0">
                <a:solidFill>
                  <a:schemeClr val="tx1"/>
                </a:solidFill>
              </a:rPr>
              <a:t> within 1.3 × 10⁻⁴.</a:t>
            </a:r>
            <a:endParaRPr lang="en-US" sz="1300" dirty="0"/>
          </a:p>
        </p:txBody>
      </p:sp>
      <p:sp>
        <p:nvSpPr>
          <p:cNvPr id="420" name="card-420"/>
          <p:cNvSpPr/>
          <p:nvPr/>
        </p:nvSpPr>
        <p:spPr>
          <a:xfrm>
            <a:off x="4297680" y="3429000"/>
            <a:ext cx="3566160" cy="22402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21" name="card-head-421"/>
          <p:cNvSpPr txBox="1"/>
          <p:nvPr/>
        </p:nvSpPr>
        <p:spPr>
          <a:xfrm>
            <a:off x="4480560" y="35661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Branch share</a:t>
            </a:r>
            <a:endParaRPr lang="en-US" sz="1500" dirty="0"/>
          </a:p>
        </p:txBody>
      </p:sp>
      <p:sp>
        <p:nvSpPr>
          <p:cNvPr id="422" name="card-body-422"/>
          <p:cNvSpPr txBox="1"/>
          <p:nvPr/>
        </p:nvSpPr>
        <p:spPr>
          <a:xfrm>
            <a:off x="4480560" y="3913632"/>
            <a:ext cx="320040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Bent up on 70.0 % of the layer at d = 0.70, falling almost linearly to 50.5 % at d = 0.99. Snap surface area 2.62 (29,756 snap edges).</a:t>
            </a:r>
            <a:endParaRPr lang="en-US" sz="1300" dirty="0"/>
          </a:p>
        </p:txBody>
      </p:sp>
      <p:sp>
        <p:nvSpPr>
          <p:cNvPr id="423" name="card-423"/>
          <p:cNvSpPr/>
          <p:nvPr/>
        </p:nvSpPr>
        <p:spPr>
          <a:xfrm>
            <a:off x="8046720" y="3429000"/>
            <a:ext cx="3566160" cy="22402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24" name="card-head-424"/>
          <p:cNvSpPr txBox="1"/>
          <p:nvPr/>
        </p:nvSpPr>
        <p:spPr>
          <a:xfrm>
            <a:off x="8229600" y="35661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Ranges</a:t>
            </a:r>
            <a:endParaRPr lang="en-US" sz="1500" dirty="0"/>
          </a:p>
        </p:txBody>
      </p:sp>
      <p:sp>
        <p:nvSpPr>
          <p:cNvPr id="425" name="card-body-425"/>
          <p:cNvSpPr txBox="1"/>
          <p:nvPr/>
        </p:nvSpPr>
        <p:spPr>
          <a:xfrm>
            <a:off x="8229600" y="3913632"/>
            <a:ext cx="320040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f</a:t>
            </a:r>
            <a:r>
              <a:rPr lang="en-US" sz="1300" baseline="-25000" dirty="0">
                <a:solidFill>
                  <a:schemeClr val="tx1"/>
                </a:solidFill>
              </a:rPr>
              <a:t>x</a:t>
            </a:r>
            <a:r>
              <a:rPr lang="en-US" sz="1300" dirty="0">
                <a:solidFill>
                  <a:schemeClr val="tx1"/>
                </a:solidFill>
              </a:rPr>
              <a:t> from −13,785 (tension, d = 0.99, |φ| = π/2) to +92;  |f</a:t>
            </a:r>
            <a:r>
              <a:rPr lang="en-US" sz="1300" baseline="-25000" dirty="0">
                <a:solidFill>
                  <a:schemeClr val="tx1"/>
                </a:solidFill>
              </a:rPr>
              <a:t>y</a:t>
            </a:r>
            <a:r>
              <a:rPr lang="en-US" sz="1300" dirty="0">
                <a:solidFill>
                  <a:schemeClr val="tx1"/>
                </a:solidFill>
              </a:rPr>
              <a:t>| ≤ 340;  |M| ≤ 168;  U from 0.10 to 142.</a:t>
            </a:r>
            <a:endParaRPr lang="en-US" sz="1300" dirty="0"/>
          </a:p>
        </p:txBody>
      </p:sp>
      <p:sp>
        <p:nvSpPr>
          <p:cNvPr id="426" name="caption-426"/>
          <p:cNvSpPr txBox="1"/>
          <p:nvPr/>
        </p:nvSpPr>
        <p:spPr>
          <a:xfrm>
            <a:off x="548640" y="585216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ParaView: data/production/post/elastica_solution_space.vtu (every node, all fields).</a:t>
            </a:r>
            <a:endParaRPr lang="en-US" sz="1100" dirty="0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so_ener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Constant-energy surfaces: shells around the straight rod</a:t>
            </a:r>
            <a:endParaRPr lang="en-US" sz="3000" dirty="0"/>
          </a:p>
        </p:txBody>
      </p:sp>
      <p:pic>
        <p:nvPicPr>
          <p:cNvPr id="401" name="figure-401" descr="iso_energy level sets over (phi1, phi2, d), coloured by 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11064240" cy="2573079"/>
          </a:xfrm>
          <a:prstGeom prst="rect">
            <a:avLst/>
          </a:prstGeom>
        </p:spPr>
      </p:pic>
      <p:pic>
        <p:nvPicPr>
          <p:cNvPr id="402" name="figure-402" descr="iso_energy level lines on four d layer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871527"/>
            <a:ext cx="8648564" cy="2346393"/>
          </a:xfrm>
          <a:prstGeom prst="rect">
            <a:avLst/>
          </a:prstGeom>
        </p:spPr>
      </p:pic>
      <p:sp>
        <p:nvSpPr>
          <p:cNvPr id="403" name="card-403"/>
          <p:cNvSpPr/>
          <p:nvPr/>
        </p:nvSpPr>
        <p:spPr>
          <a:xfrm>
            <a:off x="9425804" y="3871527"/>
            <a:ext cx="2187076" cy="2346393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4" name="card-head-404"/>
          <p:cNvSpPr txBox="1"/>
          <p:nvPr/>
        </p:nvSpPr>
        <p:spPr>
          <a:xfrm>
            <a:off x="9608684" y="4008687"/>
            <a:ext cx="18213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U = ½∫θ′² ds</a:t>
            </a:r>
            <a:endParaRPr lang="en-US" sz="1500" dirty="0"/>
          </a:p>
        </p:txBody>
      </p:sp>
      <p:sp>
        <p:nvSpPr>
          <p:cNvPr id="405" name="card-body-405"/>
          <p:cNvSpPr txBox="1"/>
          <p:nvPr/>
        </p:nvSpPr>
        <p:spPr>
          <a:xfrm>
            <a:off x="9608684" y="4356159"/>
            <a:ext cx="1821316" cy="17703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From 0.10 to 142. Lowest for a nearly straight rod (d → 1, φ → 0): U = 2 is a bowl around that corner and higher levels are wider domes. Each ends at the snap (faint red), where U jumps.</a:t>
            </a:r>
            <a:endParaRPr lang="en-US" sz="1150" dirty="0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so_force_f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Constant axial force f</a:t>
            </a:r>
            <a:r>
              <a:rPr lang="en-US" sz="3000" b="1" baseline="-25000" dirty="0">
                <a:solidFill>
                  <a:schemeClr val="tx1"/>
                </a:solidFill>
              </a:rPr>
              <a:t>x</a:t>
            </a:r>
            <a:r>
              <a:rPr lang="en-US" sz="3000" b="1" dirty="0">
                <a:solidFill>
                  <a:schemeClr val="tx1"/>
                </a:solidFill>
              </a:rPr>
              <a:t>: bounded in compression</a:t>
            </a:r>
            <a:endParaRPr lang="en-US" sz="3000" dirty="0"/>
          </a:p>
        </p:txBody>
      </p:sp>
      <p:pic>
        <p:nvPicPr>
          <p:cNvPr id="401" name="figure-401" descr="iso_force_fx level sets over (phi1, phi2, d), coloured by 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11064240" cy="2573079"/>
          </a:xfrm>
          <a:prstGeom prst="rect">
            <a:avLst/>
          </a:prstGeom>
        </p:spPr>
      </p:pic>
      <p:pic>
        <p:nvPicPr>
          <p:cNvPr id="402" name="figure-402" descr="iso_force_fx level lines on four d layer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871527"/>
            <a:ext cx="8648564" cy="2346393"/>
          </a:xfrm>
          <a:prstGeom prst="rect">
            <a:avLst/>
          </a:prstGeom>
        </p:spPr>
      </p:pic>
      <p:sp>
        <p:nvSpPr>
          <p:cNvPr id="403" name="card-403"/>
          <p:cNvSpPr/>
          <p:nvPr/>
        </p:nvSpPr>
        <p:spPr>
          <a:xfrm>
            <a:off x="9425804" y="3871527"/>
            <a:ext cx="2187076" cy="2346393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4" name="card-head-404"/>
          <p:cNvSpPr txBox="1"/>
          <p:nvPr/>
        </p:nvSpPr>
        <p:spPr>
          <a:xfrm>
            <a:off x="9608684" y="4008687"/>
            <a:ext cx="18213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f</a:t>
            </a:r>
            <a:r>
              <a:rPr lang="en-US" sz="1500" b="1" baseline="-25000" dirty="0">
                <a:solidFill>
                  <a:schemeClr val="accent1"/>
                </a:solidFill>
              </a:rPr>
              <a:t>x</a:t>
            </a:r>
            <a:r>
              <a:rPr lang="en-US" sz="1500" b="1" dirty="0">
                <a:solidFill>
                  <a:schemeClr val="accent1"/>
                </a:solidFill>
              </a:rPr>
              <a:t> &gt; 0: compression</a:t>
            </a:r>
            <a:endParaRPr lang="en-US" sz="1500" dirty="0"/>
          </a:p>
        </p:txBody>
      </p:sp>
      <p:sp>
        <p:nvSpPr>
          <p:cNvPr id="405" name="card-body-405"/>
          <p:cNvSpPr txBox="1"/>
          <p:nvPr/>
        </p:nvSpPr>
        <p:spPr>
          <a:xfrm>
            <a:off x="9608684" y="4356159"/>
            <a:ext cx="1821316" cy="17703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From −13,785 (tension, d = 0.99, |φ| = π/2) to +92. Compressive levels exist only inside the bent-up region: f</a:t>
            </a:r>
            <a:r>
              <a:rPr lang="en-US" sz="1150" baseline="-25000" dirty="0">
                <a:solidFill>
                  <a:schemeClr val="tx1"/>
                </a:solidFill>
              </a:rPr>
              <a:t>x</a:t>
            </a:r>
            <a:r>
              <a:rPr lang="en-US" sz="1150" dirty="0">
                <a:solidFill>
                  <a:schemeClr val="tx1"/>
                </a:solidFill>
              </a:rPr>
              <a:t> = 60 is a sliver and nothing reaches 100.</a:t>
            </a:r>
            <a:endParaRPr lang="en-US" sz="1150" dirty="0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so_force_f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Constant transverse force f</a:t>
            </a:r>
            <a:r>
              <a:rPr lang="en-US" sz="3000" b="1" baseline="-25000" dirty="0">
                <a:solidFill>
                  <a:schemeClr val="tx1"/>
                </a:solidFill>
              </a:rPr>
              <a:t>y</a:t>
            </a:r>
            <a:r>
              <a:rPr lang="en-US" sz="3000" b="1" dirty="0">
                <a:solidFill>
                  <a:schemeClr val="tx1"/>
                </a:solidFill>
              </a:rPr>
              <a:t>: mirror-image pairs</a:t>
            </a:r>
            <a:endParaRPr lang="en-US" sz="3000" dirty="0"/>
          </a:p>
        </p:txBody>
      </p:sp>
      <p:pic>
        <p:nvPicPr>
          <p:cNvPr id="401" name="figure-401" descr="iso_force_fy level sets over (phi1, phi2, d), coloured by 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11064240" cy="2573079"/>
          </a:xfrm>
          <a:prstGeom prst="rect">
            <a:avLst/>
          </a:prstGeom>
        </p:spPr>
      </p:pic>
      <p:pic>
        <p:nvPicPr>
          <p:cNvPr id="402" name="figure-402" descr="iso_force_fy level lines on four d layer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871527"/>
            <a:ext cx="8648564" cy="2346393"/>
          </a:xfrm>
          <a:prstGeom prst="rect">
            <a:avLst/>
          </a:prstGeom>
        </p:spPr>
      </p:pic>
      <p:sp>
        <p:nvSpPr>
          <p:cNvPr id="403" name="card-403"/>
          <p:cNvSpPr/>
          <p:nvPr/>
        </p:nvSpPr>
        <p:spPr>
          <a:xfrm>
            <a:off x="9425804" y="3871527"/>
            <a:ext cx="2187076" cy="2346393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4" name="card-head-404"/>
          <p:cNvSpPr txBox="1"/>
          <p:nvPr/>
        </p:nvSpPr>
        <p:spPr>
          <a:xfrm>
            <a:off x="9608684" y="4008687"/>
            <a:ext cx="18213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Odd under the mirror</a:t>
            </a:r>
            <a:endParaRPr lang="en-US" sz="1500" dirty="0"/>
          </a:p>
        </p:txBody>
      </p:sp>
      <p:sp>
        <p:nvSpPr>
          <p:cNvPr id="405" name="card-body-405"/>
          <p:cNvSpPr txBox="1"/>
          <p:nvPr/>
        </p:nvSpPr>
        <p:spPr>
          <a:xfrm>
            <a:off x="9608684" y="4356159"/>
            <a:ext cx="1821316" cy="17703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|f</a:t>
            </a:r>
            <a:r>
              <a:rPr lang="en-US" sz="1150" baseline="-25000" dirty="0">
                <a:solidFill>
                  <a:schemeClr val="tx1"/>
                </a:solidFill>
              </a:rPr>
              <a:t>y</a:t>
            </a:r>
            <a:r>
              <a:rPr lang="en-US" sz="1150" dirty="0">
                <a:solidFill>
                  <a:schemeClr val="tx1"/>
                </a:solidFill>
              </a:rPr>
              <a:t>| ≤ 340. (φ₁, φ₂) → (−φ₂, −φ₁) flips f</a:t>
            </a:r>
            <a:r>
              <a:rPr lang="en-US" sz="1150" baseline="-25000" dirty="0">
                <a:solidFill>
                  <a:schemeClr val="tx1"/>
                </a:solidFill>
              </a:rPr>
              <a:t>y</a:t>
            </a:r>
            <a:r>
              <a:rPr lang="en-US" sz="1150" dirty="0">
                <a:solidFill>
                  <a:schemeClr val="tx1"/>
                </a:solidFill>
              </a:rPr>
              <a:t>, so f</a:t>
            </a:r>
            <a:r>
              <a:rPr lang="en-US" sz="1150" baseline="-25000" dirty="0">
                <a:solidFill>
                  <a:schemeClr val="tx1"/>
                </a:solidFill>
              </a:rPr>
              <a:t>y</a:t>
            </a:r>
            <a:r>
              <a:rPr lang="en-US" sz="1150" dirty="0">
                <a:solidFill>
                  <a:schemeClr val="tx1"/>
                </a:solidFill>
              </a:rPr>
              <a:t> = 0 holds on the whole plane φ₁ = −φ₂ and ± levels come in pairs of equal area.</a:t>
            </a:r>
            <a:endParaRPr lang="en-US" sz="1150" dirty="0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so_mo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Constant clamp moment M₁; M₂ is its mirror image</a:t>
            </a:r>
            <a:endParaRPr lang="en-US" sz="3000" dirty="0"/>
          </a:p>
        </p:txBody>
      </p:sp>
      <p:pic>
        <p:nvPicPr>
          <p:cNvPr id="401" name="figure-401" descr="iso_moment level sets over (phi1, phi2, d), coloured by 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11064240" cy="2573079"/>
          </a:xfrm>
          <a:prstGeom prst="rect">
            <a:avLst/>
          </a:prstGeom>
        </p:spPr>
      </p:pic>
      <p:pic>
        <p:nvPicPr>
          <p:cNvPr id="402" name="figure-402" descr="iso_moment level lines on four d layer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871527"/>
            <a:ext cx="8648564" cy="2346393"/>
          </a:xfrm>
          <a:prstGeom prst="rect">
            <a:avLst/>
          </a:prstGeom>
        </p:spPr>
      </p:pic>
      <p:sp>
        <p:nvSpPr>
          <p:cNvPr id="403" name="card-403"/>
          <p:cNvSpPr/>
          <p:nvPr/>
        </p:nvSpPr>
        <p:spPr>
          <a:xfrm>
            <a:off x="9425804" y="3871527"/>
            <a:ext cx="2187076" cy="2346393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4" name="card-head-404"/>
          <p:cNvSpPr txBox="1"/>
          <p:nvPr/>
        </p:nvSpPr>
        <p:spPr>
          <a:xfrm>
            <a:off x="9608684" y="4008687"/>
            <a:ext cx="18213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M₁ = θ′(0)</a:t>
            </a:r>
            <a:endParaRPr lang="en-US" sz="1500" dirty="0"/>
          </a:p>
        </p:txBody>
      </p:sp>
      <p:sp>
        <p:nvSpPr>
          <p:cNvPr id="405" name="card-body-405"/>
          <p:cNvSpPr txBox="1"/>
          <p:nvPr/>
        </p:nvSpPr>
        <p:spPr>
          <a:xfrm>
            <a:off x="9608684" y="4356159"/>
            <a:ext cx="1821316" cy="17703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Within ±168. M₂ at (φ₁, φ₂) is M₁ at (−φ₂, −φ₁), so its surfaces are mirror images (both in the VTU). Small |M₁| levels split into two sheets.</a:t>
            </a:r>
            <a:endParaRPr lang="en-US" sz="1150" dirty="0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astica">
  <a:themeElements>
    <a:clrScheme name="Elastica">
      <a:dk1>
        <a:srgbClr val="16222E"/>
      </a:dk1>
      <a:lt1>
        <a:srgbClr val="FFFFFF"/>
      </a:lt1>
      <a:dk2>
        <a:srgbClr val="2E4A5C"/>
      </a:dk2>
      <a:lt2>
        <a:srgbClr val="EEF2F4"/>
      </a:lt2>
      <a:accent1>
        <a:srgbClr val="D9822B"/>
      </a:accent1>
      <a:accent2>
        <a:srgbClr val="2A9D8F"/>
      </a:accent2>
      <a:accent3>
        <a:srgbClr val="C8553D"/>
      </a:accent3>
      <a:accent4>
        <a:srgbClr val="E9C46A"/>
      </a:accent4>
      <a:accent5>
        <a:srgbClr val="5C6B7A"/>
      </a:accent5>
      <a:accent6>
        <a:srgbClr val="8A96A3"/>
      </a:accent6>
      <a:hlink>
        <a:srgbClr val="2A9D8F"/>
      </a:hlink>
      <a:folHlink>
        <a:srgbClr val="5C6B7A"/>
      </a:folHlink>
    </a:clrScheme>
    <a:fontScheme name="Elastic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4546</Words>
  <Application>Microsoft Office PowerPoint</Application>
  <PresentationFormat>Widescreen</PresentationFormat>
  <Paragraphs>356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Arial</vt:lpstr>
      <vt:lpstr>Calibri</vt:lpstr>
      <vt:lpstr>Cambria</vt:lpstr>
      <vt:lpstr>Cambria Math</vt:lpstr>
      <vt:lpstr>Elastica</vt:lpstr>
      <vt:lpstr>Mapping the clamped elastica across its snap surface</vt:lpstr>
      <vt:lpstr>One rod, three parameters, a map of equilibria</vt:lpstr>
      <vt:lpstr>Equilibria are stationary points of the bending energy</vt:lpstr>
      <vt:lpstr>Stationarity gives the elastica equation and a mixed weak form</vt:lpstr>
      <vt:lpstr>Each parameter point is one Newton solve on 203 unknowns</vt:lpstr>
      <vt:lpstr>The snap surface</vt:lpstr>
      <vt:lpstr>Two equilibria 0.01 rad apart: the rod has snapped</vt:lpstr>
      <vt:lpstr>Bent up or bent down: the first buckling mode decides</vt:lpstr>
      <vt:lpstr>A snap is a sign change of p with a jump</vt:lpstr>
      <vt:lpstr>Smooth fields, then a jump across an L-shaped surface</vt:lpstr>
      <vt:lpstr>The sign of p traces the snap surface</vt:lpstr>
      <vt:lpstr>The snap surface in 3D</vt:lpstr>
      <vt:lpstr>The sheet rises from the step in axial force</vt:lpstr>
      <vt:lpstr>Continuation strategy</vt:lpstr>
      <vt:lpstr>Traverse the grid; reject jumps and unstable results</vt:lpstr>
      <vt:lpstr>Going around a fold: defer, never jump</vt:lpstr>
      <vt:lpstr>A stability test catches what the jump test misses</vt:lpstr>
      <vt:lpstr>Deriving the exact first mode used for the cold start</vt:lpstr>
      <vt:lpstr>Exact first-mode cold start, then continue the clamp angles</vt:lpstr>
      <vt:lpstr>Mirror symmetry halves the number of solves</vt:lpstr>
      <vt:lpstr>Final run</vt:lpstr>
      <vt:lpstr>2.98 M equilibria, every one checked</vt:lpstr>
      <vt:lpstr>Constant-energy surfaces: shells around the straight rod</vt:lpstr>
      <vt:lpstr>Constant axial force fx: bounded in compression</vt:lpstr>
      <vt:lpstr>Constant transverse force fy: mirror-image pairs</vt:lpstr>
      <vt:lpstr>Constant clamp moment M₁; M₂ is its mirror image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Mapping the clamped elastica across its snap surface</dc:title>
  <dc:subject>PptxGenJS Presentation</dc:subject>
  <dc:creator>PptxGenJS</dc:creator>
  <cp:lastModifiedBy>Bendale Goraksh Manish</cp:lastModifiedBy>
  <cp:revision>12</cp:revision>
  <dcterms:created xsi:type="dcterms:W3CDTF">2026-10-09T14:15:45Z</dcterms:created>
  <dcterms:modified xsi:type="dcterms:W3CDTF">2026-10-12T13:35:09Z</dcterms:modified>
</cp:coreProperties>
</file>