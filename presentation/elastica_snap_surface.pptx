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90" r:id="rId29"/>
    <p:sldId id="291" r:id="rId30"/>
    <p:sldId id="262" r:id="rId10"/>
    <p:sldId id="265" r:id="rId11"/>
    <p:sldId id="292" r:id="rId31"/>
    <p:sldId id="293" r:id="rId32"/>
    <p:sldId id="266" r:id="rId15"/>
    <p:sldId id="267" r:id="rId16"/>
    <p:sldId id="294" r:id="rId33"/>
    <p:sldId id="295" r:id="rId34"/>
    <p:sldId id="289" r:id="rId17"/>
    <p:sldId id="268" r:id="rId18"/>
    <p:sldId id="272" r:id="rId22"/>
    <p:sldId id="296" r:id="rId35"/>
    <p:sldId id="297" r:id="rId36"/>
    <p:sldId id="298" r:id="rId37"/>
    <p:sldId id="299" r:id="rId38"/>
    <p:sldId id="300" r:id="rId39"/>
    <p:sldId id="301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nap surface" id="{8EC7598D-7973-6D1C-AB16-2878DA9877AD}">
          <p14:sldIdLst>
            <p14:sldId id="261"/>
            <p14:sldId id="263"/>
            <p14:sldId id="290"/>
            <p14:sldId id="291"/>
            <p14:sldId id="262"/>
            <p14:sldId id="265"/>
            <p14:sldId id="292"/>
            <p14:sldId id="293"/>
          </p14:sldIdLst>
        </p14:section>
        <p14:section name="Continuation strategy" id="{95CDCF11-1B6B-B936-99DA-258805DCA0FC}">
          <p14:sldIdLst>
            <p14:sldId id="266"/>
            <p14:sldId id="267"/>
            <p14:sldId id="294"/>
            <p14:sldId id="295"/>
            <p14:sldId id="289"/>
            <p14:sldId id="268"/>
            <p14:sldId id="272"/>
          </p14:sldIdLst>
        </p14:section>
        <p14:section name="Production run" id="{3B1F6A52-8C0D-4E57-9A3C-5E2B7D4F9C61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88429" autoAdjust="0"/>
  </p:normalViewPr>
  <p:slideViewPr>
    <p:cSldViewPr snapToGrid="0" snapToObjects="1">
      <p:cViewPr varScale="1">
        <p:scale>
          <a:sx n="109" d="100"/>
          <a:sy n="109" d="100"/>
        </p:scale>
        <p:origin x="888" y="10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Today: how we map every stable equilibrium of a clamped rod as we change its end distance and its two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hard part is the snap: at some settings the rod jumps to a different shape, and the solver has to notice.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Plan: the math, the snap surface, how the continuation handles it, and the full production 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A thin rod of unit length, clamped at both ends; EI = 1.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Three controls: the clamp distance d and the two clamp angles φ₁ and φ₂.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At every grid point we solve for the shape and the end forces, then record the clamp moments and the bending energy.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production grid has 30 d layers of 315 × 315 angle pairs: just under three million equilibria.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rod settles where its bending energy is stationary, with its ends held where we put them.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θ along the arc keeps the length fixed automatically.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position enters through two Lagrange multipliers, fx and fy: the reaction forces at the clamp.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stable stationary points are kept; the stability test comes later.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Setting the variation of the Lagrangian to zero gives the classic elastica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FEniCSx we solve the weak form: θ on 200 linear elements, refined towards the clamps, plus one global unknown each for fx and fy.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grading matters near d = 1 with large clamp angles: the tension is huge and the rod turns inside thin boundary layers at the clamps.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Per point we store both clamp moments and the bending energy.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Each point of the map is a single Newton solve on 203 unknowns, so one solve is cheap: about 11 ms.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Direct LU solve, cubic backtracking line search, tight tolerances.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warm start from a neighbour normally converges in a few iterations; 50 is the cap before we call it a failure.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catch is the fold: the Jacobian goes singular exactly where the snap happens.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Now, what the snap looks like in the data.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the feature that makes the problem interesting, and hard.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Two converged shapes only a hundredth of a radian apart in clamp angle, yet completely different.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 the left the rod is bent down with U = 2.27; one step on it is bent up with U = 6.11.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branch the rod was on ends, so it jumps to another one.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solutions meet the tolerance, so convergence alone can't tell you a jump happened. We need a shape test.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are the fields on one layer, d = 0.90, over the full range of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smooth, except along an L-shaped edge where all the fields jump together.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energy nearly triples and the axial force doubles in a single grid step.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Colour is q: orange bent up, slate bent down. The jump rule on neighbouring grid points draws the snap in red.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black lines along the diagonal are smooth zero crossings, where the rod passes through an S-shape.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Stacking the snap curves of several layers: the L-shape shrinks towards the origin as the rod straightens.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Its corner sits on the anti-diagonal φ₁ = −φ₂ and its ends on the diagonal.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 the solver: how it covers the box without ever jumping across the snap.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One cold start, at the angular origin and the smallest d. Then the solved region grows as a front, nearest grid distance first.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Each node is warm-started from a solved neighbour: its θ and both forces.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result is kept only if q does not jump relative to that neighbour, and the equilibrium is stable.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Otherwise we try the next neighbour; after three failures from one branch, the node waits for the other branch.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half the box is solved; the mirror fills the rest.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cold start needs a solution we know exactly. At zero clamp angles the problem is symmetric, fy vanishes and the elastica is the pendulum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Integrating once and substituting gives the Jacobi elliptic sn function; the modulus k is the sine of half the peak angle.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clamp conditions need exactly one period of sn: four quarter-waves, which fixes λL = 4K(m) and the axial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distance then fixes m through a one-dimensional root-find. For a small bow it reduces to the familiar sine shape and the Euler load.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exact mode at zero clamp angles converges in two Newton iterations at any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From there we ramp the clamp angles to the target, at most a quarter radian per step, halving a step that fails.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the hump-up and hump-down modes are continued and the lower energy kept.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used once at the start, and otherwise only as a last resort when the front stalls.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Reflecting the rod about mid-span maps the clamp angles (φ₁, φ₂) to (−φ₂, −φ₁).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only the half φ₁ + φ₂ ≥ 0 is solved; every accepted solution also fills its mirror node.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axial force, the energy and p carry over; fy flips sign and the two clamp moments swap.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tell which branch a solution is on, we project its transverse shape onto the first clamped buckling mode.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y(s) is the deflection, w₁ = 1 − cos 2πs is the first mode; p is their normalised inner product.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Positive p means the rod bows up, negative means it bows down. The S-shape sits at p ≈ 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second mode is antisymmetric, so it says nothing about up versus down; the first mode alone is enough.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p itself shrinks as the rod straightens, so we compare q = p over a(d), the amplitude of the exact first mode at that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Between two neighbours, q jumps when it changes by more than 0.17 and by more than half its size.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Along this line at d = 0.90, q goes from −1.03 to +0.52 in one step: that is the snap. Normal neighbours differ by 0.003.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q can also pass through zero smoothly, through an S-shape near the diagonal. That is a crossing, not a snap.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same rule also catches a jump onto the unstable S-shaped family without a sign change; the solver rejects those too.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Stacking every layer gives the snap surface over the whole box.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is the p = 0 contour of the tetrahedral grid, keeping only the part where p jumps, so smooth S-shape crossings are left out.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Seen down the d axis, each layer is the same L, and the sheet tilts in towards the origin as d approaches 1.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 the d = 0.90 layer is coloured by the axial force, and the snap sheet rises from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Across the sheet the compressive force roughly doubles, at every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sheet comes from the shape alone, through p, and it sits exactly on that force step.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key rule: never accept a branch switch. A node that cannot be reached without a jump is deferred.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three neighbours on one branch fail, the node only tries the other branch, so it waits for the front to arrive from the far side of the fold.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front gets there the long way round, through the smooth crossings near the diagonal.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the production run this happened only near d = 1; 1,155 nodes waited, and one extra cold start was needed.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Newton converges to unstable equilibria as happily as to stable ones.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Usually a jump in q gives that away, but not on the anti-diagonal: there the rod is symmetric and the bent-up branch loses stability at a bifurcation, without a jump.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every candidate also gets a stability test: the constrained second variation must have no negative direction.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count negative directions from the inertia of a bordered tridiagonal matrix, which is linear in the number of elements and costs about 0.2 ms.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production 17 unstable results were rejected, and a re-test of the final map found none.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Finally, the full production map, and what it says about energy, force and moment.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Every one of the almost three million grid points is solved, in about four hours on one core.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Checks independent of the front: the mirror pairs, the exact first mode on every layer, and 300 random points re-solved with scipy's BVP solver, worst error 0.27 %.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stability re-test of the whole map found no unstable equilibrium.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bent-up share falls from 70 % to about half as the rod straightens.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in one VTU for ParaView.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bending energy, coloured by d; the faint red sheet is the snap surface.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Low energy is a bowl around the nearly straight rod; higher levels wrap around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level sets stop at the snap, because the energy jumps there.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axial force. Positive is compression.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Compression is bounded: it never reaches 100, and the high levels are small slivers inside the bent-up region.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Tension, by contrast, grows without bound as the rod is pulled straight with large clamp angles.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transverse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mirror flips fy, so fy = 0 on the whole anti-diagonal plane, and each positive level has a negative twin.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left clamp moment.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right moment needs no separate plot: by the mirror it is the left moment at the reflected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are in the VTU for exploration in ParaView.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8" Type="http://schemas.openxmlformats.org/officeDocument/2006/relationships/image" Target="../media/new_eq1_885477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new_snap_pair_723471.png"/></Relationships>
</file>

<file path=ppt/slides/_rels/slide9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new_fields_d090_182729.png"/></Relationships>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Relationship Id="rId5" Type="http://schemas.openxmlformats.org/officeDocument/2006/relationships/image" Target="../media/new_branch_map_d090_398653.png"/><Relationship Id="rId6" Type="http://schemas.openxmlformats.org/officeDocument/2006/relationships/image" Target="../media/new_snap_curves_654292.png"/></Relationships>
</file>

<file path=ppt/slides/_rels/slide1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0" Type="http://schemas.openxmlformats.org/officeDocument/2006/relationships/image" Target="../media/new_eq9_240358.png"/><Relationship Id="rId11" Type="http://schemas.openxmlformats.org/officeDocument/2006/relationships/image" Target="../media/new_eq10_962326.png"/></Relationships>
</file>

<file path=ppt/slides/_rels/slide17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1.png"/><Relationship Id="rId5" Type="http://schemas.openxmlformats.org/officeDocument/2006/relationships/image" Target="../media/image230.png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Relationship Id="rId5" Type="http://schemas.openxmlformats.org/officeDocument/2006/relationships/image" Target="../media/new_eq11_433747.png"/><Relationship Id="rId6" Type="http://schemas.openxmlformats.org/officeDocument/2006/relationships/image" Target="../media/new_mirror_585138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rods_p_464844.png"/><Relationship Id="rId3" Type="http://schemas.openxmlformats.org/officeDocument/2006/relationships/image" Target="../media/new_eq2_234338.png"/><Relationship Id="rId4" Type="http://schemas.openxmlformats.org/officeDocument/2006/relationships/image" Target="../media/new_eq3_417921.png"/><Relationship Id="rId99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jump_line_500432.png"/><Relationship Id="rId3" Type="http://schemas.openxmlformats.org/officeDocument/2006/relationships/image" Target="../media/new_eq4_153151.png"/><Relationship Id="rId4" Type="http://schemas.openxmlformats.org/officeDocument/2006/relationships/image" Target="../media/new_eq5_705598.png"/><Relationship Id="rId99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snap3d_829773.png"/><Relationship Id="rId3" Type="http://schemas.openxmlformats.org/officeDocument/2006/relationships/image" Target="../media/new_snap3d_top_947882.png"/><Relationship Id="rId99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fx_step3d_833034.png"/><Relationship Id="rId99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front_d099_843669.png"/><Relationship Id="rId99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eq6_11137.png"/><Relationship Id="rId3" Type="http://schemas.openxmlformats.org/officeDocument/2006/relationships/image" Target="../media/new_eq7_131694.png"/><Relationship Id="rId4" Type="http://schemas.openxmlformats.org/officeDocument/2006/relationships/image" Target="../media/new_eq8_136579.png"/><Relationship Id="rId99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9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99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iso_energy_766742.png"/><Relationship Id="rId3" Type="http://schemas.openxmlformats.org/officeDocument/2006/relationships/image" Target="../media/new_iso_energy_layers_824736.png"/><Relationship Id="rId99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iso_force_fx_921773.png"/><Relationship Id="rId3" Type="http://schemas.openxmlformats.org/officeDocument/2006/relationships/image" Target="../media/new_iso_force_fx_layers_803877.png"/><Relationship Id="rId99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iso_force_fy_311933.png"/><Relationship Id="rId3" Type="http://schemas.openxmlformats.org/officeDocument/2006/relationships/image" Target="../media/new_iso_force_fy_layers_431428.png"/><Relationship Id="rId99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new_iso_moment_515075.png"/><Relationship Id="rId3" Type="http://schemas.openxmlformats.org/officeDocument/2006/relationships/image" Target="../media/new_iso_moment_layers_710048.png"/><Relationship Id="rId99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dirty="0">
                <a:solidFill>
                  <a:schemeClr val="bg1"/>
                </a:solidFill>
              </a:rPr>
              <a:t>Mapping the clamped elastica across its snap surface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buckling-mode branch tracking in FEniCSx / PETSc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dirty="0" baseline="-2500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dirty="0" baseline="-2500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both clamp moments and the bending energy U.</a:t>
            </a:r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0.99;  Δd = 0.01</a:t>
            </a:r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−π/2 to π/2;  Δφ = π/314 ≈ 0.01</a:t>
            </a:r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φ₁; grid 30 × 315 × 315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stable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200 elements, graded towards both clamps</a:t>
            </a:r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1" name="latex-outputs"/>
              <p:cNvSpPr txBox="1"/>
              <p:nvPr/>
            </p:nvSpPr>
            <p:spPr>
              <a:xfrm>
                <a:off x="3657600" y="5230368"/>
                <a:ext cx="3986030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p>
                        <m:e>
                          <m:sSup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01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230368"/>
                <a:ext cx="3986030" cy="5669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02" name="caption-402"/>
          <p:cNvSpPr txBox="1"/>
          <p:nvPr/>
        </p:nvSpPr>
        <p:spPr>
          <a:xfrm>
            <a:off x="3657600" y="58155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Moments: end-element slope plus a half-element Taylor correction (second order)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Each parameter point is one Newton solve on 203 unknowns</a:t>
            </a:r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8059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u = (θ₀ … θ₂₀₀,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);  (0 &lt; α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k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 &lt; 1) from cubic backtracking line search</a:t>
            </a:r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</a:t>
            </a:r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201 nodal angles + 2 multipliers</a:t>
            </a:r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max Newton its</a:t>
            </a:r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indent="0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per warm start; more counts as a failure</a:t>
            </a:r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At a fold of the solution branch, the Jacobian becomes singular, so the snap surface is exactly where the Newton solver fails, and where the continuation logic has to take over.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Two rod shapes at d = 0.90, phi2 = 0, either side of the sn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762507"/>
            <a:ext cx="6035040" cy="3072733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0, production run. Converged solutions on either side of the jump.</a:t>
            </a:r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Bending energy and axial force on the d = 0.90 lay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0270"/>
            <a:ext cx="8412480" cy="3633559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Production run, d = 0.90 layer: φ₁, φ₂ ∈ [−π/2, π/2], Δφ ≈ 0.01, 99,225 points.</a:t>
            </a:r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|Δq| ≈ 0.003</a:t>
            </a:r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2.27 → 6.11 and f</a:t>
            </a:r>
            <a:r>
              <a:rPr lang="en-US" sz="1300" dirty="0" baseline="-2500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28 → 59 in a single 0.01 step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The sign of p traces the snap surface</a:t>
            </a:r>
          </a:p>
        </p:txBody>
      </p:sp>
      <p:pic>
        <p:nvPicPr>
          <p:cNvPr id="3" name="figure-101" descr="q on the d = 0.90 layer with snap and smooth-crossing edg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35714"/>
            <a:ext cx="5120640" cy="4169453"/>
          </a:xfrm>
          <a:prstGeom prst="rect">
            <a:avLst/>
          </a:prstGeom>
        </p:spPr>
      </p:pic>
      <p:pic>
        <p:nvPicPr>
          <p:cNvPr id="4" name="figure-102" descr="Snap curves on seven d layers from 0.70 to 0.9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6448" y="1325880"/>
            <a:ext cx="4512224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Red: snap edges, where p changes sign with a jump. Black: smooth crossings through the S-shape.</a:t>
            </a:r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L closes in: at φ₂ = 0 the snap sits at φ₁ ≈ −0.98 (d = 0.70), −0.57 (0.90) and −0.18 (0.99).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dirty="0">
                <a:solidFill>
                  <a:schemeClr val="bg1"/>
                </a:solidFill>
              </a:rPr>
              <a:t>Continuation strategy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the solver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Traverse the grid; reject jumps and unstable results</a:t>
            </a:r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Cold-start once at φ₁ = φ₂ = 0, smallest d; visit nodes by grid distance from it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a solved grid neighbour, nearest first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at most 50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No jump in q, and stable?</a:t>
            </a:r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Rejected or diverged: try the next neighbour. After 3 failures from one branch, wait for the other; a waiting node retries whenever a neighbour is solved.</a:t>
            </a:r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warm starts come from the 26 grid neighbours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checkpoints, also on Ctrl-C; a resume reloads every stored θ as a warm-start source</a:t>
            </a:r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ct first mode der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Deriving the exact first mode used for the cold start</a:t>
            </a:r>
            <a:endParaRPr lang="en-US" sz="3000" dirty="0"/>
          </a:p>
        </p:txBody>
      </p:sp>
      <p:sp>
        <p:nvSpPr>
          <p:cNvPr id="3" name="step-card-1"/>
          <p:cNvSpPr/>
          <p:nvPr/>
        </p:nvSpPr>
        <p:spPr>
          <a:xfrm>
            <a:off x="548640" y="141732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tep-badge-1"/>
          <p:cNvSpPr/>
          <p:nvPr/>
        </p:nvSpPr>
        <p:spPr>
          <a:xfrm>
            <a:off x="777240" y="15819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step-text-1"/>
          <p:cNvSpPr txBox="1"/>
          <p:nvPr/>
        </p:nvSpPr>
        <p:spPr>
          <a:xfrm>
            <a:off x="1325880" y="145389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φ₁ = φ₂ = 0 is mirror-symmetric, so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= 0 and the elastica is a pendulum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mode-1"/>
              <p:cNvSpPr txBox="1"/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mode-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tep-card-2"/>
          <p:cNvSpPr/>
          <p:nvPr/>
        </p:nvSpPr>
        <p:spPr>
          <a:xfrm>
            <a:off x="548640" y="2221992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tep-badge-2"/>
          <p:cNvSpPr/>
          <p:nvPr/>
        </p:nvSpPr>
        <p:spPr>
          <a:xfrm>
            <a:off x="777240" y="2386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9" name="step-text-2"/>
          <p:cNvSpPr txBox="1"/>
          <p:nvPr/>
        </p:nvSpPr>
        <p:spPr>
          <a:xfrm>
            <a:off x="1325880" y="225856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Multiply by θ′ and integrate once; θ′ = 0 at the peak angle α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1" name="latex-mode-2"/>
              <p:cNvSpPr txBox="1"/>
              <p:nvPr/>
            </p:nvSpPr>
            <p:spPr>
              <a:xfrm>
                <a:off x="6856476" y="2438400"/>
                <a:ext cx="3249168" cy="28041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01" name="latex-mode-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476" y="2438400"/>
                <a:ext cx="3249168" cy="28041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1" name="step-card-3"/>
          <p:cNvSpPr/>
          <p:nvPr/>
        </p:nvSpPr>
        <p:spPr>
          <a:xfrm>
            <a:off x="548640" y="3026664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tep-badge-3"/>
          <p:cNvSpPr/>
          <p:nvPr/>
        </p:nvSpPr>
        <p:spPr>
          <a:xfrm>
            <a:off x="777240" y="3191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1325880" y="30632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Substituting sin(θ/2) = k sin ψ gives ψ′ = λ√(1 − m sin²ψ), so sin ψ = sn(λs | 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2" name="latex-mode-3"/>
              <p:cNvSpPr txBox="1"/>
              <p:nvPr/>
            </p:nvSpPr>
            <p:spPr>
              <a:xfrm>
                <a:off x="6710172" y="3249168"/>
                <a:ext cx="3541776" cy="2682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arcsin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02" name="latex-mode-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172" y="3249168"/>
                <a:ext cx="3541776" cy="2682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5" name="step-card-4"/>
          <p:cNvSpPr/>
          <p:nvPr/>
        </p:nvSpPr>
        <p:spPr>
          <a:xfrm>
            <a:off x="548640" y="3831336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tep-badge-4"/>
          <p:cNvSpPr/>
          <p:nvPr/>
        </p:nvSpPr>
        <p:spPr>
          <a:xfrm>
            <a:off x="77724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7" name="step-text-4"/>
          <p:cNvSpPr txBox="1"/>
          <p:nvPr/>
        </p:nvSpPr>
        <p:spPr>
          <a:xfrm>
            <a:off x="132588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θ(L) = 0 and ∫ sin θ ds = 0 need one full period of sn (4K): four quarter-waves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4"/>
              <p:cNvSpPr txBox="1"/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 ⇒ 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tep-card-5"/>
          <p:cNvSpPr/>
          <p:nvPr/>
        </p:nvSpPr>
        <p:spPr>
          <a:xfrm>
            <a:off x="548640" y="4636008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tep-badge-5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1" name="step-text-5"/>
          <p:cNvSpPr txBox="1"/>
          <p:nvPr/>
        </p:nvSpPr>
        <p:spPr>
          <a:xfrm>
            <a:off x="1325880" y="4672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 distance fixes m; d/L falls monotonically in m, so a 1-D root-find is safe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latex-mode-5"/>
              <p:cNvSpPr txBox="1"/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latex-mode-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tep-card-6"/>
          <p:cNvSpPr/>
          <p:nvPr/>
        </p:nvSpPr>
        <p:spPr>
          <a:xfrm>
            <a:off x="548640" y="544068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tep-badge-6"/>
          <p:cNvSpPr/>
          <p:nvPr/>
        </p:nvSpPr>
        <p:spPr>
          <a:xfrm>
            <a:off x="777240" y="5605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5" name="step-text-6"/>
          <p:cNvSpPr txBox="1"/>
          <p:nvPr/>
        </p:nvSpPr>
        <p:spPr>
          <a:xfrm>
            <a:off x="1325880" y="547725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Small bow, m → 0: the A sin(2πs/L) shape with A = 2√(1 − d/L), and the Euler load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latex-mode-6"/>
              <p:cNvSpPr txBox="1"/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latex-mode-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/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105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f>
                            <m:fPr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GB" sz="1050" i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func>
                                    <m:funcPr>
                                      <m:ctrlP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</m:e>
                              </m:rad>
                            </m:den>
                          </m:f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1050" i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func>
                            </m:e>
                          </m:rad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GB" sz="10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blipFill>
                <a:blip r:embed="rId9"/>
                <a:stretch>
                  <a:fillRect t="-124691" b="-1827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 first-mode cold start, then continue the clamp angles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figure-135" descr="Rod shapes during the cold start at d = 0.90, φ1 = 0.60, φ2 = -0.40: exact first mode, two continuation steps, and the kept and discarded branch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Predictor for each continuation step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Exact at φ₁ = φ₂ = 0 for any d, with ∫ sin θ ds = 0: Newton converges in 2 iterations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Steps ≤ 0.25 rad, ≤ 15 Newton iterations each; a failed step halves, giving up below 0.02 rad (a fold)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Both hump signs are continued and the lower energy kept, so the result does not depend on which branch the ramp follows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/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Mirror symmetry halves the number of solves</a:t>
            </a:r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1" name="latex-sym"/>
              <p:cNvSpPr txBox="1"/>
              <p:nvPr/>
            </p:nvSpPr>
            <p:spPr>
              <a:xfrm>
                <a:off x="1984248" y="1653540"/>
                <a:ext cx="8238744" cy="3048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acc>
                        <m:accPr>
                          <m:chr m:val="̃"/>
                        </m:acc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acc>
                        <m:accPr>
                          <m:chr m:val="̃"/>
                        </m:acc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01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248" y="1653540"/>
                <a:ext cx="8238744" cy="304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pic>
        <p:nvPicPr>
          <p:cNvPr id="5" name="figure-225" descr="Solved half of the angle square, and theta with its mirror image at d = 0.9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16" y="2423160"/>
            <a:ext cx="7314929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dirty="0" baseline="-2500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U and p carry over, f</a:t>
            </a:r>
            <a:r>
              <a:rPr lang="en-US" sz="1400" dirty="0" baseline="-2500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left and right moments swap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uckling-mode proj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Bent up or bent down: the first buckling mode decides</a:t>
            </a:r>
            <a:endParaRPr lang="en-US" sz="3000" dirty="0"/>
          </a:p>
        </p:txBody>
      </p:sp>
      <p:pic>
        <p:nvPicPr>
          <p:cNvPr id="401" name="figure-401" descr="Bent-up, bent-down and S-shaped rods at d = 0.90 with their projection p, and the first m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1694"/>
            <a:ext cx="5669280" cy="3660411"/>
          </a:xfrm>
          <a:prstGeom prst="rect">
            <a:avLst/>
          </a:prstGeom>
        </p:spPr>
      </p:pic>
      <p:sp>
        <p:nvSpPr>
          <p:cNvPr id="402" name="card-402"/>
          <p:cNvSpPr/>
          <p:nvPr/>
        </p:nvSpPr>
        <p:spPr>
          <a:xfrm>
            <a:off x="6355080" y="1417320"/>
            <a:ext cx="5257800" cy="16002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latex-p"/>
              <p:cNvSpPr txBox="1"/>
              <p:nvPr/>
            </p:nvSpPr>
            <p:spPr>
              <a:xfrm>
                <a:off x="6583680" y="1525524"/>
                <a:ext cx="2002536" cy="6888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‖</m:t>
                          </m:r>
                          <m:sSub>
                            <m:e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‖</m:t>
                          </m:r>
                        </m:den>
                      </m:f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p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nary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403" name="latex-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525524"/>
                <a:ext cx="2002536" cy="6888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4" name="latex-yw"/>
              <p:cNvSpPr txBox="1"/>
              <p:nvPr/>
            </p:nvSpPr>
            <p:spPr>
              <a:xfrm>
                <a:off x="6583680" y="2321052"/>
                <a:ext cx="3520440" cy="5242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e>
                      </m:nary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  </m:t>
                      </m:r>
                      <m:sSub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num>
                        <m:den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den>
                      </m:f>
                    </m:oMath>
                  </m:oMathPara>
                </a14:m>
                <a:endParaRPr lang="en-US" sz="1500" dirty="0"/>
              </a:p>
            </p:txBody>
          </p:sp>
        </mc:Choice>
        <mc:Fallback>
          <p:sp>
            <p:nvSpPr>
              <p:cNvPr id="404" name="latex-yw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321052"/>
                <a:ext cx="3520440" cy="5242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5" name="badge-405"/>
          <p:cNvSpPr/>
          <p:nvPr/>
        </p:nvSpPr>
        <p:spPr>
          <a:xfrm>
            <a:off x="635508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903720" y="32918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clamped buckling mode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w₁ is the symmetric hump; the second mode is antisymmetric and carries no up/down information.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355080" y="42793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90372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Sign = branch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&gt; 0: bent up.  p &lt; 0: bent down.  The S-shape has p ≈ 0.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355080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903720" y="5212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Built-in symmetry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is unchanged by the mirror (φ₁, φ₂) → (−φ₂, −φ₁) and flips under (φ₁, φ₂) → (−φ₁, −φ₂).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mp r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snap is a sign change of p with a jump</a:t>
            </a:r>
            <a:endParaRPr lang="en-US" sz="3000" dirty="0"/>
          </a:p>
        </p:txBody>
      </p:sp>
      <p:pic>
        <p:nvPicPr>
          <p:cNvPr id="401" name="figure-401" descr="Energy and q along phi1 at d = 0.90, phi2 = 0; q jumps from -1.03 to +0.52 at the sn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2786"/>
            <a:ext cx="5669280" cy="4538228"/>
          </a:xfrm>
          <a:prstGeom prst="rect">
            <a:avLst/>
          </a:prstGeom>
        </p:spPr>
      </p:pic>
      <p:sp>
        <p:nvSpPr>
          <p:cNvPr id="402" name="card-402"/>
          <p:cNvSpPr/>
          <p:nvPr/>
        </p:nvSpPr>
        <p:spPr>
          <a:xfrm>
            <a:off x="6355080" y="1417320"/>
            <a:ext cx="5257800" cy="16002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latex-q"/>
              <p:cNvSpPr txBox="1"/>
              <p:nvPr/>
            </p:nvSpPr>
            <p:spPr>
              <a:xfrm>
                <a:off x="6583680" y="1543812"/>
                <a:ext cx="853440" cy="5151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num>
                        <m:den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403" name="latex-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543812"/>
                <a:ext cx="853440" cy="515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4" name="latex-jump"/>
              <p:cNvSpPr txBox="1"/>
              <p:nvPr/>
            </p:nvSpPr>
            <p:spPr>
              <a:xfrm>
                <a:off x="6583680" y="2302764"/>
                <a:ext cx="3453384" cy="4236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0.17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>
          <p:sp>
            <p:nvSpPr>
              <p:cNvPr id="404" name="latex-ju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302764"/>
                <a:ext cx="3453384" cy="4236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5" name="badge-405"/>
          <p:cNvSpPr/>
          <p:nvPr/>
        </p:nvSpPr>
        <p:spPr>
          <a:xfrm>
            <a:off x="635508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903720" y="32918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Scale out d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shrinks like √(1 − d); a(d) is |p| of the exact first mode at (d, 0, 0), so q = ±1 there at every d.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355080" y="42793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90372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Snap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Sign change with a jump: q goes −1.03 → +0.52 in one 0.01 step. Smooth neighbours differ by about 0.003.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355080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903720" y="5212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Smooth crossing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Sign change without a jump, through the S-shape near φ₁ = φ₂. Not a snap.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nap surface 3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snap surface in 3D</a:t>
            </a:r>
            <a:endParaRPr lang="en-US" sz="3000" dirty="0"/>
          </a:p>
        </p:txBody>
      </p:sp>
      <p:pic>
        <p:nvPicPr>
          <p:cNvPr id="401" name="figure-401" descr="Snap surface over (phi1, phi2, d), coloured by 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15" y="1280160"/>
            <a:ext cx="4812609" cy="4297680"/>
          </a:xfrm>
          <a:prstGeom prst="rect">
            <a:avLst/>
          </a:prstGeom>
        </p:spPr>
      </p:pic>
      <p:pic>
        <p:nvPicPr>
          <p:cNvPr id="402" name="figure-402" descr="Snap surface seen down the d axis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10" y="1280160"/>
            <a:ext cx="4646141" cy="4297680"/>
          </a:xfrm>
          <a:prstGeom prst="rect">
            <a:avLst/>
          </a:prstGeom>
        </p:spPr>
      </p:pic>
      <p:sp>
        <p:nvSpPr>
          <p:cNvPr id="403" name="caption-403"/>
          <p:cNvSpPr txBox="1"/>
          <p:nvPr/>
        </p:nvSpPr>
        <p:spPr>
          <a:xfrm>
            <a:off x="548640" y="5669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Oblique view, d stretched ×8. The p = 0 contour of the 17.2 M-tetrahedron grid, kept where p jumps: 29,756 snap edges, area 2.62.</a:t>
            </a:r>
            <a:endParaRPr lang="en-US" sz="1100" dirty="0"/>
          </a:p>
        </p:txBody>
      </p:sp>
      <p:sp>
        <p:nvSpPr>
          <p:cNvPr id="404" name="caption-404"/>
          <p:cNvSpPr txBox="1"/>
          <p:nvPr/>
        </p:nvSpPr>
        <p:spPr>
          <a:xfrm>
            <a:off x="635508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Down the d axis: every layer is the L-shape, and the sheet closes in on the origin as d → 1. Colour: d.</a:t>
            </a:r>
            <a:endParaRPr lang="en-US" sz="11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xial force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401" name="figure-401" descr="The d = 0.90 layer coloured by fx with the snap sheet above 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90" y="1280160"/>
            <a:ext cx="5514019" cy="4572000"/>
          </a:xfrm>
          <a:prstGeom prst="rect">
            <a:avLst/>
          </a:prstGeom>
        </p:spPr>
      </p:pic>
      <p:sp>
        <p:nvSpPr>
          <p:cNvPr id="402" name="caption-402"/>
          <p:cNvSpPr txBox="1"/>
          <p:nvPr/>
        </p:nvSpPr>
        <p:spPr>
          <a:xfrm>
            <a:off x="548640" y="58978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Layer d = 0.90 coloured by f</a:t>
            </a:r>
            <a:r>
              <a:rPr lang="en-US" sz="1100" baseline="-25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 (clipped at ±80); the snap sheet above it is translucent.</a:t>
            </a:r>
            <a:endParaRPr lang="en-US" sz="1100" dirty="0"/>
          </a:p>
        </p:txBody>
      </p:sp>
      <p:sp>
        <p:nvSpPr>
          <p:cNvPr id="403" name="text-403"/>
          <p:cNvSpPr txBox="1"/>
          <p:nvPr/>
        </p:nvSpPr>
        <p:spPr>
          <a:xfrm>
            <a:off x="676656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Across the snap at φ₂ = 0, f</a:t>
            </a:r>
            <a:r>
              <a:rPr lang="en-US" sz="1400" baseline="-25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roughly doubles at every d:</a:t>
            </a:r>
            <a:endParaRPr lang="en-US" sz="1400" dirty="0"/>
          </a:p>
        </p:txBody>
      </p:sp>
      <p:sp>
        <p:nvSpPr>
          <p:cNvPr id="404" name="card-404"/>
          <p:cNvSpPr/>
          <p:nvPr/>
        </p:nvSpPr>
        <p:spPr>
          <a:xfrm>
            <a:off x="6766560" y="187452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5" name="big-405"/>
          <p:cNvSpPr txBox="1"/>
          <p:nvPr/>
        </p:nvSpPr>
        <p:spPr>
          <a:xfrm>
            <a:off x="699516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30.1 → 61.5</a:t>
            </a:r>
            <a:endParaRPr lang="en-US" sz="2400" dirty="0"/>
          </a:p>
        </p:txBody>
      </p:sp>
      <p:sp>
        <p:nvSpPr>
          <p:cNvPr id="406" name="where-406"/>
          <p:cNvSpPr txBox="1"/>
          <p:nvPr/>
        </p:nvSpPr>
        <p:spPr>
          <a:xfrm>
            <a:off x="9418320" y="1874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0.80, jump at φ₁ ≈ −0.80</a:t>
            </a:r>
            <a:endParaRPr lang="en-US" sz="1150" dirty="0"/>
          </a:p>
        </p:txBody>
      </p:sp>
      <p:sp>
        <p:nvSpPr>
          <p:cNvPr id="407" name="card-407"/>
          <p:cNvSpPr/>
          <p:nvPr/>
        </p:nvSpPr>
        <p:spPr>
          <a:xfrm>
            <a:off x="6766560" y="297180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8" name="big-408"/>
          <p:cNvSpPr txBox="1"/>
          <p:nvPr/>
        </p:nvSpPr>
        <p:spPr>
          <a:xfrm>
            <a:off x="6995160" y="2971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28.3 → 58.7</a:t>
            </a:r>
            <a:endParaRPr lang="en-US" sz="2400" dirty="0"/>
          </a:p>
        </p:txBody>
      </p:sp>
      <p:sp>
        <p:nvSpPr>
          <p:cNvPr id="409" name="where-409"/>
          <p:cNvSpPr txBox="1"/>
          <p:nvPr/>
        </p:nvSpPr>
        <p:spPr>
          <a:xfrm>
            <a:off x="9418320" y="2971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0.90, jump at φ₁ ≈ −0.57</a:t>
            </a:r>
            <a:endParaRPr lang="en-US" sz="1150" dirty="0"/>
          </a:p>
        </p:txBody>
      </p:sp>
      <p:sp>
        <p:nvSpPr>
          <p:cNvPr id="410" name="card-410"/>
          <p:cNvSpPr/>
          <p:nvPr/>
        </p:nvSpPr>
        <p:spPr>
          <a:xfrm>
            <a:off x="6766560" y="406908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1" name="big-411"/>
          <p:cNvSpPr txBox="1"/>
          <p:nvPr/>
        </p:nvSpPr>
        <p:spPr>
          <a:xfrm>
            <a:off x="699516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27.4 → 55.4</a:t>
            </a:r>
            <a:endParaRPr lang="en-US" sz="2400" dirty="0"/>
          </a:p>
        </p:txBody>
      </p:sp>
      <p:sp>
        <p:nvSpPr>
          <p:cNvPr id="412" name="where-412"/>
          <p:cNvSpPr txBox="1"/>
          <p:nvPr/>
        </p:nvSpPr>
        <p:spPr>
          <a:xfrm>
            <a:off x="9418320" y="4069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0.97, jump at φ₁ ≈ −0.31</a:t>
            </a:r>
            <a:endParaRPr lang="en-US" sz="1150" dirty="0"/>
          </a:p>
        </p:txBody>
      </p:sp>
      <p:sp>
        <p:nvSpPr>
          <p:cNvPr id="413" name="text-413"/>
          <p:cNvSpPr txBox="1"/>
          <p:nvPr/>
        </p:nvSpPr>
        <p:spPr>
          <a:xfrm>
            <a:off x="676656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surface is built from the shape alone, through the sign of p, yet it lands exactly on the step the forces see.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Going around a fold: defer, never jump</a:t>
            </a:r>
            <a:endParaRPr lang="en-US" sz="3000" dirty="0"/>
          </a:p>
        </p:txBody>
      </p:sp>
      <p:pic>
        <p:nvPicPr>
          <p:cNvPr id="401" name="figure-401" descr="Order in which the d = 0.99 layer was solved, with the deferred nodes highligh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622"/>
            <a:ext cx="5486400" cy="4525356"/>
          </a:xfrm>
          <a:prstGeom prst="rect">
            <a:avLst/>
          </a:prstGeom>
        </p:spPr>
      </p:pic>
      <p:sp>
        <p:nvSpPr>
          <p:cNvPr id="402" name="caption-402"/>
          <p:cNvSpPr txBox="1"/>
          <p:nvPr/>
        </p:nvSpPr>
        <p:spPr>
          <a:xfrm>
            <a:off x="548640" y="58521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d = 0.99 layer: the front grows outward; orange nodes had to wait for a neighbour on the other branch.</a:t>
            </a:r>
            <a:endParaRPr lang="en-US" sz="1100" dirty="0"/>
          </a:p>
        </p:txBody>
      </p:sp>
      <p:sp>
        <p:nvSpPr>
          <p:cNvPr id="403" name="badge-403"/>
          <p:cNvSpPr/>
          <p:nvPr/>
        </p:nvSpPr>
        <p:spPr>
          <a:xfrm>
            <a:off x="6263640" y="1444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4" name="step-404"/>
          <p:cNvSpPr txBox="1"/>
          <p:nvPr/>
        </p:nvSpPr>
        <p:spPr>
          <a:xfrm>
            <a:off x="6812280" y="1417320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Defer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node with no acceptable warm start is set aside, not forced; it is retried each time a new neighbour is solved.</a:t>
            </a:r>
            <a:endParaRPr lang="en-US" sz="1300" dirty="0"/>
          </a:p>
        </p:txBody>
      </p:sp>
      <p:sp>
        <p:nvSpPr>
          <p:cNvPr id="405" name="badge-405"/>
          <p:cNvSpPr/>
          <p:nvPr/>
        </p:nvSpPr>
        <p:spPr>
          <a:xfrm>
            <a:off x="626364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812280" y="2441448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Wait for the other branch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After 3 failures from neighbours on one branch it only tries the other, so a node past a fold waits for the far side.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263640" y="34930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812280" y="346557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The long way round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front reaches the cut-off region through the smooth crossings and approaches it from the far side.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263640" y="4517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812280" y="4489704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Last resort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Only if the whole front stalls is the nearest waiting node cold-started.</a:t>
            </a:r>
            <a:endParaRPr lang="en-US" sz="1300" dirty="0"/>
          </a:p>
        </p:txBody>
      </p:sp>
      <p:sp>
        <p:nvSpPr>
          <p:cNvPr id="411" name="caption-411"/>
          <p:cNvSpPr txBox="1"/>
          <p:nvPr/>
        </p:nvSpPr>
        <p:spPr>
          <a:xfrm>
            <a:off x="6263640" y="56235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Production run: 1,155 nodes waited (all at d ≥ 0.97); one extra cold start, at (0.99, 0.20, 0.20).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bility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stability test catches what the jump test misses</a:t>
            </a:r>
            <a:endParaRPr lang="en-US" sz="3000" dirty="0"/>
          </a:p>
        </p:txBody>
      </p:sp>
      <p:sp>
        <p:nvSpPr>
          <p:cNvPr id="401" name="card-401"/>
          <p:cNvSpPr/>
          <p:nvPr/>
        </p:nvSpPr>
        <p:spPr>
          <a:xfrm>
            <a:off x="548640" y="1417320"/>
            <a:ext cx="5760720" cy="2834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" name="card-head-402"/>
          <p:cNvSpPr txBox="1"/>
          <p:nvPr/>
        </p:nvSpPr>
        <p:spPr>
          <a:xfrm>
            <a:off x="777240" y="1536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Constrained second variation</a:t>
            </a:r>
            <a:endParaRPr lang="en-US" sz="15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latex-Q"/>
              <p:cNvSpPr txBox="1"/>
              <p:nvPr/>
            </p:nvSpPr>
            <p:spPr>
              <a:xfrm>
                <a:off x="777240" y="1944624"/>
                <a:ext cx="3526536" cy="591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p>
                        <m:e>
                          <m:sSup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03" name="latex-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944624"/>
                <a:ext cx="3526536" cy="591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4" name="latex-Qc"/>
              <p:cNvSpPr txBox="1"/>
              <p:nvPr/>
            </p:nvSpPr>
            <p:spPr>
              <a:xfrm>
                <a:off x="777240" y="2641092"/>
                <a:ext cx="3855720" cy="5242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p>
                        <m:e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p>
                        <m:e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04" name="latex-Q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641092"/>
                <a:ext cx="3855720" cy="5242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5" name="latex-inertia"/>
              <p:cNvSpPr txBox="1"/>
              <p:nvPr/>
            </p:nvSpPr>
            <p:spPr>
              <a:xfrm>
                <a:off x="777240" y="3438144"/>
                <a:ext cx="2837688" cy="25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sSup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>
          <p:sp>
            <p:nvSpPr>
              <p:cNvPr id="405" name="latex-inertia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3438144"/>
                <a:ext cx="2837688" cy="2560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6" name="caption-406"/>
          <p:cNvSpPr txBox="1"/>
          <p:nvPr/>
        </p:nvSpPr>
        <p:spPr>
          <a:xfrm>
            <a:off x="777240" y="3840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Stable when n₋ = 0: no direction lowers the energy.</a:t>
            </a:r>
            <a:endParaRPr lang="en-US" sz="1150" dirty="0"/>
          </a:p>
        </p:txBody>
      </p:sp>
      <p:sp>
        <p:nvSpPr>
          <p:cNvPr id="407" name="card-407"/>
          <p:cNvSpPr/>
          <p:nvPr/>
        </p:nvSpPr>
        <p:spPr>
          <a:xfrm>
            <a:off x="548640" y="4480560"/>
            <a:ext cx="2834640" cy="1691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8" name="tile-big-408"/>
          <p:cNvSpPr txBox="1"/>
          <p:nvPr/>
        </p:nvSpPr>
        <p:spPr>
          <a:xfrm>
            <a:off x="749808" y="459028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409" name="tile-label-409"/>
          <p:cNvSpPr txBox="1"/>
          <p:nvPr/>
        </p:nvSpPr>
        <p:spPr>
          <a:xfrm>
            <a:off x="749808" y="530352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results rejected</a:t>
            </a:r>
            <a:endParaRPr lang="en-US" sz="1400" dirty="0"/>
          </a:p>
        </p:txBody>
      </p:sp>
      <p:sp>
        <p:nvSpPr>
          <p:cNvPr id="410" name="tile-sub-410"/>
          <p:cNvSpPr txBox="1"/>
          <p:nvPr/>
        </p:nvSpPr>
        <p:spPr>
          <a:xfrm>
            <a:off x="749808" y="5650992"/>
            <a:ext cx="24323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during the production run</a:t>
            </a:r>
            <a:endParaRPr lang="en-US" sz="1150" dirty="0"/>
          </a:p>
        </p:txBody>
      </p:sp>
      <p:sp>
        <p:nvSpPr>
          <p:cNvPr id="411" name="card-411"/>
          <p:cNvSpPr/>
          <p:nvPr/>
        </p:nvSpPr>
        <p:spPr>
          <a:xfrm>
            <a:off x="3474720" y="4480560"/>
            <a:ext cx="2834640" cy="1691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2" name="tile-big-412"/>
          <p:cNvSpPr txBox="1"/>
          <p:nvPr/>
        </p:nvSpPr>
        <p:spPr>
          <a:xfrm>
            <a:off x="3675888" y="459028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3000" dirty="0"/>
          </a:p>
        </p:txBody>
      </p:sp>
      <p:sp>
        <p:nvSpPr>
          <p:cNvPr id="413" name="tile-label-413"/>
          <p:cNvSpPr txBox="1"/>
          <p:nvPr/>
        </p:nvSpPr>
        <p:spPr>
          <a:xfrm>
            <a:off x="3675888" y="530352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in the final map</a:t>
            </a:r>
            <a:endParaRPr lang="en-US" sz="1400" dirty="0"/>
          </a:p>
        </p:txBody>
      </p:sp>
      <p:sp>
        <p:nvSpPr>
          <p:cNvPr id="414" name="tile-sub-414"/>
          <p:cNvSpPr txBox="1"/>
          <p:nvPr/>
        </p:nvSpPr>
        <p:spPr>
          <a:xfrm>
            <a:off x="3675888" y="5650992"/>
            <a:ext cx="24323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all 2,976,750 nodes re-tested</a:t>
            </a:r>
            <a:endParaRPr lang="en-US" sz="1150" dirty="0"/>
          </a:p>
        </p:txBody>
      </p:sp>
      <p:sp>
        <p:nvSpPr>
          <p:cNvPr id="415" name="badge-415"/>
          <p:cNvSpPr/>
          <p:nvPr/>
        </p:nvSpPr>
        <p:spPr>
          <a:xfrm>
            <a:off x="6629400" y="1444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16" name="step-416"/>
          <p:cNvSpPr txBox="1"/>
          <p:nvPr/>
        </p:nvSpPr>
        <p:spPr>
          <a:xfrm>
            <a:off x="7178040" y="141732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Why the jump test is not enough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 φ₁ = −φ₂ the rod is symmetric (f</a:t>
            </a:r>
            <a:r>
              <a:rPr lang="en-US" sz="1300" baseline="-25000" dirty="0">
                <a:solidFill>
                  <a:schemeClr val="tx1"/>
                </a:solidFill>
              </a:rPr>
              <a:t>y</a:t>
            </a:r>
            <a:r>
              <a:rPr lang="en-US" sz="1300" dirty="0">
                <a:solidFill>
                  <a:schemeClr val="tx1"/>
                </a:solidFill>
              </a:rPr>
              <a:t> = 0); the bent-up branch loses stability at a symmetry-breaking bifurcation, not a fold. Newton follows it smoothly, with no jump in q.</a:t>
            </a:r>
            <a:endParaRPr lang="en-US" sz="1300" dirty="0"/>
          </a:p>
        </p:txBody>
      </p:sp>
      <p:sp>
        <p:nvSpPr>
          <p:cNvPr id="417" name="badge-417"/>
          <p:cNvSpPr/>
          <p:nvPr/>
        </p:nvSpPr>
        <p:spPr>
          <a:xfrm>
            <a:off x="6629400" y="29992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18" name="step-418"/>
          <p:cNvSpPr txBox="1"/>
          <p:nvPr/>
        </p:nvSpPr>
        <p:spPr>
          <a:xfrm>
            <a:off x="7178040" y="297180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Inertia of a bordered matrix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is the tridiagonal P1 form, C the two constraint vectors (Haynsworth). One LDLᵀ sweep: O(N), about 0.2 ms against an 11 ms solve.</a:t>
            </a:r>
            <a:endParaRPr lang="en-US" sz="1300" dirty="0"/>
          </a:p>
        </p:txBody>
      </p:sp>
      <p:sp>
        <p:nvSpPr>
          <p:cNvPr id="419" name="badge-419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20" name="step-420"/>
          <p:cNvSpPr txBox="1"/>
          <p:nvPr/>
        </p:nvSpPr>
        <p:spPr>
          <a:xfrm>
            <a:off x="7178040" y="452628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Every candidate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Warm starts and cold starts alike: an unstable result counts as a failure and the node moves on to the next neighbour.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duction r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Production run</a:t>
            </a:r>
            <a:endParaRPr lang="en-US" sz="4000" dirty="0"/>
          </a:p>
        </p:txBody>
      </p:sp>
      <p:sp>
        <p:nvSpPr>
          <p:cNvPr id="3" name="Subtitle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d ∈ [0.70, 0.99], φ₁, φ₂ ∈ [−π/2, π/2], Δ = 0.01: 2.98 M equilibria and their level sets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duction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2.98 M equilibria, every one checked</a:t>
            </a:r>
            <a:endParaRPr lang="en-US" sz="3000" dirty="0"/>
          </a:p>
        </p:txBody>
      </p:sp>
      <p:sp>
        <p:nvSpPr>
          <p:cNvPr id="401" name="card-401"/>
          <p:cNvSpPr/>
          <p:nvPr/>
        </p:nvSpPr>
        <p:spPr>
          <a:xfrm>
            <a:off x="54864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" name="tile-big-402"/>
          <p:cNvSpPr txBox="1"/>
          <p:nvPr/>
        </p:nvSpPr>
        <p:spPr>
          <a:xfrm>
            <a:off x="74980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2,976,750</a:t>
            </a:r>
            <a:endParaRPr lang="en-US" sz="3000" dirty="0"/>
          </a:p>
        </p:txBody>
      </p:sp>
      <p:sp>
        <p:nvSpPr>
          <p:cNvPr id="403" name="tile-label-403"/>
          <p:cNvSpPr txBox="1"/>
          <p:nvPr/>
        </p:nvSpPr>
        <p:spPr>
          <a:xfrm>
            <a:off x="74980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equilibria</a:t>
            </a:r>
            <a:endParaRPr lang="en-US" sz="1400" dirty="0"/>
          </a:p>
        </p:txBody>
      </p:sp>
      <p:sp>
        <p:nvSpPr>
          <p:cNvPr id="404" name="tile-sub-404"/>
          <p:cNvSpPr txBox="1"/>
          <p:nvPr/>
        </p:nvSpPr>
        <p:spPr>
          <a:xfrm>
            <a:off x="74980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30 × 315 × 315 grid; 1.49 M Newton solves, the mirror fills the rest</a:t>
            </a:r>
            <a:endParaRPr lang="en-US" sz="1150" dirty="0"/>
          </a:p>
        </p:txBody>
      </p:sp>
      <p:sp>
        <p:nvSpPr>
          <p:cNvPr id="405" name="card-405"/>
          <p:cNvSpPr/>
          <p:nvPr/>
        </p:nvSpPr>
        <p:spPr>
          <a:xfrm>
            <a:off x="338328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6" name="tile-big-406"/>
          <p:cNvSpPr txBox="1"/>
          <p:nvPr/>
        </p:nvSpPr>
        <p:spPr>
          <a:xfrm>
            <a:off x="358444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4 h</a:t>
            </a:r>
            <a:endParaRPr lang="en-US" sz="3000" dirty="0"/>
          </a:p>
        </p:txBody>
      </p:sp>
      <p:sp>
        <p:nvSpPr>
          <p:cNvPr id="407" name="tile-label-407"/>
          <p:cNvSpPr txBox="1"/>
          <p:nvPr/>
        </p:nvSpPr>
        <p:spPr>
          <a:xfrm>
            <a:off x="358444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on one core</a:t>
            </a:r>
            <a:endParaRPr lang="en-US" sz="1400" dirty="0"/>
          </a:p>
        </p:txBody>
      </p:sp>
      <p:sp>
        <p:nvSpPr>
          <p:cNvPr id="408" name="tile-sub-408"/>
          <p:cNvSpPr txBox="1"/>
          <p:nvPr/>
        </p:nvSpPr>
        <p:spPr>
          <a:xfrm>
            <a:off x="358444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about 11 ms per solve, from one cold start (plus one more near d = 1)</a:t>
            </a:r>
            <a:endParaRPr lang="en-US" sz="1150" dirty="0"/>
          </a:p>
        </p:txBody>
      </p:sp>
      <p:sp>
        <p:nvSpPr>
          <p:cNvPr id="409" name="card-409"/>
          <p:cNvSpPr/>
          <p:nvPr/>
        </p:nvSpPr>
        <p:spPr>
          <a:xfrm>
            <a:off x="621792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0" name="tile-big-410"/>
          <p:cNvSpPr txBox="1"/>
          <p:nvPr/>
        </p:nvSpPr>
        <p:spPr>
          <a:xfrm>
            <a:off x="641908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0.27 %</a:t>
            </a:r>
            <a:endParaRPr lang="en-US" sz="3000" dirty="0"/>
          </a:p>
        </p:txBody>
      </p:sp>
      <p:sp>
        <p:nvSpPr>
          <p:cNvPr id="411" name="tile-label-411"/>
          <p:cNvSpPr txBox="1"/>
          <p:nvPr/>
        </p:nvSpPr>
        <p:spPr>
          <a:xfrm>
            <a:off x="641908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max error vs. BVP</a:t>
            </a:r>
            <a:endParaRPr lang="en-US" sz="1400" dirty="0"/>
          </a:p>
        </p:txBody>
      </p:sp>
      <p:sp>
        <p:nvSpPr>
          <p:cNvPr id="412" name="tile-sub-412"/>
          <p:cNvSpPr txBox="1"/>
          <p:nvPr/>
        </p:nvSpPr>
        <p:spPr>
          <a:xfrm>
            <a:off x="641908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300 random nodes re-solved with scipy solve_bvp; median 0.014 %</a:t>
            </a:r>
            <a:endParaRPr lang="en-US" sz="1150" dirty="0"/>
          </a:p>
        </p:txBody>
      </p:sp>
      <p:sp>
        <p:nvSpPr>
          <p:cNvPr id="413" name="card-413"/>
          <p:cNvSpPr/>
          <p:nvPr/>
        </p:nvSpPr>
        <p:spPr>
          <a:xfrm>
            <a:off x="905256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4" name="tile-big-414"/>
          <p:cNvSpPr txBox="1"/>
          <p:nvPr/>
        </p:nvSpPr>
        <p:spPr>
          <a:xfrm>
            <a:off x="925372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3000" dirty="0"/>
          </a:p>
        </p:txBody>
      </p:sp>
      <p:sp>
        <p:nvSpPr>
          <p:cNvPr id="415" name="tile-label-415"/>
          <p:cNvSpPr txBox="1"/>
          <p:nvPr/>
        </p:nvSpPr>
        <p:spPr>
          <a:xfrm>
            <a:off x="925372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equilibria</a:t>
            </a:r>
            <a:endParaRPr lang="en-US" sz="1400" dirty="0"/>
          </a:p>
        </p:txBody>
      </p:sp>
      <p:sp>
        <p:nvSpPr>
          <p:cNvPr id="416" name="tile-sub-416"/>
          <p:cNvSpPr txBox="1"/>
          <p:nvPr/>
        </p:nvSpPr>
        <p:spPr>
          <a:xfrm>
            <a:off x="925372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stability test on all 2,976,750 nodes</a:t>
            </a:r>
            <a:endParaRPr lang="en-US" sz="1150" dirty="0"/>
          </a:p>
        </p:txBody>
      </p:sp>
      <p:sp>
        <p:nvSpPr>
          <p:cNvPr id="417" name="card-417"/>
          <p:cNvSpPr/>
          <p:nvPr/>
        </p:nvSpPr>
        <p:spPr>
          <a:xfrm>
            <a:off x="54864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8" name="card-head-418"/>
          <p:cNvSpPr txBox="1"/>
          <p:nvPr/>
        </p:nvSpPr>
        <p:spPr>
          <a:xfrm>
            <a:off x="73152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Exact checks pass</a:t>
            </a:r>
            <a:endParaRPr lang="en-US" sz="1500" dirty="0"/>
          </a:p>
        </p:txBody>
      </p:sp>
      <p:sp>
        <p:nvSpPr>
          <p:cNvPr id="419" name="card-body-419"/>
          <p:cNvSpPr txBox="1"/>
          <p:nvPr/>
        </p:nvSpPr>
        <p:spPr>
          <a:xfrm>
            <a:off x="73152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Mirror pairs agree to 3 × 10⁻⁸. At φ₁ = φ₂ = 0 every layer matches the exact first mode: 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within 1.3 × 10⁻⁴.</a:t>
            </a:r>
            <a:endParaRPr lang="en-US" sz="1300" dirty="0"/>
          </a:p>
        </p:txBody>
      </p:sp>
      <p:sp>
        <p:nvSpPr>
          <p:cNvPr id="420" name="card-420"/>
          <p:cNvSpPr/>
          <p:nvPr/>
        </p:nvSpPr>
        <p:spPr>
          <a:xfrm>
            <a:off x="429768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1" name="card-head-421"/>
          <p:cNvSpPr txBox="1"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Branch share</a:t>
            </a:r>
            <a:endParaRPr lang="en-US" sz="1500" dirty="0"/>
          </a:p>
        </p:txBody>
      </p:sp>
      <p:sp>
        <p:nvSpPr>
          <p:cNvPr id="422" name="card-body-422"/>
          <p:cNvSpPr txBox="1"/>
          <p:nvPr/>
        </p:nvSpPr>
        <p:spPr>
          <a:xfrm>
            <a:off x="448056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Bent up on 70.0 % of the layer at d = 0.70, falling almost linearly to 50.5 % at d = 0.99. Snap surface area 2.62 (29,756 snap edges).</a:t>
            </a:r>
            <a:endParaRPr lang="en-US" sz="1300" dirty="0"/>
          </a:p>
        </p:txBody>
      </p:sp>
      <p:sp>
        <p:nvSpPr>
          <p:cNvPr id="423" name="card-423"/>
          <p:cNvSpPr/>
          <p:nvPr/>
        </p:nvSpPr>
        <p:spPr>
          <a:xfrm>
            <a:off x="804672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4" name="card-head-424"/>
          <p:cNvSpPr txBox="1"/>
          <p:nvPr/>
        </p:nvSpPr>
        <p:spPr>
          <a:xfrm>
            <a:off x="822960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Ranges</a:t>
            </a:r>
            <a:endParaRPr lang="en-US" sz="1500" dirty="0"/>
          </a:p>
        </p:txBody>
      </p:sp>
      <p:sp>
        <p:nvSpPr>
          <p:cNvPr id="425" name="card-body-425"/>
          <p:cNvSpPr txBox="1"/>
          <p:nvPr/>
        </p:nvSpPr>
        <p:spPr>
          <a:xfrm>
            <a:off x="822960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from −13,785 (tension, d = 0.99, |φ| = π/2) to +92;  |f</a:t>
            </a:r>
            <a:r>
              <a:rPr lang="en-US" sz="1300" baseline="-25000" dirty="0">
                <a:solidFill>
                  <a:schemeClr val="tx1"/>
                </a:solidFill>
              </a:rPr>
              <a:t>y</a:t>
            </a:r>
            <a:r>
              <a:rPr lang="en-US" sz="1300" dirty="0">
                <a:solidFill>
                  <a:schemeClr val="tx1"/>
                </a:solidFill>
              </a:rPr>
              <a:t>| ≤ 340;  |M| ≤ 168;  U from 0.10 to 142.</a:t>
            </a:r>
            <a:endParaRPr lang="en-US" sz="1300" dirty="0"/>
          </a:p>
        </p:txBody>
      </p:sp>
      <p:sp>
        <p:nvSpPr>
          <p:cNvPr id="426" name="caption-426"/>
          <p:cNvSpPr txBox="1"/>
          <p:nvPr/>
        </p:nvSpPr>
        <p:spPr>
          <a:xfrm>
            <a:off x="548640" y="58521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ParaView: data/production/post/elastica_solution_space.vtu (every node, all fields).</a:t>
            </a:r>
            <a:endParaRPr lang="en-US" sz="11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ener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Constant-energy surfaces: shells around the straight rod</a:t>
            </a:r>
            <a:endParaRPr lang="en-US" sz="3000" dirty="0"/>
          </a:p>
        </p:txBody>
      </p:sp>
      <p:pic>
        <p:nvPicPr>
          <p:cNvPr id="401" name="figure-401" descr="iso_energy level sets over (phi1, phi2, d), coloured by 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energy level lines on four d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U = ½∫θ′² ds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From 0.10 to 142. Lowest for a nearly straight rod (d → 1, φ → 0): U = 2 is a bowl around that corner and higher levels are wider domes. Each ends at the snap (faint red), where U jumps.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force_f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axial force f</a:t>
            </a:r>
            <a:r>
              <a:rPr lang="en-US" sz="3000" b="1" baseline="-25000" dirty="0">
                <a:solidFill>
                  <a:schemeClr val="tx1"/>
                </a:solidFill>
              </a:rPr>
              <a:t>x</a:t>
            </a:r>
            <a:r>
              <a:rPr lang="en-US" sz="3000" b="1" dirty="0">
                <a:solidFill>
                  <a:schemeClr val="tx1"/>
                </a:solidFill>
              </a:rPr>
              <a:t>: bounded in compression</a:t>
            </a:r>
            <a:endParaRPr lang="en-US" sz="3000" dirty="0"/>
          </a:p>
        </p:txBody>
      </p:sp>
      <p:pic>
        <p:nvPicPr>
          <p:cNvPr id="401" name="figure-401" descr="iso_force_fx level sets over (phi1, phi2, d), coloured by 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force_fx level lines on four d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f</a:t>
            </a:r>
            <a:r>
              <a:rPr lang="en-US" sz="1500" b="1" baseline="-25000" dirty="0">
                <a:solidFill>
                  <a:schemeClr val="accent1"/>
                </a:solidFill>
              </a:rPr>
              <a:t>x</a:t>
            </a:r>
            <a:r>
              <a:rPr lang="en-US" sz="1500" b="1" dirty="0">
                <a:solidFill>
                  <a:schemeClr val="accent1"/>
                </a:solidFill>
              </a:rPr>
              <a:t> &gt; 0: compression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From −13,785 (tension, d = 0.99, |φ| = π/2) to +92. Compressive levels exist only inside the bent-up region: f</a:t>
            </a:r>
            <a:r>
              <a:rPr lang="en-US" sz="1150" baseline="-25000" dirty="0">
                <a:solidFill>
                  <a:schemeClr val="tx1"/>
                </a:solidFill>
              </a:rPr>
              <a:t>x</a:t>
            </a:r>
            <a:r>
              <a:rPr lang="en-US" sz="1150" dirty="0">
                <a:solidFill>
                  <a:schemeClr val="tx1"/>
                </a:solidFill>
              </a:rPr>
              <a:t> = 60 is a sliver and nothing reaches 100.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force_f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transverse force f</a:t>
            </a:r>
            <a:r>
              <a:rPr lang="en-US" sz="3000" b="1" baseline="-25000" dirty="0">
                <a:solidFill>
                  <a:schemeClr val="tx1"/>
                </a:solidFill>
              </a:rPr>
              <a:t>y</a:t>
            </a:r>
            <a:r>
              <a:rPr lang="en-US" sz="3000" b="1" dirty="0">
                <a:solidFill>
                  <a:schemeClr val="tx1"/>
                </a:solidFill>
              </a:rPr>
              <a:t>: mirror-image pairs</a:t>
            </a:r>
            <a:endParaRPr lang="en-US" sz="3000" dirty="0"/>
          </a:p>
        </p:txBody>
      </p:sp>
      <p:pic>
        <p:nvPicPr>
          <p:cNvPr id="401" name="figure-401" descr="iso_force_fy level sets over (phi1, phi2, d), coloured by 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force_fy level lines on four d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Odd under the mirror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|f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| ≤ 340. (φ₁, φ₂) → (−φ₂, −φ₁) flips 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, so 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 = 0 holds on the whole plane φ₁ = −φ₂ and ± levels come in pairs of equal area.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mo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clamp moment M₁; M₂ is its mirror image</a:t>
            </a:r>
            <a:endParaRPr lang="en-US" sz="3000" dirty="0"/>
          </a:p>
        </p:txBody>
      </p:sp>
      <p:pic>
        <p:nvPicPr>
          <p:cNvPr id="401" name="figure-401" descr="iso_moment level sets over (phi1, phi2, d), coloured by 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moment level lines on four d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M₁ = θ′(0)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Within ±168. M₂ at (φ₁, φ₂) is M₁ at (−φ₂, −φ₁), so its surfaces are mirror images (both in the VTU). Small |M₁| levels split into two sheets.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4886</Words>
  <Application>Microsoft Office PowerPoint</Application>
  <PresentationFormat>Widescreen</PresentationFormat>
  <Paragraphs>408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101 unknowns</vt:lpstr>
      <vt:lpstr>The snap surface</vt:lpstr>
      <vt:lpstr>Two equilibria 0.01 rad apart: the rod has snapped</vt:lpstr>
      <vt:lpstr>MAC: a shape-similarity test that flags a branch switch</vt:lpstr>
      <vt:lpstr>Smooth fields, then a jump across an L-shaped surface</vt:lpstr>
      <vt:lpstr>The neighbour-MAC map alone traces the snap surface</vt:lpstr>
      <vt:lpstr>Extracting the snap surface: a MAC isosurface</vt:lpstr>
      <vt:lpstr>Seen down the d axis, the L-shaped locus closes in</vt:lpstr>
      <vt:lpstr>The sheet rises from the step in axial force</vt:lpstr>
      <vt:lpstr>Continuation strategies</vt:lpstr>
      <vt:lpstr>Traverse the grid, accept or reject by MAC(v4)</vt:lpstr>
      <vt:lpstr>Deriving the exact first mode used for the cold start</vt:lpstr>
      <vt:lpstr>Exact first-mode cold start, then continue the clamp angles</vt:lpstr>
      <vt:lpstr>MAC sets the step size of every move (v3)</vt:lpstr>
      <vt:lpstr>CURRENTv3 sweeps d layer by layer with one cold start</vt:lpstr>
      <vt:lpstr>Gradient refinement packs points onto the snap surface</vt:lpstr>
      <vt:lpstr>Optimization: Mirror symmetry halves the number of solves</vt:lpstr>
      <vt:lpstr>Side by side: CURRENTv4 and CURRENTv3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11</cp:revision>
  <dcterms:created xsi:type="dcterms:W3CDTF">2026-10-09T14:15:45Z</dcterms:created>
  <dcterms:modified xsi:type="dcterms:W3CDTF">2026-10-12T04:29:58Z</dcterms:modified>
</cp:coreProperties>
</file>