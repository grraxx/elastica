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3" r:id="rId8"/>
    <p:sldId id="290" r:id="rId9"/>
    <p:sldId id="291" r:id="rId10"/>
    <p:sldId id="262" r:id="rId11"/>
    <p:sldId id="265" r:id="rId12"/>
    <p:sldId id="292" r:id="rId13"/>
    <p:sldId id="293" r:id="rId14"/>
    <p:sldId id="302" r:id="rId33"/>
    <p:sldId id="303" r:id="rId34"/>
    <p:sldId id="304" r:id="rId35"/>
    <p:sldId id="305" r:id="rId36"/>
    <p:sldId id="306" r:id="rId37"/>
    <p:sldId id="307" r:id="rId38"/>
    <p:sldId id="308" r:id="rId39"/>
    <p:sldId id="309" r:id="rId40"/>
    <p:sldId id="266" r:id="rId15"/>
    <p:sldId id="267" r:id="rId16"/>
    <p:sldId id="294" r:id="rId17"/>
    <p:sldId id="295" r:id="rId18"/>
    <p:sldId id="289" r:id="rId19"/>
    <p:sldId id="268" r:id="rId20"/>
    <p:sldId id="272" r:id="rId21"/>
    <p:sldId id="296" r:id="rId22"/>
    <p:sldId id="297" r:id="rId23"/>
    <p:sldId id="298" r:id="rId24"/>
    <p:sldId id="299" r:id="rId25"/>
    <p:sldId id="300" r:id="rId26"/>
    <p:sldId id="301" r:id="rId27"/>
    <p:sldId id="310" r:id="rId41"/>
    <p:sldId id="311" r:id="rId42"/>
    <p:sldId id="313" r:id="rId44"/>
    <p:sldId id="314" r:id="rId45"/>
    <p:sldId id="312" r:id="rId43"/>
    <p:sldId id="315" r:id="rId46"/>
    <p:sldId id="316" r:id="rId47"/>
    <p:sldId id="317" r:id="rId48"/>
    <p:sldId id="318" r:id="rId49"/>
    <p:sldId id="319" r:id="rId50"/>
    <p:sldId id="320" r:id="rId51"/>
    <p:sldId id="321" r:id="rId52"/>
    <p:sldId id="322" r:id="rId53"/>
    <p:sldId id="323" r:id="rId54"/>
    <p:sldId id="324" r:id="rId55"/>
    <p:sldId id="325" r:id="rId56"/>
    <p:sldId id="326" r:id="rId57"/>
    <p:sldId id="327" r:id="rId58"/>
    <p:sldId id="328" r:id="rId59"/>
    <p:sldId id="329" r:id="rId60"/>
    <p:sldId id="330" r:id="rId61"/>
    <p:sldId id="331" r:id="rId62"/>
    <p:sldId id="332" r:id="rId63"/>
    <p:sldId id="333" r:id="rId64"/>
    <p:sldId id="334" r:id="rId65"/>
    <p:sldId id="335" r:id="rId66"/>
    <p:sldId id="336" r:id="rId67"/>
    <p:sldId id="337" r:id="rId68"/>
    <p:sldId id="338" r:id="rId69"/>
    <p:sldId id="339" r:id="rId70"/>
    <p:sldId id="340" r:id="rId71"/>
    <p:sldId id="341" r:id="rId7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governing math" id="{C37E3601-C24F-C817-9963-7F95C32A3C61}">
          <p14:sldIdLst>
            <p14:sldId id="256"/>
            <p14:sldId id="257"/>
            <p14:sldId id="258"/>
            <p14:sldId id="259"/>
            <p14:sldId id="260"/>
          </p14:sldIdLst>
        </p14:section>
        <p14:section name="The snap surface" id="{8EC7598D-7973-6D1C-AB16-2878DA9877AD}">
          <p14:sldIdLst>
            <p14:sldId id="261"/>
            <p14:sldId id="263"/>
            <p14:sldId id="290"/>
            <p14:sldId id="291"/>
            <p14:sldId id="262"/>
            <p14:sldId id="265"/>
            <p14:sldId id="292"/>
            <p14:sldId id="293"/>
          </p14:sldIdLst>
        </p14:section>
        <p14:section name="The bistable region" id="{2B7E9A41-5C3D-4F68-8E1A-7D9C0B4F2E63}">
          <p14:sldIdLst>
            <p14:sldId id="302"/>
            <p14:sldId id="303"/>
            <p14:sldId id="304"/>
            <p14:sldId id="305"/>
            <p14:sldId id="306"/>
            <p14:sldId id="307"/>
            <p14:sldId id="308"/>
            <p14:sldId id="309"/>
          </p14:sldIdLst>
        </p14:section>
        <p14:section name="Continuation strategy" id="{95CDCF11-1B6B-B936-99DA-258805DCA0FC}">
          <p14:sldIdLst>
            <p14:sldId id="266"/>
            <p14:sldId id="267"/>
            <p14:sldId id="294"/>
            <p14:sldId id="295"/>
            <p14:sldId id="289"/>
            <p14:sldId id="268"/>
            <p14:sldId id="272"/>
          </p14:sldIdLst>
        </p14:section>
        <p14:section name="Production run" id="{3B1F6A52-8C0D-4E57-9A3C-5E2B7D4F9C61}">
          <p14:sldIdLst>
            <p14:sldId id="296"/>
            <p14:sldId id="297"/>
            <p14:sldId id="298"/>
            <p14:sldId id="299"/>
            <p14:sldId id="300"/>
            <p14:sldId id="301"/>
          </p14:sldIdLst>
        </p14:section>
        <p14:section name="Refined sampling" id="{6F2C1D84-3A57-4E9B-B1C2-8D7E5F3A9B10}">
          <p14:sldIdLst>
            <p14:sldId id="310"/>
            <p14:sldId id="311"/>
            <p14:sldId id="313"/>
            <p14:sldId id="314"/>
            <p14:sldId id="312"/>
            <p14:sldId id="315"/>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88429" autoAdjust="0"/>
  </p:normalViewPr>
  <p:slideViewPr>
    <p:cSldViewPr snapToGrid="0" snapToObjects="1">
      <p:cViewPr varScale="1">
        <p:scale>
          <a:sx n="107" d="100"/>
          <a:sy n="107" d="100"/>
        </p:scale>
        <p:origin x="1027" y="8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22.xml"/><Relationship Id="rId16" Type="http://schemas.openxmlformats.org/officeDocument/2006/relationships/slide" Target="slides/slide23.xml"/><Relationship Id="rId17" Type="http://schemas.openxmlformats.org/officeDocument/2006/relationships/slide" Target="slides/slide24.xml"/><Relationship Id="rId18" Type="http://schemas.openxmlformats.org/officeDocument/2006/relationships/slide" Target="slides/slide25.xml"/><Relationship Id="rId19" Type="http://schemas.openxmlformats.org/officeDocument/2006/relationships/slide" Target="slides/slide26.xml"/><Relationship Id="rId20" Type="http://schemas.openxmlformats.org/officeDocument/2006/relationships/slide" Target="slides/slide27.xml"/><Relationship Id="rId21" Type="http://schemas.openxmlformats.org/officeDocument/2006/relationships/slide" Target="slides/slide28.xml"/><Relationship Id="rId22" Type="http://schemas.openxmlformats.org/officeDocument/2006/relationships/slide" Target="slides/slide29.xml"/><Relationship Id="rId23" Type="http://schemas.openxmlformats.org/officeDocument/2006/relationships/slide" Target="slides/slide30.xml"/><Relationship Id="rId24" Type="http://schemas.openxmlformats.org/officeDocument/2006/relationships/slide" Target="slides/slide31.xml"/><Relationship Id="rId25" Type="http://schemas.openxmlformats.org/officeDocument/2006/relationships/slide" Target="slides/slide32.xml"/><Relationship Id="rId26" Type="http://schemas.openxmlformats.org/officeDocument/2006/relationships/slide" Target="slides/slide33.xml"/><Relationship Id="rId27" Type="http://schemas.openxmlformats.org/officeDocument/2006/relationships/slide" Target="slides/slide34.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9.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  
  
  
  
  
  
  
  
  
  
  
  
  <Relationship Id="rId57" Type="http://schemas.openxmlformats.org/officeDocument/2006/relationships/slide" Target="slides/slide51.xml"/>
  <Relationship Id="rId58" Type="http://schemas.openxmlformats.org/officeDocument/2006/relationships/slide" Target="slides/slide52.xml"/>
  <Relationship Id="rId59" Type="http://schemas.openxmlformats.org/officeDocument/2006/relationships/slide" Target="slides/slide53.xml"/>
  <Relationship Id="rId60" Type="http://schemas.openxmlformats.org/officeDocument/2006/relationships/slide" Target="slides/slide54.xml"/>
  <Relationship Id="rId61" Type="http://schemas.openxmlformats.org/officeDocument/2006/relationships/slide" Target="slides/slide55.xml"/>
  <Relationship Id="rId62" Type="http://schemas.openxmlformats.org/officeDocument/2006/relationships/slide" Target="slides/slide56.xml"/>
  <Relationship Id="rId63" Type="http://schemas.openxmlformats.org/officeDocument/2006/relationships/slide" Target="slides/slide57.xml"/>
  <Relationship Id="rId64" Type="http://schemas.openxmlformats.org/officeDocument/2006/relationships/slide" Target="slides/slide58.xml"/>
  <Relationship Id="rId65" Type="http://schemas.openxmlformats.org/officeDocument/2006/relationships/slide" Target="slides/slide59.xml"/>
  <Relationship Id="rId66" Type="http://schemas.openxmlformats.org/officeDocument/2006/relationships/slide" Target="slides/slide60.xml"/>
  <Relationship Id="rId67" Type="http://schemas.openxmlformats.org/officeDocument/2006/relationships/slide" Target="slides/slide61.xml"/>
  <Relationship Id="rId68" Type="http://schemas.openxmlformats.org/officeDocument/2006/relationships/slide" Target="slides/slide62.xml"/>
  <Relationship Id="rId69" Type="http://schemas.openxmlformats.org/officeDocument/2006/relationships/slide" Target="slides/slide63.xml"/>
  <Relationship Id="rId70" Type="http://schemas.openxmlformats.org/officeDocument/2006/relationships/slide" Target="slides/slide64.xml"/>
  <Relationship Id="rId71" Type="http://schemas.openxmlformats.org/officeDocument/2006/relationships/slide" Target="slides/slide65.xml"/>
  <Relationship Id="rId72" Type="http://schemas.openxmlformats.org/officeDocument/2006/relationships/slide" Target="slides/slide6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927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Today: how we map every stable equilibrium of a clamped rod as we change its end distance and its two clamp angles.</a:t>
            </a:r>
          </a:p>
          <a:p>
            <a:pPr marL="228600" indent="-228600">
              <a:buFont typeface="Arial"/>
              <a:buChar char="•"/>
            </a:pPr>
            <a:r>
              <a:rPr lang="en-US" dirty="0"/>
              <a:t>The hard part is the snap: at some settings the rod jumps to a different shape, and the solver has to notice.</a:t>
            </a:r>
          </a:p>
          <a:p>
            <a:pPr marL="228600" indent="-228600">
              <a:buFont typeface="Arial"/>
              <a:buChar char="•"/>
            </a:pPr>
            <a:r>
              <a:rPr lang="en-US" dirty="0"/>
              <a:t>Plan: the math, the snap surface, how the continuation handles it, and the full production map.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A thin rod of unit length, clamped at both ends; EI = 1.</a:t>
            </a:r>
          </a:p>
          <a:p>
            <a:pPr marL="228600" indent="-228600">
              <a:buFont typeface="Arial"/>
              <a:buChar char="•"/>
            </a:pPr>
            <a:r>
              <a:rPr lang="en-US" dirty="0"/>
              <a:t>Three controls: the clamp distance d and the two clamp angles φ₁ and φ₂.</a:t>
            </a:r>
          </a:p>
          <a:p>
            <a:pPr marL="228600" indent="-228600">
              <a:buFont typeface="Arial"/>
              <a:buChar char="•"/>
            </a:pPr>
            <a:r>
              <a:rPr lang="en-US" dirty="0"/>
              <a:t>At every grid point we solve for the shape and the end forces, then record the clamp moments and the bending energy.</a:t>
            </a:r>
          </a:p>
          <a:p>
            <a:pPr marL="228600" indent="-228600">
              <a:buFont typeface="Arial"/>
              <a:buChar char="•"/>
            </a:pPr>
            <a:r>
              <a:rPr lang="en-US" dirty="0"/>
              <a:t>The production grid has 30 d layers of 315 × 315 angle pairs: just under three million equilibria.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The rod settles where its bending energy is stationary, with its ends held where we put them.</a:t>
            </a:r>
          </a:p>
          <a:p>
            <a:pPr marL="228600" indent="-228600">
              <a:buFont typeface="Arial"/>
              <a:buChar char="•"/>
            </a:pPr>
            <a:r>
              <a:rPr lang="en-US" dirty="0"/>
              <a:t>θ along the arc keeps the length fixed automatically.</a:t>
            </a:r>
          </a:p>
          <a:p>
            <a:pPr marL="228600" indent="-228600">
              <a:buFont typeface="Arial"/>
              <a:buChar char="•"/>
            </a:pPr>
            <a:r>
              <a:rPr lang="en-US" dirty="0"/>
              <a:t>The end position enters through two Lagrange multipliers, fx and fy: the reaction forces at the clamp.</a:t>
            </a:r>
          </a:p>
          <a:p>
            <a:pPr marL="228600" indent="-228600">
              <a:buFont typeface="Arial"/>
              <a:buChar char="•"/>
            </a:pPr>
            <a:r>
              <a:rPr lang="en-US" dirty="0"/>
              <a:t>Only stable stationary points are kept; the stability test comes later.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Setting the variation of the Lagrangian to zero gives the classic elastica equation.</a:t>
            </a:r>
          </a:p>
          <a:p>
            <a:pPr marL="228600" indent="-228600">
              <a:buFont typeface="Arial"/>
              <a:buChar char="•"/>
            </a:pPr>
            <a:r>
              <a:rPr lang="en-US" dirty="0"/>
              <a:t>In FEniCSx we solve the weak form: θ on 200 linear elements, refined towards the clamps, plus one global unknown each for fx and fy.</a:t>
            </a:r>
          </a:p>
          <a:p>
            <a:pPr marL="228600" indent="-228600">
              <a:buFont typeface="Arial"/>
              <a:buChar char="•"/>
            </a:pPr>
            <a:r>
              <a:rPr lang="en-US" dirty="0"/>
              <a:t>The grading matters near d = 1 with large clamp angles: the tension is huge and the rod turns inside thin boundary layers at the clamps.</a:t>
            </a:r>
          </a:p>
          <a:p>
            <a:pPr marL="228600" indent="-228600">
              <a:buFont typeface="Arial"/>
              <a:buChar char="•"/>
            </a:pPr>
            <a:r>
              <a:rPr lang="en-US" dirty="0"/>
              <a:t>Per point we store both clamp moments and the bending energy.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Each point of the map is a single Newton solve on 203 unknowns, so one solve is cheap: about 11 ms.</a:t>
            </a:r>
          </a:p>
          <a:p>
            <a:pPr marL="228600" indent="-228600">
              <a:buFont typeface="Arial"/>
              <a:buChar char="•"/>
            </a:pPr>
            <a:r>
              <a:rPr lang="en-US" dirty="0"/>
              <a:t>Direct LU solve, cubic backtracking line search, tight tolerances.</a:t>
            </a:r>
          </a:p>
          <a:p>
            <a:pPr marL="228600" indent="-228600">
              <a:buFont typeface="Arial"/>
              <a:buChar char="•"/>
            </a:pPr>
            <a:r>
              <a:rPr lang="en-US" dirty="0"/>
              <a:t>A warm start from a neighbour normally converges in a few iterations; 50 is the cap before we call it a failure.</a:t>
            </a:r>
          </a:p>
          <a:p>
            <a:pPr marL="228600" indent="-228600">
              <a:buFont typeface="Arial"/>
              <a:buChar char="•"/>
            </a:pPr>
            <a:r>
              <a:rPr lang="en-US" dirty="0"/>
              <a:t>The catch is the fold: the Jacobian goes singular exactly where the snap happens.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Now, what the snap looks like in the data.</a:t>
            </a:r>
          </a:p>
          <a:p>
            <a:pPr marL="228600" indent="-228600">
              <a:buFont typeface="Arial"/>
              <a:buChar char="•"/>
            </a:pPr>
            <a:r>
              <a:rPr lang="en-US" dirty="0"/>
              <a:t>This is the feature that makes the problem interesting, and hard.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Two converged shapes only a hundredth of a radian apart in clamp angle, yet completely different.</a:t>
            </a:r>
          </a:p>
          <a:p>
            <a:pPr marL="228600" indent="-228600">
              <a:buFont typeface="Arial"/>
              <a:buChar char="•"/>
            </a:pPr>
            <a:r>
              <a:rPr lang="en-US" dirty="0"/>
              <a:t>On the left the rod is bent down with U = 2.27; one step on it is bent up with U = 6.11.</a:t>
            </a:r>
          </a:p>
          <a:p>
            <a:pPr marL="228600" indent="-228600">
              <a:buFont typeface="Arial"/>
              <a:buChar char="•"/>
            </a:pPr>
            <a:r>
              <a:rPr lang="en-US" dirty="0"/>
              <a:t>The branch the rod was on ends, so it jumps to another one.</a:t>
            </a:r>
          </a:p>
          <a:p>
            <a:pPr marL="228600" indent="-228600">
              <a:buFont typeface="Arial"/>
              <a:buChar char="•"/>
            </a:pPr>
            <a:r>
              <a:rPr lang="en-US" dirty="0"/>
              <a:t>Both solutions meet the tolerance, so convergence alone can't tell you a jump happened. We need a shape test.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To tell which branch a solution is on, we project its transverse shape onto the first clamped buckling mode.</a:t>
            </a:r>
          </a:p>
          <a:p>
            <a:pPr marL="228600" indent="-228600">
              <a:buFont typeface="Arial"/>
              <a:buChar char="•"/>
            </a:pPr>
            <a:r>
              <a:rPr lang="en-US" dirty="0"/>
              <a:t>y(s) is the deflection, w₁ = 1 − cos 2πs is the first mode; p is their normalised inner product.</a:t>
            </a:r>
          </a:p>
          <a:p>
            <a:pPr marL="228600" indent="-228600">
              <a:buFont typeface="Arial"/>
              <a:buChar char="•"/>
            </a:pPr>
            <a:r>
              <a:rPr lang="en-US" dirty="0"/>
              <a:t>Positive p means the rod bows up, negative means it bows down. The S-shape sits at p ≈ 0.</a:t>
            </a:r>
          </a:p>
          <a:p>
            <a:pPr marL="228600" indent="-228600">
              <a:buFont typeface="Arial"/>
              <a:buChar char="•"/>
            </a:pPr>
            <a:r>
              <a:rPr lang="en-US" dirty="0"/>
              <a:t>The second mode is antisymmetric, so it says nothing about up versus down; the first mode alone is enough.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p itself shrinks as the rod straightens, so we compare q = p over a(d), the amplitude of the exact first mode at that d.</a:t>
            </a:r>
          </a:p>
          <a:p>
            <a:pPr marL="228600" indent="-228600">
              <a:buFont typeface="Arial"/>
              <a:buChar char="•"/>
            </a:pPr>
            <a:r>
              <a:rPr lang="en-US" dirty="0"/>
              <a:t>Between two neighbours, q jumps when it changes by more than 0.17 and by more than half its size.</a:t>
            </a:r>
          </a:p>
          <a:p>
            <a:pPr marL="228600" indent="-228600">
              <a:buFont typeface="Arial"/>
              <a:buChar char="•"/>
            </a:pPr>
            <a:r>
              <a:rPr lang="en-US" dirty="0"/>
              <a:t>Along this line at d = 0.90, q goes from −1.03 to +0.52 in one step: that is the snap. Normal neighbours differ by 0.003.</a:t>
            </a:r>
          </a:p>
          <a:p>
            <a:pPr marL="228600" indent="-228600">
              <a:buFont typeface="Arial"/>
              <a:buChar char="•"/>
            </a:pPr>
            <a:r>
              <a:rPr lang="en-US" dirty="0"/>
              <a:t>q can also pass through zero smoothly, through an S-shape near the diagonal. That is a crossing, not a snap.</a:t>
            </a:r>
          </a:p>
          <a:p>
            <a:pPr marL="228600" indent="-228600">
              <a:buFont typeface="Arial"/>
              <a:buChar char="•"/>
            </a:pPr>
            <a:r>
              <a:rPr lang="en-US" dirty="0"/>
              <a:t>The same rule also catches a jump onto the unstable S-shaped family without a sign change; the solver rejects those too.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These are the fields on one layer, d = 0.90, over the full range of clamp angles.</a:t>
            </a:r>
          </a:p>
          <a:p>
            <a:pPr marL="228600" indent="-228600">
              <a:buFont typeface="Arial"/>
              <a:buChar char="•"/>
            </a:pPr>
            <a:r>
              <a:rPr lang="en-US" dirty="0"/>
              <a:t>Everything is smooth, except along an L-shaped edge where all the fields jump together.</a:t>
            </a:r>
          </a:p>
          <a:p>
            <a:pPr marL="228600" indent="-228600">
              <a:buFont typeface="Arial"/>
              <a:buChar char="•"/>
            </a:pPr>
            <a:r>
              <a:rPr lang="en-US" dirty="0"/>
              <a:t>The energy nearly triples and the axial force doubles in a single grid step.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Colour is q: orange bent up, slate bent down. The jump rule on neighbouring grid points draws the snap in red.</a:t>
            </a:r>
          </a:p>
          <a:p>
            <a:pPr marL="228600" indent="-228600">
              <a:buFont typeface="Arial"/>
              <a:buChar char="•"/>
            </a:pPr>
            <a:r>
              <a:rPr lang="en-US" dirty="0"/>
              <a:t>The black lines along the diagonal are smooth zero crossings, where the rod passes through an S-shape.</a:t>
            </a:r>
          </a:p>
          <a:p>
            <a:pPr marL="228600" indent="-228600">
              <a:buFont typeface="Arial"/>
              <a:buChar char="•"/>
            </a:pPr>
            <a:r>
              <a:rPr lang="en-US" dirty="0"/>
              <a:t>Stacking the snap curves of several layers: the L-shape shrinks towards the origin as the rod straightens.</a:t>
            </a:r>
          </a:p>
          <a:p>
            <a:pPr marL="228600" indent="-228600">
              <a:buFont typeface="Arial"/>
              <a:buChar char="•"/>
            </a:pPr>
            <a:r>
              <a:rPr lang="en-US" dirty="0"/>
              <a:t>Its corner sits on the anti-diagonal φ₁ = −φ₂ and its ends on the diagonal.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Stacking every layer gives the snap surface over the whole box.</a:t>
            </a:r>
          </a:p>
          <a:p>
            <a:pPr marL="228600" indent="-228600">
              <a:buFont typeface="Arial"/>
              <a:buChar char="•"/>
            </a:pPr>
            <a:r>
              <a:rPr lang="en-US" dirty="0"/>
              <a:t>It is the p = 0 contour of the tetrahedral grid, keeping only the part where p jumps, so smooth S-shape crossings are left out.</a:t>
            </a:r>
          </a:p>
          <a:p>
            <a:pPr marL="228600" indent="-228600">
              <a:buFont typeface="Arial"/>
              <a:buChar char="•"/>
            </a:pPr>
            <a:r>
              <a:rPr lang="en-US" dirty="0"/>
              <a:t>Seen down the d axis, each layer is the same L, and the sheet tilts in towards the origin as d approaches 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Here the d = 0.90 layer is coloured by the axial force, and the snap sheet rises from it.</a:t>
            </a:r>
          </a:p>
          <a:p>
            <a:pPr marL="228600" indent="-228600">
              <a:buFont typeface="Arial"/>
              <a:buChar char="•"/>
            </a:pPr>
            <a:r>
              <a:rPr lang="en-US" dirty="0"/>
              <a:t>Across the sheet the compressive force roughly doubles, at every d.</a:t>
            </a:r>
          </a:p>
          <a:p>
            <a:pPr marL="228600" indent="-228600">
              <a:buFont typeface="Arial"/>
              <a:buChar char="•"/>
            </a:pPr>
            <a:r>
              <a:rPr lang="en-US" dirty="0"/>
              <a:t>The sheet comes from the shape alone, through p, and it sits exactly on that force step.</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Now the solver: how it covers the box without ever jumping across the snap.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One cold start, at the angular origin and the smallest d. Then the solved region grows as a front, nearest grid distance first.</a:t>
            </a:r>
          </a:p>
          <a:p>
            <a:pPr marL="228600" indent="-228600">
              <a:buFont typeface="Arial"/>
              <a:buChar char="•"/>
            </a:pPr>
            <a:r>
              <a:rPr lang="en-US" dirty="0"/>
              <a:t>Each node is warm-started from a solved neighbour: its θ and both forces.</a:t>
            </a:r>
          </a:p>
          <a:p>
            <a:pPr marL="228600" indent="-228600">
              <a:buFont typeface="Arial"/>
              <a:buChar char="•"/>
            </a:pPr>
            <a:r>
              <a:rPr lang="en-US" dirty="0"/>
              <a:t>A result is kept only if q does not jump relative to that neighbour, and the equilibrium is stable.</a:t>
            </a:r>
          </a:p>
          <a:p>
            <a:pPr marL="228600" indent="-228600">
              <a:buFont typeface="Arial"/>
              <a:buChar char="•"/>
            </a:pPr>
            <a:r>
              <a:rPr lang="en-US" dirty="0"/>
              <a:t>Otherwise we try the next neighbour; after three failures from one branch, the node waits for the other branch.</a:t>
            </a:r>
          </a:p>
          <a:p>
            <a:pPr marL="228600" indent="-228600">
              <a:buFont typeface="Arial"/>
              <a:buChar char="•"/>
            </a:pPr>
            <a:r>
              <a:rPr lang="en-US" dirty="0"/>
              <a:t>Only half the box is solved; the mirror fills the rest.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The key rule: never accept a branch switch. A node that cannot be reached without a jump is deferred.</a:t>
            </a:r>
          </a:p>
          <a:p>
            <a:pPr marL="228600" indent="-228600">
              <a:buFont typeface="Arial"/>
              <a:buChar char="•"/>
            </a:pPr>
            <a:r>
              <a:rPr lang="en-US" dirty="0"/>
              <a:t>If three neighbours on one branch fail, the node only tries the other branch, so it waits for the front to arrive from the far side of the fold.</a:t>
            </a:r>
          </a:p>
          <a:p>
            <a:pPr marL="228600" indent="-228600">
              <a:buFont typeface="Arial"/>
              <a:buChar char="•"/>
            </a:pPr>
            <a:r>
              <a:rPr lang="en-US" dirty="0"/>
              <a:t>The front gets there the long way round, through the smooth crossings near the diagonal.</a:t>
            </a:r>
          </a:p>
          <a:p>
            <a:pPr marL="228600" indent="-228600">
              <a:buFont typeface="Arial"/>
              <a:buChar char="•"/>
            </a:pPr>
            <a:r>
              <a:rPr lang="en-US" dirty="0"/>
              <a:t>In the production run this happened only near d = 1; 1,155 nodes waited, and one extra cold start was needed.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Newton converges to unstable equilibria as happily as to stable ones.</a:t>
            </a:r>
          </a:p>
          <a:p>
            <a:pPr marL="228600" indent="-228600">
              <a:buFont typeface="Arial"/>
              <a:buChar char="•"/>
            </a:pPr>
            <a:r>
              <a:rPr lang="en-US" dirty="0"/>
              <a:t>Usually a jump in q gives that away, but not on the anti-diagonal: there the rod is symmetric and the bent-up branch loses stability at a bifurcation, without a jump.</a:t>
            </a:r>
          </a:p>
          <a:p>
            <a:pPr marL="228600" indent="-228600">
              <a:buFont typeface="Arial"/>
              <a:buChar char="•"/>
            </a:pPr>
            <a:r>
              <a:rPr lang="en-US" dirty="0"/>
              <a:t>So every candidate also gets a stability test: the constrained second variation must have no negative direction.</a:t>
            </a:r>
          </a:p>
          <a:p>
            <a:pPr marL="228600" indent="-228600">
              <a:buFont typeface="Arial"/>
              <a:buChar char="•"/>
            </a:pPr>
            <a:r>
              <a:rPr lang="en-US" dirty="0"/>
              <a:t>We count negative directions from the inertia of a bordered tridiagonal matrix, which is linear in the number of elements and costs about 0.2 ms.</a:t>
            </a:r>
          </a:p>
          <a:p>
            <a:pPr marL="228600" indent="-228600">
              <a:buFont typeface="Arial"/>
              <a:buChar char="•"/>
            </a:pPr>
            <a:r>
              <a:rPr lang="en-US" dirty="0"/>
              <a:t>In production 17 unstable results were rejected, and a re-test of the final map found none.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The cold start needs a solution we know exactly. At zero clamp angles the problem is symmetric, fy vanishes and the elastica is the pendulum equation.</a:t>
            </a:r>
          </a:p>
          <a:p>
            <a:pPr marL="228600" indent="-228600">
              <a:buFont typeface="Arial"/>
              <a:buChar char="•"/>
            </a:pPr>
            <a:r>
              <a:rPr lang="en-US" dirty="0"/>
              <a:t>Integrating once and substituting gives the Jacobi elliptic sn function; the modulus k is the sine of half the peak angle.</a:t>
            </a:r>
          </a:p>
          <a:p>
            <a:pPr marL="228600" indent="-228600">
              <a:buFont typeface="Arial"/>
              <a:buChar char="•"/>
            </a:pPr>
            <a:r>
              <a:rPr lang="en-US" dirty="0"/>
              <a:t>The clamp conditions need exactly one period of sn: four quarter-waves, which fixes λL = 4K(m) and the axial force.</a:t>
            </a:r>
          </a:p>
          <a:p>
            <a:pPr marL="228600" indent="-228600">
              <a:buFont typeface="Arial"/>
              <a:buChar char="•"/>
            </a:pPr>
            <a:r>
              <a:rPr lang="en-US" dirty="0"/>
              <a:t>The end distance then fixes m through a one-dimensional root-find. For a small bow it reduces to the familiar sine shape and the Euler load.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The exact mode at zero clamp angles converges in two Newton iterations at any d.</a:t>
            </a:r>
          </a:p>
          <a:p>
            <a:pPr marL="228600" indent="-228600">
              <a:buFont typeface="Arial"/>
              <a:buChar char="•"/>
            </a:pPr>
            <a:r>
              <a:rPr lang="en-US" dirty="0"/>
              <a:t>From there we ramp the clamp angles to the target, at most a quarter radian per step, halving a step that fails.</a:t>
            </a:r>
          </a:p>
          <a:p>
            <a:pPr marL="228600" indent="-228600">
              <a:buFont typeface="Arial"/>
              <a:buChar char="•"/>
            </a:pPr>
            <a:r>
              <a:rPr lang="en-US" dirty="0"/>
              <a:t>Both the hump-up and hump-down modes are continued and the lower energy kept.</a:t>
            </a:r>
          </a:p>
          <a:p>
            <a:pPr marL="228600" indent="-228600">
              <a:buFont typeface="Arial"/>
              <a:buChar char="•"/>
            </a:pPr>
            <a:r>
              <a:rPr lang="en-US" dirty="0"/>
              <a:t>This is used once at the start, and otherwise only as a last resort when the front stalls.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Reflecting the rod about mid-span maps the clamp angles (φ₁, φ₂) to (−φ₂, −φ₁).</a:t>
            </a:r>
          </a:p>
          <a:p>
            <a:pPr marL="228600" indent="-228600">
              <a:buFont typeface="Arial"/>
              <a:buChar char="•"/>
            </a:pPr>
            <a:r>
              <a:rPr lang="en-US" dirty="0"/>
              <a:t>So only the half φ₁ + φ₂ ≥ 0 is solved; every accepted solution also fills its mirror node.</a:t>
            </a:r>
          </a:p>
          <a:p>
            <a:pPr marL="228600" indent="-228600">
              <a:buFont typeface="Arial"/>
              <a:buChar char="•"/>
            </a:pPr>
            <a:r>
              <a:rPr lang="en-US" dirty="0"/>
              <a:t>The axial force, the energy and p carry over; fy flips sign and the two clamp moments swap.</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Finally, the full production map, and what it says about energy, force and moment.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Every one of the almost three million grid points is solved, in about four hours on one core.</a:t>
            </a:r>
          </a:p>
          <a:p>
            <a:pPr marL="228600" indent="-228600">
              <a:buFont typeface="Arial"/>
              <a:buChar char="•"/>
            </a:pPr>
            <a:r>
              <a:rPr lang="en-US" dirty="0"/>
              <a:t>Checks independent of the front: the mirror pairs, the exact first mode on every layer, and 300 random points re-solved with scipy's BVP solver, worst error 0.27 %.</a:t>
            </a:r>
          </a:p>
          <a:p>
            <a:pPr marL="228600" indent="-228600">
              <a:buFont typeface="Arial"/>
              <a:buChar char="•"/>
            </a:pPr>
            <a:r>
              <a:rPr lang="en-US" dirty="0"/>
              <a:t>A stability re-test of the whole map found no unstable equilibrium.</a:t>
            </a:r>
          </a:p>
          <a:p>
            <a:pPr marL="228600" indent="-228600">
              <a:buFont typeface="Arial"/>
              <a:buChar char="•"/>
            </a:pPr>
            <a:r>
              <a:rPr lang="en-US" dirty="0"/>
              <a:t>The bent-up share falls from 70 % to about half as the rod straightens.</a:t>
            </a:r>
          </a:p>
          <a:p>
            <a:pPr marL="228600" indent="-228600">
              <a:buFont typeface="Arial"/>
              <a:buChar char="•"/>
            </a:pPr>
            <a:r>
              <a:rPr lang="en-US" dirty="0"/>
              <a:t>Everything is in one VTU for ParaView.</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Surfaces of constant bending energy, coloured by d; the faint red sheet is the snap surface.</a:t>
            </a:r>
          </a:p>
          <a:p>
            <a:pPr marL="228600" indent="-228600">
              <a:buFont typeface="Arial"/>
              <a:buChar char="•"/>
            </a:pPr>
            <a:r>
              <a:rPr lang="en-US" dirty="0"/>
              <a:t>Low energy is a bowl around the nearly straight rod; higher levels wrap around it.</a:t>
            </a:r>
          </a:p>
          <a:p>
            <a:pPr marL="228600" indent="-228600">
              <a:buFont typeface="Arial"/>
              <a:buChar char="•"/>
            </a:pPr>
            <a:r>
              <a:rPr lang="en-US" dirty="0"/>
              <a:t>The level sets stop at the snap, because the energy jumps there.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Surfaces of constant axial force. Positive is compression.</a:t>
            </a:r>
          </a:p>
          <a:p>
            <a:pPr marL="228600" indent="-228600">
              <a:buFont typeface="Arial"/>
              <a:buChar char="•"/>
            </a:pPr>
            <a:r>
              <a:rPr lang="en-US" dirty="0"/>
              <a:t>Compression is bounded: it never reaches 100, and the high levels are small slivers inside the bent-up region.</a:t>
            </a:r>
          </a:p>
          <a:p>
            <a:pPr marL="228600" indent="-228600">
              <a:buFont typeface="Arial"/>
              <a:buChar char="•"/>
            </a:pPr>
            <a:r>
              <a:rPr lang="en-US" dirty="0"/>
              <a:t>Tension, by contrast, grows without bound as the rod is pulled straight with large clamp angles.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Surfaces of constant transverse force.</a:t>
            </a:r>
          </a:p>
          <a:p>
            <a:pPr marL="228600" indent="-228600">
              <a:buFont typeface="Arial"/>
              <a:buChar char="•"/>
            </a:pPr>
            <a:r>
              <a:rPr lang="en-US" dirty="0"/>
              <a:t>The mirror flips fy, so fy = 0 on the whole anti-diagonal plane, and each positive level has a negative twin.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r>
              <a:rPr lang="en-US" dirty="0"/>
              <a:t>Surfaces of constant left clamp moment.</a:t>
            </a:r>
          </a:p>
          <a:p>
            <a:pPr marL="228600" indent="-228600">
              <a:buFont typeface="Arial"/>
              <a:buChar char="•"/>
            </a:pPr>
            <a:r>
              <a:rPr lang="en-US" dirty="0"/>
              <a:t>The right moment needs no separate plot: by the mirror it is the left moment at the reflected angles.</a:t>
            </a:r>
          </a:p>
          <a:p>
            <a:pPr marL="228600" indent="-228600">
              <a:buFont typeface="Arial"/>
              <a:buChar char="•"/>
            </a:pPr>
            <a:r>
              <a:rPr lang="en-US" dirty="0"/>
              <a:t>Both are in the VTU for exploration in ParaView.</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far every map came from one bent-up cold start.</a:t>
            </a:r>
          </a:p>
          <a:p>
            <a:r>
              <a:t>Starting bent down gives a second map. Where the two disagree, the rod has two stable shapes for the same clamps.</a:t>
            </a:r>
          </a:p>
          <a:p>
            <a:r>
              <a:t>That region decides which snap a rod meets when the clamps are turned.</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is the production solve, grown from the bent-up cold start. Its snap curve, where the bent-up branch ends, runs through quadrants 1, 2 and 3.</a:t>
            </a:r>
          </a:p>
          <a:p>
            <a:r>
              <a:t>Turning every rod upside down gives the solve from a bent-down cold start. No new solves are needed: node (φ₁, φ₂) takes the rod at (−φ₁, −φ₂), upside down.</a:t>
            </a:r>
          </a:p>
          <a:p>
            <a:r>
              <a:t>Combined with the mirror symmetry this is a reflection in the diagonal with the colours swapped, so its snap curve runs through quadrants 1, 3 and 4.</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Swapping the two clamp angles is the same as walking the rod from the other end: θ(s) becomes θ(L − s), the rod turned 180° about its midpoint.</a:t>
            </a:r>
          </a:p>
          <a:p>
            <a:r>
              <a:t>That flips p, so bent up becomes bent down, and keeps the energy and both forces. The two clamp moments swap with a sign change.</a:t>
            </a:r>
          </a:p>
          <a:p>
            <a:r>
              <a:t>Where there is only one equilibrium the data obey this to round-off. Inside a square around the origin they do not: there the solve is bent up on both sides of the diagonal. That square is the bistable region.</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Definition: at a given d, the bistable region is where the rod has two distinct stable equilibria, one bent up and one bent down.</a:t>
            </a:r>
          </a:p>
          <a:p>
            <a:r>
              <a:t>In the data the two cold starts then hold different rods. Their q differs by at least 0.034 there, and agrees to 7e-4 everywhere else.</a:t>
            </a:r>
          </a:p>
          <a:p>
            <a:r>
              <a:t>In each layer it is a square around the origin with inward-bowing sides. Each side is a fold where one branch disappears, so the snap you meet depends on which side you leave by and on the branch you are on.</a:t>
            </a:r>
          </a:p>
          <a:p>
            <a:r>
              <a:t>At φ = (0.20, 0) the two rods have U = 6.39 and 8.58, and both pass the stability test.</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left clamp along φ₂ = 0. Starting bent up at the origin and turning φ₁ negative, the rod stays bent up through the whole band and snaps only where the bent-up branch ends, at −0.76.</a:t>
            </a:r>
          </a:p>
          <a:p>
            <a:r>
              <a:t>Turn it back: the rod is now bent down and stays so until +0.76, the far edge, where the bent-down branch ends.</a:t>
            </a:r>
          </a:p>
          <a:p>
            <a:r>
              <a:t>So the same clamp angles give different rods depending on the history. By the symmetry both snaps release the same energy.</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square shrinks steadily towards the origin as the rod straightens: a straighter rod has less room for two buckled states.</a:t>
            </a:r>
          </a:p>
          <a:p>
            <a:r>
              <a:t>Its corners follow the corners of the L-shaped snap curve on the earlier slides.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small d the region does not stop at the corner of the square. The bent-up snap curve continues just below the diagonal, the bent-down one just above, and they close at a cusp further out.</a:t>
            </a:r>
          </a:p>
          <a:p>
            <a:r>
              <a:t>Inside that thin tip the two stable rods are both S-shaped, one the mirror of the other.</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rod at d = 0.82, moved quasi-statically one grid step at a time. Each step it keeps the equilibrium continuous with the one it is on, and snaps only where that branch ends.</a:t>
            </a:r>
          </a:p>
          <a:p>
            <a:r>
              <a:t>Legs 1 and 2: across the region. The rod snaps at the far edge each way, and every snap changes the branch, and with it the snap curve and surface the rod can meet next.</a:t>
            </a:r>
          </a:p>
          <a:p>
            <a:r>
              <a:t>Leg 3 goes round the end of the snap curve instead. On the diagonal beyond the cusp the rod passes smoothly through an S-shape and comes out bent down.</a:t>
            </a:r>
          </a:p>
          <a:p>
            <a:r>
              <a:t>Legs 4 to 6 bring it back to the start, now bent down. Leg 6 repeats leg 1 and nothing snaps: going round the surface changed the branch without a snap.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7498080" cy="20116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3794760"/>
            <a:ext cx="7498080" cy="100584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0972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822960" y="3657600"/>
            <a:ext cx="10515600" cy="822960"/>
          </a:xfrm>
          <a:prstGeom prst="rect">
            <a:avLst/>
          </a:prstGeom>
          <a:noFill/>
          <a:ln/>
        </p:spPr>
        <p:txBody>
          <a:bodyPr wrap="square" rtlCol="0"/>
          <a:lstStyle>
            <a:lvl1pPr marL="0" indent="0">
              <a:buNone/>
              <a:defRPr lang="en-US" sz="2000" dirty="0">
                <a:solidFill>
                  <a:schemeClr val="accent1"/>
                </a:solidFill>
              </a:defRPr>
            </a:lvl1pPr>
          </a:lstStyle>
          <a:p>
            <a:pPr marL="0" indent="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Elastica snap-surface study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86868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8" Type="http://schemas.openxmlformats.org/officeDocument/2006/relationships/image" Target="../media/new_eq1_88547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new_eq2_234338.png"/><Relationship Id="rId5" Type="http://schemas.openxmlformats.org/officeDocument/2006/relationships/image" Target="../media/new_eq3_4179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new_eq4_153151.png"/><Relationship Id="rId5" Type="http://schemas.openxmlformats.org/officeDocument/2006/relationships/image" Target="../media/new_eq5_70559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 Id="rId3" Type="http://schemas.openxmlformats.org/officeDocument/2006/relationships/notesSlide" Target="../notesSlides/notesSlide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 Id="rId3" Type="http://schemas.openxmlformats.org/officeDocument/2006/relationships/notesSlide" Target="../notesSlides/notesSlide3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 Id="rId3" Type="http://schemas.openxmlformats.org/officeDocument/2006/relationships/notesSlide" Target="../notesSlides/notesSlide3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 Id="rId3" Type="http://schemas.openxmlformats.org/officeDocument/2006/relationships/notesSlide" Target="../notesSlides/notesSlide3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46.png"/><Relationship Id="rId5" Type="http://schemas.openxmlformats.org/officeDocument/2006/relationships/notesSlide" Target="../notesSlides/notesSlide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new_eq6_11137.png"/><Relationship Id="rId4" Type="http://schemas.openxmlformats.org/officeDocument/2006/relationships/image" Target="../media/new_eq7_131694.png"/><Relationship Id="rId5" Type="http://schemas.openxmlformats.org/officeDocument/2006/relationships/image" Target="../media/new_eq8_13657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1.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new_eq9_240358.png"/><Relationship Id="rId11"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3.png"/><Relationship Id="rId5" Type="http://schemas.openxmlformats.org/officeDocument/2006/relationships/image" Target="../media/image230.png"/><Relationship Id="rId6" Type="http://schemas.openxmlformats.org/officeDocument/2006/relationships/image" Target="../media/image28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5" Type="http://schemas.openxmlformats.org/officeDocument/2006/relationships/image" Target="../media/new_eq11_433747.png"/><Relationship Id="rId6"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33.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5.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6" Type="http://schemas.openxmlformats.org/officeDocument/2006/relationships/image" Target="../media/refine_rule_eq.png"/><Relationship Id="rId7" Type="http://schemas.openxmlformats.org/officeDocument/2006/relationships/image" Target="../media/refine_rule.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refine_cell.png"/><Relationship Id="rId4" Type="http://schemas.openxmlformats.org/officeDocument/2006/relationships/image" Target="../media/refine_spread.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refine_solve.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refine_histograms.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refine_3d.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refine_3d_zoom.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speed.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unit.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io.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slopes.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data.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log.png"/><Relationship Id="rId10" Type="http://schemas.openxmlformats.org/officeDocument/2006/relationships/image" Target="../media/eq_log_rel.png"/><Relationship Id="rId11" Type="http://schemas.openxmlformats.org/officeDocument/2006/relationships/image" Target="../media/eq_log_weight.png"/><Relationship Id="rId12" Type="http://schemas.openxmlformats.org/officeDocument/2006/relationships/image" Target="../media/eq_log_pos.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asinh.png"/><Relationship Id="rId10" Type="http://schemas.openxmlformats.org/officeDocument/2006/relationships/image" Target="../media/eq_asinh_def.png"/><Relationship Id="rId11" Type="http://schemas.openxmlformats.org/officeDocument/2006/relationships/image" Target="../media/eq_asinh_lim.png"/><Relationship Id="rId12" Type="http://schemas.openxmlformats.org/officeDocument/2006/relationships/image" Target="../media/eq_asinh_err.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10" Type="http://schemas.openxmlformats.org/officeDocument/2006/relationships/image" Target="../media/eq_loss_u.png"/><Relationship Id="rId11" Type="http://schemas.openxmlformats.org/officeDocument/2006/relationships/image" Target="../media/eq_loss_m.png"/><Relationship Id="rId12" Type="http://schemas.openxmlformats.org/officeDocument/2006/relationships/image" Target="../media/eq_loss_slope.png"/><Relationship Id="rId13" Type="http://schemas.openxmlformats.org/officeDocument/2006/relationships/image" Target="../media/eq_loss_f.png"/><Relationship Id="rId14" Type="http://schemas.openxmlformats.org/officeDocument/2006/relationships/image" Target="../media/eq_loss_e.png"/><Relationship Id="rId15" Type="http://schemas.openxmlformats.org/officeDocument/2006/relationships/image" Target="../media/eq_loss.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training.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rel.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abs.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map.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exist.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force.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nn_verdict.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7498080" cy="2011680"/>
          </a:xfrm>
          <a:prstGeom prst="rect">
            <a:avLst/>
          </a:prstGeom>
          <a:noFill/>
          <a:ln/>
        </p:spPr>
        <p:txBody>
          <a:bodyPr wrap="square" lIns="0" tIns="0" rIns="0" bIns="0" rtlCol="0" anchor="b"/>
          <a:lstStyle/>
          <a:p>
            <a:pPr marL="0" indent="0" algn="l">
              <a:buNone/>
            </a:pPr>
            <a:r>
              <a:rPr lang="en-US" sz="4000" dirty="0">
                <a:solidFill>
                  <a:schemeClr val="bg1"/>
                </a:solidFill>
              </a:rPr>
              <a:t>Mapping the clamped elastica across its snap surface</a:t>
            </a:r>
          </a:p>
        </p:txBody>
      </p:sp>
      <p:sp>
        <p:nvSpPr>
          <p:cNvPr id="3" name="Text 0"/>
          <p:cNvSpPr>
            <a:spLocks noGrp="1"/>
          </p:cNvSpPr>
          <p:nvPr>
            <p:ph type="body" idx="101" hasCustomPrompt="1"/>
          </p:nvPr>
        </p:nvSpPr>
        <p:spPr>
          <a:xfrm>
            <a:off x="640080" y="3794760"/>
            <a:ext cx="7498080" cy="1005840"/>
          </a:xfrm>
          <a:prstGeom prst="rect">
            <a:avLst/>
          </a:prstGeom>
          <a:noFill/>
          <a:ln/>
        </p:spPr>
        <p:txBody>
          <a:bodyPr wrap="square" lIns="0" tIns="0" rIns="0" bIns="0" rtlCol="0" anchor="t"/>
          <a:lstStyle/>
          <a:p>
            <a:pPr marL="0" indent="0">
              <a:buNone/>
            </a:pPr>
            <a:r>
              <a:rPr lang="en-US" sz="1800" dirty="0">
                <a:solidFill>
                  <a:schemeClr val="bg2"/>
                </a:solidFill>
              </a:rPr>
              <a:t>Continuation with buckling-mode branch tracking in FEniCSx / PETSc</a:t>
            </a:r>
            <a:endParaRPr lang="en-US" sz="1800" dirty="0"/>
          </a:p>
        </p:txBody>
      </p:sp>
      <p:pic>
        <p:nvPicPr>
          <p:cNvPr id="4" name="figure-1" descr="/tmp/claude-1000/-home-goraksh/bd4a8aa0-f932-4355-8328-b02b4cf010d1/scratchpad/deck/fig/family_dark.png"/>
          <p:cNvPicPr>
            <a:picLocks noChangeAspect="1"/>
          </p:cNvPicPr>
          <p:nvPr/>
        </p:nvPicPr>
        <p:blipFill>
          <a:blip r:embed="rId3"/>
          <a:stretch>
            <a:fillRect/>
          </a:stretch>
        </p:blipFill>
        <p:spPr>
          <a:xfrm>
            <a:off x="7223760" y="4892040"/>
            <a:ext cx="4480560" cy="1251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One rod, three parameters, a map of equilibria</a:t>
            </a:r>
            <a:endParaRPr lang="en-US" sz="3000" dirty="0"/>
          </a:p>
        </p:txBody>
      </p:sp>
      <p:pic>
        <p:nvPicPr>
          <p:cNvPr id="3" name="figure-2" descr="/tmp/claude-1000/-home-goraksh/bd4a8aa0-f932-4355-8328-b02b4cf010d1/scratchpad/deck/fig/schematic.png"/>
          <p:cNvPicPr>
            <a:picLocks noChangeAspect="1"/>
          </p:cNvPicPr>
          <p:nvPr/>
        </p:nvPicPr>
        <p:blipFill>
          <a:blip r:embed="rId3"/>
          <a:stretch>
            <a:fillRect/>
          </a:stretch>
        </p:blipFill>
        <p:spPr>
          <a:xfrm>
            <a:off x="457200" y="1371600"/>
            <a:ext cx="6217920" cy="3464770"/>
          </a:xfrm>
          <a:prstGeom prst="rect">
            <a:avLst/>
          </a:prstGeom>
        </p:spPr>
      </p:pic>
      <p:sp>
        <p:nvSpPr>
          <p:cNvPr id="4" name="text-3"/>
          <p:cNvSpPr txBox="1"/>
          <p:nvPr/>
        </p:nvSpPr>
        <p:spPr>
          <a:xfrm>
            <a:off x="548640" y="5064970"/>
            <a:ext cx="5852160" cy="914400"/>
          </a:xfrm>
          <a:prstGeom prst="rect">
            <a:avLst/>
          </a:prstGeom>
          <a:noFill/>
          <a:ln/>
        </p:spPr>
        <p:txBody>
          <a:bodyPr wrap="square" lIns="0" tIns="0" rIns="0" bIns="0" rtlCol="0" anchor="t"/>
          <a:lstStyle/>
          <a:p>
            <a:pPr marL="0" indent="0">
              <a:buNone/>
            </a:pPr>
            <a:r>
              <a:rPr lang="en-US" sz="1600" dirty="0">
                <a:solidFill>
                  <a:schemeClr val="tx1"/>
                </a:solidFill>
              </a:rPr>
              <a:t>For every point (d, φ₁, φ₂) solve for the tangent angle θ(s) and the end forces f</a:t>
            </a:r>
            <a:r>
              <a:rPr lang="en-US" sz="1600" baseline="-25000" dirty="0">
                <a:solidFill>
                  <a:schemeClr val="tx1"/>
                </a:solidFill>
              </a:rPr>
              <a:t>x</a:t>
            </a:r>
            <a:r>
              <a:rPr lang="en-US" sz="1600" dirty="0">
                <a:solidFill>
                  <a:schemeClr val="tx1"/>
                </a:solidFill>
              </a:rPr>
              <a:t>, f</a:t>
            </a:r>
            <a:r>
              <a:rPr lang="en-US" sz="1600" baseline="-25000" dirty="0">
                <a:solidFill>
                  <a:schemeClr val="tx1"/>
                </a:solidFill>
              </a:rPr>
              <a:t>y</a:t>
            </a:r>
            <a:r>
              <a:rPr lang="en-US" sz="1600" dirty="0">
                <a:solidFill>
                  <a:schemeClr val="tx1"/>
                </a:solidFill>
              </a:rPr>
              <a:t>; record both clamp moments and the bending energy U.</a:t>
            </a:r>
          </a:p>
        </p:txBody>
      </p:sp>
      <p:sp>
        <p:nvSpPr>
          <p:cNvPr id="5" name="card-4"/>
          <p:cNvSpPr/>
          <p:nvPr/>
        </p:nvSpPr>
        <p:spPr>
          <a:xfrm>
            <a:off x="6949440" y="1463040"/>
            <a:ext cx="4663440" cy="1371600"/>
          </a:xfrm>
          <a:prstGeom prst="roundRect">
            <a:avLst>
              <a:gd name="adj" fmla="val 5333"/>
            </a:avLst>
          </a:prstGeom>
          <a:solidFill>
            <a:schemeClr val="bg2"/>
          </a:solidFill>
          <a:ln/>
        </p:spPr>
        <p:txBody>
          <a:bodyPr/>
          <a:lstStyle/>
          <a:p>
            <a:endParaRPr lang="en-IN"/>
          </a:p>
        </p:txBody>
      </p:sp>
      <p:sp>
        <p:nvSpPr>
          <p:cNvPr id="6" name="badge-5"/>
          <p:cNvSpPr/>
          <p:nvPr/>
        </p:nvSpPr>
        <p:spPr>
          <a:xfrm>
            <a:off x="7178040" y="1828800"/>
            <a:ext cx="640080" cy="640080"/>
          </a:xfrm>
          <a:prstGeom prst="ellipse">
            <a:avLst/>
          </a:prstGeom>
          <a:solidFill>
            <a:schemeClr val="accent2"/>
          </a:solidFill>
          <a:ln/>
        </p:spPr>
        <p:txBody>
          <a:bodyPr/>
          <a:lstStyle/>
          <a:p>
            <a:endParaRPr lang="en-IN"/>
          </a:p>
        </p:txBody>
      </p:sp>
      <p:sp>
        <p:nvSpPr>
          <p:cNvPr id="7" name="badge-label-6"/>
          <p:cNvSpPr txBox="1"/>
          <p:nvPr/>
        </p:nvSpPr>
        <p:spPr>
          <a:xfrm>
            <a:off x="7178040" y="18288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d</a:t>
            </a:r>
            <a:endParaRPr lang="en-US" sz="1800" dirty="0"/>
          </a:p>
        </p:txBody>
      </p:sp>
      <p:sp>
        <p:nvSpPr>
          <p:cNvPr id="8" name="text-7"/>
          <p:cNvSpPr txBox="1"/>
          <p:nvPr/>
        </p:nvSpPr>
        <p:spPr>
          <a:xfrm>
            <a:off x="8046720" y="1691640"/>
            <a:ext cx="3383280" cy="365760"/>
          </a:xfrm>
          <a:prstGeom prst="rect">
            <a:avLst/>
          </a:prstGeom>
          <a:noFill/>
          <a:ln/>
        </p:spPr>
        <p:txBody>
          <a:bodyPr wrap="square" lIns="0" tIns="0" rIns="0" bIns="0" rtlCol="0" anchor="t"/>
          <a:lstStyle/>
          <a:p>
            <a:pPr marL="0" indent="0">
              <a:buNone/>
            </a:pPr>
            <a:r>
              <a:rPr lang="en-US" sz="1700" b="1" dirty="0">
                <a:solidFill>
                  <a:schemeClr val="tx1"/>
                </a:solidFill>
              </a:rPr>
              <a:t>End-to-end distance (L = 1)</a:t>
            </a:r>
            <a:endParaRPr lang="en-US" sz="1700" dirty="0"/>
          </a:p>
        </p:txBody>
      </p:sp>
      <p:sp>
        <p:nvSpPr>
          <p:cNvPr id="9" name="text-8"/>
          <p:cNvSpPr txBox="1"/>
          <p:nvPr/>
        </p:nvSpPr>
        <p:spPr>
          <a:xfrm>
            <a:off x="8046720" y="2103120"/>
            <a:ext cx="3383280" cy="594360"/>
          </a:xfrm>
          <a:prstGeom prst="rect">
            <a:avLst/>
          </a:prstGeom>
          <a:noFill/>
          <a:ln/>
        </p:spPr>
        <p:txBody>
          <a:bodyPr wrap="square" lIns="0" tIns="0" rIns="0" bIns="0" rtlCol="0" anchor="t"/>
          <a:lstStyle/>
          <a:p>
            <a:pPr marL="0" indent="0">
              <a:buNone/>
            </a:pPr>
            <a:r>
              <a:rPr lang="en-US" sz="1400" dirty="0">
                <a:solidFill>
                  <a:schemeClr val="tx2"/>
                </a:solidFill>
              </a:rPr>
              <a:t>0.70 – 0.99;  Δd = 0.01</a:t>
            </a:r>
          </a:p>
        </p:txBody>
      </p:sp>
      <p:sp>
        <p:nvSpPr>
          <p:cNvPr id="10" name="card-9"/>
          <p:cNvSpPr/>
          <p:nvPr/>
        </p:nvSpPr>
        <p:spPr>
          <a:xfrm>
            <a:off x="6949440" y="3063240"/>
            <a:ext cx="4663440" cy="1371600"/>
          </a:xfrm>
          <a:prstGeom prst="roundRect">
            <a:avLst>
              <a:gd name="adj" fmla="val 5333"/>
            </a:avLst>
          </a:prstGeom>
          <a:solidFill>
            <a:schemeClr val="bg2"/>
          </a:solidFill>
          <a:ln/>
        </p:spPr>
        <p:txBody>
          <a:bodyPr/>
          <a:lstStyle/>
          <a:p>
            <a:endParaRPr lang="en-IN"/>
          </a:p>
        </p:txBody>
      </p:sp>
      <p:sp>
        <p:nvSpPr>
          <p:cNvPr id="11" name="badge-10"/>
          <p:cNvSpPr/>
          <p:nvPr/>
        </p:nvSpPr>
        <p:spPr>
          <a:xfrm>
            <a:off x="7178040" y="3429000"/>
            <a:ext cx="640080" cy="640080"/>
          </a:xfrm>
          <a:prstGeom prst="ellipse">
            <a:avLst/>
          </a:prstGeom>
          <a:solidFill>
            <a:schemeClr val="accent1"/>
          </a:solidFill>
          <a:ln/>
        </p:spPr>
        <p:txBody>
          <a:bodyPr/>
          <a:lstStyle/>
          <a:p>
            <a:endParaRPr lang="en-IN"/>
          </a:p>
        </p:txBody>
      </p:sp>
      <p:sp>
        <p:nvSpPr>
          <p:cNvPr id="12" name="badge-label-11"/>
          <p:cNvSpPr txBox="1"/>
          <p:nvPr/>
        </p:nvSpPr>
        <p:spPr>
          <a:xfrm>
            <a:off x="7178040" y="34290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φ₁</a:t>
            </a:r>
            <a:endParaRPr lang="en-US" sz="1800" dirty="0"/>
          </a:p>
        </p:txBody>
      </p:sp>
      <p:sp>
        <p:nvSpPr>
          <p:cNvPr id="13" name="text-12"/>
          <p:cNvSpPr txBox="1"/>
          <p:nvPr/>
        </p:nvSpPr>
        <p:spPr>
          <a:xfrm>
            <a:off x="8046720" y="3291840"/>
            <a:ext cx="3383280" cy="365760"/>
          </a:xfrm>
          <a:prstGeom prst="rect">
            <a:avLst/>
          </a:prstGeom>
          <a:noFill/>
          <a:ln/>
        </p:spPr>
        <p:txBody>
          <a:bodyPr wrap="square" lIns="0" tIns="0" rIns="0" bIns="0" rtlCol="0" anchor="t"/>
          <a:lstStyle/>
          <a:p>
            <a:pPr marL="0" indent="0">
              <a:buNone/>
            </a:pPr>
            <a:r>
              <a:rPr lang="en-US" sz="1700" b="1" dirty="0">
                <a:solidFill>
                  <a:schemeClr val="tx1"/>
                </a:solidFill>
              </a:rPr>
              <a:t>Clamp angle at s = 0</a:t>
            </a:r>
            <a:endParaRPr lang="en-US" sz="1700" dirty="0"/>
          </a:p>
        </p:txBody>
      </p:sp>
      <p:sp>
        <p:nvSpPr>
          <p:cNvPr id="14" name="text-13"/>
          <p:cNvSpPr txBox="1"/>
          <p:nvPr/>
        </p:nvSpPr>
        <p:spPr>
          <a:xfrm>
            <a:off x="8046720" y="3703320"/>
            <a:ext cx="3383280" cy="594360"/>
          </a:xfrm>
          <a:prstGeom prst="rect">
            <a:avLst/>
          </a:prstGeom>
          <a:noFill/>
          <a:ln/>
        </p:spPr>
        <p:txBody>
          <a:bodyPr wrap="square" lIns="0" tIns="0" rIns="0" bIns="0" rtlCol="0" anchor="t"/>
          <a:lstStyle/>
          <a:p>
            <a:pPr marL="0" indent="0">
              <a:buNone/>
            </a:pPr>
            <a:r>
              <a:rPr lang="en-US" sz="1400" dirty="0">
                <a:solidFill>
                  <a:schemeClr val="tx2"/>
                </a:solidFill>
              </a:rPr>
              <a:t>−π/2 to π/2;  Δφ = π/314 ≈ 0.01</a:t>
            </a:r>
          </a:p>
        </p:txBody>
      </p:sp>
      <p:sp>
        <p:nvSpPr>
          <p:cNvPr id="15" name="card-14"/>
          <p:cNvSpPr/>
          <p:nvPr/>
        </p:nvSpPr>
        <p:spPr>
          <a:xfrm>
            <a:off x="6949440" y="4663440"/>
            <a:ext cx="4663440" cy="1371600"/>
          </a:xfrm>
          <a:prstGeom prst="roundRect">
            <a:avLst>
              <a:gd name="adj" fmla="val 5333"/>
            </a:avLst>
          </a:prstGeom>
          <a:solidFill>
            <a:schemeClr val="bg2"/>
          </a:solidFill>
          <a:ln/>
        </p:spPr>
        <p:txBody>
          <a:bodyPr/>
          <a:lstStyle/>
          <a:p>
            <a:endParaRPr lang="en-IN"/>
          </a:p>
        </p:txBody>
      </p:sp>
      <p:sp>
        <p:nvSpPr>
          <p:cNvPr id="16" name="badge-15"/>
          <p:cNvSpPr/>
          <p:nvPr/>
        </p:nvSpPr>
        <p:spPr>
          <a:xfrm>
            <a:off x="7178040" y="5029200"/>
            <a:ext cx="640080" cy="640080"/>
          </a:xfrm>
          <a:prstGeom prst="ellipse">
            <a:avLst/>
          </a:prstGeom>
          <a:solidFill>
            <a:schemeClr val="accent1"/>
          </a:solidFill>
          <a:ln/>
        </p:spPr>
        <p:txBody>
          <a:bodyPr/>
          <a:lstStyle/>
          <a:p>
            <a:endParaRPr lang="en-IN"/>
          </a:p>
        </p:txBody>
      </p:sp>
      <p:sp>
        <p:nvSpPr>
          <p:cNvPr id="17" name="badge-label-16"/>
          <p:cNvSpPr txBox="1"/>
          <p:nvPr/>
        </p:nvSpPr>
        <p:spPr>
          <a:xfrm>
            <a:off x="7178040" y="50292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φ₂</a:t>
            </a:r>
            <a:endParaRPr lang="en-US" sz="1800" dirty="0"/>
          </a:p>
        </p:txBody>
      </p:sp>
      <p:sp>
        <p:nvSpPr>
          <p:cNvPr id="18" name="text-17"/>
          <p:cNvSpPr txBox="1"/>
          <p:nvPr/>
        </p:nvSpPr>
        <p:spPr>
          <a:xfrm>
            <a:off x="8046720" y="4892040"/>
            <a:ext cx="3383280" cy="365760"/>
          </a:xfrm>
          <a:prstGeom prst="rect">
            <a:avLst/>
          </a:prstGeom>
          <a:noFill/>
          <a:ln/>
        </p:spPr>
        <p:txBody>
          <a:bodyPr wrap="square" lIns="0" tIns="0" rIns="0" bIns="0" rtlCol="0" anchor="t"/>
          <a:lstStyle/>
          <a:p>
            <a:pPr marL="0" indent="0">
              <a:buNone/>
            </a:pPr>
            <a:r>
              <a:rPr lang="en-US" sz="1700" b="1" dirty="0">
                <a:solidFill>
                  <a:schemeClr val="tx1"/>
                </a:solidFill>
              </a:rPr>
              <a:t>Clamp angle at s = L</a:t>
            </a:r>
            <a:endParaRPr lang="en-US" sz="1700" dirty="0"/>
          </a:p>
        </p:txBody>
      </p:sp>
      <p:sp>
        <p:nvSpPr>
          <p:cNvPr id="19" name="text-18"/>
          <p:cNvSpPr txBox="1"/>
          <p:nvPr/>
        </p:nvSpPr>
        <p:spPr>
          <a:xfrm>
            <a:off x="8046720" y="5303520"/>
            <a:ext cx="3383280" cy="594360"/>
          </a:xfrm>
          <a:prstGeom prst="rect">
            <a:avLst/>
          </a:prstGeom>
          <a:noFill/>
          <a:ln/>
        </p:spPr>
        <p:txBody>
          <a:bodyPr wrap="square" lIns="0" tIns="0" rIns="0" bIns="0" rtlCol="0" anchor="t"/>
          <a:lstStyle/>
          <a:p>
            <a:pPr marL="0" indent="0">
              <a:buNone/>
            </a:pPr>
            <a:r>
              <a:rPr lang="en-US" sz="1400" dirty="0">
                <a:solidFill>
                  <a:schemeClr val="tx2"/>
                </a:solidFill>
              </a:rPr>
              <a:t>Same range as φ₁; grid 30 × 315 × 315</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Equilibria are stationary points of the bending energy</a:t>
            </a:r>
            <a:endParaRPr lang="en-US" sz="3000" dirty="0"/>
          </a:p>
        </p:txBody>
      </p:sp>
      <p:sp>
        <p:nvSpPr>
          <p:cNvPr id="3" name="card-19"/>
          <p:cNvSpPr/>
          <p:nvPr/>
        </p:nvSpPr>
        <p:spPr>
          <a:xfrm>
            <a:off x="548640" y="1417320"/>
            <a:ext cx="11064240" cy="1143000"/>
          </a:xfrm>
          <a:prstGeom prst="roundRect">
            <a:avLst>
              <a:gd name="adj" fmla="val 6400"/>
            </a:avLst>
          </a:prstGeom>
          <a:solidFill>
            <a:schemeClr val="bg2"/>
          </a:solidFill>
          <a:ln/>
        </p:spPr>
        <p:txBody>
          <a:bodyPr/>
          <a:lstStyle/>
          <a:p>
            <a:endParaRPr lang="en-IN"/>
          </a:p>
        </p:txBody>
      </p:sp>
      <p:sp>
        <p:nvSpPr>
          <p:cNvPr id="4" name="text-20"/>
          <p:cNvSpPr txBox="1"/>
          <p:nvPr/>
        </p:nvSpPr>
        <p:spPr>
          <a:xfrm>
            <a:off x="777240" y="1691640"/>
            <a:ext cx="2194560" cy="365760"/>
          </a:xfrm>
          <a:prstGeom prst="rect">
            <a:avLst/>
          </a:prstGeom>
          <a:noFill/>
          <a:ln/>
        </p:spPr>
        <p:txBody>
          <a:bodyPr wrap="square" lIns="0" tIns="0" rIns="0" bIns="0" rtlCol="0" anchor="t"/>
          <a:lstStyle/>
          <a:p>
            <a:pPr marL="0" indent="0">
              <a:buNone/>
            </a:pPr>
            <a:r>
              <a:rPr lang="en-US" sz="1800" b="1" dirty="0">
                <a:solidFill>
                  <a:schemeClr val="accent1"/>
                </a:solidFill>
              </a:rPr>
              <a:t>Bending energy</a:t>
            </a:r>
            <a:endParaRPr lang="en-US" sz="1800" dirty="0"/>
          </a:p>
        </p:txBody>
      </p:sp>
      <p:sp>
        <p:nvSpPr>
          <p:cNvPr id="5" name="text-21"/>
          <p:cNvSpPr txBox="1"/>
          <p:nvPr/>
        </p:nvSpPr>
        <p:spPr>
          <a:xfrm>
            <a:off x="777240" y="2057400"/>
            <a:ext cx="2194560" cy="457200"/>
          </a:xfrm>
          <a:prstGeom prst="rect">
            <a:avLst/>
          </a:prstGeom>
          <a:noFill/>
          <a:ln/>
        </p:spPr>
        <p:txBody>
          <a:bodyPr wrap="square" lIns="0" tIns="0" rIns="0" bIns="0" rtlCol="0" anchor="t"/>
          <a:lstStyle/>
          <a:p>
            <a:pPr marL="0" indent="0">
              <a:buNone/>
            </a:pPr>
            <a:r>
              <a:rPr lang="en-US" sz="1100" dirty="0">
                <a:solidFill>
                  <a:schemeClr val="accent5"/>
                </a:solidFill>
              </a:rPr>
              <a:t>Inextensible Euler–Bernoulli rod, EI = 1</a:t>
            </a:r>
            <a:endParaRPr lang="en-US" sz="1100" dirty="0"/>
          </a:p>
        </p:txBody>
      </p:sp>
      <mc:AlternateContent xmlns:mc="http://schemas.openxmlformats.org/markup-compatibility/2006" xmlns:a14="http://schemas.microsoft.com/office/drawing/2010/main">
        <mc:Choice Requires="a14">
          <p:sp>
            <p:nvSpPr>
              <p:cNvPr id="6" name="latex-energy"/>
              <p:cNvSpPr txBox="1"/>
              <p:nvPr/>
            </p:nvSpPr>
            <p:spPr>
              <a:xfrm>
                <a:off x="3200400" y="1599286"/>
                <a:ext cx="8229600" cy="779069"/>
              </a:xfrm>
              <a:prstGeom prst="rect">
                <a:avLst/>
              </a:prstGeom>
              <a:noFill/>
              <a:ln/>
            </p:spPr>
            <p:txBody>
              <a:bodyPr wrap="square" lIns="0" tIns="0" rIns="0" bIns="0" rtlCol="0" anchor="ctr">
                <a:noAutofit/>
              </a:bodyPr>
              <a:lstStyle/>
              <a:p>
                <a:pPr marL="0" indent="0">
                  <a:buNone/>
                </a:pPr>
                <a14:m>
                  <m:oMathPara xmlns:m="http://schemas.openxmlformats.org/officeDocument/2006/math">
                    <m:oMathParaPr>
                      <m:jc m:val="left"/>
                    </m:oMathParaPr>
                    <m:oMath>
                      <m:r>
                        <m:rPr>
                          <m:sty m:val="p"/>
                        </m:rPr>
                        <a:rPr lang="en-US" sz="1600" dirty="0" smtClean="0">
                          <a:solidFill>
                            <a:schemeClr val="tx1"/>
                          </a:solidFill>
                          <a:latin typeface="Cambria Math" panose="02040503050406030204" pitchFamily="18" charset="0"/>
                        </a:rPr>
                        <m:t>Π</m:t>
                      </m:r>
                      <m:d>
                        <m:dPr>
                          <m:begChr m:val="["/>
                          <m:endChr m:val="]"/>
                          <m:ctrlPr>
                            <a:rPr lang="en-US" sz="1600" i="1" dirty="0" smtClean="0">
                              <a:solidFill>
                                <a:schemeClr val="tx1"/>
                              </a:solidFill>
                              <a:latin typeface="Cambria Math" panose="02040503050406030204" pitchFamily="18" charset="0"/>
                            </a:rPr>
                          </m:ctrlPr>
                        </m:dPr>
                        <m:e>
                          <m:r>
                            <a:rPr lang="en-US" sz="1600" i="1" dirty="0" smtClean="0">
                              <a:solidFill>
                                <a:schemeClr val="tx1"/>
                              </a:solidFill>
                              <a:latin typeface="Cambria Math" panose="02040503050406030204" pitchFamily="18" charset="0"/>
                            </a:rPr>
                            <m:t>𝜃</m:t>
                          </m:r>
                        </m:e>
                      </m:d>
                      <m:r>
                        <a:rPr lang="en-US" sz="1600" i="0" dirty="0" smtClean="0">
                          <a:solidFill>
                            <a:schemeClr val="tx1"/>
                          </a:solidFill>
                          <a:latin typeface="Cambria Math" panose="02040503050406030204" pitchFamily="18" charset="0"/>
                        </a:rPr>
                        <m:t>=</m:t>
                      </m:r>
                      <m:f>
                        <m:fPr>
                          <m:ctrlPr>
                            <a:rPr lang="en-US" sz="1600" i="0" dirty="0" smtClean="0">
                              <a:solidFill>
                                <a:schemeClr val="tx1"/>
                              </a:solidFill>
                              <a:latin typeface="Cambria Math" panose="02040503050406030204" pitchFamily="18" charset="0"/>
                            </a:rPr>
                          </m:ctrlPr>
                        </m:fPr>
                        <m:num>
                          <m:r>
                            <a:rPr lang="en-US" sz="1600" i="0" dirty="0" smtClean="0">
                              <a:solidFill>
                                <a:schemeClr val="tx1"/>
                              </a:solidFill>
                              <a:latin typeface="Cambria Math" panose="02040503050406030204" pitchFamily="18" charset="0"/>
                            </a:rPr>
                            <m:t>1</m:t>
                          </m:r>
                        </m:num>
                        <m:den>
                          <m:r>
                            <a:rPr lang="en-US" sz="1600" i="0" dirty="0" smtClean="0">
                              <a:solidFill>
                                <a:schemeClr val="tx1"/>
                              </a:solidFill>
                              <a:latin typeface="Cambria Math" panose="02040503050406030204" pitchFamily="18" charset="0"/>
                            </a:rPr>
                            <m:t>2</m:t>
                          </m:r>
                        </m:den>
                      </m:f>
                      <m:nary>
                        <m:naryPr>
                          <m:limLoc m:val="subSup"/>
                          <m:ctrlPr>
                            <a:rPr lang="en-US" sz="1600" i="0" dirty="0" smtClean="0">
                              <a:solidFill>
                                <a:schemeClr val="tx1"/>
                              </a:solidFill>
                              <a:latin typeface="Cambria Math" panose="02040503050406030204" pitchFamily="18" charset="0"/>
                            </a:rPr>
                          </m:ctrlPr>
                        </m:naryPr>
                        <m:sub>
                          <m:r>
                            <a:rPr lang="en-US" sz="1600" i="0" dirty="0" smtClean="0">
                              <a:solidFill>
                                <a:schemeClr val="tx1"/>
                              </a:solidFill>
                              <a:latin typeface="Cambria Math" panose="02040503050406030204" pitchFamily="18" charset="0"/>
                            </a:rPr>
                            <m:t>0</m:t>
                          </m:r>
                        </m:sub>
                        <m:sup>
                          <m:r>
                            <a:rPr lang="en-US" sz="1600" i="1" dirty="0" smtClean="0">
                              <a:solidFill>
                                <a:schemeClr val="tx1"/>
                              </a:solidFill>
                              <a:latin typeface="Cambria Math" panose="02040503050406030204" pitchFamily="18" charset="0"/>
                            </a:rPr>
                            <m:t>𝐿</m:t>
                          </m:r>
                        </m:sup>
                        <m:e>
                          <m:r>
                            <a:rPr lang="en-US" sz="1600" i="1" dirty="0" smtClean="0">
                              <a:solidFill>
                                <a:schemeClr val="tx1"/>
                              </a:solidFill>
                              <a:latin typeface="Cambria Math" panose="02040503050406030204" pitchFamily="18" charset="0"/>
                            </a:rPr>
                            <m:t>𝜃</m:t>
                          </m:r>
                        </m:e>
                      </m:nary>
                      <m:r>
                        <a:rPr lang="en-US" sz="1600" i="0" dirty="0" smtClean="0">
                          <a:solidFill>
                            <a:schemeClr val="tx1"/>
                          </a:solidFill>
                          <a:latin typeface="Cambria Math" panose="02040503050406030204" pitchFamily="18" charset="0"/>
                        </a:rPr>
                        <m:t>′</m:t>
                      </m:r>
                      <m:sSup>
                        <m:sSupPr>
                          <m:ctrlPr>
                            <a:rPr lang="en-US" sz="1600" i="1" dirty="0" smtClean="0">
                              <a:solidFill>
                                <a:schemeClr val="tx1"/>
                              </a:solidFill>
                              <a:latin typeface="Cambria Math" panose="02040503050406030204" pitchFamily="18" charset="0"/>
                            </a:rPr>
                          </m:ctrlPr>
                        </m:sSupPr>
                        <m:e>
                          <m:d>
                            <m:dPr>
                              <m:ctrlPr>
                                <a:rPr lang="en-US" sz="1600" i="1" dirty="0" smtClean="0">
                                  <a:solidFill>
                                    <a:schemeClr val="tx1"/>
                                  </a:solidFill>
                                  <a:latin typeface="Cambria Math" panose="02040503050406030204" pitchFamily="18" charset="0"/>
                                </a:rPr>
                              </m:ctrlPr>
                            </m:dPr>
                            <m:e>
                              <m:r>
                                <a:rPr lang="en-US" sz="1600" i="1" dirty="0" smtClean="0">
                                  <a:solidFill>
                                    <a:schemeClr val="tx1"/>
                                  </a:solidFill>
                                  <a:latin typeface="Cambria Math" panose="02040503050406030204" pitchFamily="18" charset="0"/>
                                </a:rPr>
                                <m:t>𝑠</m:t>
                              </m:r>
                            </m:e>
                          </m:d>
                        </m:e>
                        <m:sup>
                          <m:r>
                            <a:rPr lang="en-US" sz="1600" i="0" dirty="0" smtClean="0">
                              <a:solidFill>
                                <a:schemeClr val="tx1"/>
                              </a:solidFill>
                              <a:latin typeface="Cambria Math" panose="02040503050406030204" pitchFamily="18" charset="0"/>
                            </a:rPr>
                            <m:t>2</m:t>
                          </m:r>
                        </m:sup>
                      </m:sSup>
                      <m:r>
                        <a:rPr lang="en-US" sz="1600" i="0"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𝑑𝑠</m:t>
                      </m:r>
                    </m:oMath>
                  </m:oMathPara>
                </a14:m>
                <a:endParaRPr lang="en-US" sz="1600" dirty="0"/>
              </a:p>
            </p:txBody>
          </p:sp>
        </mc:Choice>
        <mc:Fallback xmlns="">
          <p:sp>
            <p:nvSpPr>
              <p:cNvPr id="6" name="latex-energy"/>
              <p:cNvSpPr txBox="1">
                <a:spLocks noRot="1" noChangeAspect="1" noMove="1" noResize="1" noEditPoints="1" noAdjustHandles="1" noChangeArrowheads="1" noChangeShapeType="1" noTextEdit="1"/>
              </p:cNvSpPr>
              <p:nvPr/>
            </p:nvSpPr>
            <p:spPr>
              <a:xfrm>
                <a:off x="3200400" y="1599286"/>
                <a:ext cx="8229600" cy="779069"/>
              </a:xfrm>
              <a:prstGeom prst="rect">
                <a:avLst/>
              </a:prstGeom>
              <a:blipFill>
                <a:blip r:embed="rId3"/>
                <a:stretch>
                  <a:fillRect/>
                </a:stretch>
              </a:blipFill>
              <a:ln/>
            </p:spPr>
            <p:txBody>
              <a:bodyPr/>
              <a:lstStyle/>
              <a:p>
                <a:r>
                  <a:rPr lang="en-IN">
                    <a:noFill/>
                  </a:rPr>
                  <a:t> </a:t>
                </a:r>
              </a:p>
            </p:txBody>
          </p:sp>
        </mc:Fallback>
      </mc:AlternateContent>
      <p:sp>
        <p:nvSpPr>
          <p:cNvPr id="7" name="card-23"/>
          <p:cNvSpPr/>
          <p:nvPr/>
        </p:nvSpPr>
        <p:spPr>
          <a:xfrm>
            <a:off x="548640" y="2743200"/>
            <a:ext cx="11064240" cy="1143000"/>
          </a:xfrm>
          <a:prstGeom prst="roundRect">
            <a:avLst>
              <a:gd name="adj" fmla="val 6400"/>
            </a:avLst>
          </a:prstGeom>
          <a:solidFill>
            <a:schemeClr val="bg2"/>
          </a:solidFill>
          <a:ln/>
        </p:spPr>
        <p:txBody>
          <a:bodyPr/>
          <a:lstStyle/>
          <a:p>
            <a:endParaRPr lang="en-IN"/>
          </a:p>
        </p:txBody>
      </p:sp>
      <p:sp>
        <p:nvSpPr>
          <p:cNvPr id="8" name="text-24"/>
          <p:cNvSpPr txBox="1"/>
          <p:nvPr/>
        </p:nvSpPr>
        <p:spPr>
          <a:xfrm>
            <a:off x="777240" y="3017520"/>
            <a:ext cx="2194560" cy="365760"/>
          </a:xfrm>
          <a:prstGeom prst="rect">
            <a:avLst/>
          </a:prstGeom>
          <a:noFill/>
          <a:ln/>
        </p:spPr>
        <p:txBody>
          <a:bodyPr wrap="square" lIns="0" tIns="0" rIns="0" bIns="0" rtlCol="0" anchor="t"/>
          <a:lstStyle/>
          <a:p>
            <a:pPr marL="0" indent="0">
              <a:buNone/>
            </a:pPr>
            <a:r>
              <a:rPr lang="en-US" sz="1800" b="1" dirty="0">
                <a:solidFill>
                  <a:schemeClr val="accent1"/>
                </a:solidFill>
              </a:rPr>
              <a:t>Constraints</a:t>
            </a:r>
            <a:endParaRPr lang="en-US" sz="1800" dirty="0"/>
          </a:p>
        </p:txBody>
      </p:sp>
      <p:sp>
        <p:nvSpPr>
          <p:cNvPr id="9" name="text-25"/>
          <p:cNvSpPr txBox="1"/>
          <p:nvPr/>
        </p:nvSpPr>
        <p:spPr>
          <a:xfrm>
            <a:off x="777240" y="3383280"/>
            <a:ext cx="2194560" cy="457200"/>
          </a:xfrm>
          <a:prstGeom prst="rect">
            <a:avLst/>
          </a:prstGeom>
          <a:noFill/>
          <a:ln/>
        </p:spPr>
        <p:txBody>
          <a:bodyPr wrap="square" lIns="0" tIns="0" rIns="0" bIns="0" rtlCol="0" anchor="t"/>
          <a:lstStyle/>
          <a:p>
            <a:pPr marL="0" indent="0">
              <a:buNone/>
            </a:pPr>
            <a:r>
              <a:rPr lang="en-US" sz="1100" dirty="0">
                <a:solidFill>
                  <a:schemeClr val="accent5"/>
                </a:solidFill>
              </a:rPr>
              <a:t>End position fixed, both ends clamped</a:t>
            </a:r>
            <a:endParaRPr lang="en-US" sz="1100" dirty="0"/>
          </a:p>
        </p:txBody>
      </p:sp>
      <mc:AlternateContent xmlns:mc="http://schemas.openxmlformats.org/markup-compatibility/2006" xmlns:a14="http://schemas.microsoft.com/office/drawing/2010/main">
        <mc:Choice Requires="a14">
          <p:sp>
            <p:nvSpPr>
              <p:cNvPr id="10" name="latex-constraints"/>
              <p:cNvSpPr txBox="1"/>
              <p:nvPr/>
            </p:nvSpPr>
            <p:spPr>
              <a:xfrm>
                <a:off x="3200400" y="2925166"/>
                <a:ext cx="8229600" cy="779069"/>
              </a:xfrm>
              <a:prstGeom prst="rect">
                <a:avLst/>
              </a:prstGeom>
              <a:noFill/>
              <a:ln/>
            </p:spPr>
            <p:txBody>
              <a:bodyPr wrap="square" lIns="0" tIns="0" rIns="0" bIns="0" rtlCol="0" anchor="ctr">
                <a:noAutofit/>
              </a:bodyPr>
              <a:lstStyle/>
              <a:p>
                <a:pPr marL="0" indent="0" algn="r">
                  <a:buNone/>
                </a:pPr>
                <a14:m>
                  <m:oMathPara xmlns:m="http://schemas.openxmlformats.org/officeDocument/2006/math">
                    <m:oMathParaPr>
                      <m:jc m:val="left"/>
                    </m:oMathParaPr>
                    <m:oMath>
                      <m:nary>
                        <m:naryPr>
                          <m:limLoc m:val="subSup"/>
                          <m:ctrlPr>
                            <a:rPr lang="en-US" sz="1600" dirty="0">
                              <a:solidFill>
                                <a:schemeClr val="tx1"/>
                              </a:solidFill>
                              <a:latin typeface="Cambria Math" panose="02040503050406030204" pitchFamily="18" charset="0"/>
                            </a:rPr>
                          </m:ctrlPr>
                        </m:naryPr>
                        <m:sub>
                          <m:r>
                            <a:rPr lang="en-US" sz="1600"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cos</m:t>
                              </m:r>
                            </m:fName>
                            <m:e>
                              <m:r>
                                <a:rPr lang="en-US" sz="1600" i="1" dirty="0">
                                  <a:solidFill>
                                    <a:schemeClr val="tx1"/>
                                  </a:solidFill>
                                  <a:latin typeface="Cambria Math" panose="02040503050406030204" pitchFamily="18" charset="0"/>
                                </a:rPr>
                                <m:t>𝜃</m:t>
                              </m:r>
                            </m:e>
                          </m:func>
                        </m:e>
                      </m:nary>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𝑑𝑠</m:t>
                      </m:r>
                      <m:r>
                        <a:rPr lang="en-US" sz="1600" i="0"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𝑑</m:t>
                      </m:r>
                      <m:r>
                        <a:rPr lang="en-US" sz="1600" i="0" dirty="0">
                          <a:solidFill>
                            <a:schemeClr val="tx1"/>
                          </a:solidFill>
                          <a:latin typeface="Cambria Math" panose="02040503050406030204" pitchFamily="18" charset="0"/>
                        </a:rPr>
                        <m:t>, </m:t>
                      </m:r>
                      <m:nary>
                        <m:naryPr>
                          <m:limLoc m:val="subSup"/>
                          <m:ctrlPr>
                            <a:rPr lang="en-US" sz="1600" i="0" dirty="0">
                              <a:solidFill>
                                <a:schemeClr val="tx1"/>
                              </a:solidFill>
                              <a:latin typeface="Cambria Math" panose="02040503050406030204" pitchFamily="18" charset="0"/>
                            </a:rPr>
                          </m:ctrlPr>
                        </m:naryPr>
                        <m:sub>
                          <m:r>
                            <a:rPr lang="en-US" sz="1600" i="0"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sin</m:t>
                              </m:r>
                            </m:fName>
                            <m:e>
                              <m:r>
                                <a:rPr lang="en-US" sz="1600" i="1" dirty="0">
                                  <a:solidFill>
                                    <a:schemeClr val="tx1"/>
                                  </a:solidFill>
                                  <a:latin typeface="Cambria Math" panose="02040503050406030204" pitchFamily="18" charset="0"/>
                                </a:rPr>
                                <m:t>𝜃</m:t>
                              </m:r>
                            </m:e>
                          </m:func>
                        </m:e>
                      </m:nary>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𝑑𝑠</m:t>
                      </m:r>
                      <m:r>
                        <a:rPr lang="en-US" sz="1600" i="0" dirty="0">
                          <a:solidFill>
                            <a:schemeClr val="tx1"/>
                          </a:solidFill>
                          <a:latin typeface="Cambria Math" panose="02040503050406030204" pitchFamily="18" charset="0"/>
                        </a:rPr>
                        <m:t>=0, </m:t>
                      </m:r>
                      <m:r>
                        <a:rPr lang="en-US" sz="1600" i="1" dirty="0">
                          <a:solidFill>
                            <a:schemeClr val="tx1"/>
                          </a:solidFill>
                          <a:latin typeface="Cambria Math" panose="02040503050406030204" pitchFamily="18" charset="0"/>
                        </a:rPr>
                        <m:t>𝜃</m:t>
                      </m:r>
                      <m:d>
                        <m:dPr>
                          <m:ctrlPr>
                            <a:rPr lang="en-US" sz="1600" i="0" dirty="0">
                              <a:solidFill>
                                <a:schemeClr val="tx1"/>
                              </a:solidFill>
                              <a:latin typeface="Cambria Math" panose="02040503050406030204" pitchFamily="18" charset="0"/>
                            </a:rPr>
                          </m:ctrlPr>
                        </m:dPr>
                        <m:e>
                          <m:r>
                            <a:rPr lang="en-US" sz="1600" i="0" dirty="0">
                              <a:solidFill>
                                <a:schemeClr val="tx1"/>
                              </a:solidFill>
                              <a:latin typeface="Cambria Math" panose="02040503050406030204" pitchFamily="18" charset="0"/>
                            </a:rPr>
                            <m:t>0</m:t>
                          </m:r>
                        </m:e>
                      </m:d>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0" dirty="0">
                              <a:solidFill>
                                <a:schemeClr val="tx1"/>
                              </a:solidFill>
                              <a:latin typeface="Cambria Math" panose="02040503050406030204" pitchFamily="18" charset="0"/>
                            </a:rPr>
                            <m:t>1</m:t>
                          </m:r>
                        </m:sub>
                      </m:sSub>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𝜃</m:t>
                      </m:r>
                      <m:d>
                        <m:dPr>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𝐿</m:t>
                          </m:r>
                        </m:e>
                      </m:d>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0" dirty="0">
                              <a:solidFill>
                                <a:schemeClr val="tx1"/>
                              </a:solidFill>
                              <a:latin typeface="Cambria Math" panose="02040503050406030204" pitchFamily="18" charset="0"/>
                            </a:rPr>
                            <m:t>2</m:t>
                          </m:r>
                        </m:sub>
                      </m:sSub>
                    </m:oMath>
                  </m:oMathPara>
                </a14:m>
                <a:endParaRPr lang="en-US" sz="1600" dirty="0"/>
              </a:p>
            </p:txBody>
          </p:sp>
        </mc:Choice>
        <mc:Fallback xmlns="">
          <p:sp>
            <p:nvSpPr>
              <p:cNvPr id="10" name="latex-constraints"/>
              <p:cNvSpPr txBox="1">
                <a:spLocks noRot="1" noChangeAspect="1" noMove="1" noResize="1" noEditPoints="1" noAdjustHandles="1" noChangeArrowheads="1" noChangeShapeType="1" noTextEdit="1"/>
              </p:cNvSpPr>
              <p:nvPr/>
            </p:nvSpPr>
            <p:spPr>
              <a:xfrm>
                <a:off x="3200400" y="2925166"/>
                <a:ext cx="8229600" cy="779069"/>
              </a:xfrm>
              <a:prstGeom prst="rect">
                <a:avLst/>
              </a:prstGeom>
              <a:blipFill>
                <a:blip r:embed="rId4"/>
                <a:stretch>
                  <a:fillRect/>
                </a:stretch>
              </a:blipFill>
              <a:ln/>
            </p:spPr>
            <p:txBody>
              <a:bodyPr/>
              <a:lstStyle/>
              <a:p>
                <a:r>
                  <a:rPr lang="en-IN">
                    <a:noFill/>
                  </a:rPr>
                  <a:t> </a:t>
                </a:r>
              </a:p>
            </p:txBody>
          </p:sp>
        </mc:Fallback>
      </mc:AlternateContent>
      <p:sp>
        <p:nvSpPr>
          <p:cNvPr id="11" name="card-27"/>
          <p:cNvSpPr/>
          <p:nvPr/>
        </p:nvSpPr>
        <p:spPr>
          <a:xfrm>
            <a:off x="548640" y="4069080"/>
            <a:ext cx="11064240" cy="1143000"/>
          </a:xfrm>
          <a:prstGeom prst="roundRect">
            <a:avLst>
              <a:gd name="adj" fmla="val 6400"/>
            </a:avLst>
          </a:prstGeom>
          <a:solidFill>
            <a:schemeClr val="bg2"/>
          </a:solidFill>
          <a:ln/>
        </p:spPr>
        <p:txBody>
          <a:bodyPr/>
          <a:lstStyle/>
          <a:p>
            <a:endParaRPr lang="en-IN"/>
          </a:p>
        </p:txBody>
      </p:sp>
      <p:sp>
        <p:nvSpPr>
          <p:cNvPr id="12" name="text-28"/>
          <p:cNvSpPr txBox="1"/>
          <p:nvPr/>
        </p:nvSpPr>
        <p:spPr>
          <a:xfrm>
            <a:off x="777240" y="4343400"/>
            <a:ext cx="2194560" cy="365760"/>
          </a:xfrm>
          <a:prstGeom prst="rect">
            <a:avLst/>
          </a:prstGeom>
          <a:noFill/>
          <a:ln/>
        </p:spPr>
        <p:txBody>
          <a:bodyPr wrap="square" lIns="0" tIns="0" rIns="0" bIns="0" rtlCol="0" anchor="t"/>
          <a:lstStyle/>
          <a:p>
            <a:pPr marL="0" indent="0">
              <a:buNone/>
            </a:pPr>
            <a:r>
              <a:rPr lang="en-US" sz="1800" b="1" dirty="0">
                <a:solidFill>
                  <a:schemeClr val="accent1"/>
                </a:solidFill>
              </a:rPr>
              <a:t>Lagrangian</a:t>
            </a:r>
            <a:endParaRPr lang="en-US" sz="1800" dirty="0"/>
          </a:p>
        </p:txBody>
      </p:sp>
      <p:sp>
        <p:nvSpPr>
          <p:cNvPr id="13" name="text-29"/>
          <p:cNvSpPr txBox="1"/>
          <p:nvPr/>
        </p:nvSpPr>
        <p:spPr>
          <a:xfrm>
            <a:off x="777240" y="4709160"/>
            <a:ext cx="2194560" cy="457200"/>
          </a:xfrm>
          <a:prstGeom prst="rect">
            <a:avLst/>
          </a:prstGeom>
          <a:noFill/>
          <a:ln/>
        </p:spPr>
        <p:txBody>
          <a:bodyPr wrap="square" lIns="0" tIns="0" rIns="0" bIns="0" rtlCol="0" anchor="t"/>
          <a:lstStyle/>
          <a:p>
            <a:pPr marL="0" indent="0">
              <a:buNone/>
            </a:pPr>
            <a:r>
              <a:rPr lang="en-US" sz="1100" dirty="0">
                <a:solidFill>
                  <a:schemeClr val="accent5"/>
                </a:solidFill>
              </a:rPr>
              <a:t>f</a:t>
            </a:r>
            <a:r>
              <a:rPr lang="en-US" sz="1100" baseline="-40000" dirty="0">
                <a:solidFill>
                  <a:schemeClr val="accent5"/>
                </a:solidFill>
              </a:rPr>
              <a:t>x</a:t>
            </a:r>
            <a:r>
              <a:rPr lang="en-US" sz="1100" dirty="0">
                <a:solidFill>
                  <a:schemeClr val="accent5"/>
                </a:solidFill>
              </a:rPr>
              <a:t>, f</a:t>
            </a:r>
            <a:r>
              <a:rPr lang="en-US" sz="1100" baseline="-40000" dirty="0">
                <a:solidFill>
                  <a:schemeClr val="accent5"/>
                </a:solidFill>
              </a:rPr>
              <a:t>y</a:t>
            </a:r>
            <a:r>
              <a:rPr lang="en-US" sz="1100" dirty="0">
                <a:solidFill>
                  <a:schemeClr val="accent5"/>
                </a:solidFill>
              </a:rPr>
              <a:t> enforce the two end-position integrals</a:t>
            </a:r>
            <a:endParaRPr lang="en-US" sz="1100" dirty="0"/>
          </a:p>
        </p:txBody>
      </p:sp>
      <mc:AlternateContent xmlns:mc="http://schemas.openxmlformats.org/markup-compatibility/2006" xmlns:a14="http://schemas.microsoft.com/office/drawing/2010/main">
        <mc:Choice Requires="a14">
          <p:sp>
            <p:nvSpPr>
              <p:cNvPr id="14" name="latex-lagrangian"/>
              <p:cNvSpPr txBox="1"/>
              <p:nvPr/>
            </p:nvSpPr>
            <p:spPr>
              <a:xfrm>
                <a:off x="3200400" y="4251046"/>
                <a:ext cx="8229600" cy="779069"/>
              </a:xfrm>
              <a:prstGeom prst="rect">
                <a:avLst/>
              </a:prstGeom>
              <a:noFill/>
              <a:ln/>
            </p:spPr>
            <p:txBody>
              <a:bodyPr wrap="square" lIns="0" tIns="0" rIns="0" bIns="0" rtlCol="0" anchor="ctr">
                <a:noAutofit/>
              </a:bodyPr>
              <a:lstStyle/>
              <a:p>
                <a:pPr marL="0" indent="0">
                  <a:buNone/>
                </a:pPr>
                <a14:m>
                  <m:oMathPara xmlns:m="http://schemas.openxmlformats.org/officeDocument/2006/math">
                    <m:oMathParaPr>
                      <m:jc m:val="left"/>
                    </m:oMathParaPr>
                    <m:oMath>
                      <m:r>
                        <a:rPr lang="en-US" sz="1600" dirty="0" smtClean="0">
                          <a:solidFill>
                            <a:schemeClr val="tx1"/>
                          </a:solidFill>
                          <a:latin typeface="Cambria Math" panose="02040503050406030204" pitchFamily="18" charset="0"/>
                        </a:rPr>
                        <m:t>ℒ</m:t>
                      </m:r>
                      <m:d>
                        <m:dPr>
                          <m:begChr m:val="["/>
                          <m:endChr m:val="]"/>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𝜃</m:t>
                          </m:r>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𝑥</m:t>
                              </m:r>
                            </m:sub>
                          </m:sSub>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𝑦</m:t>
                              </m:r>
                            </m:sub>
                          </m:sSub>
                        </m:e>
                      </m:d>
                      <m:r>
                        <a:rPr lang="en-US" sz="1600" i="0" dirty="0">
                          <a:solidFill>
                            <a:schemeClr val="tx1"/>
                          </a:solidFill>
                          <a:latin typeface="Cambria Math" panose="02040503050406030204" pitchFamily="18" charset="0"/>
                        </a:rPr>
                        <m:t>=</m:t>
                      </m:r>
                      <m:f>
                        <m:fPr>
                          <m:ctrlPr>
                            <a:rPr lang="en-US" sz="1600" i="0" dirty="0">
                              <a:solidFill>
                                <a:schemeClr val="tx1"/>
                              </a:solidFill>
                              <a:latin typeface="Cambria Math" panose="02040503050406030204" pitchFamily="18" charset="0"/>
                            </a:rPr>
                          </m:ctrlPr>
                        </m:fPr>
                        <m:num>
                          <m:r>
                            <a:rPr lang="en-US" sz="1600" i="0" dirty="0">
                              <a:solidFill>
                                <a:schemeClr val="tx1"/>
                              </a:solidFill>
                              <a:latin typeface="Cambria Math" panose="02040503050406030204" pitchFamily="18" charset="0"/>
                            </a:rPr>
                            <m:t>1</m:t>
                          </m:r>
                        </m:num>
                        <m:den>
                          <m:r>
                            <a:rPr lang="en-US" sz="1600" i="0" dirty="0">
                              <a:solidFill>
                                <a:schemeClr val="tx1"/>
                              </a:solidFill>
                              <a:latin typeface="Cambria Math" panose="02040503050406030204" pitchFamily="18" charset="0"/>
                            </a:rPr>
                            <m:t>2</m:t>
                          </m:r>
                        </m:den>
                      </m:f>
                      <m:nary>
                        <m:naryPr>
                          <m:limLoc m:val="subSup"/>
                          <m:ctrlPr>
                            <a:rPr lang="en-US" sz="1600" i="0" dirty="0">
                              <a:solidFill>
                                <a:schemeClr val="tx1"/>
                              </a:solidFill>
                              <a:latin typeface="Cambria Math" panose="02040503050406030204" pitchFamily="18" charset="0"/>
                            </a:rPr>
                          </m:ctrlPr>
                        </m:naryPr>
                        <m:sub>
                          <m:r>
                            <a:rPr lang="en-US" sz="1600" i="0"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r>
                            <a:rPr lang="en-US" sz="1600" i="1" dirty="0">
                              <a:solidFill>
                                <a:schemeClr val="tx1"/>
                              </a:solidFill>
                              <a:latin typeface="Cambria Math" panose="02040503050406030204" pitchFamily="18" charset="0"/>
                            </a:rPr>
                            <m:t>𝜃</m:t>
                          </m:r>
                        </m:e>
                      </m:nary>
                      <m:sSup>
                        <m:sSupPr>
                          <m:ctrlPr>
                            <a:rPr lang="en-US" sz="1600" i="0" dirty="0">
                              <a:solidFill>
                                <a:schemeClr val="tx1"/>
                              </a:solidFill>
                              <a:latin typeface="Cambria Math" panose="02040503050406030204" pitchFamily="18" charset="0"/>
                            </a:rPr>
                          </m:ctrlPr>
                        </m:sSupPr>
                        <m:e>
                          <m:r>
                            <a:rPr lang="en-US" sz="1600" i="0" dirty="0">
                              <a:solidFill>
                                <a:schemeClr val="tx1"/>
                              </a:solidFill>
                              <a:latin typeface="Cambria Math" panose="02040503050406030204" pitchFamily="18" charset="0"/>
                            </a:rPr>
                            <m:t>′</m:t>
                          </m:r>
                        </m:e>
                        <m:sup>
                          <m:r>
                            <a:rPr lang="en-US" sz="1600" i="0" dirty="0">
                              <a:solidFill>
                                <a:schemeClr val="tx1"/>
                              </a:solidFill>
                              <a:latin typeface="Cambria Math" panose="02040503050406030204" pitchFamily="18" charset="0"/>
                            </a:rPr>
                            <m:t>2</m:t>
                          </m:r>
                        </m:sup>
                      </m:sSup>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𝑑𝑠</m:t>
                      </m:r>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𝑥</m:t>
                          </m:r>
                        </m:sub>
                      </m:sSub>
                      <m:d>
                        <m:dPr>
                          <m:ctrlPr>
                            <a:rPr lang="en-US" sz="1600" i="1" dirty="0">
                              <a:solidFill>
                                <a:schemeClr val="tx1"/>
                              </a:solidFill>
                              <a:latin typeface="Cambria Math" panose="02040503050406030204" pitchFamily="18" charset="0"/>
                            </a:rPr>
                          </m:ctrlPr>
                        </m:dPr>
                        <m:e>
                          <m:nary>
                            <m:naryPr>
                              <m:limLoc m:val="subSup"/>
                              <m:ctrlPr>
                                <a:rPr lang="en-US" sz="1600" i="0" dirty="0">
                                  <a:solidFill>
                                    <a:schemeClr val="tx1"/>
                                  </a:solidFill>
                                  <a:latin typeface="Cambria Math" panose="02040503050406030204" pitchFamily="18" charset="0"/>
                                </a:rPr>
                              </m:ctrlPr>
                            </m:naryPr>
                            <m:sub>
                              <m:r>
                                <a:rPr lang="en-US" sz="1600" i="0"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cos</m:t>
                                  </m:r>
                                </m:fName>
                                <m:e>
                                  <m:r>
                                    <a:rPr lang="en-US" sz="1600" i="1" dirty="0">
                                      <a:solidFill>
                                        <a:schemeClr val="tx1"/>
                                      </a:solidFill>
                                      <a:latin typeface="Cambria Math" panose="02040503050406030204" pitchFamily="18" charset="0"/>
                                    </a:rPr>
                                    <m:t>𝜃</m:t>
                                  </m:r>
                                </m:e>
                              </m:func>
                            </m:e>
                          </m:nary>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𝑑𝑠</m:t>
                          </m:r>
                          <m:r>
                            <a:rPr lang="en-US" sz="1600" i="0"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𝑑</m:t>
                          </m:r>
                        </m:e>
                      </m:d>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𝑦</m:t>
                          </m:r>
                        </m:sub>
                      </m:sSub>
                      <m:nary>
                        <m:naryPr>
                          <m:limLoc m:val="subSup"/>
                          <m:ctrlPr>
                            <a:rPr lang="en-US" sz="1600" i="0" dirty="0">
                              <a:solidFill>
                                <a:schemeClr val="tx1"/>
                              </a:solidFill>
                              <a:latin typeface="Cambria Math" panose="02040503050406030204" pitchFamily="18" charset="0"/>
                            </a:rPr>
                          </m:ctrlPr>
                        </m:naryPr>
                        <m:sub>
                          <m:r>
                            <a:rPr lang="en-US" sz="1600" i="0"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sin</m:t>
                              </m:r>
                            </m:fName>
                            <m:e>
                              <m:r>
                                <a:rPr lang="en-US" sz="1600" i="1" dirty="0">
                                  <a:solidFill>
                                    <a:schemeClr val="tx1"/>
                                  </a:solidFill>
                                  <a:latin typeface="Cambria Math" panose="02040503050406030204" pitchFamily="18" charset="0"/>
                                </a:rPr>
                                <m:t>𝜃</m:t>
                              </m:r>
                            </m:e>
                          </m:func>
                        </m:e>
                      </m:nary>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𝑑𝑠</m:t>
                      </m:r>
                    </m:oMath>
                  </m:oMathPara>
                </a14:m>
                <a:endParaRPr lang="en-US" sz="1600" dirty="0"/>
              </a:p>
            </p:txBody>
          </p:sp>
        </mc:Choice>
        <mc:Fallback xmlns="">
          <p:sp>
            <p:nvSpPr>
              <p:cNvPr id="14" name="latex-lagrangian"/>
              <p:cNvSpPr txBox="1">
                <a:spLocks noRot="1" noChangeAspect="1" noMove="1" noResize="1" noEditPoints="1" noAdjustHandles="1" noChangeArrowheads="1" noChangeShapeType="1" noTextEdit="1"/>
              </p:cNvSpPr>
              <p:nvPr/>
            </p:nvSpPr>
            <p:spPr>
              <a:xfrm>
                <a:off x="3200400" y="4251046"/>
                <a:ext cx="8229600" cy="779069"/>
              </a:xfrm>
              <a:prstGeom prst="rect">
                <a:avLst/>
              </a:prstGeom>
              <a:blipFill>
                <a:blip r:embed="rId5"/>
                <a:stretch>
                  <a:fillRect/>
                </a:stretch>
              </a:blipFill>
              <a:ln/>
            </p:spPr>
            <p:txBody>
              <a:bodyPr/>
              <a:lstStyle/>
              <a:p>
                <a:r>
                  <a:rPr lang="en-IN">
                    <a:noFill/>
                  </a:rPr>
                  <a:t> </a:t>
                </a:r>
              </a:p>
            </p:txBody>
          </p:sp>
        </mc:Fallback>
      </mc:AlternateContent>
      <p:sp>
        <p:nvSpPr>
          <p:cNvPr id="15" name="text-31"/>
          <p:cNvSpPr txBox="1"/>
          <p:nvPr/>
        </p:nvSpPr>
        <p:spPr>
          <a:xfrm>
            <a:off x="548640" y="5486400"/>
            <a:ext cx="11064240" cy="777240"/>
          </a:xfrm>
          <a:prstGeom prst="rect">
            <a:avLst/>
          </a:prstGeom>
          <a:noFill/>
          <a:ln/>
        </p:spPr>
        <p:txBody>
          <a:bodyPr wrap="square" lIns="0" tIns="0" rIns="0" bIns="0" rtlCol="0" anchor="t"/>
          <a:lstStyle/>
          <a:p>
            <a:pPr marL="0" indent="0">
              <a:buNone/>
            </a:pPr>
            <a:r>
              <a:rPr lang="en-US" sz="1500" dirty="0">
                <a:solidFill>
                  <a:schemeClr val="tx2"/>
                </a:solidFill>
              </a:rPr>
              <a:t>f</a:t>
            </a:r>
            <a:r>
              <a:rPr lang="en-US" sz="1500" baseline="-40000" dirty="0">
                <a:solidFill>
                  <a:schemeClr val="tx2"/>
                </a:solidFill>
              </a:rPr>
              <a:t>x</a:t>
            </a:r>
            <a:r>
              <a:rPr lang="en-US" sz="1500" dirty="0">
                <a:solidFill>
                  <a:schemeClr val="tx2"/>
                </a:solidFill>
              </a:rPr>
              <a:t> and f</a:t>
            </a:r>
            <a:r>
              <a:rPr lang="en-US" sz="1500" baseline="-40000" dirty="0">
                <a:solidFill>
                  <a:schemeClr val="tx2"/>
                </a:solidFill>
              </a:rPr>
              <a:t>y</a:t>
            </a:r>
            <a:r>
              <a:rPr lang="en-US" sz="1500" dirty="0">
                <a:solidFill>
                  <a:schemeClr val="tx2"/>
                </a:solidFill>
              </a:rPr>
              <a:t> are the Lagrange multipliers of the end-position constraints — physically, the reaction forces at the right clamp. The study maps every stable stationary point of ℒ the continuation reaches over the (d, φ₁, φ₂) box.</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Stationarity gives the elastica equation and a mixed weak form</a:t>
            </a:r>
            <a:endParaRPr lang="en-US" sz="3000" dirty="0"/>
          </a:p>
        </p:txBody>
      </p:sp>
      <p:sp>
        <p:nvSpPr>
          <p:cNvPr id="3" name="card-32"/>
          <p:cNvSpPr/>
          <p:nvPr/>
        </p:nvSpPr>
        <p:spPr>
          <a:xfrm>
            <a:off x="548640" y="1417320"/>
            <a:ext cx="4206240" cy="1737360"/>
          </a:xfrm>
          <a:prstGeom prst="roundRect">
            <a:avLst>
              <a:gd name="adj" fmla="val 4211"/>
            </a:avLst>
          </a:prstGeom>
          <a:solidFill>
            <a:schemeClr val="bg2"/>
          </a:solidFill>
          <a:ln/>
        </p:spPr>
        <p:txBody>
          <a:bodyPr/>
          <a:lstStyle/>
          <a:p>
            <a:endParaRPr lang="en-IN"/>
          </a:p>
        </p:txBody>
      </p:sp>
      <p:sp>
        <p:nvSpPr>
          <p:cNvPr id="4" name="text-33"/>
          <p:cNvSpPr txBox="1"/>
          <p:nvPr/>
        </p:nvSpPr>
        <p:spPr>
          <a:xfrm>
            <a:off x="777240" y="1554480"/>
            <a:ext cx="3749040" cy="365760"/>
          </a:xfrm>
          <a:prstGeom prst="rect">
            <a:avLst/>
          </a:prstGeom>
          <a:noFill/>
          <a:ln/>
        </p:spPr>
        <p:txBody>
          <a:bodyPr wrap="square" lIns="0" tIns="0" rIns="0" bIns="0" rtlCol="0" anchor="t"/>
          <a:lstStyle/>
          <a:p>
            <a:pPr marL="0" indent="0">
              <a:buNone/>
            </a:pPr>
            <a:r>
              <a:rPr lang="en-US" sz="1700" b="1" dirty="0">
                <a:solidFill>
                  <a:schemeClr val="accent1"/>
                </a:solidFill>
              </a:rPr>
              <a:t>Euler–Lagrange equation</a:t>
            </a:r>
            <a:endParaRPr lang="en-US" sz="1700" dirty="0"/>
          </a:p>
        </p:txBody>
      </p:sp>
      <mc:AlternateContent xmlns:mc="http://schemas.openxmlformats.org/markup-compatibility/2006" xmlns:a14="http://schemas.microsoft.com/office/drawing/2010/main">
        <mc:Choice Requires="a14">
          <p:sp>
            <p:nvSpPr>
              <p:cNvPr id="5" name="latex-strong"/>
              <p:cNvSpPr txBox="1"/>
              <p:nvPr/>
            </p:nvSpPr>
            <p:spPr>
              <a:xfrm>
                <a:off x="777240" y="2103120"/>
                <a:ext cx="3794760" cy="411480"/>
              </a:xfrm>
              <a:prstGeom prst="rect">
                <a:avLst/>
              </a:prstGeom>
              <a:noFill/>
              <a:ln/>
            </p:spPr>
            <p:txBody>
              <a:bodyPr wrap="square" lIns="0" tIns="0" rIns="0" bIns="0" rtlCol="0" anchor="ctr">
                <a:noAutofit/>
              </a:bodyPr>
              <a:lstStyle/>
              <a:p>
                <a:pPr marL="0" indent="0">
                  <a:buNone/>
                </a:pPr>
                <a14:m>
                  <m:oMathPara xmlns:m="http://schemas.openxmlformats.org/officeDocument/2006/math">
                    <m:oMathParaPr>
                      <m:jc m:val="left"/>
                    </m:oMathParaPr>
                    <m:oMath>
                      <m:r>
                        <a:rPr lang="en-US" sz="1600" i="1" dirty="0" smtClean="0">
                          <a:solidFill>
                            <a:schemeClr val="tx1"/>
                          </a:solidFill>
                          <a:latin typeface="Cambria Math" panose="02040503050406030204" pitchFamily="18" charset="0"/>
                        </a:rPr>
                        <m:t>𝜃</m:t>
                      </m:r>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𝑥</m:t>
                          </m:r>
                        </m:sub>
                      </m:sSub>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sin</m:t>
                          </m:r>
                        </m:fName>
                        <m:e>
                          <m:r>
                            <a:rPr lang="en-US" sz="1600" i="1" dirty="0">
                              <a:solidFill>
                                <a:schemeClr val="tx1"/>
                              </a:solidFill>
                              <a:latin typeface="Cambria Math" panose="02040503050406030204" pitchFamily="18" charset="0"/>
                            </a:rPr>
                            <m:t>𝜃</m:t>
                          </m:r>
                        </m:e>
                      </m:func>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𝑦</m:t>
                          </m:r>
                        </m:sub>
                      </m:sSub>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cos</m:t>
                          </m:r>
                        </m:fName>
                        <m:e>
                          <m:r>
                            <a:rPr lang="en-US" sz="1600" i="1" dirty="0">
                              <a:solidFill>
                                <a:schemeClr val="tx1"/>
                              </a:solidFill>
                              <a:latin typeface="Cambria Math" panose="02040503050406030204" pitchFamily="18" charset="0"/>
                            </a:rPr>
                            <m:t>𝜃</m:t>
                          </m:r>
                        </m:e>
                      </m:func>
                      <m:r>
                        <a:rPr lang="en-US" sz="1600" i="0" dirty="0">
                          <a:solidFill>
                            <a:schemeClr val="tx1"/>
                          </a:solidFill>
                          <a:latin typeface="Cambria Math" panose="02040503050406030204" pitchFamily="18" charset="0"/>
                        </a:rPr>
                        <m:t>=0</m:t>
                      </m:r>
                    </m:oMath>
                  </m:oMathPara>
                </a14:m>
                <a:endParaRPr lang="en-US" sz="1600" dirty="0"/>
              </a:p>
            </p:txBody>
          </p:sp>
        </mc:Choice>
        <mc:Fallback xmlns="">
          <p:sp>
            <p:nvSpPr>
              <p:cNvPr id="5" name="latex-strong"/>
              <p:cNvSpPr txBox="1">
                <a:spLocks noRot="1" noChangeAspect="1" noMove="1" noResize="1" noEditPoints="1" noAdjustHandles="1" noChangeArrowheads="1" noChangeShapeType="1" noTextEdit="1"/>
              </p:cNvSpPr>
              <p:nvPr/>
            </p:nvSpPr>
            <p:spPr>
              <a:xfrm>
                <a:off x="777240" y="2103120"/>
                <a:ext cx="3794760" cy="411480"/>
              </a:xfrm>
              <a:prstGeom prst="rect">
                <a:avLst/>
              </a:prstGeom>
              <a:blipFill>
                <a:blip r:embed="rId3"/>
                <a:stretch>
                  <a:fillRect l="-1929"/>
                </a:stretch>
              </a:blipFill>
              <a:ln/>
            </p:spPr>
            <p:txBody>
              <a:bodyPr/>
              <a:lstStyle/>
              <a:p>
                <a:r>
                  <a:rPr lang="en-IN">
                    <a:noFill/>
                  </a:rPr>
                  <a:t> </a:t>
                </a:r>
              </a:p>
            </p:txBody>
          </p:sp>
        </mc:Fallback>
      </mc:AlternateContent>
      <p:sp>
        <p:nvSpPr>
          <p:cNvPr id="6" name="text-35"/>
          <p:cNvSpPr txBox="1"/>
          <p:nvPr/>
        </p:nvSpPr>
        <p:spPr>
          <a:xfrm>
            <a:off x="777240" y="2606040"/>
            <a:ext cx="3749040" cy="365760"/>
          </a:xfrm>
          <a:prstGeom prst="rect">
            <a:avLst/>
          </a:prstGeom>
          <a:noFill/>
          <a:ln/>
        </p:spPr>
        <p:txBody>
          <a:bodyPr wrap="square" lIns="0" tIns="0" rIns="0" bIns="0" rtlCol="0" anchor="t"/>
          <a:lstStyle/>
          <a:p>
            <a:pPr marL="0" indent="0">
              <a:buNone/>
            </a:pPr>
            <a:r>
              <a:rPr lang="en-US" sz="1500" dirty="0">
                <a:solidFill>
                  <a:schemeClr val="tx2"/>
                </a:solidFill>
              </a:rPr>
              <a:t>θ(0) = φ₁,  θ(L) = φ₂</a:t>
            </a:r>
            <a:endParaRPr lang="en-US" sz="1500" dirty="0"/>
          </a:p>
        </p:txBody>
      </p:sp>
      <p:sp>
        <p:nvSpPr>
          <p:cNvPr id="7" name="card-36"/>
          <p:cNvSpPr/>
          <p:nvPr/>
        </p:nvSpPr>
        <p:spPr>
          <a:xfrm>
            <a:off x="5029200" y="1417320"/>
            <a:ext cx="6583680" cy="3566160"/>
          </a:xfrm>
          <a:prstGeom prst="roundRect">
            <a:avLst>
              <a:gd name="adj" fmla="val 2051"/>
            </a:avLst>
          </a:prstGeom>
          <a:solidFill>
            <a:schemeClr val="bg2"/>
          </a:solidFill>
          <a:ln/>
        </p:spPr>
        <p:txBody>
          <a:bodyPr/>
          <a:lstStyle/>
          <a:p>
            <a:endParaRPr lang="en-IN"/>
          </a:p>
        </p:txBody>
      </p:sp>
      <p:sp>
        <p:nvSpPr>
          <p:cNvPr id="8" name="text-37"/>
          <p:cNvSpPr txBox="1"/>
          <p:nvPr/>
        </p:nvSpPr>
        <p:spPr>
          <a:xfrm>
            <a:off x="5257800" y="1554480"/>
            <a:ext cx="6126480" cy="365760"/>
          </a:xfrm>
          <a:prstGeom prst="rect">
            <a:avLst/>
          </a:prstGeom>
          <a:noFill/>
          <a:ln/>
        </p:spPr>
        <p:txBody>
          <a:bodyPr wrap="square" lIns="0" tIns="0" rIns="0" bIns="0" rtlCol="0" anchor="t"/>
          <a:lstStyle/>
          <a:p>
            <a:pPr marL="0" indent="0">
              <a:buNone/>
            </a:pPr>
            <a:r>
              <a:rPr lang="en-US" sz="1700" b="1" dirty="0">
                <a:solidFill>
                  <a:schemeClr val="accent1"/>
                </a:solidFill>
              </a:rPr>
              <a:t>Residuals assembled by FEniCSx (solver.py)</a:t>
            </a:r>
            <a:endParaRPr lang="en-US" sz="1700" dirty="0"/>
          </a:p>
        </p:txBody>
      </p:sp>
      <mc:AlternateContent xmlns:mc="http://schemas.openxmlformats.org/markup-compatibility/2006" xmlns:a14="http://schemas.microsoft.com/office/drawing/2010/main">
        <mc:Choice Requires="a14">
          <p:sp>
            <p:nvSpPr>
              <p:cNvPr id="9" name="latex-w0"/>
              <p:cNvSpPr txBox="1"/>
              <p:nvPr/>
            </p:nvSpPr>
            <p:spPr>
              <a:xfrm>
                <a:off x="5257800" y="2057400"/>
                <a:ext cx="6172200" cy="759592"/>
              </a:xfrm>
              <a:prstGeom prst="rect">
                <a:avLst/>
              </a:prstGeom>
              <a:noFill/>
              <a:ln/>
            </p:spPr>
            <p:txBody>
              <a:bodyPr wrap="square" lIns="0" tIns="0" rIns="0" bIns="0" rtlCol="0" anchor="ctr">
                <a:noAutofit/>
              </a:bodyPr>
              <a:lstStyle/>
              <a:p>
                <a:pPr marL="0" indent="0">
                  <a:buNone/>
                </a:pPr>
                <a14:m>
                  <m:oMathPara xmlns:m="http://schemas.openxmlformats.org/officeDocument/2006/math">
                    <m:oMathParaPr>
                      <m:jc m:val="left"/>
                    </m:oMathParaPr>
                    <m:oMath>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𝐹</m:t>
                          </m:r>
                        </m:e>
                        <m:sub>
                          <m:r>
                            <a:rPr lang="en-US" sz="1600" i="0" dirty="0">
                              <a:solidFill>
                                <a:schemeClr val="tx1"/>
                              </a:solidFill>
                              <a:latin typeface="Cambria Math" panose="02040503050406030204" pitchFamily="18" charset="0"/>
                            </a:rPr>
                            <m:t>0</m:t>
                          </m:r>
                        </m:sub>
                      </m:sSub>
                      <m:r>
                        <a:rPr lang="en-US" sz="1600" i="0" dirty="0">
                          <a:solidFill>
                            <a:schemeClr val="tx1"/>
                          </a:solidFill>
                          <a:latin typeface="Cambria Math" panose="02040503050406030204" pitchFamily="18" charset="0"/>
                        </a:rPr>
                        <m:t>=</m:t>
                      </m:r>
                      <m:nary>
                        <m:naryPr>
                          <m:limLoc m:val="subSup"/>
                          <m:ctrlPr>
                            <a:rPr lang="en-US" sz="1600" i="0" dirty="0">
                              <a:solidFill>
                                <a:schemeClr val="tx1"/>
                              </a:solidFill>
                              <a:latin typeface="Cambria Math" panose="02040503050406030204" pitchFamily="18" charset="0"/>
                            </a:rPr>
                          </m:ctrlPr>
                        </m:naryPr>
                        <m:sub>
                          <m:r>
                            <a:rPr lang="en-US" sz="1600" i="0"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d>
                            <m:dPr>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𝜃</m:t>
                              </m:r>
                              <m:r>
                                <a:rPr lang="en-US" sz="1600" i="0"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𝑣</m:t>
                              </m:r>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𝑥</m:t>
                                  </m:r>
                                </m:sub>
                              </m:sSub>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sin</m:t>
                                  </m:r>
                                </m:fName>
                                <m:e>
                                  <m:r>
                                    <a:rPr lang="en-US" sz="1600" i="1" dirty="0">
                                      <a:solidFill>
                                        <a:schemeClr val="tx1"/>
                                      </a:solidFill>
                                      <a:latin typeface="Cambria Math" panose="02040503050406030204" pitchFamily="18" charset="0"/>
                                    </a:rPr>
                                    <m:t>𝜃</m:t>
                                  </m:r>
                                </m:e>
                              </m:func>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𝑣</m:t>
                              </m:r>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𝑦</m:t>
                                  </m:r>
                                </m:sub>
                              </m:sSub>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cos</m:t>
                                  </m:r>
                                </m:fName>
                                <m:e>
                                  <m:r>
                                    <a:rPr lang="en-US" sz="1600" i="1" dirty="0">
                                      <a:solidFill>
                                        <a:schemeClr val="tx1"/>
                                      </a:solidFill>
                                      <a:latin typeface="Cambria Math" panose="02040503050406030204" pitchFamily="18" charset="0"/>
                                    </a:rPr>
                                    <m:t>𝜃</m:t>
                                  </m:r>
                                </m:e>
                              </m:func>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𝑣</m:t>
                              </m:r>
                            </m:e>
                          </m:d>
                        </m:e>
                      </m:nary>
                      <m:r>
                        <a:rPr lang="en-US" sz="1600" i="1" dirty="0">
                          <a:solidFill>
                            <a:schemeClr val="tx1"/>
                          </a:solidFill>
                          <a:latin typeface="Cambria Math" panose="02040503050406030204" pitchFamily="18" charset="0"/>
                        </a:rPr>
                        <m:t>𝑑𝑠</m:t>
                      </m:r>
                      <m:r>
                        <a:rPr lang="en-US" sz="1600" i="0" dirty="0">
                          <a:solidFill>
                            <a:schemeClr val="tx1"/>
                          </a:solidFill>
                          <a:latin typeface="Cambria Math" panose="02040503050406030204" pitchFamily="18" charset="0"/>
                        </a:rPr>
                        <m:t>=0 ∀</m:t>
                      </m:r>
                      <m:r>
                        <a:rPr lang="en-US" sz="1600" i="1" dirty="0">
                          <a:solidFill>
                            <a:schemeClr val="tx1"/>
                          </a:solidFill>
                          <a:latin typeface="Cambria Math" panose="02040503050406030204" pitchFamily="18" charset="0"/>
                        </a:rPr>
                        <m:t>𝑣</m:t>
                      </m:r>
                      <m:r>
                        <a:rPr lang="en-US" sz="1600" i="0"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𝑉</m:t>
                          </m:r>
                        </m:e>
                        <m:sub>
                          <m:r>
                            <a:rPr lang="en-US" sz="1600" i="0" dirty="0">
                              <a:solidFill>
                                <a:schemeClr val="tx1"/>
                              </a:solidFill>
                              <a:latin typeface="Cambria Math" panose="02040503050406030204" pitchFamily="18" charset="0"/>
                            </a:rPr>
                            <m:t>0</m:t>
                          </m:r>
                        </m:sub>
                      </m:sSub>
                    </m:oMath>
                  </m:oMathPara>
                </a14:m>
                <a:endParaRPr lang="en-US" sz="1600" dirty="0"/>
              </a:p>
            </p:txBody>
          </p:sp>
        </mc:Choice>
        <mc:Fallback xmlns="">
          <p:sp>
            <p:nvSpPr>
              <p:cNvPr id="9" name="latex-w0"/>
              <p:cNvSpPr txBox="1">
                <a:spLocks noRot="1" noChangeAspect="1" noMove="1" noResize="1" noEditPoints="1" noAdjustHandles="1" noChangeArrowheads="1" noChangeShapeType="1" noTextEdit="1"/>
              </p:cNvSpPr>
              <p:nvPr/>
            </p:nvSpPr>
            <p:spPr>
              <a:xfrm>
                <a:off x="5257800" y="2057400"/>
                <a:ext cx="6172200" cy="759592"/>
              </a:xfrm>
              <a:prstGeom prst="rect">
                <a:avLst/>
              </a:prstGeom>
              <a:blipFill>
                <a:blip r:embed="rId4"/>
                <a:stretch>
                  <a:fillRect/>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latex-w1"/>
              <p:cNvSpPr txBox="1"/>
              <p:nvPr/>
            </p:nvSpPr>
            <p:spPr>
              <a:xfrm>
                <a:off x="5257800" y="2926080"/>
                <a:ext cx="6172200" cy="759592"/>
              </a:xfrm>
              <a:prstGeom prst="rect">
                <a:avLst/>
              </a:prstGeom>
              <a:noFill/>
              <a:ln/>
            </p:spPr>
            <p:txBody>
              <a:bodyPr wrap="square" lIns="0" tIns="0" rIns="0" bIns="0" rtlCol="0" anchor="ctr">
                <a:noAutofit/>
              </a:bodyPr>
              <a:lstStyle/>
              <a:p>
                <a:pPr marL="0" indent="0">
                  <a:buNone/>
                </a:pPr>
                <a14:m>
                  <m:oMathPara xmlns:m="http://schemas.openxmlformats.org/officeDocument/2006/math">
                    <m:oMathParaPr>
                      <m:jc m:val="left"/>
                    </m:oMathParaPr>
                    <m:oMath>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𝐹</m:t>
                          </m:r>
                        </m:e>
                        <m:sub>
                          <m:r>
                            <a:rPr lang="en-US" sz="1600" i="0" dirty="0">
                              <a:solidFill>
                                <a:schemeClr val="tx1"/>
                              </a:solidFill>
                              <a:latin typeface="Cambria Math" panose="02040503050406030204" pitchFamily="18" charset="0"/>
                            </a:rPr>
                            <m:t>1</m:t>
                          </m:r>
                        </m:sub>
                      </m:sSub>
                      <m:r>
                        <a:rPr lang="en-US" sz="1600" i="0" dirty="0">
                          <a:solidFill>
                            <a:schemeClr val="tx1"/>
                          </a:solidFill>
                          <a:latin typeface="Cambria Math" panose="02040503050406030204" pitchFamily="18" charset="0"/>
                        </a:rPr>
                        <m:t>=</m:t>
                      </m:r>
                      <m:nary>
                        <m:naryPr>
                          <m:limLoc m:val="subSup"/>
                          <m:ctrlPr>
                            <a:rPr lang="en-US" sz="1600" i="0" dirty="0">
                              <a:solidFill>
                                <a:schemeClr val="tx1"/>
                              </a:solidFill>
                              <a:latin typeface="Cambria Math" panose="02040503050406030204" pitchFamily="18" charset="0"/>
                            </a:rPr>
                          </m:ctrlPr>
                        </m:naryPr>
                        <m:sub>
                          <m:r>
                            <a:rPr lang="en-US" sz="1600" i="0"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d>
                            <m:dPr>
                              <m:ctrlPr>
                                <a:rPr lang="en-US" sz="1600" i="1" dirty="0">
                                  <a:solidFill>
                                    <a:schemeClr val="tx1"/>
                                  </a:solidFill>
                                  <a:latin typeface="Cambria Math" panose="02040503050406030204" pitchFamily="18" charset="0"/>
                                </a:rPr>
                              </m:ctrlPr>
                            </m:dPr>
                            <m:e>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cos</m:t>
                                  </m:r>
                                </m:fName>
                                <m:e>
                                  <m:r>
                                    <a:rPr lang="en-US" sz="1600" i="1" dirty="0">
                                      <a:solidFill>
                                        <a:schemeClr val="tx1"/>
                                      </a:solidFill>
                                      <a:latin typeface="Cambria Math" panose="02040503050406030204" pitchFamily="18" charset="0"/>
                                    </a:rPr>
                                    <m:t>𝜃</m:t>
                                  </m:r>
                                </m:e>
                              </m:func>
                              <m:r>
                                <a:rPr lang="en-US" sz="1600" i="0"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𝑑</m:t>
                              </m:r>
                            </m:e>
                          </m:d>
                        </m:e>
                      </m:nary>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𝑞</m:t>
                          </m:r>
                        </m:e>
                        <m:sub>
                          <m:r>
                            <a:rPr lang="en-US" sz="1600" i="1" dirty="0">
                              <a:solidFill>
                                <a:schemeClr val="tx1"/>
                              </a:solidFill>
                              <a:latin typeface="Cambria Math" panose="02040503050406030204" pitchFamily="18" charset="0"/>
                            </a:rPr>
                            <m:t>𝑥</m:t>
                          </m:r>
                        </m:sub>
                      </m:sSub>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𝑑𝑠</m:t>
                      </m:r>
                      <m:r>
                        <a:rPr lang="en-US" sz="1600" i="0" dirty="0">
                          <a:solidFill>
                            <a:schemeClr val="tx1"/>
                          </a:solidFill>
                          <a:latin typeface="Cambria Math" panose="02040503050406030204" pitchFamily="18" charset="0"/>
                        </a:rPr>
                        <m:t>=0</m:t>
                      </m:r>
                    </m:oMath>
                  </m:oMathPara>
                </a14:m>
                <a:endParaRPr lang="en-US" sz="1600" dirty="0"/>
              </a:p>
            </p:txBody>
          </p:sp>
        </mc:Choice>
        <mc:Fallback xmlns="">
          <p:sp>
            <p:nvSpPr>
              <p:cNvPr id="10" name="latex-w1"/>
              <p:cNvSpPr txBox="1">
                <a:spLocks noRot="1" noChangeAspect="1" noMove="1" noResize="1" noEditPoints="1" noAdjustHandles="1" noChangeArrowheads="1" noChangeShapeType="1" noTextEdit="1"/>
              </p:cNvSpPr>
              <p:nvPr/>
            </p:nvSpPr>
            <p:spPr>
              <a:xfrm>
                <a:off x="5257800" y="2926080"/>
                <a:ext cx="6172200" cy="759592"/>
              </a:xfrm>
              <a:prstGeom prst="rect">
                <a:avLst/>
              </a:prstGeom>
              <a:blipFill>
                <a:blip r:embed="rId5"/>
                <a:stretch>
                  <a:fillRect/>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latex-w2"/>
              <p:cNvSpPr txBox="1"/>
              <p:nvPr/>
            </p:nvSpPr>
            <p:spPr>
              <a:xfrm>
                <a:off x="5257800" y="3794760"/>
                <a:ext cx="6172200" cy="759592"/>
              </a:xfrm>
              <a:prstGeom prst="rect">
                <a:avLst/>
              </a:prstGeom>
              <a:noFill/>
              <a:ln/>
            </p:spPr>
            <p:txBody>
              <a:bodyPr wrap="square" lIns="0" tIns="0" rIns="0" bIns="0" rtlCol="0" anchor="ctr">
                <a:noAutofit/>
              </a:bodyPr>
              <a:lstStyle/>
              <a:p>
                <a:pPr marL="0" indent="0">
                  <a:buNone/>
                </a:pPr>
                <a14:m>
                  <m:oMathPara xmlns:m="http://schemas.openxmlformats.org/officeDocument/2006/math">
                    <m:oMathParaPr>
                      <m:jc m:val="left"/>
                    </m:oMathParaPr>
                    <m:oMath>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𝐹</m:t>
                          </m:r>
                        </m:e>
                        <m:sub>
                          <m:r>
                            <a:rPr lang="en-US" sz="1600" i="0" dirty="0">
                              <a:solidFill>
                                <a:schemeClr val="tx1"/>
                              </a:solidFill>
                              <a:latin typeface="Cambria Math" panose="02040503050406030204" pitchFamily="18" charset="0"/>
                            </a:rPr>
                            <m:t>2</m:t>
                          </m:r>
                        </m:sub>
                      </m:sSub>
                      <m:r>
                        <a:rPr lang="en-US" sz="1600" i="0" dirty="0">
                          <a:solidFill>
                            <a:schemeClr val="tx1"/>
                          </a:solidFill>
                          <a:latin typeface="Cambria Math" panose="02040503050406030204" pitchFamily="18" charset="0"/>
                        </a:rPr>
                        <m:t>=</m:t>
                      </m:r>
                      <m:nary>
                        <m:naryPr>
                          <m:limLoc m:val="subSup"/>
                          <m:ctrlPr>
                            <a:rPr lang="en-US" sz="1600" i="0" dirty="0">
                              <a:solidFill>
                                <a:schemeClr val="tx1"/>
                              </a:solidFill>
                              <a:latin typeface="Cambria Math" panose="02040503050406030204" pitchFamily="18" charset="0"/>
                            </a:rPr>
                          </m:ctrlPr>
                        </m:naryPr>
                        <m:sub>
                          <m:r>
                            <a:rPr lang="en-US" sz="1600" i="0"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sin</m:t>
                              </m:r>
                            </m:fName>
                            <m:e>
                              <m:r>
                                <a:rPr lang="en-US" sz="1600" i="1" dirty="0">
                                  <a:solidFill>
                                    <a:schemeClr val="tx1"/>
                                  </a:solidFill>
                                  <a:latin typeface="Cambria Math" panose="02040503050406030204" pitchFamily="18" charset="0"/>
                                </a:rPr>
                                <m:t>𝜃</m:t>
                              </m:r>
                            </m:e>
                          </m:func>
                        </m:e>
                      </m:nary>
                      <m:r>
                        <a:rPr lang="en-US" sz="1600" i="0" dirty="0">
                          <a:solidFill>
                            <a:schemeClr val="tx1"/>
                          </a:solidFill>
                          <a:latin typeface="Cambria Math" panose="02040503050406030204" pitchFamily="18" charset="0"/>
                        </a:rPr>
                        <m:t> </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𝑞</m:t>
                          </m:r>
                        </m:e>
                        <m:sub>
                          <m:r>
                            <a:rPr lang="en-US" sz="1600" i="1" dirty="0">
                              <a:solidFill>
                                <a:schemeClr val="tx1"/>
                              </a:solidFill>
                              <a:latin typeface="Cambria Math" panose="02040503050406030204" pitchFamily="18" charset="0"/>
                            </a:rPr>
                            <m:t>𝑦</m:t>
                          </m:r>
                        </m:sub>
                      </m:sSub>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𝑑𝑠</m:t>
                      </m:r>
                      <m:r>
                        <a:rPr lang="en-US" sz="1600" i="0" dirty="0">
                          <a:solidFill>
                            <a:schemeClr val="tx1"/>
                          </a:solidFill>
                          <a:latin typeface="Cambria Math" panose="02040503050406030204" pitchFamily="18" charset="0"/>
                        </a:rPr>
                        <m:t>=0</m:t>
                      </m:r>
                    </m:oMath>
                  </m:oMathPara>
                </a14:m>
                <a:endParaRPr lang="en-US" sz="1600" dirty="0"/>
              </a:p>
            </p:txBody>
          </p:sp>
        </mc:Choice>
        <mc:Fallback xmlns="">
          <p:sp>
            <p:nvSpPr>
              <p:cNvPr id="11" name="latex-w2"/>
              <p:cNvSpPr txBox="1">
                <a:spLocks noRot="1" noChangeAspect="1" noMove="1" noResize="1" noEditPoints="1" noAdjustHandles="1" noChangeArrowheads="1" noChangeShapeType="1" noTextEdit="1"/>
              </p:cNvSpPr>
              <p:nvPr/>
            </p:nvSpPr>
            <p:spPr>
              <a:xfrm>
                <a:off x="5257800" y="3794760"/>
                <a:ext cx="6172200" cy="759592"/>
              </a:xfrm>
              <a:prstGeom prst="rect">
                <a:avLst/>
              </a:prstGeom>
              <a:blipFill>
                <a:blip r:embed="rId6"/>
                <a:stretch>
                  <a:fillRect/>
                </a:stretch>
              </a:blipFill>
              <a:ln/>
            </p:spPr>
            <p:txBody>
              <a:bodyPr/>
              <a:lstStyle/>
              <a:p>
                <a:r>
                  <a:rPr lang="en-IN">
                    <a:noFill/>
                  </a:rPr>
                  <a:t> </a:t>
                </a:r>
              </a:p>
            </p:txBody>
          </p:sp>
        </mc:Fallback>
      </mc:AlternateContent>
      <p:sp>
        <p:nvSpPr>
          <p:cNvPr id="12" name="badge-41"/>
          <p:cNvSpPr/>
          <p:nvPr/>
        </p:nvSpPr>
        <p:spPr>
          <a:xfrm>
            <a:off x="548640" y="3429000"/>
            <a:ext cx="384048" cy="384048"/>
          </a:xfrm>
          <a:prstGeom prst="ellipse">
            <a:avLst/>
          </a:prstGeom>
          <a:solidFill>
            <a:schemeClr val="accent1"/>
          </a:solidFill>
          <a:ln/>
        </p:spPr>
        <p:txBody>
          <a:bodyPr/>
          <a:lstStyle/>
          <a:p>
            <a:endParaRPr lang="en-IN"/>
          </a:p>
        </p:txBody>
      </p:sp>
      <p:sp>
        <p:nvSpPr>
          <p:cNvPr id="13" name="badge-label-42"/>
          <p:cNvSpPr txBox="1"/>
          <p:nvPr/>
        </p:nvSpPr>
        <p:spPr>
          <a:xfrm>
            <a:off x="548640" y="342900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4" name="text-43"/>
          <p:cNvSpPr txBox="1"/>
          <p:nvPr/>
        </p:nvSpPr>
        <p:spPr>
          <a:xfrm>
            <a:off x="1097280" y="3401568"/>
            <a:ext cx="3657600" cy="438912"/>
          </a:xfrm>
          <a:prstGeom prst="rect">
            <a:avLst/>
          </a:prstGeom>
          <a:noFill/>
          <a:ln/>
        </p:spPr>
        <p:txBody>
          <a:bodyPr wrap="square" lIns="0" tIns="0" rIns="0" bIns="0" rtlCol="0" anchor="t"/>
          <a:lstStyle/>
          <a:p>
            <a:pPr marL="0" indent="0">
              <a:buNone/>
            </a:pPr>
            <a:r>
              <a:rPr lang="en-US" sz="1400" dirty="0">
                <a:solidFill>
                  <a:schemeClr val="tx1"/>
                </a:solidFill>
              </a:rPr>
              <a:t>θ ∈ P1 Lagrange on 200 elements, graded towards both clamps</a:t>
            </a:r>
          </a:p>
        </p:txBody>
      </p:sp>
      <p:sp>
        <p:nvSpPr>
          <p:cNvPr id="15" name="badge-44"/>
          <p:cNvSpPr/>
          <p:nvPr/>
        </p:nvSpPr>
        <p:spPr>
          <a:xfrm>
            <a:off x="548640" y="3959352"/>
            <a:ext cx="384048" cy="384048"/>
          </a:xfrm>
          <a:prstGeom prst="ellipse">
            <a:avLst/>
          </a:prstGeom>
          <a:solidFill>
            <a:schemeClr val="accent1"/>
          </a:solidFill>
          <a:ln/>
        </p:spPr>
        <p:txBody>
          <a:bodyPr/>
          <a:lstStyle/>
          <a:p>
            <a:endParaRPr lang="en-IN"/>
          </a:p>
        </p:txBody>
      </p:sp>
      <p:sp>
        <p:nvSpPr>
          <p:cNvPr id="16" name="badge-label-45"/>
          <p:cNvSpPr txBox="1"/>
          <p:nvPr/>
        </p:nvSpPr>
        <p:spPr>
          <a:xfrm>
            <a:off x="548640" y="395935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7" name="text-46"/>
          <p:cNvSpPr txBox="1"/>
          <p:nvPr/>
        </p:nvSpPr>
        <p:spPr>
          <a:xfrm>
            <a:off x="1097280" y="3931920"/>
            <a:ext cx="3657600" cy="438912"/>
          </a:xfrm>
          <a:prstGeom prst="rect">
            <a:avLst/>
          </a:prstGeom>
          <a:noFill/>
          <a:ln/>
        </p:spPr>
        <p:txBody>
          <a:bodyPr wrap="square" lIns="0" tIns="0" rIns="0" bIns="0" rtlCol="0" anchor="t"/>
          <a:lstStyle/>
          <a:p>
            <a:pPr marL="0" indent="0">
              <a:buNone/>
            </a:pPr>
            <a:r>
              <a:rPr lang="en-US" sz="1400" dirty="0">
                <a:solidFill>
                  <a:schemeClr val="tx1"/>
                </a:solidFill>
              </a:rPr>
              <a:t>f</a:t>
            </a:r>
            <a:r>
              <a:rPr lang="en-US" sz="1400" baseline="-40000" dirty="0">
                <a:solidFill>
                  <a:schemeClr val="tx1"/>
                </a:solidFill>
              </a:rPr>
              <a:t>x</a:t>
            </a:r>
            <a:r>
              <a:rPr lang="en-US" sz="1400" dirty="0">
                <a:solidFill>
                  <a:schemeClr val="tx1"/>
                </a:solidFill>
              </a:rPr>
              <a:t>, f</a:t>
            </a:r>
            <a:r>
              <a:rPr lang="en-US" sz="1400" baseline="-40000" dirty="0">
                <a:solidFill>
                  <a:schemeClr val="tx1"/>
                </a:solidFill>
              </a:rPr>
              <a:t>y</a:t>
            </a:r>
            <a:r>
              <a:rPr lang="en-US" sz="1400" dirty="0">
                <a:solidFill>
                  <a:schemeClr val="tx1"/>
                </a:solidFill>
              </a:rPr>
              <a:t> ∈ “Real” space: one global DOF each</a:t>
            </a:r>
            <a:endParaRPr lang="en-US" sz="1400" dirty="0"/>
          </a:p>
        </p:txBody>
      </p:sp>
      <p:sp>
        <p:nvSpPr>
          <p:cNvPr id="18" name="badge-47"/>
          <p:cNvSpPr/>
          <p:nvPr/>
        </p:nvSpPr>
        <p:spPr>
          <a:xfrm>
            <a:off x="548640" y="4489704"/>
            <a:ext cx="384048" cy="384048"/>
          </a:xfrm>
          <a:prstGeom prst="ellipse">
            <a:avLst/>
          </a:prstGeom>
          <a:solidFill>
            <a:schemeClr val="accent1"/>
          </a:solidFill>
          <a:ln/>
        </p:spPr>
        <p:txBody>
          <a:bodyPr/>
          <a:lstStyle/>
          <a:p>
            <a:endParaRPr lang="en-IN"/>
          </a:p>
        </p:txBody>
      </p:sp>
      <p:sp>
        <p:nvSpPr>
          <p:cNvPr id="19" name="badge-label-48"/>
          <p:cNvSpPr txBox="1"/>
          <p:nvPr/>
        </p:nvSpPr>
        <p:spPr>
          <a:xfrm>
            <a:off x="548640" y="448970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0" name="text-49"/>
          <p:cNvSpPr txBox="1"/>
          <p:nvPr/>
        </p:nvSpPr>
        <p:spPr>
          <a:xfrm>
            <a:off x="1097280" y="4462272"/>
            <a:ext cx="3657600" cy="438912"/>
          </a:xfrm>
          <a:prstGeom prst="rect">
            <a:avLst/>
          </a:prstGeom>
          <a:noFill/>
          <a:ln/>
        </p:spPr>
        <p:txBody>
          <a:bodyPr wrap="square" lIns="0" tIns="0" rIns="0" bIns="0" rtlCol="0" anchor="t"/>
          <a:lstStyle/>
          <a:p>
            <a:pPr marL="0" indent="0">
              <a:buNone/>
            </a:pPr>
            <a:r>
              <a:rPr lang="en-US" sz="1400" dirty="0">
                <a:solidFill>
                  <a:schemeClr val="tx1"/>
                </a:solidFill>
              </a:rPr>
              <a:t>Clamp angles imposed as Dirichlet BCs on θ</a:t>
            </a:r>
            <a:endParaRPr lang="en-US" sz="1400" dirty="0"/>
          </a:p>
        </p:txBody>
      </p:sp>
      <p:sp>
        <p:nvSpPr>
          <p:cNvPr id="21" name="card-50"/>
          <p:cNvSpPr/>
          <p:nvPr/>
        </p:nvSpPr>
        <p:spPr>
          <a:xfrm>
            <a:off x="548640" y="5166360"/>
            <a:ext cx="11064240" cy="1097280"/>
          </a:xfrm>
          <a:prstGeom prst="roundRect">
            <a:avLst>
              <a:gd name="adj" fmla="val 6667"/>
            </a:avLst>
          </a:prstGeom>
          <a:solidFill>
            <a:schemeClr val="bg2"/>
          </a:solidFill>
          <a:ln/>
        </p:spPr>
        <p:txBody>
          <a:bodyPr/>
          <a:lstStyle/>
          <a:p>
            <a:endParaRPr lang="en-IN"/>
          </a:p>
        </p:txBody>
      </p:sp>
      <p:sp>
        <p:nvSpPr>
          <p:cNvPr id="22" name="text-51"/>
          <p:cNvSpPr txBox="1"/>
          <p:nvPr/>
        </p:nvSpPr>
        <p:spPr>
          <a:xfrm>
            <a:off x="777240" y="5440680"/>
            <a:ext cx="2743200" cy="548640"/>
          </a:xfrm>
          <a:prstGeom prst="rect">
            <a:avLst/>
          </a:prstGeom>
          <a:noFill/>
          <a:ln/>
        </p:spPr>
        <p:txBody>
          <a:bodyPr wrap="square" lIns="0" tIns="0" rIns="0" bIns="0" rtlCol="0" anchor="t"/>
          <a:lstStyle/>
          <a:p>
            <a:pPr marL="0" indent="0">
              <a:buNone/>
            </a:pPr>
            <a:r>
              <a:rPr lang="en-US" sz="1700" b="1" dirty="0">
                <a:solidFill>
                  <a:schemeClr val="accent1"/>
                </a:solidFill>
              </a:rPr>
              <a:t>Post-processed per point</a:t>
            </a:r>
            <a:endParaRPr lang="en-US" sz="1700" dirty="0"/>
          </a:p>
        </p:txBody>
      </p:sp>
      <mc:AlternateContent xmlns:mc="http://schemas.openxmlformats.org/markup-compatibility/2006" xmlns:a14="http://schemas.microsoft.com/office/drawing/2010/main">
        <mc:Choice Requires="a14">
          <p:sp>
            <p:nvSpPr>
              <p:cNvPr id="401" name="latex-outputs"/>
              <p:cNvSpPr txBox="1"/>
              <p:nvPr/>
            </p:nvSpPr>
            <p:spPr>
              <a:xfrm>
                <a:off x="3657600" y="5230368"/>
                <a:ext cx="3986030" cy="566928"/>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𝑀</m:t>
                          </m:r>
                        </m:e>
                        <m:sub>
                          <m:r>
                            <a:rPr lang="en-US" sz="1600" i="1" dirty="0">
                              <a:solidFill>
                                <a:schemeClr val="tx1"/>
                              </a:solidFill>
                              <a:latin typeface="Cambria Math" panose="02040503050406030204" pitchFamily="18" charset="0"/>
                            </a:rPr>
                            <m:t>1</m:t>
                          </m:r>
                        </m:sub>
                      </m:sSub>
                      <m:r>
                        <a:rPr lang="en-US" sz="1600" i="1" dirty="0">
                          <a:solidFill>
                            <a:schemeClr val="tx1"/>
                          </a:solidFill>
                          <a:latin typeface="Cambria Math" panose="02040503050406030204" pitchFamily="18" charset="0"/>
                        </a:rPr>
                        <m:t>=</m:t>
                      </m:r>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𝜃</m:t>
                          </m:r>
                        </m:e>
                        <m:sup>
                          <m:r>
                            <a:rPr lang="en-US" sz="1600" i="1" dirty="0">
                              <a:solidFill>
                                <a:schemeClr val="tx1"/>
                              </a:solidFill>
                              <a:latin typeface="Cambria Math" panose="02040503050406030204" pitchFamily="18" charset="0"/>
                            </a:rPr>
                            <m:t>′</m:t>
                          </m:r>
                        </m:sup>
                      </m:sSup>
                      <m:r>
                        <a:rPr lang="en-US" sz="1600" i="1" dirty="0">
                          <a:solidFill>
                            <a:schemeClr val="tx1"/>
                          </a:solidFill>
                          <a:latin typeface="Cambria Math" panose="02040503050406030204" pitchFamily="18" charset="0"/>
                        </a:rPr>
                        <m:t>(0), </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𝑀</m:t>
                          </m:r>
                        </m:e>
                        <m:sub>
                          <m:r>
                            <a:rPr lang="en-US" sz="1600" i="1" dirty="0">
                              <a:solidFill>
                                <a:schemeClr val="tx1"/>
                              </a:solidFill>
                              <a:latin typeface="Cambria Math" panose="02040503050406030204" pitchFamily="18" charset="0"/>
                            </a:rPr>
                            <m:t>2</m:t>
                          </m:r>
                        </m:sub>
                      </m:sSub>
                      <m:r>
                        <a:rPr lang="en-US" sz="1600" i="1" dirty="0">
                          <a:solidFill>
                            <a:schemeClr val="tx1"/>
                          </a:solidFill>
                          <a:latin typeface="Cambria Math" panose="02040503050406030204" pitchFamily="18" charset="0"/>
                        </a:rPr>
                        <m:t>=</m:t>
                      </m:r>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𝜃</m:t>
                          </m:r>
                        </m:e>
                        <m:sup>
                          <m:r>
                            <a:rPr lang="en-US" sz="1600" i="1" dirty="0">
                              <a:solidFill>
                                <a:schemeClr val="tx1"/>
                              </a:solidFill>
                              <a:latin typeface="Cambria Math" panose="02040503050406030204" pitchFamily="18" charset="0"/>
                            </a:rPr>
                            <m:t>′</m:t>
                          </m:r>
                        </m:sup>
                      </m:sSup>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𝐿</m:t>
                      </m:r>
                      <m:r>
                        <a:rPr lang="en-US" sz="1600" i="1"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𝑈</m:t>
                      </m:r>
                      <m:r>
                        <a:rPr lang="en-US" sz="1600" i="1" dirty="0">
                          <a:solidFill>
                            <a:schemeClr val="tx1"/>
                          </a:solidFill>
                          <a:latin typeface="Cambria Math" panose="02040503050406030204" pitchFamily="18" charset="0"/>
                        </a:rPr>
                        <m:t>=</m:t>
                      </m:r>
                      <m:f>
                        <m:fPr>
                          <m:ctrlPr>
                            <a:rPr lang="en-US" sz="1600" i="1" dirty="0">
                              <a:solidFill>
                                <a:schemeClr val="tx1"/>
                              </a:solidFill>
                              <a:latin typeface="Cambria Math" panose="02040503050406030204" pitchFamily="18" charset="0"/>
                            </a:rPr>
                          </m:ctrlPr>
                        </m:fPr>
                        <m:num>
                          <m:r>
                            <a:rPr lang="en-US" sz="1600" i="1" dirty="0">
                              <a:solidFill>
                                <a:schemeClr val="tx1"/>
                              </a:solidFill>
                              <a:latin typeface="Cambria Math" panose="02040503050406030204" pitchFamily="18" charset="0"/>
                            </a:rPr>
                            <m:t>1</m:t>
                          </m:r>
                        </m:num>
                        <m:den>
                          <m:r>
                            <a:rPr lang="en-US" sz="1600" i="1" dirty="0">
                              <a:solidFill>
                                <a:schemeClr val="tx1"/>
                              </a:solidFill>
                              <a:latin typeface="Cambria Math" panose="02040503050406030204" pitchFamily="18" charset="0"/>
                            </a:rPr>
                            <m:t>2</m:t>
                          </m:r>
                        </m:den>
                      </m:f>
                      <m:nary>
                        <m:naryPr>
                          <m:limLoc m:val="subSup"/>
                          <m:ctrlPr>
                            <a:rPr lang="en-US" sz="1600" i="1" dirty="0">
                              <a:solidFill>
                                <a:schemeClr val="tx1"/>
                              </a:solidFill>
                              <a:latin typeface="Cambria Math" panose="02040503050406030204" pitchFamily="18" charset="0"/>
                            </a:rPr>
                          </m:ctrlPr>
                        </m:naryPr>
                        <m:sub>
                          <m:r>
                            <a:rPr lang="en-US" sz="1600" i="1"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𝜃</m:t>
                              </m:r>
                            </m:e>
                            <m:sup>
                              <m:r>
                                <a:rPr lang="en-US" sz="1600" i="1" dirty="0">
                                  <a:solidFill>
                                    <a:schemeClr val="tx1"/>
                                  </a:solidFill>
                                  <a:latin typeface="Cambria Math" panose="02040503050406030204" pitchFamily="18" charset="0"/>
                                </a:rPr>
                                <m:t>′</m:t>
                              </m:r>
                            </m:sup>
                          </m:sSup>
                        </m:e>
                      </m:nary>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m:t>
                          </m:r>
                        </m:e>
                        <m:sup>
                          <m:r>
                            <a:rPr lang="en-US" sz="1600" i="1" dirty="0">
                              <a:solidFill>
                                <a:schemeClr val="tx1"/>
                              </a:solidFill>
                              <a:latin typeface="Cambria Math" panose="02040503050406030204" pitchFamily="18" charset="0"/>
                            </a:rPr>
                            <m:t>2</m:t>
                          </m:r>
                        </m:sup>
                      </m:sSup>
                      <m:r>
                        <a:rPr lang="en-US" sz="1600" i="1"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𝑑𝑠</m:t>
                      </m:r>
                    </m:oMath>
                  </m:oMathPara>
                </a14:m>
                <a:endParaRPr lang="en-US" sz="1600" dirty="0"/>
              </a:p>
            </p:txBody>
          </p:sp>
        </mc:Choice>
        <mc:Fallback xmlns="">
          <p:sp>
            <p:nvSpPr>
              <p:cNvPr id="401" name="latex-outputs"/>
              <p:cNvSpPr txBox="1">
                <a:spLocks noRot="1" noChangeAspect="1" noMove="1" noResize="1" noEditPoints="1" noAdjustHandles="1" noChangeArrowheads="1" noChangeShapeType="1" noTextEdit="1"/>
              </p:cNvSpPr>
              <p:nvPr/>
            </p:nvSpPr>
            <p:spPr>
              <a:xfrm>
                <a:off x="3657600" y="5230368"/>
                <a:ext cx="3986030" cy="566928"/>
              </a:xfrm>
              <a:prstGeom prst="rect">
                <a:avLst/>
              </a:prstGeom>
              <a:blipFill>
                <a:blip r:embed="rId8"/>
                <a:stretch>
                  <a:fillRect/>
                </a:stretch>
              </a:blipFill>
            </p:spPr>
            <p:txBody>
              <a:bodyPr/>
              <a:lstStyle/>
              <a:p>
                <a:r>
                  <a:rPr lang="en-US">
                    <a:noFill/>
                  </a:rPr>
                  <a:t> </a:t>
                </a:r>
              </a:p>
            </p:txBody>
          </p:sp>
        </mc:Fallback>
      </mc:AlternateContent>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
        <p:nvSpPr>
          <p:cNvPr id="402" name="caption-402"/>
          <p:cNvSpPr txBox="1"/>
          <p:nvPr/>
        </p:nvSpPr>
        <p:spPr>
          <a:xfrm>
            <a:off x="3657600" y="5815584"/>
            <a:ext cx="7772400" cy="274320"/>
          </a:xfrm>
          <a:prstGeom prst="rect">
            <a:avLst/>
          </a:prstGeom>
          <a:noFill/>
          <a:ln/>
        </p:spPr>
        <p:txBody>
          <a:bodyPr wrap="square" lIns="0" tIns="0" rIns="0" bIns="0" rtlCol="0" anchor="t">
            <a:normAutofit/>
          </a:bodyPr>
          <a:lstStyle/>
          <a:p>
            <a:pPr marL="0" indent="0" algn="l">
              <a:spcAft>
                <a:spcPts val="0"/>
              </a:spcAft>
              <a:buNone/>
            </a:pPr>
            <a:r>
              <a:rPr lang="en-US" sz="1100" dirty="0">
                <a:solidFill>
                  <a:schemeClr val="accent5"/>
                </a:solidFill>
              </a:rPr>
              <a:t>Moments: end-element slope plus a half-element Taylor correction (second order)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Each parameter point is one Newton solve on 203 unknowns</a:t>
            </a:r>
          </a:p>
        </p:txBody>
      </p:sp>
      <p:sp>
        <p:nvSpPr>
          <p:cNvPr id="3" name="card-53"/>
          <p:cNvSpPr/>
          <p:nvPr/>
        </p:nvSpPr>
        <p:spPr>
          <a:xfrm>
            <a:off x="548640" y="1417320"/>
            <a:ext cx="11064240" cy="1005840"/>
          </a:xfrm>
          <a:prstGeom prst="roundRect">
            <a:avLst>
              <a:gd name="adj" fmla="val 7273"/>
            </a:avLst>
          </a:prstGeom>
          <a:solidFill>
            <a:schemeClr val="bg2"/>
          </a:solidFill>
          <a:ln/>
        </p:spPr>
        <p:txBody>
          <a:bodyPr/>
          <a:lstStyle/>
          <a:p>
            <a:endParaRPr lang="en-IN"/>
          </a:p>
        </p:txBody>
      </p:sp>
      <mc:AlternateContent xmlns:mc="http://schemas.openxmlformats.org/markup-compatibility/2006" xmlns:a14="http://schemas.microsoft.com/office/drawing/2010/main">
        <mc:Choice Requires="a14">
          <p:sp>
            <p:nvSpPr>
              <p:cNvPr id="4" name="latex-newton"/>
              <p:cNvSpPr txBox="1"/>
              <p:nvPr/>
            </p:nvSpPr>
            <p:spPr>
              <a:xfrm>
                <a:off x="822960" y="1508760"/>
                <a:ext cx="5440680" cy="822960"/>
              </a:xfrm>
              <a:prstGeom prst="rect">
                <a:avLst/>
              </a:prstGeom>
              <a:noFill/>
              <a:ln/>
            </p:spPr>
            <p:txBody>
              <a:bodyPr wrap="square" lIns="0" tIns="0" rIns="0" bIns="0" rtlCol="0" anchor="ctr">
                <a:noAutofit/>
              </a:bodyPr>
              <a:lstStyle/>
              <a:p>
                <a:pPr marL="0" indent="0">
                  <a:buNone/>
                </a:pPr>
                <a14:m>
                  <m:oMathPara xmlns:m="http://schemas.openxmlformats.org/officeDocument/2006/math">
                    <m:oMath>
                      <m:r>
                        <a:rPr lang="en-US" sz="1600" i="1" dirty="0" smtClean="0">
                          <a:solidFill>
                            <a:schemeClr val="tx1"/>
                          </a:solidFill>
                          <a:latin typeface="Cambria Math" panose="02040503050406030204" pitchFamily="18" charset="0"/>
                        </a:rPr>
                        <m:t>𝐽</m:t>
                      </m:r>
                      <m:d>
                        <m:dPr>
                          <m:ctrlPr>
                            <a:rPr lang="en-US" sz="1600" b="1" i="1" dirty="0">
                              <a:solidFill>
                                <a:schemeClr val="tx1"/>
                              </a:solidFill>
                              <a:latin typeface="Cambria Math" panose="02040503050406030204" pitchFamily="18" charset="0"/>
                            </a:rPr>
                          </m:ctrlPr>
                        </m:dPr>
                        <m:e>
                          <m:sSup>
                            <m:sSupPr>
                              <m:ctrlPr>
                                <a:rPr lang="en-US" sz="1600" b="1" i="0" dirty="0">
                                  <a:solidFill>
                                    <a:schemeClr val="tx1"/>
                                  </a:solidFill>
                                  <a:latin typeface="Cambria Math" panose="02040503050406030204" pitchFamily="18" charset="0"/>
                                </a:rPr>
                              </m:ctrlPr>
                            </m:sSupPr>
                            <m:e>
                              <m:r>
                                <a:rPr lang="en-US" sz="1600" b="1" i="0" dirty="0">
                                  <a:solidFill>
                                    <a:schemeClr val="tx1"/>
                                  </a:solidFill>
                                  <a:latin typeface="Cambria Math" panose="02040503050406030204" pitchFamily="18" charset="0"/>
                                </a:rPr>
                                <m:t>𝐮</m:t>
                              </m:r>
                            </m:e>
                            <m:sup>
                              <m:r>
                                <a:rPr lang="en-US" sz="1600" b="0" i="1" dirty="0">
                                  <a:solidFill>
                                    <a:schemeClr val="tx1"/>
                                  </a:solidFill>
                                  <a:latin typeface="Cambria Math" panose="02040503050406030204" pitchFamily="18" charset="0"/>
                                </a:rPr>
                                <m:t>𝑘</m:t>
                              </m:r>
                            </m:sup>
                          </m:sSup>
                        </m:e>
                      </m:d>
                      <m:r>
                        <a:rPr lang="en-US" sz="1600" b="0" i="0" dirty="0">
                          <a:solidFill>
                            <a:schemeClr val="tx1"/>
                          </a:solidFill>
                          <a:latin typeface="Cambria Math" panose="02040503050406030204" pitchFamily="18" charset="0"/>
                        </a:rPr>
                        <m:t> </m:t>
                      </m:r>
                      <m:r>
                        <a:rPr lang="en-US" sz="1600" b="0" i="1" dirty="0">
                          <a:solidFill>
                            <a:schemeClr val="tx1"/>
                          </a:solidFill>
                          <a:latin typeface="Cambria Math" panose="02040503050406030204" pitchFamily="18" charset="0"/>
                        </a:rPr>
                        <m:t>𝛿</m:t>
                      </m:r>
                      <m:r>
                        <a:rPr lang="en-US" sz="1600" b="1" i="0" dirty="0">
                          <a:solidFill>
                            <a:schemeClr val="tx1"/>
                          </a:solidFill>
                          <a:latin typeface="Cambria Math" panose="02040503050406030204" pitchFamily="18" charset="0"/>
                        </a:rPr>
                        <m:t>𝐮</m:t>
                      </m:r>
                      <m:r>
                        <a:rPr lang="en-US" sz="1600" b="0" i="0" dirty="0">
                          <a:solidFill>
                            <a:schemeClr val="tx1"/>
                          </a:solidFill>
                          <a:latin typeface="Cambria Math" panose="02040503050406030204" pitchFamily="18" charset="0"/>
                        </a:rPr>
                        <m:t>=−</m:t>
                      </m:r>
                      <m:r>
                        <a:rPr lang="en-US" sz="1600" b="1" i="0" dirty="0">
                          <a:solidFill>
                            <a:schemeClr val="tx1"/>
                          </a:solidFill>
                          <a:latin typeface="Cambria Math" panose="02040503050406030204" pitchFamily="18" charset="0"/>
                        </a:rPr>
                        <m:t>𝐅</m:t>
                      </m:r>
                      <m:d>
                        <m:dPr>
                          <m:ctrlPr>
                            <a:rPr lang="en-US" sz="1600" b="1" i="1" dirty="0">
                              <a:solidFill>
                                <a:schemeClr val="tx1"/>
                              </a:solidFill>
                              <a:latin typeface="Cambria Math" panose="02040503050406030204" pitchFamily="18" charset="0"/>
                            </a:rPr>
                          </m:ctrlPr>
                        </m:dPr>
                        <m:e>
                          <m:sSup>
                            <m:sSupPr>
                              <m:ctrlPr>
                                <a:rPr lang="en-US" sz="1600" b="1" i="0" dirty="0">
                                  <a:solidFill>
                                    <a:schemeClr val="tx1"/>
                                  </a:solidFill>
                                  <a:latin typeface="Cambria Math" panose="02040503050406030204" pitchFamily="18" charset="0"/>
                                </a:rPr>
                              </m:ctrlPr>
                            </m:sSupPr>
                            <m:e>
                              <m:r>
                                <a:rPr lang="en-US" sz="1600" b="1" i="0" dirty="0">
                                  <a:solidFill>
                                    <a:schemeClr val="tx1"/>
                                  </a:solidFill>
                                  <a:latin typeface="Cambria Math" panose="02040503050406030204" pitchFamily="18" charset="0"/>
                                </a:rPr>
                                <m:t>𝐮</m:t>
                              </m:r>
                            </m:e>
                            <m:sup>
                              <m:r>
                                <a:rPr lang="en-US" sz="1600" b="0" i="1" dirty="0">
                                  <a:solidFill>
                                    <a:schemeClr val="tx1"/>
                                  </a:solidFill>
                                  <a:latin typeface="Cambria Math" panose="02040503050406030204" pitchFamily="18" charset="0"/>
                                </a:rPr>
                                <m:t>𝑘</m:t>
                              </m:r>
                            </m:sup>
                          </m:sSup>
                        </m:e>
                      </m:d>
                      <m:r>
                        <a:rPr lang="en-US" sz="1600" b="0" i="0" dirty="0">
                          <a:solidFill>
                            <a:schemeClr val="tx1"/>
                          </a:solidFill>
                          <a:latin typeface="Cambria Math" panose="02040503050406030204" pitchFamily="18" charset="0"/>
                        </a:rPr>
                        <m:t>,  </m:t>
                      </m:r>
                      <m:sSup>
                        <m:sSupPr>
                          <m:ctrlPr>
                            <a:rPr lang="en-US" sz="1600" b="1" i="0" dirty="0">
                              <a:solidFill>
                                <a:schemeClr val="tx1"/>
                              </a:solidFill>
                              <a:latin typeface="Cambria Math" panose="02040503050406030204" pitchFamily="18" charset="0"/>
                            </a:rPr>
                          </m:ctrlPr>
                        </m:sSupPr>
                        <m:e>
                          <m:r>
                            <a:rPr lang="en-US" sz="1600" b="1" i="0" dirty="0">
                              <a:solidFill>
                                <a:schemeClr val="tx1"/>
                              </a:solidFill>
                              <a:latin typeface="Cambria Math" panose="02040503050406030204" pitchFamily="18" charset="0"/>
                            </a:rPr>
                            <m:t>𝐮</m:t>
                          </m:r>
                        </m:e>
                        <m:sup>
                          <m:r>
                            <a:rPr lang="en-US" sz="1600" b="0" i="1" dirty="0">
                              <a:solidFill>
                                <a:schemeClr val="tx1"/>
                              </a:solidFill>
                              <a:latin typeface="Cambria Math" panose="02040503050406030204" pitchFamily="18" charset="0"/>
                            </a:rPr>
                            <m:t>𝑘</m:t>
                          </m:r>
                          <m:r>
                            <a:rPr lang="en-US" sz="1600" b="0" i="0" dirty="0">
                              <a:solidFill>
                                <a:schemeClr val="tx1"/>
                              </a:solidFill>
                              <a:latin typeface="Cambria Math" panose="02040503050406030204" pitchFamily="18" charset="0"/>
                            </a:rPr>
                            <m:t>+1</m:t>
                          </m:r>
                        </m:sup>
                      </m:sSup>
                      <m:r>
                        <a:rPr lang="en-US" sz="1600" b="0" i="0" dirty="0">
                          <a:solidFill>
                            <a:schemeClr val="tx1"/>
                          </a:solidFill>
                          <a:latin typeface="Cambria Math" panose="02040503050406030204" pitchFamily="18" charset="0"/>
                        </a:rPr>
                        <m:t>=</m:t>
                      </m:r>
                      <m:sSup>
                        <m:sSupPr>
                          <m:ctrlPr>
                            <a:rPr lang="en-US" sz="1600" b="1" i="0" dirty="0">
                              <a:solidFill>
                                <a:schemeClr val="tx1"/>
                              </a:solidFill>
                              <a:latin typeface="Cambria Math" panose="02040503050406030204" pitchFamily="18" charset="0"/>
                            </a:rPr>
                          </m:ctrlPr>
                        </m:sSupPr>
                        <m:e>
                          <m:r>
                            <a:rPr lang="en-US" sz="1600" b="1" i="0" dirty="0">
                              <a:solidFill>
                                <a:schemeClr val="tx1"/>
                              </a:solidFill>
                              <a:latin typeface="Cambria Math" panose="02040503050406030204" pitchFamily="18" charset="0"/>
                            </a:rPr>
                            <m:t>𝐮</m:t>
                          </m:r>
                        </m:e>
                        <m:sup>
                          <m:r>
                            <a:rPr lang="en-US" sz="1600" b="0" i="1" dirty="0">
                              <a:solidFill>
                                <a:schemeClr val="tx1"/>
                              </a:solidFill>
                              <a:latin typeface="Cambria Math" panose="02040503050406030204" pitchFamily="18" charset="0"/>
                            </a:rPr>
                            <m:t>𝑘</m:t>
                          </m:r>
                        </m:sup>
                      </m:sSup>
                      <m:r>
                        <a:rPr lang="en-US" sz="1600" b="0" i="0" dirty="0">
                          <a:solidFill>
                            <a:schemeClr val="tx1"/>
                          </a:solidFill>
                          <a:latin typeface="Cambria Math" panose="02040503050406030204" pitchFamily="18" charset="0"/>
                        </a:rPr>
                        <m:t>+</m:t>
                      </m:r>
                      <m:sSub>
                        <m:sSubPr>
                          <m:ctrlPr>
                            <a:rPr lang="en-US" sz="1600" b="0" i="1" dirty="0">
                              <a:solidFill>
                                <a:schemeClr val="tx1"/>
                              </a:solidFill>
                              <a:latin typeface="Cambria Math" panose="02040503050406030204" pitchFamily="18" charset="0"/>
                            </a:rPr>
                          </m:ctrlPr>
                        </m:sSubPr>
                        <m:e>
                          <m:r>
                            <a:rPr lang="en-US" sz="1600" b="0" i="1" dirty="0">
                              <a:solidFill>
                                <a:schemeClr val="tx1"/>
                              </a:solidFill>
                              <a:latin typeface="Cambria Math" panose="02040503050406030204" pitchFamily="18" charset="0"/>
                            </a:rPr>
                            <m:t>𝛼</m:t>
                          </m:r>
                        </m:e>
                        <m:sub>
                          <m:r>
                            <a:rPr lang="en-US" sz="1600" b="0" i="1" dirty="0">
                              <a:solidFill>
                                <a:schemeClr val="tx1"/>
                              </a:solidFill>
                              <a:latin typeface="Cambria Math" panose="02040503050406030204" pitchFamily="18" charset="0"/>
                            </a:rPr>
                            <m:t>𝑘</m:t>
                          </m:r>
                        </m:sub>
                      </m:sSub>
                      <m:r>
                        <a:rPr lang="en-US" sz="1600" b="0" i="0" dirty="0">
                          <a:solidFill>
                            <a:schemeClr val="tx1"/>
                          </a:solidFill>
                          <a:latin typeface="Cambria Math" panose="02040503050406030204" pitchFamily="18" charset="0"/>
                        </a:rPr>
                        <m:t> </m:t>
                      </m:r>
                      <m:r>
                        <a:rPr lang="en-US" sz="1600" b="0" i="1" dirty="0">
                          <a:solidFill>
                            <a:schemeClr val="tx1"/>
                          </a:solidFill>
                          <a:latin typeface="Cambria Math" panose="02040503050406030204" pitchFamily="18" charset="0"/>
                        </a:rPr>
                        <m:t>𝛿</m:t>
                      </m:r>
                      <m:r>
                        <a:rPr lang="en-US" sz="1600" b="1" i="0" dirty="0">
                          <a:solidFill>
                            <a:schemeClr val="tx1"/>
                          </a:solidFill>
                          <a:latin typeface="Cambria Math" panose="02040503050406030204" pitchFamily="18" charset="0"/>
                        </a:rPr>
                        <m:t>𝐮</m:t>
                      </m:r>
                    </m:oMath>
                  </m:oMathPara>
                </a14:m>
                <a:endParaRPr lang="en-US" sz="1600" dirty="0"/>
              </a:p>
            </p:txBody>
          </p:sp>
        </mc:Choice>
        <mc:Fallback xmlns="">
          <p:sp>
            <p:nvSpPr>
              <p:cNvPr id="4" name="latex-newton"/>
              <p:cNvSpPr txBox="1">
                <a:spLocks noRot="1" noChangeAspect="1" noMove="1" noResize="1" noEditPoints="1" noAdjustHandles="1" noChangeArrowheads="1" noChangeShapeType="1" noTextEdit="1"/>
              </p:cNvSpPr>
              <p:nvPr/>
            </p:nvSpPr>
            <p:spPr>
              <a:xfrm>
                <a:off x="822960" y="1508760"/>
                <a:ext cx="5440680" cy="822960"/>
              </a:xfrm>
              <a:prstGeom prst="rect">
                <a:avLst/>
              </a:prstGeom>
              <a:blipFill>
                <a:blip r:embed="rId3"/>
                <a:stretch>
                  <a:fillRect/>
                </a:stretch>
              </a:blipFill>
              <a:ln/>
            </p:spPr>
            <p:txBody>
              <a:bodyPr/>
              <a:lstStyle/>
              <a:p>
                <a:r>
                  <a:rPr lang="en-IN">
                    <a:noFill/>
                  </a:rPr>
                  <a:t> </a:t>
                </a:r>
              </a:p>
            </p:txBody>
          </p:sp>
        </mc:Fallback>
      </mc:AlternateContent>
      <p:sp>
        <p:nvSpPr>
          <p:cNvPr id="5" name="text-55"/>
          <p:cNvSpPr txBox="1"/>
          <p:nvPr/>
        </p:nvSpPr>
        <p:spPr>
          <a:xfrm>
            <a:off x="6400800" y="1805940"/>
            <a:ext cx="5029200" cy="457200"/>
          </a:xfrm>
          <a:prstGeom prst="rect">
            <a:avLst/>
          </a:prstGeom>
          <a:noFill/>
          <a:ln/>
        </p:spPr>
        <p:txBody>
          <a:bodyPr wrap="square" lIns="0" tIns="0" rIns="0" bIns="0" rtlCol="0" anchor="t"/>
          <a:lstStyle/>
          <a:p>
            <a:pPr marL="0" indent="0">
              <a:buNone/>
            </a:pPr>
            <a:r>
              <a:rPr lang="en-US" sz="1500" dirty="0">
                <a:solidFill>
                  <a:schemeClr val="accent6">
                    <a:lumMod val="75000"/>
                  </a:schemeClr>
                </a:solidFill>
              </a:rPr>
              <a:t>u = (θ₀ … θ₂₀₀, f</a:t>
            </a:r>
            <a:r>
              <a:rPr lang="en-US" sz="1500" baseline="-40000" dirty="0">
                <a:solidFill>
                  <a:schemeClr val="accent6">
                    <a:lumMod val="75000"/>
                  </a:schemeClr>
                </a:solidFill>
              </a:rPr>
              <a:t>x</a:t>
            </a:r>
            <a:r>
              <a:rPr lang="en-US" sz="1500" dirty="0">
                <a:solidFill>
                  <a:schemeClr val="accent6">
                    <a:lumMod val="75000"/>
                  </a:schemeClr>
                </a:solidFill>
              </a:rPr>
              <a:t>, f</a:t>
            </a:r>
            <a:r>
              <a:rPr lang="en-US" sz="1500" baseline="-40000" dirty="0">
                <a:solidFill>
                  <a:schemeClr val="accent6">
                    <a:lumMod val="75000"/>
                  </a:schemeClr>
                </a:solidFill>
              </a:rPr>
              <a:t>y</a:t>
            </a:r>
            <a:r>
              <a:rPr lang="en-US" sz="1500" dirty="0">
                <a:solidFill>
                  <a:schemeClr val="accent6">
                    <a:lumMod val="75000"/>
                  </a:schemeClr>
                </a:solidFill>
              </a:rPr>
              <a:t>);  (0 &lt; α</a:t>
            </a:r>
            <a:r>
              <a:rPr lang="en-US" sz="1500" baseline="-40000" dirty="0">
                <a:solidFill>
                  <a:schemeClr val="accent6">
                    <a:lumMod val="75000"/>
                  </a:schemeClr>
                </a:solidFill>
              </a:rPr>
              <a:t>k</a:t>
            </a:r>
            <a:r>
              <a:rPr lang="en-US" sz="1500" dirty="0">
                <a:solidFill>
                  <a:schemeClr val="accent6">
                    <a:lumMod val="75000"/>
                  </a:schemeClr>
                </a:solidFill>
              </a:rPr>
              <a:t> &lt; 1) from cubic backtracking line search</a:t>
            </a:r>
          </a:p>
        </p:txBody>
      </p:sp>
      <p:sp>
        <p:nvSpPr>
          <p:cNvPr id="6" name="card-56"/>
          <p:cNvSpPr/>
          <p:nvPr/>
        </p:nvSpPr>
        <p:spPr>
          <a:xfrm>
            <a:off x="548640" y="2697480"/>
            <a:ext cx="2560320" cy="1920240"/>
          </a:xfrm>
          <a:prstGeom prst="roundRect">
            <a:avLst>
              <a:gd name="adj" fmla="val 3810"/>
            </a:avLst>
          </a:prstGeom>
          <a:solidFill>
            <a:schemeClr val="bg2"/>
          </a:solidFill>
          <a:ln/>
        </p:spPr>
        <p:txBody>
          <a:bodyPr/>
          <a:lstStyle/>
          <a:p>
            <a:endParaRPr lang="en-IN"/>
          </a:p>
        </p:txBody>
      </p:sp>
      <p:sp>
        <p:nvSpPr>
          <p:cNvPr id="7" name="text-57"/>
          <p:cNvSpPr txBox="1"/>
          <p:nvPr/>
        </p:nvSpPr>
        <p:spPr>
          <a:xfrm>
            <a:off x="777240" y="2834640"/>
            <a:ext cx="2103120" cy="777240"/>
          </a:xfrm>
          <a:prstGeom prst="rect">
            <a:avLst/>
          </a:prstGeom>
          <a:noFill/>
          <a:ln/>
        </p:spPr>
        <p:txBody>
          <a:bodyPr wrap="square" lIns="0" tIns="0" rIns="0" bIns="0" rtlCol="0" anchor="t"/>
          <a:lstStyle/>
          <a:p>
            <a:pPr marL="0" indent="0">
              <a:buNone/>
            </a:pPr>
            <a:r>
              <a:rPr lang="en-US" sz="3600" dirty="0">
                <a:solidFill>
                  <a:schemeClr val="accent1"/>
                </a:solidFill>
                <a:latin typeface="Cambria" pitchFamily="34" charset="0"/>
                <a:ea typeface="Cambria" pitchFamily="34" charset="-122"/>
                <a:cs typeface="Cambria" pitchFamily="34" charset="-120"/>
              </a:rPr>
              <a:t>203</a:t>
            </a:r>
          </a:p>
        </p:txBody>
      </p:sp>
      <p:sp>
        <p:nvSpPr>
          <p:cNvPr id="8" name="text-58"/>
          <p:cNvSpPr txBox="1"/>
          <p:nvPr/>
        </p:nvSpPr>
        <p:spPr>
          <a:xfrm>
            <a:off x="777240" y="3611880"/>
            <a:ext cx="2103120" cy="365760"/>
          </a:xfrm>
          <a:prstGeom prst="rect">
            <a:avLst/>
          </a:prstGeom>
          <a:noFill/>
          <a:ln/>
        </p:spPr>
        <p:txBody>
          <a:bodyPr wrap="square" lIns="0" tIns="0" rIns="0" bIns="0" rtlCol="0" anchor="t"/>
          <a:lstStyle/>
          <a:p>
            <a:pPr marL="0" indent="0">
              <a:buNone/>
            </a:pPr>
            <a:r>
              <a:rPr lang="en-US" sz="1500" b="1" dirty="0">
                <a:solidFill>
                  <a:schemeClr val="tx1"/>
                </a:solidFill>
              </a:rPr>
              <a:t>unknowns per point</a:t>
            </a:r>
            <a:endParaRPr lang="en-US" sz="1500" dirty="0"/>
          </a:p>
        </p:txBody>
      </p:sp>
      <p:sp>
        <p:nvSpPr>
          <p:cNvPr id="9" name="text-59"/>
          <p:cNvSpPr txBox="1"/>
          <p:nvPr/>
        </p:nvSpPr>
        <p:spPr>
          <a:xfrm>
            <a:off x="777240" y="3977640"/>
            <a:ext cx="2103120" cy="502920"/>
          </a:xfrm>
          <a:prstGeom prst="rect">
            <a:avLst/>
          </a:prstGeom>
          <a:noFill/>
          <a:ln/>
        </p:spPr>
        <p:txBody>
          <a:bodyPr wrap="square" lIns="0" tIns="0" rIns="0" bIns="0" rtlCol="0" anchor="t"/>
          <a:lstStyle/>
          <a:p>
            <a:pPr marL="0" indent="0">
              <a:buNone/>
            </a:pPr>
            <a:r>
              <a:rPr lang="en-US" sz="1200" dirty="0">
                <a:solidFill>
                  <a:schemeClr val="accent5"/>
                </a:solidFill>
              </a:rPr>
              <a:t>201 nodal angles + 2 multipliers</a:t>
            </a:r>
          </a:p>
        </p:txBody>
      </p:sp>
      <p:sp>
        <p:nvSpPr>
          <p:cNvPr id="10" name="card-60"/>
          <p:cNvSpPr/>
          <p:nvPr/>
        </p:nvSpPr>
        <p:spPr>
          <a:xfrm>
            <a:off x="3383280" y="2697480"/>
            <a:ext cx="2560320" cy="1920240"/>
          </a:xfrm>
          <a:prstGeom prst="roundRect">
            <a:avLst>
              <a:gd name="adj" fmla="val 3810"/>
            </a:avLst>
          </a:prstGeom>
          <a:solidFill>
            <a:schemeClr val="bg2"/>
          </a:solidFill>
          <a:ln/>
        </p:spPr>
        <p:txBody>
          <a:bodyPr/>
          <a:lstStyle/>
          <a:p>
            <a:endParaRPr lang="en-IN"/>
          </a:p>
        </p:txBody>
      </p:sp>
      <p:sp>
        <p:nvSpPr>
          <p:cNvPr id="11" name="text-61"/>
          <p:cNvSpPr txBox="1"/>
          <p:nvPr/>
        </p:nvSpPr>
        <p:spPr>
          <a:xfrm>
            <a:off x="3611880" y="2834640"/>
            <a:ext cx="2103120" cy="77724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LU</a:t>
            </a:r>
            <a:endParaRPr lang="en-US" sz="3600" dirty="0"/>
          </a:p>
        </p:txBody>
      </p:sp>
      <p:sp>
        <p:nvSpPr>
          <p:cNvPr id="12" name="text-62"/>
          <p:cNvSpPr txBox="1"/>
          <p:nvPr/>
        </p:nvSpPr>
        <p:spPr>
          <a:xfrm>
            <a:off x="3611880" y="3611880"/>
            <a:ext cx="2103120" cy="365760"/>
          </a:xfrm>
          <a:prstGeom prst="rect">
            <a:avLst/>
          </a:prstGeom>
          <a:noFill/>
          <a:ln/>
        </p:spPr>
        <p:txBody>
          <a:bodyPr wrap="square" lIns="0" tIns="0" rIns="0" bIns="0" rtlCol="0" anchor="t"/>
          <a:lstStyle/>
          <a:p>
            <a:pPr marL="0" indent="0">
              <a:buNone/>
            </a:pPr>
            <a:r>
              <a:rPr lang="en-US" sz="1500" b="1" dirty="0">
                <a:solidFill>
                  <a:schemeClr val="tx1"/>
                </a:solidFill>
              </a:rPr>
              <a:t>MUMPS direct solve</a:t>
            </a:r>
            <a:endParaRPr lang="en-US" sz="1500" dirty="0"/>
          </a:p>
        </p:txBody>
      </p:sp>
      <p:sp>
        <p:nvSpPr>
          <p:cNvPr id="13" name="text-63"/>
          <p:cNvSpPr txBox="1"/>
          <p:nvPr/>
        </p:nvSpPr>
        <p:spPr>
          <a:xfrm>
            <a:off x="3611880" y="3977640"/>
            <a:ext cx="2103120" cy="502920"/>
          </a:xfrm>
          <a:prstGeom prst="rect">
            <a:avLst/>
          </a:prstGeom>
          <a:noFill/>
          <a:ln/>
        </p:spPr>
        <p:txBody>
          <a:bodyPr wrap="square" lIns="0" tIns="0" rIns="0" bIns="0" rtlCol="0" anchor="t"/>
          <a:lstStyle/>
          <a:p>
            <a:pPr marL="0" indent="0">
              <a:buNone/>
            </a:pPr>
            <a:r>
              <a:rPr lang="en-US" sz="1200" dirty="0">
                <a:solidFill>
                  <a:schemeClr val="accent5"/>
                </a:solidFill>
              </a:rPr>
              <a:t>KSP preonly: exact linear steps</a:t>
            </a:r>
            <a:endParaRPr lang="en-US" sz="1200" dirty="0"/>
          </a:p>
        </p:txBody>
      </p:sp>
      <p:sp>
        <p:nvSpPr>
          <p:cNvPr id="14" name="card-64"/>
          <p:cNvSpPr/>
          <p:nvPr/>
        </p:nvSpPr>
        <p:spPr>
          <a:xfrm>
            <a:off x="6217920" y="2697480"/>
            <a:ext cx="2560320" cy="1920240"/>
          </a:xfrm>
          <a:prstGeom prst="roundRect">
            <a:avLst>
              <a:gd name="adj" fmla="val 3810"/>
            </a:avLst>
          </a:prstGeom>
          <a:solidFill>
            <a:schemeClr val="bg2"/>
          </a:solidFill>
          <a:ln/>
        </p:spPr>
        <p:txBody>
          <a:bodyPr/>
          <a:lstStyle/>
          <a:p>
            <a:endParaRPr lang="en-IN"/>
          </a:p>
        </p:txBody>
      </p:sp>
      <p:sp>
        <p:nvSpPr>
          <p:cNvPr id="15" name="text-65"/>
          <p:cNvSpPr txBox="1"/>
          <p:nvPr/>
        </p:nvSpPr>
        <p:spPr>
          <a:xfrm>
            <a:off x="6446520" y="2834640"/>
            <a:ext cx="2103120" cy="77724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10⁻¹⁰</a:t>
            </a:r>
            <a:endParaRPr lang="en-US" sz="3600" dirty="0"/>
          </a:p>
        </p:txBody>
      </p:sp>
      <p:sp>
        <p:nvSpPr>
          <p:cNvPr id="16" name="text-66"/>
          <p:cNvSpPr txBox="1"/>
          <p:nvPr/>
        </p:nvSpPr>
        <p:spPr>
          <a:xfrm>
            <a:off x="6446520" y="3611880"/>
            <a:ext cx="2103120" cy="365760"/>
          </a:xfrm>
          <a:prstGeom prst="rect">
            <a:avLst/>
          </a:prstGeom>
          <a:noFill/>
          <a:ln/>
        </p:spPr>
        <p:txBody>
          <a:bodyPr wrap="square" lIns="0" tIns="0" rIns="0" bIns="0" rtlCol="0" anchor="t"/>
          <a:lstStyle/>
          <a:p>
            <a:pPr marL="0" indent="0">
              <a:buNone/>
            </a:pPr>
            <a:r>
              <a:rPr lang="en-US" sz="1500" b="1" dirty="0">
                <a:solidFill>
                  <a:schemeClr val="tx1"/>
                </a:solidFill>
              </a:rPr>
              <a:t>relative tolerance</a:t>
            </a:r>
            <a:endParaRPr lang="en-US" sz="1500" dirty="0"/>
          </a:p>
        </p:txBody>
      </p:sp>
      <p:sp>
        <p:nvSpPr>
          <p:cNvPr id="17" name="text-67"/>
          <p:cNvSpPr txBox="1"/>
          <p:nvPr/>
        </p:nvSpPr>
        <p:spPr>
          <a:xfrm>
            <a:off x="6446520" y="3977640"/>
            <a:ext cx="2103120" cy="502920"/>
          </a:xfrm>
          <a:prstGeom prst="rect">
            <a:avLst/>
          </a:prstGeom>
          <a:noFill/>
          <a:ln/>
        </p:spPr>
        <p:txBody>
          <a:bodyPr wrap="square" lIns="0" tIns="0" rIns="0" bIns="0" rtlCol="0" anchor="t"/>
          <a:lstStyle/>
          <a:p>
            <a:pPr marL="0" indent="0">
              <a:buNone/>
            </a:pPr>
            <a:r>
              <a:rPr lang="en-US" sz="1200" dirty="0">
                <a:solidFill>
                  <a:schemeClr val="accent5"/>
                </a:solidFill>
              </a:rPr>
              <a:t>absolute 10⁻¹²</a:t>
            </a:r>
            <a:endParaRPr lang="en-US" sz="1200" dirty="0"/>
          </a:p>
        </p:txBody>
      </p:sp>
      <p:sp>
        <p:nvSpPr>
          <p:cNvPr id="18" name="card-68"/>
          <p:cNvSpPr/>
          <p:nvPr/>
        </p:nvSpPr>
        <p:spPr>
          <a:xfrm>
            <a:off x="9052560" y="2697480"/>
            <a:ext cx="2560320" cy="1920240"/>
          </a:xfrm>
          <a:prstGeom prst="roundRect">
            <a:avLst>
              <a:gd name="adj" fmla="val 3810"/>
            </a:avLst>
          </a:prstGeom>
          <a:solidFill>
            <a:schemeClr val="bg2"/>
          </a:solidFill>
          <a:ln/>
        </p:spPr>
        <p:txBody>
          <a:bodyPr/>
          <a:lstStyle/>
          <a:p>
            <a:endParaRPr lang="en-IN"/>
          </a:p>
        </p:txBody>
      </p:sp>
      <p:sp>
        <p:nvSpPr>
          <p:cNvPr id="19" name="text-69"/>
          <p:cNvSpPr txBox="1"/>
          <p:nvPr/>
        </p:nvSpPr>
        <p:spPr>
          <a:xfrm>
            <a:off x="9281160" y="2834640"/>
            <a:ext cx="2103120" cy="777240"/>
          </a:xfrm>
          <a:prstGeom prst="rect">
            <a:avLst/>
          </a:prstGeom>
          <a:noFill/>
          <a:ln/>
        </p:spPr>
        <p:txBody>
          <a:bodyPr wrap="square" lIns="0" tIns="0" rIns="0" bIns="0" rtlCol="0" anchor="t"/>
          <a:lstStyle/>
          <a:p>
            <a:pPr marL="0" indent="0">
              <a:buNone/>
            </a:pPr>
            <a:r>
              <a:rPr lang="en-US" sz="3600" dirty="0">
                <a:solidFill>
                  <a:schemeClr val="accent1"/>
                </a:solidFill>
                <a:latin typeface="Cambria" pitchFamily="34" charset="0"/>
                <a:ea typeface="Cambria" pitchFamily="34" charset="-122"/>
                <a:cs typeface="Cambria" pitchFamily="34" charset="-120"/>
              </a:rPr>
              <a:t>50</a:t>
            </a:r>
          </a:p>
        </p:txBody>
      </p:sp>
      <p:sp>
        <p:nvSpPr>
          <p:cNvPr id="20" name="text-70"/>
          <p:cNvSpPr txBox="1"/>
          <p:nvPr/>
        </p:nvSpPr>
        <p:spPr>
          <a:xfrm>
            <a:off x="9281160" y="3611880"/>
            <a:ext cx="2103120" cy="365760"/>
          </a:xfrm>
          <a:prstGeom prst="rect">
            <a:avLst/>
          </a:prstGeom>
          <a:noFill/>
          <a:ln/>
        </p:spPr>
        <p:txBody>
          <a:bodyPr wrap="square" lIns="0" tIns="0" rIns="0" bIns="0" rtlCol="0" anchor="t"/>
          <a:lstStyle/>
          <a:p>
            <a:pPr marL="0" indent="0">
              <a:buNone/>
            </a:pPr>
            <a:r>
              <a:rPr lang="en-US" sz="1500" dirty="0">
                <a:solidFill>
                  <a:schemeClr val="tx1"/>
                </a:solidFill>
              </a:rPr>
              <a:t>max Newton its</a:t>
            </a:r>
          </a:p>
        </p:txBody>
      </p:sp>
      <p:sp>
        <p:nvSpPr>
          <p:cNvPr id="21" name="text-71"/>
          <p:cNvSpPr txBox="1"/>
          <p:nvPr/>
        </p:nvSpPr>
        <p:spPr>
          <a:xfrm>
            <a:off x="9281160" y="3977640"/>
            <a:ext cx="2103120" cy="502920"/>
          </a:xfrm>
          <a:prstGeom prst="rect">
            <a:avLst/>
          </a:prstGeom>
          <a:noFill/>
          <a:ln/>
        </p:spPr>
        <p:txBody>
          <a:bodyPr wrap="square" lIns="0" tIns="0" rIns="0" bIns="0" rtlCol="0" anchor="t"/>
          <a:lstStyle>
            <a:lvl1pPr indent="0">
              <a:buNone/>
              <a:defRPr sz="1200">
                <a:solidFill>
                  <a:schemeClr val="accent5"/>
                </a:solidFill>
              </a:defRPr>
            </a:lvl1pPr>
          </a:lstStyle>
          <a:p>
            <a:r>
              <a:rPr lang="en-US" dirty="0"/>
              <a:t>per warm start; more counts as a failure</a:t>
            </a:r>
          </a:p>
        </p:txBody>
      </p:sp>
      <p:sp>
        <p:nvSpPr>
          <p:cNvPr id="22" name="text-72"/>
          <p:cNvSpPr txBox="1"/>
          <p:nvPr/>
        </p:nvSpPr>
        <p:spPr>
          <a:xfrm>
            <a:off x="548640" y="4892040"/>
            <a:ext cx="11064240" cy="1097280"/>
          </a:xfrm>
          <a:prstGeom prst="rect">
            <a:avLst/>
          </a:prstGeom>
          <a:noFill/>
          <a:ln/>
        </p:spPr>
        <p:txBody>
          <a:bodyPr wrap="square" lIns="0" tIns="0" rIns="0" bIns="0" rtlCol="0" anchor="t"/>
          <a:lstStyle/>
          <a:p>
            <a:pPr marL="0" indent="0">
              <a:buNone/>
            </a:pPr>
            <a:r>
              <a:rPr lang="en-US" sz="1600" dirty="0">
                <a:solidFill>
                  <a:schemeClr val="tx2"/>
                </a:solidFill>
              </a:rPr>
              <a:t>At a fold of the solution branch, the Jacobian becomes singular, so the snap surface is exactly where the Newton solver fails, and where the continuation logic has to take over.</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097280"/>
          </a:xfrm>
          <a:prstGeom prst="rect">
            <a:avLst/>
          </a:prstGeom>
          <a:noFill/>
          <a:ln/>
        </p:spPr>
        <p:txBody>
          <a:bodyPr wrap="square" lIns="0" tIns="0" rIns="0" bIns="0" rtlCol="0" anchor="b"/>
          <a:lstStyle/>
          <a:p>
            <a:pPr marL="0" indent="0" algn="l">
              <a:buNone/>
            </a:pPr>
            <a:r>
              <a:rPr lang="en-US" sz="4000" b="1" dirty="0">
                <a:solidFill>
                  <a:schemeClr val="bg1"/>
                </a:solidFill>
              </a:rPr>
              <a:t>The snap surface</a:t>
            </a:r>
            <a:endParaRPr lang="en-US" sz="4000" dirty="0"/>
          </a:p>
        </p:txBody>
      </p:sp>
      <p:sp>
        <p:nvSpPr>
          <p:cNvPr id="3" name="Text 0"/>
          <p:cNvSpPr>
            <a:spLocks noGrp="1"/>
          </p:cNvSpPr>
          <p:nvPr>
            <p:ph type="body" idx="101" hasCustomPrompt="1"/>
          </p:nvPr>
        </p:nvSpPr>
        <p:spPr>
          <a:xfrm>
            <a:off x="822960" y="3657600"/>
            <a:ext cx="10515600" cy="822960"/>
          </a:xfrm>
          <a:prstGeom prst="rect">
            <a:avLst/>
          </a:prstGeom>
          <a:noFill/>
          <a:ln/>
        </p:spPr>
        <p:txBody>
          <a:bodyPr wrap="square" lIns="0" tIns="0" rIns="0" bIns="0" rtlCol="0" anchor="t"/>
          <a:lstStyle/>
          <a:p>
            <a:pPr marL="0" indent="0">
              <a:buNone/>
            </a:pPr>
            <a:r>
              <a:rPr lang="en-US" sz="2000" dirty="0">
                <a:solidFill>
                  <a:schemeClr val="accent1"/>
                </a:solidFill>
              </a:rPr>
              <a:t>Where the equilibrium jumps from one branch to another</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Two equilibria 0.01 rad apart: the rod has snapped</a:t>
            </a:r>
            <a:endParaRPr lang="en-US" sz="3000" dirty="0"/>
          </a:p>
        </p:txBody>
      </p:sp>
      <p:pic>
        <p:nvPicPr>
          <p:cNvPr id="3" name="figure-84" descr="Two rod shapes at d = 0.90, phi2 = 0, either side of the snap"/>
          <p:cNvPicPr>
            <a:picLocks noChangeAspect="1"/>
          </p:cNvPicPr>
          <p:nvPr/>
        </p:nvPicPr>
        <p:blipFill>
          <a:blip r:embed="rId3"/>
          <a:stretch>
            <a:fillRect/>
          </a:stretch>
        </p:blipFill>
        <p:spPr>
          <a:xfrm>
            <a:off x="365760" y="1762507"/>
            <a:ext cx="6035040" cy="3072733"/>
          </a:xfrm>
          <a:prstGeom prst="rect">
            <a:avLst/>
          </a:prstGeom>
        </p:spPr>
      </p:pic>
      <p:sp>
        <p:nvSpPr>
          <p:cNvPr id="4" name="text-85"/>
          <p:cNvSpPr txBox="1"/>
          <p:nvPr/>
        </p:nvSpPr>
        <p:spPr>
          <a:xfrm>
            <a:off x="548640" y="5394960"/>
            <a:ext cx="5669280" cy="365760"/>
          </a:xfrm>
          <a:prstGeom prst="rect">
            <a:avLst/>
          </a:prstGeom>
          <a:noFill/>
          <a:ln/>
        </p:spPr>
        <p:txBody>
          <a:bodyPr wrap="square" lIns="0" tIns="0" rIns="0" bIns="0" rtlCol="0" anchor="t"/>
          <a:lstStyle/>
          <a:p>
            <a:pPr marL="0" indent="0">
              <a:buNone/>
            </a:pPr>
            <a:r>
              <a:rPr lang="en-US" sz="1100" i="1" dirty="0">
                <a:solidFill>
                  <a:schemeClr val="accent5"/>
                </a:solidFill>
              </a:rPr>
              <a:t>d = 0.90, φ₂ = 0, production run. Converged solutions on either side of the jump.</a:t>
            </a:r>
          </a:p>
        </p:txBody>
      </p:sp>
      <p:sp>
        <p:nvSpPr>
          <p:cNvPr id="5" name="text-86"/>
          <p:cNvSpPr txBox="1"/>
          <p:nvPr/>
        </p:nvSpPr>
        <p:spPr>
          <a:xfrm>
            <a:off x="6766560" y="1463040"/>
            <a:ext cx="4846320" cy="411480"/>
          </a:xfrm>
          <a:prstGeom prst="rect">
            <a:avLst/>
          </a:prstGeom>
          <a:noFill/>
          <a:ln/>
        </p:spPr>
        <p:txBody>
          <a:bodyPr wrap="square" lIns="0" tIns="0" rIns="0" bIns="0" rtlCol="0" anchor="t"/>
          <a:lstStyle/>
          <a:p>
            <a:pPr marL="0" indent="0">
              <a:buNone/>
            </a:pPr>
            <a:r>
              <a:rPr lang="en-US" sz="1900" b="1" dirty="0">
                <a:solidFill>
                  <a:schemeClr val="accent1"/>
                </a:solidFill>
              </a:rPr>
              <a:t>Why Newton struggles here</a:t>
            </a:r>
            <a:endParaRPr lang="en-US" sz="1900" dirty="0"/>
          </a:p>
        </p:txBody>
      </p:sp>
      <p:sp>
        <p:nvSpPr>
          <p:cNvPr id="6" name="badge-87"/>
          <p:cNvSpPr/>
          <p:nvPr/>
        </p:nvSpPr>
        <p:spPr>
          <a:xfrm>
            <a:off x="6766560" y="2148840"/>
            <a:ext cx="384048" cy="384048"/>
          </a:xfrm>
          <a:prstGeom prst="ellipse">
            <a:avLst/>
          </a:prstGeom>
          <a:solidFill>
            <a:schemeClr val="accent1"/>
          </a:solidFill>
          <a:ln/>
        </p:spPr>
        <p:txBody>
          <a:bodyPr/>
          <a:lstStyle/>
          <a:p>
            <a:endParaRPr lang="en-IN"/>
          </a:p>
        </p:txBody>
      </p:sp>
      <p:sp>
        <p:nvSpPr>
          <p:cNvPr id="7" name="badge-label-88"/>
          <p:cNvSpPr txBox="1"/>
          <p:nvPr/>
        </p:nvSpPr>
        <p:spPr>
          <a:xfrm>
            <a:off x="6766560" y="21488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step-89"/>
          <p:cNvSpPr txBox="1"/>
          <p:nvPr/>
        </p:nvSpPr>
        <p:spPr>
          <a:xfrm>
            <a:off x="7315200" y="2121408"/>
            <a:ext cx="4297680" cy="1143000"/>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Fold</a:t>
            </a:r>
            <a:endParaRPr lang="en-US" sz="1500" dirty="0"/>
          </a:p>
          <a:p>
            <a:pPr marL="0" indent="0">
              <a:spcAft>
                <a:spcPts val="200"/>
              </a:spcAft>
              <a:buNone/>
            </a:pPr>
            <a:r>
              <a:rPr lang="en-US" sz="1500" dirty="0">
                <a:solidFill>
                  <a:schemeClr val="tx1"/>
                </a:solidFill>
              </a:rPr>
              <a:t>The branch ends; the Jacobian goes singular and Newton steps blow up.</a:t>
            </a:r>
            <a:endParaRPr lang="en-US" sz="1500" dirty="0"/>
          </a:p>
        </p:txBody>
      </p:sp>
      <p:sp>
        <p:nvSpPr>
          <p:cNvPr id="9" name="badge-90"/>
          <p:cNvSpPr/>
          <p:nvPr/>
        </p:nvSpPr>
        <p:spPr>
          <a:xfrm>
            <a:off x="6766560" y="3383280"/>
            <a:ext cx="384048" cy="384048"/>
          </a:xfrm>
          <a:prstGeom prst="ellipse">
            <a:avLst/>
          </a:prstGeom>
          <a:solidFill>
            <a:schemeClr val="accent1"/>
          </a:solidFill>
          <a:ln/>
        </p:spPr>
        <p:txBody>
          <a:bodyPr/>
          <a:lstStyle/>
          <a:p>
            <a:endParaRPr lang="en-IN"/>
          </a:p>
        </p:txBody>
      </p:sp>
      <p:sp>
        <p:nvSpPr>
          <p:cNvPr id="10" name="badge-label-91"/>
          <p:cNvSpPr txBox="1"/>
          <p:nvPr/>
        </p:nvSpPr>
        <p:spPr>
          <a:xfrm>
            <a:off x="6766560" y="33832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step-92"/>
          <p:cNvSpPr txBox="1"/>
          <p:nvPr/>
        </p:nvSpPr>
        <p:spPr>
          <a:xfrm>
            <a:off x="7315200" y="3355848"/>
            <a:ext cx="4297680" cy="1143000"/>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Silent branch switch</a:t>
            </a:r>
            <a:endParaRPr lang="en-US" sz="1500" dirty="0"/>
          </a:p>
          <a:p>
            <a:pPr marL="0" indent="0">
              <a:spcAft>
                <a:spcPts val="200"/>
              </a:spcAft>
              <a:buNone/>
            </a:pPr>
            <a:r>
              <a:rPr lang="en-US" sz="1500" dirty="0">
                <a:solidFill>
                  <a:schemeClr val="tx1"/>
                </a:solidFill>
              </a:rPr>
              <a:t>A warm start from one side converges, but to the other branch.</a:t>
            </a:r>
            <a:endParaRPr lang="en-US" sz="1500" dirty="0"/>
          </a:p>
        </p:txBody>
      </p:sp>
      <p:sp>
        <p:nvSpPr>
          <p:cNvPr id="12" name="badge-93"/>
          <p:cNvSpPr/>
          <p:nvPr/>
        </p:nvSpPr>
        <p:spPr>
          <a:xfrm>
            <a:off x="6766560" y="4617720"/>
            <a:ext cx="384048" cy="384048"/>
          </a:xfrm>
          <a:prstGeom prst="ellipse">
            <a:avLst/>
          </a:prstGeom>
          <a:solidFill>
            <a:schemeClr val="accent1"/>
          </a:solidFill>
          <a:ln/>
        </p:spPr>
        <p:txBody>
          <a:bodyPr/>
          <a:lstStyle/>
          <a:p>
            <a:endParaRPr lang="en-IN"/>
          </a:p>
        </p:txBody>
      </p:sp>
      <p:sp>
        <p:nvSpPr>
          <p:cNvPr id="13" name="badge-label-94"/>
          <p:cNvSpPr txBox="1"/>
          <p:nvPr/>
        </p:nvSpPr>
        <p:spPr>
          <a:xfrm>
            <a:off x="6766560" y="46177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step-95"/>
          <p:cNvSpPr txBox="1"/>
          <p:nvPr/>
        </p:nvSpPr>
        <p:spPr>
          <a:xfrm>
            <a:off x="7315200" y="4590288"/>
            <a:ext cx="4297680" cy="1143000"/>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Residual can't tell</a:t>
            </a:r>
            <a:endParaRPr lang="en-US" sz="1500" dirty="0"/>
          </a:p>
          <a:p>
            <a:pPr marL="0" indent="0">
              <a:spcAft>
                <a:spcPts val="200"/>
              </a:spcAft>
              <a:buNone/>
            </a:pPr>
            <a:r>
              <a:rPr lang="en-US" sz="1500" dirty="0">
                <a:solidFill>
                  <a:schemeClr val="tx1"/>
                </a:solidFill>
              </a:rPr>
              <a:t>Both sides meet 10⁻¹⁰, so convergence alone says nothing about which branch you are 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Buckling-mode projection">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Bent up or bent down: the first buckling mode decides</a:t>
            </a:r>
            <a:endParaRPr lang="en-US" sz="3000" dirty="0"/>
          </a:p>
        </p:txBody>
      </p:sp>
      <p:pic>
        <p:nvPicPr>
          <p:cNvPr id="401" name="figure-401" descr="Bent-up, bent-down and S-shaped rods at d = 0.90 with their projection p, and the first mode"/>
          <p:cNvPicPr>
            <a:picLocks noChangeAspect="1"/>
          </p:cNvPicPr>
          <p:nvPr/>
        </p:nvPicPr>
        <p:blipFill>
          <a:blip r:embed="rId3"/>
          <a:stretch>
            <a:fillRect/>
          </a:stretch>
        </p:blipFill>
        <p:spPr>
          <a:xfrm>
            <a:off x="411480" y="1941694"/>
            <a:ext cx="5669280" cy="3660411"/>
          </a:xfrm>
          <a:prstGeom prst="rect">
            <a:avLst/>
          </a:prstGeom>
        </p:spPr>
      </p:pic>
      <p:sp>
        <p:nvSpPr>
          <p:cNvPr id="402" name="card-402"/>
          <p:cNvSpPr/>
          <p:nvPr/>
        </p:nvSpPr>
        <p:spPr>
          <a:xfrm>
            <a:off x="6355080" y="1417320"/>
            <a:ext cx="5257800" cy="160020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403" name="latex-p"/>
              <p:cNvSpPr txBox="1"/>
              <p:nvPr/>
            </p:nvSpPr>
            <p:spPr>
              <a:xfrm>
                <a:off x="6583680" y="1525524"/>
                <a:ext cx="2002536" cy="688848"/>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800" i="1" dirty="0">
                          <a:solidFill>
                            <a:schemeClr val="tx1"/>
                          </a:solidFill>
                          <a:latin typeface="Cambria Math" panose="02040503050406030204" pitchFamily="18" charset="0"/>
                        </a:rPr>
                        <m:t>𝑝</m:t>
                      </m:r>
                      <m:r>
                        <a:rPr lang="en-US" sz="1800" i="1" dirty="0">
                          <a:solidFill>
                            <a:schemeClr val="tx1"/>
                          </a:solidFill>
                          <a:latin typeface="Cambria Math" panose="02040503050406030204" pitchFamily="18" charset="0"/>
                        </a:rPr>
                        <m:t>=</m:t>
                      </m:r>
                      <m:f>
                        <m:fPr>
                          <m:ctrlPr>
                            <a:rPr lang="en-US" sz="1800" i="1" dirty="0">
                              <a:solidFill>
                                <a:schemeClr val="tx1"/>
                              </a:solidFill>
                              <a:latin typeface="Cambria Math" panose="02040503050406030204" pitchFamily="18" charset="0"/>
                            </a:rPr>
                          </m:ctrlPr>
                        </m:fPr>
                        <m:num>
                          <m:r>
                            <a:rPr lang="en-US" sz="1800" i="1" dirty="0">
                              <a:solidFill>
                                <a:schemeClr val="tx1"/>
                              </a:solidFill>
                              <a:latin typeface="Cambria Math" panose="02040503050406030204" pitchFamily="18" charset="0"/>
                            </a:rPr>
                            <m:t>1</m:t>
                          </m:r>
                        </m:num>
                        <m:den>
                          <m:r>
                            <a:rPr lang="en-US" sz="1800" i="1" dirty="0">
                              <a:solidFill>
                                <a:schemeClr val="tx1"/>
                              </a:solidFill>
                              <a:latin typeface="Cambria Math" panose="02040503050406030204" pitchFamily="18" charset="0"/>
                            </a:rPr>
                            <m:t>‖</m:t>
                          </m:r>
                          <m:sSub>
                            <m:sSubPr>
                              <m:ctrlPr>
                                <a:rPr lang="en-US" sz="1800" i="1" dirty="0">
                                  <a:solidFill>
                                    <a:schemeClr val="tx1"/>
                                  </a:solidFill>
                                  <a:latin typeface="Cambria Math" panose="02040503050406030204" pitchFamily="18" charset="0"/>
                                </a:rPr>
                              </m:ctrlPr>
                            </m:sSubPr>
                            <m:e>
                              <m:r>
                                <a:rPr lang="en-US" sz="1800" i="1" dirty="0">
                                  <a:solidFill>
                                    <a:schemeClr val="tx1"/>
                                  </a:solidFill>
                                  <a:latin typeface="Cambria Math" panose="02040503050406030204" pitchFamily="18" charset="0"/>
                                </a:rPr>
                                <m:t>𝑤</m:t>
                              </m:r>
                            </m:e>
                            <m:sub>
                              <m:r>
                                <a:rPr lang="en-US" sz="1800" i="1" dirty="0">
                                  <a:solidFill>
                                    <a:schemeClr val="tx1"/>
                                  </a:solidFill>
                                  <a:latin typeface="Cambria Math" panose="02040503050406030204" pitchFamily="18" charset="0"/>
                                </a:rPr>
                                <m:t>1</m:t>
                              </m:r>
                            </m:sub>
                          </m:sSub>
                          <m:r>
                            <a:rPr lang="en-US" sz="1800" i="1" dirty="0">
                              <a:solidFill>
                                <a:schemeClr val="tx1"/>
                              </a:solidFill>
                              <a:latin typeface="Cambria Math" panose="02040503050406030204" pitchFamily="18" charset="0"/>
                            </a:rPr>
                            <m:t>‖</m:t>
                          </m:r>
                        </m:den>
                      </m:f>
                      <m:nary>
                        <m:naryPr>
                          <m:limLoc m:val="subSup"/>
                          <m:ctrlPr>
                            <a:rPr lang="en-US" sz="1800" i="1" dirty="0">
                              <a:solidFill>
                                <a:schemeClr val="tx1"/>
                              </a:solidFill>
                              <a:latin typeface="Cambria Math" panose="02040503050406030204" pitchFamily="18" charset="0"/>
                            </a:rPr>
                          </m:ctrlPr>
                        </m:naryPr>
                        <m:sub>
                          <m:r>
                            <a:rPr lang="en-US" sz="1800" i="1" dirty="0">
                              <a:solidFill>
                                <a:schemeClr val="tx1"/>
                              </a:solidFill>
                              <a:latin typeface="Cambria Math" panose="02040503050406030204" pitchFamily="18" charset="0"/>
                            </a:rPr>
                            <m:t>0</m:t>
                          </m:r>
                        </m:sub>
                        <m:sup>
                          <m:r>
                            <a:rPr lang="en-US" sz="1800" i="1" dirty="0">
                              <a:solidFill>
                                <a:schemeClr val="tx1"/>
                              </a:solidFill>
                              <a:latin typeface="Cambria Math" panose="02040503050406030204" pitchFamily="18" charset="0"/>
                            </a:rPr>
                            <m:t>𝐿</m:t>
                          </m:r>
                        </m:sup>
                        <m:e>
                          <m:r>
                            <a:rPr lang="en-US" sz="1800" i="1" dirty="0">
                              <a:solidFill>
                                <a:schemeClr val="tx1"/>
                              </a:solidFill>
                              <a:latin typeface="Cambria Math" panose="02040503050406030204" pitchFamily="18" charset="0"/>
                            </a:rPr>
                            <m:t>𝑦</m:t>
                          </m:r>
                        </m:e>
                      </m:nary>
                      <m:r>
                        <a:rPr lang="en-US" sz="1800" i="1" dirty="0">
                          <a:solidFill>
                            <a:schemeClr val="tx1"/>
                          </a:solidFill>
                          <a:latin typeface="Cambria Math" panose="02040503050406030204" pitchFamily="18" charset="0"/>
                        </a:rPr>
                        <m:t> </m:t>
                      </m:r>
                      <m:sSub>
                        <m:sSubPr>
                          <m:ctrlPr>
                            <a:rPr lang="en-US" sz="1800" i="1" dirty="0">
                              <a:solidFill>
                                <a:schemeClr val="tx1"/>
                              </a:solidFill>
                              <a:latin typeface="Cambria Math" panose="02040503050406030204" pitchFamily="18" charset="0"/>
                            </a:rPr>
                          </m:ctrlPr>
                        </m:sSubPr>
                        <m:e>
                          <m:r>
                            <a:rPr lang="en-US" sz="1800" i="1" dirty="0">
                              <a:solidFill>
                                <a:schemeClr val="tx1"/>
                              </a:solidFill>
                              <a:latin typeface="Cambria Math" panose="02040503050406030204" pitchFamily="18" charset="0"/>
                            </a:rPr>
                            <m:t>𝑤</m:t>
                          </m:r>
                        </m:e>
                        <m:sub>
                          <m:r>
                            <a:rPr lang="en-US" sz="1800" i="1" dirty="0">
                              <a:solidFill>
                                <a:schemeClr val="tx1"/>
                              </a:solidFill>
                              <a:latin typeface="Cambria Math" panose="02040503050406030204" pitchFamily="18" charset="0"/>
                            </a:rPr>
                            <m:t>1</m:t>
                          </m:r>
                        </m:sub>
                      </m:sSub>
                      <m:r>
                        <a:rPr lang="en-US" sz="1800" i="1" dirty="0">
                          <a:solidFill>
                            <a:schemeClr val="tx1"/>
                          </a:solidFill>
                          <a:latin typeface="Cambria Math" panose="02040503050406030204" pitchFamily="18" charset="0"/>
                        </a:rPr>
                        <m:t> </m:t>
                      </m:r>
                      <m:r>
                        <a:rPr lang="en-US" sz="1800" i="1" dirty="0">
                          <a:solidFill>
                            <a:schemeClr val="tx1"/>
                          </a:solidFill>
                          <a:latin typeface="Cambria Math" panose="02040503050406030204" pitchFamily="18" charset="0"/>
                        </a:rPr>
                        <m:t>𝑑𝑠</m:t>
                      </m:r>
                    </m:oMath>
                  </m:oMathPara>
                </a14:m>
                <a:endParaRPr lang="en-US" sz="1800" dirty="0"/>
              </a:p>
            </p:txBody>
          </p:sp>
        </mc:Choice>
        <mc:Fallback xmlns="">
          <p:sp>
            <p:nvSpPr>
              <p:cNvPr id="403" name="latex-p"/>
              <p:cNvSpPr txBox="1">
                <a:spLocks noRot="1" noChangeAspect="1" noMove="1" noResize="1" noEditPoints="1" noAdjustHandles="1" noChangeArrowheads="1" noChangeShapeType="1" noTextEdit="1"/>
              </p:cNvSpPr>
              <p:nvPr/>
            </p:nvSpPr>
            <p:spPr>
              <a:xfrm>
                <a:off x="6583680" y="1525524"/>
                <a:ext cx="2002536" cy="6888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4" name="latex-yw"/>
              <p:cNvSpPr txBox="1"/>
              <p:nvPr/>
            </p:nvSpPr>
            <p:spPr>
              <a:xfrm>
                <a:off x="6583680" y="2321052"/>
                <a:ext cx="3520440" cy="524256"/>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500" i="1" dirty="0">
                          <a:solidFill>
                            <a:schemeClr val="tx1"/>
                          </a:solidFill>
                          <a:latin typeface="Cambria Math" panose="02040503050406030204" pitchFamily="18" charset="0"/>
                        </a:rPr>
                        <m:t>𝑦</m:t>
                      </m:r>
                      <m:r>
                        <a:rPr lang="en-US" sz="1500" i="1" dirty="0">
                          <a:solidFill>
                            <a:schemeClr val="tx1"/>
                          </a:solidFill>
                          <a:latin typeface="Cambria Math" panose="02040503050406030204" pitchFamily="18" charset="0"/>
                        </a:rPr>
                        <m:t>(</m:t>
                      </m:r>
                      <m:r>
                        <a:rPr lang="en-US" sz="1500" i="1" dirty="0">
                          <a:solidFill>
                            <a:schemeClr val="tx1"/>
                          </a:solidFill>
                          <a:latin typeface="Cambria Math" panose="02040503050406030204" pitchFamily="18" charset="0"/>
                        </a:rPr>
                        <m:t>𝑠</m:t>
                      </m:r>
                      <m:r>
                        <a:rPr lang="en-US" sz="1500" i="1" dirty="0">
                          <a:solidFill>
                            <a:schemeClr val="tx1"/>
                          </a:solidFill>
                          <a:latin typeface="Cambria Math" panose="02040503050406030204" pitchFamily="18" charset="0"/>
                        </a:rPr>
                        <m:t>)=</m:t>
                      </m:r>
                      <m:nary>
                        <m:naryPr>
                          <m:limLoc m:val="subSup"/>
                          <m:ctrlPr>
                            <a:rPr lang="en-US" sz="1500" i="1" dirty="0">
                              <a:solidFill>
                                <a:schemeClr val="tx1"/>
                              </a:solidFill>
                              <a:latin typeface="Cambria Math" panose="02040503050406030204" pitchFamily="18" charset="0"/>
                            </a:rPr>
                          </m:ctrlPr>
                        </m:naryPr>
                        <m:sub>
                          <m:r>
                            <a:rPr lang="en-US" sz="1500" i="1" dirty="0">
                              <a:solidFill>
                                <a:schemeClr val="tx1"/>
                              </a:solidFill>
                              <a:latin typeface="Cambria Math" panose="02040503050406030204" pitchFamily="18" charset="0"/>
                            </a:rPr>
                            <m:t>0</m:t>
                          </m:r>
                        </m:sub>
                        <m:sup>
                          <m:r>
                            <a:rPr lang="en-US" sz="1500" i="1" dirty="0">
                              <a:solidFill>
                                <a:schemeClr val="tx1"/>
                              </a:solidFill>
                              <a:latin typeface="Cambria Math" panose="02040503050406030204" pitchFamily="18" charset="0"/>
                            </a:rPr>
                            <m:t>𝑠</m:t>
                          </m:r>
                        </m:sup>
                        <m:e>
                          <m:r>
                            <m:rPr>
                              <m:sty m:val="p"/>
                            </m:rPr>
                            <a:rPr lang="en-US" sz="1500" i="1" dirty="0">
                              <a:solidFill>
                                <a:schemeClr val="tx1"/>
                              </a:solidFill>
                              <a:latin typeface="Cambria Math" panose="02040503050406030204" pitchFamily="18" charset="0"/>
                            </a:rPr>
                            <m:t>sin</m:t>
                          </m:r>
                        </m:e>
                      </m:nary>
                      <m:r>
                        <a:rPr lang="en-US" sz="1500" i="1" dirty="0">
                          <a:solidFill>
                            <a:schemeClr val="tx1"/>
                          </a:solidFill>
                          <a:latin typeface="Cambria Math" panose="02040503050406030204" pitchFamily="18" charset="0"/>
                        </a:rPr>
                        <m:t>𝜃</m:t>
                      </m:r>
                      <m:r>
                        <a:rPr lang="en-US" sz="1500" i="1" dirty="0">
                          <a:solidFill>
                            <a:schemeClr val="tx1"/>
                          </a:solidFill>
                          <a:latin typeface="Cambria Math" panose="02040503050406030204" pitchFamily="18" charset="0"/>
                        </a:rPr>
                        <m:t> </m:t>
                      </m:r>
                      <m:r>
                        <a:rPr lang="en-US" sz="1500" i="1" dirty="0">
                          <a:solidFill>
                            <a:schemeClr val="tx1"/>
                          </a:solidFill>
                          <a:latin typeface="Cambria Math" panose="02040503050406030204" pitchFamily="18" charset="0"/>
                        </a:rPr>
                        <m:t>𝑑𝑡</m:t>
                      </m:r>
                      <m:r>
                        <a:rPr lang="en-US" sz="1500" i="1" dirty="0">
                          <a:solidFill>
                            <a:schemeClr val="tx1"/>
                          </a:solidFill>
                          <a:latin typeface="Cambria Math" panose="02040503050406030204" pitchFamily="18" charset="0"/>
                        </a:rPr>
                        <m:t>,  </m:t>
                      </m:r>
                      <m:sSub>
                        <m:sSubPr>
                          <m:ctrlPr>
                            <a:rPr lang="en-US" sz="1500" i="1" dirty="0">
                              <a:solidFill>
                                <a:schemeClr val="tx1"/>
                              </a:solidFill>
                              <a:latin typeface="Cambria Math" panose="02040503050406030204" pitchFamily="18" charset="0"/>
                            </a:rPr>
                          </m:ctrlPr>
                        </m:sSubPr>
                        <m:e>
                          <m:r>
                            <a:rPr lang="en-US" sz="1500" i="1" dirty="0">
                              <a:solidFill>
                                <a:schemeClr val="tx1"/>
                              </a:solidFill>
                              <a:latin typeface="Cambria Math" panose="02040503050406030204" pitchFamily="18" charset="0"/>
                            </a:rPr>
                            <m:t>𝑤</m:t>
                          </m:r>
                        </m:e>
                        <m:sub>
                          <m:r>
                            <a:rPr lang="en-US" sz="1500" i="1" dirty="0">
                              <a:solidFill>
                                <a:schemeClr val="tx1"/>
                              </a:solidFill>
                              <a:latin typeface="Cambria Math" panose="02040503050406030204" pitchFamily="18" charset="0"/>
                            </a:rPr>
                            <m:t>1</m:t>
                          </m:r>
                        </m:sub>
                      </m:sSub>
                      <m:r>
                        <a:rPr lang="en-US" sz="1500" i="1" dirty="0">
                          <a:solidFill>
                            <a:schemeClr val="tx1"/>
                          </a:solidFill>
                          <a:latin typeface="Cambria Math" panose="02040503050406030204" pitchFamily="18" charset="0"/>
                        </a:rPr>
                        <m:t>(</m:t>
                      </m:r>
                      <m:r>
                        <a:rPr lang="en-US" sz="1500" i="1" dirty="0">
                          <a:solidFill>
                            <a:schemeClr val="tx1"/>
                          </a:solidFill>
                          <a:latin typeface="Cambria Math" panose="02040503050406030204" pitchFamily="18" charset="0"/>
                        </a:rPr>
                        <m:t>𝑠</m:t>
                      </m:r>
                      <m:r>
                        <a:rPr lang="en-US" sz="1500" i="1" dirty="0">
                          <a:solidFill>
                            <a:schemeClr val="tx1"/>
                          </a:solidFill>
                          <a:latin typeface="Cambria Math" panose="02040503050406030204" pitchFamily="18" charset="0"/>
                        </a:rPr>
                        <m:t>)=1−</m:t>
                      </m:r>
                      <m:r>
                        <m:rPr>
                          <m:sty m:val="p"/>
                        </m:rPr>
                        <a:rPr lang="en-US" sz="1500" i="1" dirty="0">
                          <a:solidFill>
                            <a:schemeClr val="tx1"/>
                          </a:solidFill>
                          <a:latin typeface="Cambria Math" panose="02040503050406030204" pitchFamily="18" charset="0"/>
                        </a:rPr>
                        <m:t>cos</m:t>
                      </m:r>
                      <m:f>
                        <m:fPr>
                          <m:ctrlPr>
                            <a:rPr lang="en-US" sz="1500" i="1" dirty="0">
                              <a:solidFill>
                                <a:schemeClr val="tx1"/>
                              </a:solidFill>
                              <a:latin typeface="Cambria Math" panose="02040503050406030204" pitchFamily="18" charset="0"/>
                            </a:rPr>
                          </m:ctrlPr>
                        </m:fPr>
                        <m:num>
                          <m:r>
                            <a:rPr lang="en-US" sz="1500" i="1" dirty="0">
                              <a:solidFill>
                                <a:schemeClr val="tx1"/>
                              </a:solidFill>
                              <a:latin typeface="Cambria Math" panose="02040503050406030204" pitchFamily="18" charset="0"/>
                            </a:rPr>
                            <m:t>2</m:t>
                          </m:r>
                          <m:r>
                            <a:rPr lang="en-US" sz="1500" i="1" dirty="0">
                              <a:solidFill>
                                <a:schemeClr val="tx1"/>
                              </a:solidFill>
                              <a:latin typeface="Cambria Math" panose="02040503050406030204" pitchFamily="18" charset="0"/>
                            </a:rPr>
                            <m:t>𝜋</m:t>
                          </m:r>
                          <m:r>
                            <a:rPr lang="en-US" sz="1500" i="1" dirty="0">
                              <a:solidFill>
                                <a:schemeClr val="tx1"/>
                              </a:solidFill>
                              <a:latin typeface="Cambria Math" panose="02040503050406030204" pitchFamily="18" charset="0"/>
                            </a:rPr>
                            <m:t>𝑠</m:t>
                          </m:r>
                        </m:num>
                        <m:den>
                          <m:r>
                            <a:rPr lang="en-US" sz="1500" i="1" dirty="0">
                              <a:solidFill>
                                <a:schemeClr val="tx1"/>
                              </a:solidFill>
                              <a:latin typeface="Cambria Math" panose="02040503050406030204" pitchFamily="18" charset="0"/>
                            </a:rPr>
                            <m:t>𝐿</m:t>
                          </m:r>
                        </m:den>
                      </m:f>
                    </m:oMath>
                  </m:oMathPara>
                </a14:m>
                <a:endParaRPr lang="en-US" sz="1500" dirty="0"/>
              </a:p>
            </p:txBody>
          </p:sp>
        </mc:Choice>
        <mc:Fallback xmlns="">
          <p:sp>
            <p:nvSpPr>
              <p:cNvPr id="404" name="latex-yw"/>
              <p:cNvSpPr txBox="1">
                <a:spLocks noRot="1" noChangeAspect="1" noMove="1" noResize="1" noEditPoints="1" noAdjustHandles="1" noChangeArrowheads="1" noChangeShapeType="1" noTextEdit="1"/>
              </p:cNvSpPr>
              <p:nvPr/>
            </p:nvSpPr>
            <p:spPr>
              <a:xfrm>
                <a:off x="6583680" y="2321052"/>
                <a:ext cx="3520440" cy="524256"/>
              </a:xfrm>
              <a:prstGeom prst="rect">
                <a:avLst/>
              </a:prstGeom>
              <a:blipFill>
                <a:blip r:embed="rId5"/>
                <a:stretch>
                  <a:fillRect/>
                </a:stretch>
              </a:blipFill>
            </p:spPr>
            <p:txBody>
              <a:bodyPr/>
              <a:lstStyle/>
              <a:p>
                <a:r>
                  <a:rPr lang="en-US">
                    <a:noFill/>
                  </a:rPr>
                  <a:t> </a:t>
                </a:r>
              </a:p>
            </p:txBody>
          </p:sp>
        </mc:Fallback>
      </mc:AlternateContent>
      <p:sp>
        <p:nvSpPr>
          <p:cNvPr id="405" name="badge-405"/>
          <p:cNvSpPr/>
          <p:nvPr/>
        </p:nvSpPr>
        <p:spPr>
          <a:xfrm>
            <a:off x="6355080" y="33192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06" name="step-406"/>
          <p:cNvSpPr txBox="1"/>
          <p:nvPr/>
        </p:nvSpPr>
        <p:spPr>
          <a:xfrm>
            <a:off x="6903720" y="3291840"/>
            <a:ext cx="4709160" cy="86868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First clamped buckling mode</a:t>
            </a:r>
            <a:endParaRPr lang="en-US" sz="1300" dirty="0"/>
          </a:p>
          <a:p>
            <a:pPr marL="0" indent="0" algn="l">
              <a:spcAft>
                <a:spcPts val="200"/>
              </a:spcAft>
              <a:buNone/>
            </a:pPr>
            <a:r>
              <a:rPr lang="en-US" sz="1300" dirty="0">
                <a:solidFill>
                  <a:schemeClr val="tx1"/>
                </a:solidFill>
              </a:rPr>
              <a:t>w₁ is the symmetric hump; the second mode is antisymmetric and carries no up/down information.</a:t>
            </a:r>
            <a:endParaRPr lang="en-US" sz="1300" dirty="0"/>
          </a:p>
        </p:txBody>
      </p:sp>
      <p:sp>
        <p:nvSpPr>
          <p:cNvPr id="407" name="badge-407"/>
          <p:cNvSpPr/>
          <p:nvPr/>
        </p:nvSpPr>
        <p:spPr>
          <a:xfrm>
            <a:off x="6355080" y="427939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08" name="step-408"/>
          <p:cNvSpPr txBox="1"/>
          <p:nvPr/>
        </p:nvSpPr>
        <p:spPr>
          <a:xfrm>
            <a:off x="6903720" y="4251960"/>
            <a:ext cx="4709160" cy="86868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Sign = branch</a:t>
            </a:r>
            <a:endParaRPr lang="en-US" sz="1300" dirty="0"/>
          </a:p>
          <a:p>
            <a:pPr marL="0" indent="0" algn="l">
              <a:spcAft>
                <a:spcPts val="200"/>
              </a:spcAft>
              <a:buNone/>
            </a:pPr>
            <a:r>
              <a:rPr lang="en-US" sz="1300" dirty="0">
                <a:solidFill>
                  <a:schemeClr val="tx1"/>
                </a:solidFill>
              </a:rPr>
              <a:t>p &gt; 0: bent up.  p &lt; 0: bent down.  The S-shape has p ≈ 0.</a:t>
            </a:r>
            <a:endParaRPr lang="en-US" sz="1300" dirty="0"/>
          </a:p>
        </p:txBody>
      </p:sp>
      <p:sp>
        <p:nvSpPr>
          <p:cNvPr id="409" name="badge-409"/>
          <p:cNvSpPr/>
          <p:nvPr/>
        </p:nvSpPr>
        <p:spPr>
          <a:xfrm>
            <a:off x="6355080" y="523951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10" name="step-410"/>
          <p:cNvSpPr txBox="1"/>
          <p:nvPr/>
        </p:nvSpPr>
        <p:spPr>
          <a:xfrm>
            <a:off x="6903720" y="5212080"/>
            <a:ext cx="4709160" cy="86868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Built-in symmetry</a:t>
            </a:r>
            <a:endParaRPr lang="en-US" sz="1300" dirty="0"/>
          </a:p>
          <a:p>
            <a:pPr marL="0" indent="0" algn="l">
              <a:spcAft>
                <a:spcPts val="200"/>
              </a:spcAft>
              <a:buNone/>
            </a:pPr>
            <a:r>
              <a:rPr lang="en-US" sz="1300" dirty="0">
                <a:solidFill>
                  <a:schemeClr val="tx1"/>
                </a:solidFill>
              </a:rPr>
              <a:t>p is unchanged by the mirror (φ₁, φ₂) → (−φ₂, −φ₁) and flips under (φ₁, φ₂) → (−φ₁, −φ₂).</a:t>
            </a:r>
            <a:endParaRPr lang="en-US" sz="130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Jump rule">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A snap is a sign change of p with a jump</a:t>
            </a:r>
            <a:endParaRPr lang="en-US" sz="3000" dirty="0"/>
          </a:p>
        </p:txBody>
      </p:sp>
      <p:pic>
        <p:nvPicPr>
          <p:cNvPr id="401" name="figure-401" descr="Energy and q along phi1 at d = 0.90, phi2 = 0; q jumps from -1.03 to +0.52 at the snap"/>
          <p:cNvPicPr>
            <a:picLocks noChangeAspect="1"/>
          </p:cNvPicPr>
          <p:nvPr/>
        </p:nvPicPr>
        <p:blipFill>
          <a:blip r:embed="rId3"/>
          <a:stretch>
            <a:fillRect/>
          </a:stretch>
        </p:blipFill>
        <p:spPr>
          <a:xfrm>
            <a:off x="411480" y="1502786"/>
            <a:ext cx="5669280" cy="4538228"/>
          </a:xfrm>
          <a:prstGeom prst="rect">
            <a:avLst/>
          </a:prstGeom>
        </p:spPr>
      </p:pic>
      <p:sp>
        <p:nvSpPr>
          <p:cNvPr id="402" name="card-402"/>
          <p:cNvSpPr/>
          <p:nvPr/>
        </p:nvSpPr>
        <p:spPr>
          <a:xfrm>
            <a:off x="6355080" y="1417320"/>
            <a:ext cx="5257800" cy="160020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403" name="latex-q"/>
              <p:cNvSpPr txBox="1"/>
              <p:nvPr/>
            </p:nvSpPr>
            <p:spPr>
              <a:xfrm>
                <a:off x="6583680" y="1543812"/>
                <a:ext cx="853440" cy="515112"/>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800" i="1" dirty="0">
                          <a:solidFill>
                            <a:schemeClr val="tx1"/>
                          </a:solidFill>
                          <a:latin typeface="Cambria Math" panose="02040503050406030204" pitchFamily="18" charset="0"/>
                        </a:rPr>
                        <m:t>𝑞</m:t>
                      </m:r>
                      <m:r>
                        <a:rPr lang="en-US" sz="1800" i="1" dirty="0">
                          <a:solidFill>
                            <a:schemeClr val="tx1"/>
                          </a:solidFill>
                          <a:latin typeface="Cambria Math" panose="02040503050406030204" pitchFamily="18" charset="0"/>
                        </a:rPr>
                        <m:t>=</m:t>
                      </m:r>
                      <m:f>
                        <m:fPr>
                          <m:ctrlPr>
                            <a:rPr lang="en-US" sz="1800" i="1" dirty="0">
                              <a:solidFill>
                                <a:schemeClr val="tx1"/>
                              </a:solidFill>
                              <a:latin typeface="Cambria Math" panose="02040503050406030204" pitchFamily="18" charset="0"/>
                            </a:rPr>
                          </m:ctrlPr>
                        </m:fPr>
                        <m:num>
                          <m:r>
                            <a:rPr lang="en-US" sz="1800" i="1" dirty="0">
                              <a:solidFill>
                                <a:schemeClr val="tx1"/>
                              </a:solidFill>
                              <a:latin typeface="Cambria Math" panose="02040503050406030204" pitchFamily="18" charset="0"/>
                            </a:rPr>
                            <m:t>𝑝</m:t>
                          </m:r>
                        </m:num>
                        <m:den>
                          <m:r>
                            <a:rPr lang="en-US" sz="1800" i="1" dirty="0">
                              <a:solidFill>
                                <a:schemeClr val="tx1"/>
                              </a:solidFill>
                              <a:latin typeface="Cambria Math" panose="02040503050406030204" pitchFamily="18" charset="0"/>
                            </a:rPr>
                            <m:t>𝑎</m:t>
                          </m:r>
                          <m:r>
                            <a:rPr lang="en-US" sz="1800" i="1" dirty="0">
                              <a:solidFill>
                                <a:schemeClr val="tx1"/>
                              </a:solidFill>
                              <a:latin typeface="Cambria Math" panose="02040503050406030204" pitchFamily="18" charset="0"/>
                            </a:rPr>
                            <m:t>(</m:t>
                          </m:r>
                          <m:r>
                            <a:rPr lang="en-US" sz="1800" i="1" dirty="0">
                              <a:solidFill>
                                <a:schemeClr val="tx1"/>
                              </a:solidFill>
                              <a:latin typeface="Cambria Math" panose="02040503050406030204" pitchFamily="18" charset="0"/>
                            </a:rPr>
                            <m:t>𝑑</m:t>
                          </m:r>
                          <m:r>
                            <a:rPr lang="en-US" sz="1800" i="1" dirty="0">
                              <a:solidFill>
                                <a:schemeClr val="tx1"/>
                              </a:solidFill>
                              <a:latin typeface="Cambria Math" panose="02040503050406030204" pitchFamily="18" charset="0"/>
                            </a:rPr>
                            <m:t>)</m:t>
                          </m:r>
                        </m:den>
                      </m:f>
                    </m:oMath>
                  </m:oMathPara>
                </a14:m>
                <a:endParaRPr lang="en-US" sz="1800" dirty="0"/>
              </a:p>
            </p:txBody>
          </p:sp>
        </mc:Choice>
        <mc:Fallback xmlns="">
          <p:sp>
            <p:nvSpPr>
              <p:cNvPr id="403" name="latex-q"/>
              <p:cNvSpPr txBox="1">
                <a:spLocks noRot="1" noChangeAspect="1" noMove="1" noResize="1" noEditPoints="1" noAdjustHandles="1" noChangeArrowheads="1" noChangeShapeType="1" noTextEdit="1"/>
              </p:cNvSpPr>
              <p:nvPr/>
            </p:nvSpPr>
            <p:spPr>
              <a:xfrm>
                <a:off x="6583680" y="1543812"/>
                <a:ext cx="853440" cy="51511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4" name="latex-jump"/>
              <p:cNvSpPr txBox="1"/>
              <p:nvPr/>
            </p:nvSpPr>
            <p:spPr>
              <a:xfrm>
                <a:off x="6583680" y="2302764"/>
                <a:ext cx="3453384" cy="423672"/>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500" i="1" dirty="0">
                          <a:solidFill>
                            <a:schemeClr val="tx1"/>
                          </a:solidFill>
                          <a:latin typeface="Cambria Math" panose="02040503050406030204" pitchFamily="18" charset="0"/>
                        </a:rPr>
                        <m:t>|</m:t>
                      </m:r>
                      <m:r>
                        <m:rPr>
                          <m:sty m:val="p"/>
                        </m:rPr>
                        <a:rPr lang="en-US" sz="1500" i="1" dirty="0">
                          <a:solidFill>
                            <a:schemeClr val="tx1"/>
                          </a:solidFill>
                          <a:latin typeface="Cambria Math" panose="02040503050406030204" pitchFamily="18" charset="0"/>
                        </a:rPr>
                        <m:t>Δ</m:t>
                      </m:r>
                      <m:r>
                        <a:rPr lang="en-US" sz="1500" i="1" dirty="0">
                          <a:solidFill>
                            <a:schemeClr val="tx1"/>
                          </a:solidFill>
                          <a:latin typeface="Cambria Math" panose="02040503050406030204" pitchFamily="18" charset="0"/>
                        </a:rPr>
                        <m:t>𝑞</m:t>
                      </m:r>
                      <m:r>
                        <a:rPr lang="en-US" sz="1500" i="1" dirty="0">
                          <a:solidFill>
                            <a:schemeClr val="tx1"/>
                          </a:solidFill>
                          <a:latin typeface="Cambria Math" panose="02040503050406030204" pitchFamily="18" charset="0"/>
                        </a:rPr>
                        <m:t>|&gt;0.17 </m:t>
                      </m:r>
                      <m:r>
                        <m:rPr>
                          <m:sty m:val="p"/>
                        </m:rPr>
                        <a:rPr lang="en-US" sz="1500" i="1" dirty="0">
                          <a:solidFill>
                            <a:schemeClr val="tx1"/>
                          </a:solidFill>
                          <a:latin typeface="Cambria Math" panose="02040503050406030204" pitchFamily="18" charset="0"/>
                        </a:rPr>
                        <m:t>and</m:t>
                      </m:r>
                      <m:r>
                        <a:rPr lang="en-US" sz="1500" i="1" dirty="0">
                          <a:solidFill>
                            <a:schemeClr val="tx1"/>
                          </a:solidFill>
                          <a:latin typeface="Cambria Math" panose="02040503050406030204" pitchFamily="18" charset="0"/>
                        </a:rPr>
                        <m:t> |</m:t>
                      </m:r>
                      <m:r>
                        <m:rPr>
                          <m:sty m:val="p"/>
                        </m:rPr>
                        <a:rPr lang="en-US" sz="1500" i="1" dirty="0">
                          <a:solidFill>
                            <a:schemeClr val="tx1"/>
                          </a:solidFill>
                          <a:latin typeface="Cambria Math" panose="02040503050406030204" pitchFamily="18" charset="0"/>
                        </a:rPr>
                        <m:t>Δ</m:t>
                      </m:r>
                      <m:r>
                        <a:rPr lang="en-US" sz="1500" i="1" dirty="0">
                          <a:solidFill>
                            <a:schemeClr val="tx1"/>
                          </a:solidFill>
                          <a:latin typeface="Cambria Math" panose="02040503050406030204" pitchFamily="18" charset="0"/>
                        </a:rPr>
                        <m:t>𝑞</m:t>
                      </m:r>
                      <m:r>
                        <a:rPr lang="en-US" sz="1500" i="1" dirty="0">
                          <a:solidFill>
                            <a:schemeClr val="tx1"/>
                          </a:solidFill>
                          <a:latin typeface="Cambria Math" panose="02040503050406030204" pitchFamily="18" charset="0"/>
                        </a:rPr>
                        <m:t>|&gt;</m:t>
                      </m:r>
                      <m:f>
                        <m:fPr>
                          <m:ctrlPr>
                            <a:rPr lang="en-US" sz="1500" i="1" dirty="0">
                              <a:solidFill>
                                <a:schemeClr val="tx1"/>
                              </a:solidFill>
                              <a:latin typeface="Cambria Math" panose="02040503050406030204" pitchFamily="18" charset="0"/>
                            </a:rPr>
                          </m:ctrlPr>
                        </m:fPr>
                        <m:num>
                          <m:r>
                            <a:rPr lang="en-US" sz="1500" i="1" dirty="0">
                              <a:solidFill>
                                <a:schemeClr val="tx1"/>
                              </a:solidFill>
                              <a:latin typeface="Cambria Math" panose="02040503050406030204" pitchFamily="18" charset="0"/>
                            </a:rPr>
                            <m:t>1</m:t>
                          </m:r>
                        </m:num>
                        <m:den>
                          <m:r>
                            <a:rPr lang="en-US" sz="1500" i="1" dirty="0">
                              <a:solidFill>
                                <a:schemeClr val="tx1"/>
                              </a:solidFill>
                              <a:latin typeface="Cambria Math" panose="02040503050406030204" pitchFamily="18" charset="0"/>
                            </a:rPr>
                            <m:t>2</m:t>
                          </m:r>
                        </m:den>
                      </m:f>
                      <m:r>
                        <m:rPr>
                          <m:sty m:val="p"/>
                        </m:rPr>
                        <a:rPr lang="en-US" sz="1500" i="1" dirty="0">
                          <a:solidFill>
                            <a:schemeClr val="tx1"/>
                          </a:solidFill>
                          <a:latin typeface="Cambria Math" panose="02040503050406030204" pitchFamily="18" charset="0"/>
                        </a:rPr>
                        <m:t>max</m:t>
                      </m:r>
                      <m:r>
                        <a:rPr lang="en-US" sz="1500" i="1" dirty="0">
                          <a:solidFill>
                            <a:schemeClr val="tx1"/>
                          </a:solidFill>
                          <a:latin typeface="Cambria Math" panose="02040503050406030204" pitchFamily="18" charset="0"/>
                        </a:rPr>
                        <m:t>(|</m:t>
                      </m:r>
                      <m:sSub>
                        <m:sSubPr>
                          <m:ctrlPr>
                            <a:rPr lang="en-US" sz="1500" i="1" dirty="0">
                              <a:solidFill>
                                <a:schemeClr val="tx1"/>
                              </a:solidFill>
                              <a:latin typeface="Cambria Math" panose="02040503050406030204" pitchFamily="18" charset="0"/>
                            </a:rPr>
                          </m:ctrlPr>
                        </m:sSubPr>
                        <m:e>
                          <m:r>
                            <a:rPr lang="en-US" sz="1500" i="1" dirty="0">
                              <a:solidFill>
                                <a:schemeClr val="tx1"/>
                              </a:solidFill>
                              <a:latin typeface="Cambria Math" panose="02040503050406030204" pitchFamily="18" charset="0"/>
                            </a:rPr>
                            <m:t>𝑞</m:t>
                          </m:r>
                        </m:e>
                        <m:sub>
                          <m:r>
                            <a:rPr lang="en-US" sz="1500" i="1" dirty="0">
                              <a:solidFill>
                                <a:schemeClr val="tx1"/>
                              </a:solidFill>
                              <a:latin typeface="Cambria Math" panose="02040503050406030204" pitchFamily="18" charset="0"/>
                            </a:rPr>
                            <m:t>𝑎</m:t>
                          </m:r>
                        </m:sub>
                      </m:sSub>
                      <m:r>
                        <a:rPr lang="en-US" sz="1500" i="1" dirty="0">
                          <a:solidFill>
                            <a:schemeClr val="tx1"/>
                          </a:solidFill>
                          <a:latin typeface="Cambria Math" panose="02040503050406030204" pitchFamily="18" charset="0"/>
                        </a:rPr>
                        <m:t>|,|</m:t>
                      </m:r>
                      <m:sSub>
                        <m:sSubPr>
                          <m:ctrlPr>
                            <a:rPr lang="en-US" sz="1500" i="1" dirty="0">
                              <a:solidFill>
                                <a:schemeClr val="tx1"/>
                              </a:solidFill>
                              <a:latin typeface="Cambria Math" panose="02040503050406030204" pitchFamily="18" charset="0"/>
                            </a:rPr>
                          </m:ctrlPr>
                        </m:sSubPr>
                        <m:e>
                          <m:r>
                            <a:rPr lang="en-US" sz="1500" i="1" dirty="0">
                              <a:solidFill>
                                <a:schemeClr val="tx1"/>
                              </a:solidFill>
                              <a:latin typeface="Cambria Math" panose="02040503050406030204" pitchFamily="18" charset="0"/>
                            </a:rPr>
                            <m:t>𝑞</m:t>
                          </m:r>
                        </m:e>
                        <m:sub>
                          <m:r>
                            <a:rPr lang="en-US" sz="1500" i="1" dirty="0">
                              <a:solidFill>
                                <a:schemeClr val="tx1"/>
                              </a:solidFill>
                              <a:latin typeface="Cambria Math" panose="02040503050406030204" pitchFamily="18" charset="0"/>
                            </a:rPr>
                            <m:t>𝑏</m:t>
                          </m:r>
                        </m:sub>
                      </m:sSub>
                      <m:r>
                        <a:rPr lang="en-US" sz="1500" i="1" dirty="0">
                          <a:solidFill>
                            <a:schemeClr val="tx1"/>
                          </a:solidFill>
                          <a:latin typeface="Cambria Math" panose="02040503050406030204" pitchFamily="18" charset="0"/>
                        </a:rPr>
                        <m:t>|)</m:t>
                      </m:r>
                    </m:oMath>
                  </m:oMathPara>
                </a14:m>
                <a:endParaRPr lang="en-US" sz="1500" dirty="0"/>
              </a:p>
            </p:txBody>
          </p:sp>
        </mc:Choice>
        <mc:Fallback xmlns="">
          <p:sp>
            <p:nvSpPr>
              <p:cNvPr id="404" name="latex-jump"/>
              <p:cNvSpPr txBox="1">
                <a:spLocks noRot="1" noChangeAspect="1" noMove="1" noResize="1" noEditPoints="1" noAdjustHandles="1" noChangeArrowheads="1" noChangeShapeType="1" noTextEdit="1"/>
              </p:cNvSpPr>
              <p:nvPr/>
            </p:nvSpPr>
            <p:spPr>
              <a:xfrm>
                <a:off x="6583680" y="2302764"/>
                <a:ext cx="3453384" cy="423672"/>
              </a:xfrm>
              <a:prstGeom prst="rect">
                <a:avLst/>
              </a:prstGeom>
              <a:blipFill>
                <a:blip r:embed="rId5"/>
                <a:stretch>
                  <a:fillRect/>
                </a:stretch>
              </a:blipFill>
            </p:spPr>
            <p:txBody>
              <a:bodyPr/>
              <a:lstStyle/>
              <a:p>
                <a:r>
                  <a:rPr lang="en-US">
                    <a:noFill/>
                  </a:rPr>
                  <a:t> </a:t>
                </a:r>
              </a:p>
            </p:txBody>
          </p:sp>
        </mc:Fallback>
      </mc:AlternateContent>
      <p:sp>
        <p:nvSpPr>
          <p:cNvPr id="405" name="badge-405"/>
          <p:cNvSpPr/>
          <p:nvPr/>
        </p:nvSpPr>
        <p:spPr>
          <a:xfrm>
            <a:off x="6355080" y="33192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06" name="step-406"/>
          <p:cNvSpPr txBox="1"/>
          <p:nvPr/>
        </p:nvSpPr>
        <p:spPr>
          <a:xfrm>
            <a:off x="6903720" y="3291840"/>
            <a:ext cx="4709160" cy="86868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Scale out d</a:t>
            </a:r>
            <a:endParaRPr lang="en-US" sz="1300" dirty="0"/>
          </a:p>
          <a:p>
            <a:pPr marL="0" indent="0" algn="l">
              <a:spcAft>
                <a:spcPts val="200"/>
              </a:spcAft>
              <a:buNone/>
            </a:pPr>
            <a:r>
              <a:rPr lang="en-US" sz="1300" dirty="0">
                <a:solidFill>
                  <a:schemeClr val="tx1"/>
                </a:solidFill>
              </a:rPr>
              <a:t>p shrinks like √(1 − d); a(d) is |p| of the exact first mode at (d, 0, 0), so q = ±1 there at every d.</a:t>
            </a:r>
            <a:endParaRPr lang="en-US" sz="1300" dirty="0"/>
          </a:p>
        </p:txBody>
      </p:sp>
      <p:sp>
        <p:nvSpPr>
          <p:cNvPr id="407" name="badge-407"/>
          <p:cNvSpPr/>
          <p:nvPr/>
        </p:nvSpPr>
        <p:spPr>
          <a:xfrm>
            <a:off x="6355080" y="427939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08" name="step-408"/>
          <p:cNvSpPr txBox="1"/>
          <p:nvPr/>
        </p:nvSpPr>
        <p:spPr>
          <a:xfrm>
            <a:off x="6903720" y="4251960"/>
            <a:ext cx="4709160" cy="86868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Snap</a:t>
            </a:r>
            <a:endParaRPr lang="en-US" sz="1300" dirty="0"/>
          </a:p>
          <a:p>
            <a:pPr marL="0" indent="0" algn="l">
              <a:spcAft>
                <a:spcPts val="200"/>
              </a:spcAft>
              <a:buNone/>
            </a:pPr>
            <a:r>
              <a:rPr lang="en-US" sz="1300" dirty="0">
                <a:solidFill>
                  <a:schemeClr val="tx1"/>
                </a:solidFill>
              </a:rPr>
              <a:t>Sign change with a jump: q goes −1.03 → +0.52 in one 0.01 step. Smooth neighbours differ by about 0.003.</a:t>
            </a:r>
            <a:endParaRPr lang="en-US" sz="1300" dirty="0"/>
          </a:p>
        </p:txBody>
      </p:sp>
      <p:sp>
        <p:nvSpPr>
          <p:cNvPr id="409" name="badge-409"/>
          <p:cNvSpPr/>
          <p:nvPr/>
        </p:nvSpPr>
        <p:spPr>
          <a:xfrm>
            <a:off x="6355080" y="523951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10" name="step-410"/>
          <p:cNvSpPr txBox="1"/>
          <p:nvPr/>
        </p:nvSpPr>
        <p:spPr>
          <a:xfrm>
            <a:off x="6903720" y="5212080"/>
            <a:ext cx="4709160" cy="86868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Smooth crossing</a:t>
            </a:r>
            <a:endParaRPr lang="en-US" sz="1300" dirty="0"/>
          </a:p>
          <a:p>
            <a:pPr marL="0" indent="0" algn="l">
              <a:spcAft>
                <a:spcPts val="200"/>
              </a:spcAft>
              <a:buNone/>
            </a:pPr>
            <a:r>
              <a:rPr lang="en-US" sz="1300" dirty="0">
                <a:solidFill>
                  <a:schemeClr val="tx1"/>
                </a:solidFill>
              </a:rPr>
              <a:t>Sign change without a jump, through the S-shape near φ₁ = φ₂. Not a snap.</a:t>
            </a:r>
            <a:endParaRPr lang="en-US" sz="130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Smooth fields, then a jump across an L-shaped surface</a:t>
            </a:r>
            <a:endParaRPr lang="en-US" sz="3000" dirty="0"/>
          </a:p>
        </p:txBody>
      </p:sp>
      <p:pic>
        <p:nvPicPr>
          <p:cNvPr id="3" name="figure-73" descr="Bending energy and axial force on the d = 0.90 layer"/>
          <p:cNvPicPr>
            <a:picLocks noChangeAspect="1"/>
          </p:cNvPicPr>
          <p:nvPr/>
        </p:nvPicPr>
        <p:blipFill>
          <a:blip r:embed="rId3"/>
          <a:stretch>
            <a:fillRect/>
          </a:stretch>
        </p:blipFill>
        <p:spPr>
          <a:xfrm>
            <a:off x="457200" y="1390270"/>
            <a:ext cx="8412480" cy="3633559"/>
          </a:xfrm>
          <a:prstGeom prst="rect">
            <a:avLst/>
          </a:prstGeom>
        </p:spPr>
      </p:pic>
      <p:sp>
        <p:nvSpPr>
          <p:cNvPr id="4" name="text-74"/>
          <p:cNvSpPr txBox="1"/>
          <p:nvPr/>
        </p:nvSpPr>
        <p:spPr>
          <a:xfrm>
            <a:off x="548640" y="5166360"/>
            <a:ext cx="8229600" cy="365760"/>
          </a:xfrm>
          <a:prstGeom prst="rect">
            <a:avLst/>
          </a:prstGeom>
          <a:noFill/>
          <a:ln/>
        </p:spPr>
        <p:txBody>
          <a:bodyPr wrap="square" lIns="0" tIns="0" rIns="0" bIns="0" rtlCol="0" anchor="t"/>
          <a:lstStyle/>
          <a:p>
            <a:pPr marL="0" indent="0">
              <a:buNone/>
            </a:pPr>
            <a:r>
              <a:rPr lang="en-US" sz="1100" i="1" dirty="0">
                <a:solidFill>
                  <a:schemeClr val="accent5"/>
                </a:solidFill>
              </a:rPr>
              <a:t>Production run, d = 0.90 layer: φ₁, φ₂ ∈ [−π/2, π/2], Δφ ≈ 0.01, 99,225 points.</a:t>
            </a:r>
          </a:p>
        </p:txBody>
      </p:sp>
      <p:sp>
        <p:nvSpPr>
          <p:cNvPr id="5" name="card-75"/>
          <p:cNvSpPr/>
          <p:nvPr/>
        </p:nvSpPr>
        <p:spPr>
          <a:xfrm>
            <a:off x="9098280" y="1463040"/>
            <a:ext cx="2514600" cy="1143000"/>
          </a:xfrm>
          <a:prstGeom prst="roundRect">
            <a:avLst>
              <a:gd name="adj" fmla="val 6400"/>
            </a:avLst>
          </a:prstGeom>
          <a:solidFill>
            <a:schemeClr val="bg2"/>
          </a:solidFill>
          <a:ln/>
        </p:spPr>
        <p:txBody>
          <a:bodyPr/>
          <a:lstStyle/>
          <a:p>
            <a:endParaRPr lang="en-IN"/>
          </a:p>
        </p:txBody>
      </p:sp>
      <p:sp>
        <p:nvSpPr>
          <p:cNvPr id="6" name="text-76"/>
          <p:cNvSpPr txBox="1"/>
          <p:nvPr/>
        </p:nvSpPr>
        <p:spPr>
          <a:xfrm>
            <a:off x="9281160" y="1600200"/>
            <a:ext cx="2194560" cy="320040"/>
          </a:xfrm>
          <a:prstGeom prst="rect">
            <a:avLst/>
          </a:prstGeom>
          <a:noFill/>
          <a:ln/>
        </p:spPr>
        <p:txBody>
          <a:bodyPr wrap="square" lIns="0" tIns="0" rIns="0" bIns="0" rtlCol="0" anchor="t"/>
          <a:lstStyle/>
          <a:p>
            <a:pPr marL="0" indent="0">
              <a:buNone/>
            </a:pPr>
            <a:r>
              <a:rPr lang="en-US" sz="1500" b="1" dirty="0">
                <a:solidFill>
                  <a:schemeClr val="accent1"/>
                </a:solidFill>
              </a:rPr>
              <a:t>Smooth interior</a:t>
            </a:r>
            <a:endParaRPr lang="en-US" sz="1500" dirty="0"/>
          </a:p>
        </p:txBody>
      </p:sp>
      <p:sp>
        <p:nvSpPr>
          <p:cNvPr id="7" name="text-77"/>
          <p:cNvSpPr txBox="1"/>
          <p:nvPr/>
        </p:nvSpPr>
        <p:spPr>
          <a:xfrm>
            <a:off x="9281160" y="1920240"/>
            <a:ext cx="2194560" cy="640080"/>
          </a:xfrm>
          <a:prstGeom prst="rect">
            <a:avLst/>
          </a:prstGeom>
          <a:noFill/>
          <a:ln/>
        </p:spPr>
        <p:txBody>
          <a:bodyPr wrap="square" lIns="0" tIns="0" rIns="0" bIns="0" rtlCol="0" anchor="t"/>
          <a:lstStyle/>
          <a:p>
            <a:pPr marL="0" indent="0">
              <a:buNone/>
            </a:pPr>
            <a:r>
              <a:rPr lang="en-US" sz="1300" dirty="0">
                <a:solidFill>
                  <a:schemeClr val="tx1"/>
                </a:solidFill>
              </a:rPr>
              <a:t>Grid neighbours differ by |Δq| ≈ 0.003</a:t>
            </a:r>
          </a:p>
        </p:txBody>
      </p:sp>
      <p:sp>
        <p:nvSpPr>
          <p:cNvPr id="8" name="card-78"/>
          <p:cNvSpPr/>
          <p:nvPr/>
        </p:nvSpPr>
        <p:spPr>
          <a:xfrm>
            <a:off x="9098280" y="2788920"/>
            <a:ext cx="2514600" cy="1143000"/>
          </a:xfrm>
          <a:prstGeom prst="roundRect">
            <a:avLst>
              <a:gd name="adj" fmla="val 6400"/>
            </a:avLst>
          </a:prstGeom>
          <a:solidFill>
            <a:schemeClr val="bg2"/>
          </a:solidFill>
          <a:ln/>
        </p:spPr>
        <p:txBody>
          <a:bodyPr/>
          <a:lstStyle/>
          <a:p>
            <a:endParaRPr lang="en-IN"/>
          </a:p>
        </p:txBody>
      </p:sp>
      <p:sp>
        <p:nvSpPr>
          <p:cNvPr id="9" name="text-79"/>
          <p:cNvSpPr txBox="1"/>
          <p:nvPr/>
        </p:nvSpPr>
        <p:spPr>
          <a:xfrm>
            <a:off x="9281160" y="2926080"/>
            <a:ext cx="2194560" cy="320040"/>
          </a:xfrm>
          <a:prstGeom prst="rect">
            <a:avLst/>
          </a:prstGeom>
          <a:noFill/>
          <a:ln/>
        </p:spPr>
        <p:txBody>
          <a:bodyPr wrap="square" lIns="0" tIns="0" rIns="0" bIns="0" rtlCol="0" anchor="t"/>
          <a:lstStyle/>
          <a:p>
            <a:pPr marL="0" indent="0">
              <a:buNone/>
            </a:pPr>
            <a:r>
              <a:rPr lang="en-US" sz="1500" b="1" dirty="0">
                <a:solidFill>
                  <a:schemeClr val="accent1"/>
                </a:solidFill>
              </a:rPr>
              <a:t>Sharp edge</a:t>
            </a:r>
            <a:endParaRPr lang="en-US" sz="1500" dirty="0"/>
          </a:p>
        </p:txBody>
      </p:sp>
      <p:sp>
        <p:nvSpPr>
          <p:cNvPr id="10" name="text-80"/>
          <p:cNvSpPr txBox="1"/>
          <p:nvPr/>
        </p:nvSpPr>
        <p:spPr>
          <a:xfrm>
            <a:off x="9281160" y="3246120"/>
            <a:ext cx="2194560" cy="640080"/>
          </a:xfrm>
          <a:prstGeom prst="rect">
            <a:avLst/>
          </a:prstGeom>
          <a:noFill/>
          <a:ln/>
        </p:spPr>
        <p:txBody>
          <a:bodyPr wrap="square" lIns="0" tIns="0" rIns="0" bIns="0" rtlCol="0" anchor="t"/>
          <a:lstStyle/>
          <a:p>
            <a:pPr marL="0" indent="0">
              <a:buNone/>
            </a:pPr>
            <a:r>
              <a:rPr lang="en-US" sz="1300" dirty="0">
                <a:solidFill>
                  <a:schemeClr val="tx1"/>
                </a:solidFill>
              </a:rPr>
              <a:t>Jump at φ₁ ≈ −0.57 and, by symmetry, φ₂ ≈ +0.57</a:t>
            </a:r>
            <a:endParaRPr lang="en-US" sz="1300" dirty="0"/>
          </a:p>
        </p:txBody>
      </p:sp>
      <p:sp>
        <p:nvSpPr>
          <p:cNvPr id="11" name="card-81"/>
          <p:cNvSpPr/>
          <p:nvPr/>
        </p:nvSpPr>
        <p:spPr>
          <a:xfrm>
            <a:off x="9098280" y="4114800"/>
            <a:ext cx="2514600" cy="1143000"/>
          </a:xfrm>
          <a:prstGeom prst="roundRect">
            <a:avLst>
              <a:gd name="adj" fmla="val 6400"/>
            </a:avLst>
          </a:prstGeom>
          <a:solidFill>
            <a:schemeClr val="bg2"/>
          </a:solidFill>
          <a:ln/>
        </p:spPr>
        <p:txBody>
          <a:bodyPr/>
          <a:lstStyle/>
          <a:p>
            <a:endParaRPr lang="en-IN"/>
          </a:p>
        </p:txBody>
      </p:sp>
      <p:sp>
        <p:nvSpPr>
          <p:cNvPr id="12" name="text-82"/>
          <p:cNvSpPr txBox="1"/>
          <p:nvPr/>
        </p:nvSpPr>
        <p:spPr>
          <a:xfrm>
            <a:off x="9281160" y="4251960"/>
            <a:ext cx="2194560" cy="320040"/>
          </a:xfrm>
          <a:prstGeom prst="rect">
            <a:avLst/>
          </a:prstGeom>
          <a:noFill/>
          <a:ln/>
        </p:spPr>
        <p:txBody>
          <a:bodyPr wrap="square" lIns="0" tIns="0" rIns="0" bIns="0" rtlCol="0" anchor="t"/>
          <a:lstStyle/>
          <a:p>
            <a:pPr marL="0" indent="0">
              <a:buNone/>
            </a:pPr>
            <a:r>
              <a:rPr lang="en-US" sz="1500" b="1" dirty="0">
                <a:solidFill>
                  <a:schemeClr val="accent1"/>
                </a:solidFill>
              </a:rPr>
              <a:t>Large jump</a:t>
            </a:r>
            <a:endParaRPr lang="en-US" sz="1500" dirty="0"/>
          </a:p>
        </p:txBody>
      </p:sp>
      <p:sp>
        <p:nvSpPr>
          <p:cNvPr id="13" name="text-83"/>
          <p:cNvSpPr txBox="1"/>
          <p:nvPr/>
        </p:nvSpPr>
        <p:spPr>
          <a:xfrm>
            <a:off x="9281160" y="4572000"/>
            <a:ext cx="2194560" cy="640080"/>
          </a:xfrm>
          <a:prstGeom prst="rect">
            <a:avLst/>
          </a:prstGeom>
          <a:noFill/>
          <a:ln/>
        </p:spPr>
        <p:txBody>
          <a:bodyPr wrap="square" lIns="0" tIns="0" rIns="0" bIns="0" rtlCol="0" anchor="t"/>
          <a:lstStyle/>
          <a:p>
            <a:pPr marL="0" indent="0">
              <a:buNone/>
            </a:pPr>
            <a:r>
              <a:rPr lang="en-US" sz="1300" dirty="0">
                <a:solidFill>
                  <a:schemeClr val="tx1"/>
                </a:solidFill>
              </a:rPr>
              <a:t>U 2.27 → 6.11 and f</a:t>
            </a:r>
            <a:r>
              <a:rPr lang="en-US" sz="1300" baseline="-25000" dirty="0">
                <a:solidFill>
                  <a:schemeClr val="tx1"/>
                </a:solidFill>
              </a:rPr>
              <a:t>x</a:t>
            </a:r>
            <a:r>
              <a:rPr lang="en-US" sz="1300" dirty="0">
                <a:solidFill>
                  <a:schemeClr val="tx1"/>
                </a:solidFill>
              </a:rPr>
              <a:t> 28 → 59 in a single 0.01 step</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The sign of p traces the snap surface</a:t>
            </a:r>
          </a:p>
        </p:txBody>
      </p:sp>
      <p:pic>
        <p:nvPicPr>
          <p:cNvPr id="3" name="figure-101" descr="q on the d = 0.90 layer with snap and smooth-crossing edges"/>
          <p:cNvPicPr>
            <a:picLocks noChangeAspect="1"/>
          </p:cNvPicPr>
          <p:nvPr/>
        </p:nvPicPr>
        <p:blipFill>
          <a:blip r:embed="rId3"/>
          <a:stretch>
            <a:fillRect/>
          </a:stretch>
        </p:blipFill>
        <p:spPr>
          <a:xfrm>
            <a:off x="548640" y="1435714"/>
            <a:ext cx="5120640" cy="4169453"/>
          </a:xfrm>
          <a:prstGeom prst="rect">
            <a:avLst/>
          </a:prstGeom>
        </p:spPr>
      </p:pic>
      <p:pic>
        <p:nvPicPr>
          <p:cNvPr id="4" name="figure-102" descr="Snap curves on seven d layers from 0.70 to 0.99"/>
          <p:cNvPicPr>
            <a:picLocks noChangeAspect="1"/>
          </p:cNvPicPr>
          <p:nvPr/>
        </p:nvPicPr>
        <p:blipFill>
          <a:blip r:embed="rId4"/>
          <a:stretch>
            <a:fillRect/>
          </a:stretch>
        </p:blipFill>
        <p:spPr>
          <a:xfrm>
            <a:off x="6796448" y="1325880"/>
            <a:ext cx="4512224" cy="4389120"/>
          </a:xfrm>
          <a:prstGeom prst="rect">
            <a:avLst/>
          </a:prstGeom>
        </p:spPr>
      </p:pic>
      <p:sp>
        <p:nvSpPr>
          <p:cNvPr id="5" name="text-103"/>
          <p:cNvSpPr txBox="1"/>
          <p:nvPr/>
        </p:nvSpPr>
        <p:spPr>
          <a:xfrm>
            <a:off x="548640" y="5760720"/>
            <a:ext cx="5120640" cy="502920"/>
          </a:xfrm>
          <a:prstGeom prst="rect">
            <a:avLst/>
          </a:prstGeom>
          <a:noFill/>
          <a:ln/>
        </p:spPr>
        <p:txBody>
          <a:bodyPr wrap="square" lIns="0" tIns="0" rIns="0" bIns="0" rtlCol="0" anchor="t"/>
          <a:lstStyle/>
          <a:p>
            <a:pPr marL="0" indent="0">
              <a:buNone/>
            </a:pPr>
            <a:r>
              <a:rPr lang="en-US" sz="1100" i="1" dirty="0">
                <a:solidFill>
                  <a:schemeClr val="accent5"/>
                </a:solidFill>
              </a:rPr>
              <a:t>Red: snap edges, where p changes sign with a jump. Black: smooth crossings through the S-shape.</a:t>
            </a:r>
          </a:p>
        </p:txBody>
      </p:sp>
      <p:sp>
        <p:nvSpPr>
          <p:cNvPr id="6" name="text-104"/>
          <p:cNvSpPr txBox="1"/>
          <p:nvPr/>
        </p:nvSpPr>
        <p:spPr>
          <a:xfrm>
            <a:off x="6492240" y="5760720"/>
            <a:ext cx="5120640" cy="502920"/>
          </a:xfrm>
          <a:prstGeom prst="rect">
            <a:avLst/>
          </a:prstGeom>
          <a:noFill/>
          <a:ln/>
        </p:spPr>
        <p:txBody>
          <a:bodyPr wrap="square" lIns="0" tIns="0" rIns="0" bIns="0" rtlCol="0" anchor="t"/>
          <a:lstStyle/>
          <a:p>
            <a:pPr marL="0" indent="0">
              <a:buNone/>
            </a:pPr>
            <a:r>
              <a:rPr lang="en-US" sz="1100" i="1" dirty="0">
                <a:solidFill>
                  <a:schemeClr val="accent5"/>
                </a:solidFill>
              </a:rPr>
              <a:t>As d → 1 the L closes in: at φ₂ = 0 the snap sits at φ₁ ≈ −0.98 (d = 0.70), −0.57 (0.90) and −0.18 (0.99).</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nap surface 3D">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The snap surface in 3D</a:t>
            </a:r>
            <a:endParaRPr lang="en-US" sz="3000" dirty="0"/>
          </a:p>
        </p:txBody>
      </p:sp>
      <p:pic>
        <p:nvPicPr>
          <p:cNvPr id="401" name="figure-401" descr="Snap surface over (phi1, phi2, d), coloured by d"/>
          <p:cNvPicPr>
            <a:picLocks noChangeAspect="1"/>
          </p:cNvPicPr>
          <p:nvPr/>
        </p:nvPicPr>
        <p:blipFill>
          <a:blip r:embed="rId3"/>
          <a:stretch>
            <a:fillRect/>
          </a:stretch>
        </p:blipFill>
        <p:spPr>
          <a:xfrm>
            <a:off x="954115" y="1280160"/>
            <a:ext cx="4812609" cy="4297680"/>
          </a:xfrm>
          <a:prstGeom prst="rect">
            <a:avLst/>
          </a:prstGeom>
        </p:spPr>
      </p:pic>
      <p:pic>
        <p:nvPicPr>
          <p:cNvPr id="402" name="figure-402" descr="Snap surface seen down the d axis, coloured by d"/>
          <p:cNvPicPr>
            <a:picLocks noChangeAspect="1"/>
          </p:cNvPicPr>
          <p:nvPr/>
        </p:nvPicPr>
        <p:blipFill>
          <a:blip r:embed="rId4"/>
          <a:stretch>
            <a:fillRect/>
          </a:stretch>
        </p:blipFill>
        <p:spPr>
          <a:xfrm>
            <a:off x="6660910" y="1280160"/>
            <a:ext cx="4646141" cy="4297680"/>
          </a:xfrm>
          <a:prstGeom prst="rect">
            <a:avLst/>
          </a:prstGeom>
        </p:spPr>
      </p:pic>
      <p:sp>
        <p:nvSpPr>
          <p:cNvPr id="403" name="caption-403"/>
          <p:cNvSpPr txBox="1"/>
          <p:nvPr/>
        </p:nvSpPr>
        <p:spPr>
          <a:xfrm>
            <a:off x="548640" y="5669280"/>
            <a:ext cx="5577840" cy="548640"/>
          </a:xfrm>
          <a:prstGeom prst="rect">
            <a:avLst/>
          </a:prstGeom>
          <a:noFill/>
          <a:ln/>
        </p:spPr>
        <p:txBody>
          <a:bodyPr wrap="square" lIns="0" tIns="0" rIns="0" bIns="0" rtlCol="0" anchor="t">
            <a:normAutofit/>
          </a:bodyPr>
          <a:lstStyle/>
          <a:p>
            <a:pPr marL="0" indent="0" algn="l">
              <a:spcAft>
                <a:spcPts val="0"/>
              </a:spcAft>
              <a:buNone/>
            </a:pPr>
            <a:r>
              <a:rPr lang="en-US" sz="1100" dirty="0">
                <a:solidFill>
                  <a:schemeClr val="accent5"/>
                </a:solidFill>
              </a:rPr>
              <a:t>Oblique view, d stretched ×8. The p = 0 contour of the 17.2 M-tetrahedron grid, kept where p jumps: 30,081 snap edges, area 2.64.</a:t>
            </a:r>
            <a:endParaRPr lang="en-US" sz="1100" dirty="0"/>
          </a:p>
        </p:txBody>
      </p:sp>
      <p:sp>
        <p:nvSpPr>
          <p:cNvPr id="404" name="caption-404"/>
          <p:cNvSpPr txBox="1"/>
          <p:nvPr/>
        </p:nvSpPr>
        <p:spPr>
          <a:xfrm>
            <a:off x="6355080" y="5669280"/>
            <a:ext cx="5257800" cy="548640"/>
          </a:xfrm>
          <a:prstGeom prst="rect">
            <a:avLst/>
          </a:prstGeom>
          <a:noFill/>
          <a:ln/>
        </p:spPr>
        <p:txBody>
          <a:bodyPr wrap="square" lIns="0" tIns="0" rIns="0" bIns="0" rtlCol="0" anchor="t">
            <a:normAutofit/>
          </a:bodyPr>
          <a:lstStyle/>
          <a:p>
            <a:pPr marL="0" indent="0" algn="l">
              <a:spcAft>
                <a:spcPts val="0"/>
              </a:spcAft>
              <a:buNone/>
            </a:pPr>
            <a:r>
              <a:rPr lang="en-US" sz="1100" dirty="0">
                <a:solidFill>
                  <a:schemeClr val="accent5"/>
                </a:solidFill>
              </a:rPr>
              <a:t>Down the d axis: every layer is the L-shape, and the sheet closes in on the origin as d → 1. Colour: d.</a:t>
            </a:r>
            <a:endParaRPr lang="en-US" sz="110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xial force step">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The sheet rises from the step in axial force</a:t>
            </a:r>
            <a:endParaRPr lang="en-US" sz="3000" dirty="0"/>
          </a:p>
        </p:txBody>
      </p:sp>
      <p:pic>
        <p:nvPicPr>
          <p:cNvPr id="401" name="figure-401" descr="The d = 0.90 layer coloured by fx with the snap sheet above it"/>
          <p:cNvPicPr>
            <a:picLocks noChangeAspect="1"/>
          </p:cNvPicPr>
          <p:nvPr/>
        </p:nvPicPr>
        <p:blipFill>
          <a:blip r:embed="rId3"/>
          <a:stretch>
            <a:fillRect/>
          </a:stretch>
        </p:blipFill>
        <p:spPr>
          <a:xfrm>
            <a:off x="671990" y="1280160"/>
            <a:ext cx="5514019" cy="4572000"/>
          </a:xfrm>
          <a:prstGeom prst="rect">
            <a:avLst/>
          </a:prstGeom>
        </p:spPr>
      </p:pic>
      <p:sp>
        <p:nvSpPr>
          <p:cNvPr id="402" name="caption-402"/>
          <p:cNvSpPr txBox="1"/>
          <p:nvPr/>
        </p:nvSpPr>
        <p:spPr>
          <a:xfrm>
            <a:off x="548640" y="5897880"/>
            <a:ext cx="5852160" cy="320040"/>
          </a:xfrm>
          <a:prstGeom prst="rect">
            <a:avLst/>
          </a:prstGeom>
          <a:noFill/>
          <a:ln/>
        </p:spPr>
        <p:txBody>
          <a:bodyPr wrap="square" lIns="0" tIns="0" rIns="0" bIns="0" rtlCol="0" anchor="t">
            <a:normAutofit/>
          </a:bodyPr>
          <a:lstStyle/>
          <a:p>
            <a:pPr marL="0" indent="0" algn="l">
              <a:spcAft>
                <a:spcPts val="0"/>
              </a:spcAft>
              <a:buNone/>
            </a:pPr>
            <a:r>
              <a:rPr lang="en-US" sz="1100" dirty="0">
                <a:solidFill>
                  <a:schemeClr val="accent5"/>
                </a:solidFill>
              </a:rPr>
              <a:t>Layer d = 0.90 coloured by f</a:t>
            </a:r>
            <a:r>
              <a:rPr lang="en-US" sz="1100" baseline="-25000" dirty="0">
                <a:solidFill>
                  <a:schemeClr val="accent5"/>
                </a:solidFill>
              </a:rPr>
              <a:t>x</a:t>
            </a:r>
            <a:r>
              <a:rPr lang="en-US" sz="1100" dirty="0">
                <a:solidFill>
                  <a:schemeClr val="accent5"/>
                </a:solidFill>
              </a:rPr>
              <a:t> (clipped at ±80); the snap sheet above it is translucent.</a:t>
            </a:r>
            <a:endParaRPr lang="en-US" sz="1100" dirty="0"/>
          </a:p>
        </p:txBody>
      </p:sp>
      <p:sp>
        <p:nvSpPr>
          <p:cNvPr id="403" name="text-403"/>
          <p:cNvSpPr txBox="1"/>
          <p:nvPr/>
        </p:nvSpPr>
        <p:spPr>
          <a:xfrm>
            <a:off x="6766560" y="1371600"/>
            <a:ext cx="4846320" cy="365760"/>
          </a:xfrm>
          <a:prstGeom prst="rect">
            <a:avLst/>
          </a:prstGeom>
          <a:noFill/>
          <a:ln/>
        </p:spPr>
        <p:txBody>
          <a:bodyPr wrap="square" lIns="0" tIns="0" rIns="0" bIns="0" rtlCol="0" anchor="t">
            <a:normAutofit/>
          </a:bodyPr>
          <a:lstStyle/>
          <a:p>
            <a:pPr marL="0" indent="0" algn="l">
              <a:spcAft>
                <a:spcPts val="0"/>
              </a:spcAft>
              <a:buNone/>
            </a:pPr>
            <a:r>
              <a:rPr lang="en-US" sz="1400" dirty="0">
                <a:solidFill>
                  <a:schemeClr val="tx1"/>
                </a:solidFill>
              </a:rPr>
              <a:t>Across the snap at φ₂ = 0, f</a:t>
            </a:r>
            <a:r>
              <a:rPr lang="en-US" sz="1400" baseline="-25000" dirty="0">
                <a:solidFill>
                  <a:schemeClr val="tx1"/>
                </a:solidFill>
              </a:rPr>
              <a:t>x</a:t>
            </a:r>
            <a:r>
              <a:rPr lang="en-US" sz="1400" dirty="0">
                <a:solidFill>
                  <a:schemeClr val="tx1"/>
                </a:solidFill>
              </a:rPr>
              <a:t> roughly doubles at every d:</a:t>
            </a:r>
            <a:endParaRPr lang="en-US" sz="1400" dirty="0"/>
          </a:p>
        </p:txBody>
      </p:sp>
      <p:sp>
        <p:nvSpPr>
          <p:cNvPr id="404" name="card-404"/>
          <p:cNvSpPr/>
          <p:nvPr/>
        </p:nvSpPr>
        <p:spPr>
          <a:xfrm>
            <a:off x="6766560" y="1874520"/>
            <a:ext cx="4846320" cy="914400"/>
          </a:xfrm>
          <a:prstGeom prst="roundRect">
            <a:avLst>
              <a:gd name="adj" fmla="val 6000"/>
            </a:avLst>
          </a:prstGeom>
          <a:solidFill>
            <a:schemeClr val="bg2"/>
          </a:solidFill>
          <a:ln>
            <a:noFill/>
          </a:ln>
        </p:spPr>
        <p:txBody>
          <a:bodyPr/>
          <a:lstStyle/>
          <a:p>
            <a:endParaRPr lang="en-US"/>
          </a:p>
        </p:txBody>
      </p:sp>
      <p:sp>
        <p:nvSpPr>
          <p:cNvPr id="405" name="big-405"/>
          <p:cNvSpPr txBox="1"/>
          <p:nvPr/>
        </p:nvSpPr>
        <p:spPr>
          <a:xfrm>
            <a:off x="6995160" y="1874520"/>
            <a:ext cx="2377440" cy="914400"/>
          </a:xfrm>
          <a:prstGeom prst="rect">
            <a:avLst/>
          </a:prstGeom>
          <a:noFill/>
          <a:ln/>
        </p:spPr>
        <p:txBody>
          <a:bodyPr wrap="square" lIns="0" tIns="0" rIns="0" bIns="0" rtlCol="0" anchor="ctr">
            <a:normAutofit/>
          </a:bodyPr>
          <a:lstStyle/>
          <a:p>
            <a:pPr marL="0" indent="0" algn="l">
              <a:spcAft>
                <a:spcPts val="0"/>
              </a:spcAft>
              <a:buNone/>
            </a:pPr>
            <a:r>
              <a:rPr lang="en-US" sz="2400" b="1" dirty="0">
                <a:solidFill>
                  <a:schemeClr val="accent1"/>
                </a:solidFill>
              </a:rPr>
              <a:t>30.1 → 61.5</a:t>
            </a:r>
            <a:endParaRPr lang="en-US" sz="2400" dirty="0"/>
          </a:p>
        </p:txBody>
      </p:sp>
      <p:sp>
        <p:nvSpPr>
          <p:cNvPr id="406" name="where-406"/>
          <p:cNvSpPr txBox="1"/>
          <p:nvPr/>
        </p:nvSpPr>
        <p:spPr>
          <a:xfrm>
            <a:off x="9418320" y="1874520"/>
            <a:ext cx="2103120" cy="914400"/>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d = 0.80, jump at φ₁ ≈ −0.80</a:t>
            </a:r>
            <a:endParaRPr lang="en-US" sz="1150" dirty="0"/>
          </a:p>
        </p:txBody>
      </p:sp>
      <p:sp>
        <p:nvSpPr>
          <p:cNvPr id="407" name="card-407"/>
          <p:cNvSpPr/>
          <p:nvPr/>
        </p:nvSpPr>
        <p:spPr>
          <a:xfrm>
            <a:off x="6766560" y="2971800"/>
            <a:ext cx="4846320" cy="914400"/>
          </a:xfrm>
          <a:prstGeom prst="roundRect">
            <a:avLst>
              <a:gd name="adj" fmla="val 6000"/>
            </a:avLst>
          </a:prstGeom>
          <a:solidFill>
            <a:schemeClr val="bg2"/>
          </a:solidFill>
          <a:ln>
            <a:noFill/>
          </a:ln>
        </p:spPr>
        <p:txBody>
          <a:bodyPr/>
          <a:lstStyle/>
          <a:p>
            <a:endParaRPr lang="en-US"/>
          </a:p>
        </p:txBody>
      </p:sp>
      <p:sp>
        <p:nvSpPr>
          <p:cNvPr id="408" name="big-408"/>
          <p:cNvSpPr txBox="1"/>
          <p:nvPr/>
        </p:nvSpPr>
        <p:spPr>
          <a:xfrm>
            <a:off x="6995160" y="2971800"/>
            <a:ext cx="2377440" cy="914400"/>
          </a:xfrm>
          <a:prstGeom prst="rect">
            <a:avLst/>
          </a:prstGeom>
          <a:noFill/>
          <a:ln/>
        </p:spPr>
        <p:txBody>
          <a:bodyPr wrap="square" lIns="0" tIns="0" rIns="0" bIns="0" rtlCol="0" anchor="ctr">
            <a:normAutofit/>
          </a:bodyPr>
          <a:lstStyle/>
          <a:p>
            <a:pPr marL="0" indent="0" algn="l">
              <a:spcAft>
                <a:spcPts val="0"/>
              </a:spcAft>
              <a:buNone/>
            </a:pPr>
            <a:r>
              <a:rPr lang="en-US" sz="2400" b="1" dirty="0">
                <a:solidFill>
                  <a:schemeClr val="accent1"/>
                </a:solidFill>
              </a:rPr>
              <a:t>28.3 → 58.7</a:t>
            </a:r>
            <a:endParaRPr lang="en-US" sz="2400" dirty="0"/>
          </a:p>
        </p:txBody>
      </p:sp>
      <p:sp>
        <p:nvSpPr>
          <p:cNvPr id="409" name="where-409"/>
          <p:cNvSpPr txBox="1"/>
          <p:nvPr/>
        </p:nvSpPr>
        <p:spPr>
          <a:xfrm>
            <a:off x="9418320" y="2971800"/>
            <a:ext cx="2103120" cy="914400"/>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d = 0.90, jump at φ₁ ≈ −0.57</a:t>
            </a:r>
            <a:endParaRPr lang="en-US" sz="1150" dirty="0"/>
          </a:p>
        </p:txBody>
      </p:sp>
      <p:sp>
        <p:nvSpPr>
          <p:cNvPr id="410" name="card-410"/>
          <p:cNvSpPr/>
          <p:nvPr/>
        </p:nvSpPr>
        <p:spPr>
          <a:xfrm>
            <a:off x="6766560" y="4069080"/>
            <a:ext cx="4846320" cy="914400"/>
          </a:xfrm>
          <a:prstGeom prst="roundRect">
            <a:avLst>
              <a:gd name="adj" fmla="val 6000"/>
            </a:avLst>
          </a:prstGeom>
          <a:solidFill>
            <a:schemeClr val="bg2"/>
          </a:solidFill>
          <a:ln>
            <a:noFill/>
          </a:ln>
        </p:spPr>
        <p:txBody>
          <a:bodyPr/>
          <a:lstStyle/>
          <a:p>
            <a:endParaRPr lang="en-US"/>
          </a:p>
        </p:txBody>
      </p:sp>
      <p:sp>
        <p:nvSpPr>
          <p:cNvPr id="411" name="big-411"/>
          <p:cNvSpPr txBox="1"/>
          <p:nvPr/>
        </p:nvSpPr>
        <p:spPr>
          <a:xfrm>
            <a:off x="6995160" y="4069080"/>
            <a:ext cx="2377440" cy="914400"/>
          </a:xfrm>
          <a:prstGeom prst="rect">
            <a:avLst/>
          </a:prstGeom>
          <a:noFill/>
          <a:ln/>
        </p:spPr>
        <p:txBody>
          <a:bodyPr wrap="square" lIns="0" tIns="0" rIns="0" bIns="0" rtlCol="0" anchor="ctr">
            <a:normAutofit/>
          </a:bodyPr>
          <a:lstStyle/>
          <a:p>
            <a:pPr marL="0" indent="0" algn="l">
              <a:spcAft>
                <a:spcPts val="0"/>
              </a:spcAft>
              <a:buNone/>
            </a:pPr>
            <a:r>
              <a:rPr lang="en-US" sz="2400" b="1" dirty="0">
                <a:solidFill>
                  <a:schemeClr val="accent1"/>
                </a:solidFill>
              </a:rPr>
              <a:t>27.4 → 55.4</a:t>
            </a:r>
            <a:endParaRPr lang="en-US" sz="2400" dirty="0"/>
          </a:p>
        </p:txBody>
      </p:sp>
      <p:sp>
        <p:nvSpPr>
          <p:cNvPr id="412" name="where-412"/>
          <p:cNvSpPr txBox="1"/>
          <p:nvPr/>
        </p:nvSpPr>
        <p:spPr>
          <a:xfrm>
            <a:off x="9418320" y="4069080"/>
            <a:ext cx="2103120" cy="914400"/>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d = 0.97, jump at φ₁ ≈ −0.31</a:t>
            </a:r>
            <a:endParaRPr lang="en-US" sz="1150" dirty="0"/>
          </a:p>
        </p:txBody>
      </p:sp>
      <p:sp>
        <p:nvSpPr>
          <p:cNvPr id="413" name="text-413"/>
          <p:cNvSpPr txBox="1"/>
          <p:nvPr/>
        </p:nvSpPr>
        <p:spPr>
          <a:xfrm>
            <a:off x="6766560" y="5212080"/>
            <a:ext cx="4846320" cy="731520"/>
          </a:xfrm>
          <a:prstGeom prst="rect">
            <a:avLst/>
          </a:prstGeom>
          <a:noFill/>
          <a:ln/>
        </p:spPr>
        <p:txBody>
          <a:bodyPr wrap="square" lIns="0" tIns="0" rIns="0" bIns="0" rtlCol="0" anchor="t">
            <a:normAutofit/>
          </a:bodyPr>
          <a:lstStyle/>
          <a:p>
            <a:pPr marL="0" indent="0" algn="l">
              <a:spcAft>
                <a:spcPts val="0"/>
              </a:spcAft>
              <a:buNone/>
            </a:pPr>
            <a:r>
              <a:rPr lang="en-US" sz="1300" dirty="0">
                <a:solidFill>
                  <a:schemeClr val="tx1"/>
                </a:solidFill>
              </a:rPr>
              <a:t>The surface is built from the shape alone, through the sign of p, yet it lands exactly on the step the forces see.</a:t>
            </a:r>
            <a:endParaRPr lang="en-US" sz="130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822960" y="2377440"/>
            <a:ext cx="10515600" cy="1097280"/>
          </a:xfrm>
          <a:prstGeom prst="rect">
            <a:avLst/>
          </a:prstGeom>
          <a:noFill/>
          <a:ln/>
        </p:spPr>
        <p:txBody>
          <a:bodyPr wrap="square" lIns="0" tIns="0" rIns="0" bIns="0" rtlCol="0" anchor="b"/>
          <a:lstStyle/>
          <a:p>
            <a:pPr marL="0" indent="0" algn="l">
              <a:buNone/>
            </a:pPr>
            <a:r>
              <a:rPr lang="en-US" sz="4000" b="1" dirty="0">
                <a:solidFill>
                  <a:schemeClr val="bg1"/>
                </a:solidFill>
              </a:rPr>
              <a:t>The bistable region</a:t>
            </a:r>
            <a:endParaRPr lang="en-US" sz="4000" dirty="0"/>
          </a:p>
        </p:txBody>
      </p:sp>
      <p:sp>
        <p:nvSpPr>
          <p:cNvPr id="1002" name="Text 0"/>
          <p:cNvSpPr>
            <a:spLocks noGrp="1"/>
          </p:cNvSpPr>
          <p:nvPr>
            <p:ph type="body" idx="101" hasCustomPrompt="1"/>
          </p:nvPr>
        </p:nvSpPr>
        <p:spPr>
          <a:xfrm>
            <a:off x="822960" y="3657600"/>
            <a:ext cx="10515600" cy="822960"/>
          </a:xfrm>
          <a:prstGeom prst="rect">
            <a:avLst/>
          </a:prstGeom>
          <a:noFill/>
          <a:ln/>
        </p:spPr>
        <p:txBody>
          <a:bodyPr wrap="square" lIns="0" tIns="0" rIns="0" bIns="0" rtlCol="0" anchor="t"/>
          <a:lstStyle/>
          <a:p>
            <a:pPr marL="0" indent="0">
              <a:buNone/>
            </a:pPr>
            <a:r>
              <a:rPr lang="en-US" sz="2000" dirty="0">
                <a:solidFill>
                  <a:schemeClr val="accent1"/>
                </a:solidFill>
              </a:rPr>
              <a:t>Two stable rods for the same clamps, and which snap the rod can meet</a:t>
            </a:r>
            <a:endParaRPr lang="en-US" sz="20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A bent-down cold start mirrors the map across φ₁ = φ₂</a:t>
            </a:r>
          </a:p>
        </p:txBody>
      </p:sp>
      <p:pic>
        <p:nvPicPr>
          <p:cNvPr id="3" name="Picture 2" descr="q of the bent-up and bent-down cold starts at d = 0.82"/>
          <p:cNvPicPr>
            <a:picLocks noChangeAspect="1"/>
          </p:cNvPicPr>
          <p:nvPr/>
        </p:nvPicPr>
        <p:blipFill>
          <a:blip r:embed="rId2"/>
          <a:stretch>
            <a:fillRect/>
          </a:stretch>
        </p:blipFill>
        <p:spPr>
          <a:xfrm>
            <a:off x="1325880" y="1188720"/>
            <a:ext cx="9509760" cy="4479843"/>
          </a:xfrm>
          <a:prstGeom prst="rect">
            <a:avLst/>
          </a:prstGeom>
        </p:spPr>
      </p:pic>
      <p:sp>
        <p:nvSpPr>
          <p:cNvPr id="1002" name="text-103"/>
          <p:cNvSpPr txBox="1"/>
          <p:nvPr/>
        </p:nvSpPr>
        <p:spPr>
          <a:xfrm>
            <a:off x="1325880" y="5778291"/>
            <a:ext cx="9509760" cy="548640"/>
          </a:xfrm>
          <a:prstGeom prst="rect">
            <a:avLst/>
          </a:prstGeom>
          <a:noFill/>
          <a:ln/>
        </p:spPr>
        <p:txBody>
          <a:bodyPr wrap="square" lIns="0" tIns="0" rIns="0" bIns="0" rtlCol="0" anchor="t"/>
          <a:lstStyle/>
          <a:p>
            <a:pPr marL="0" indent="0">
              <a:buNone/>
            </a:pPr>
            <a:r>
              <a:rPr lang="en-US" sz="1100" i="1" dirty="0">
                <a:solidFill>
                  <a:schemeClr val="accent5"/>
                </a:solidFill>
              </a:rPr>
              <a:t>d = 0.82. θ → −θ takes the solve to the bent-down cold start: (φ₁, φ₂) → (−φ₁, −φ₂) with p negated. With the mirror (φ₁, φ₂) → (−φ₂, −φ₁) that is a reflection in φ₁ = φ₂ with orange and slate swapped. Red: each map's snap curve, in quadrants 1, 2, 3 and 1, 3, 4.</a:t>
            </a:r>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Outside the region, swapping the clamps turns the rod over</a:t>
            </a:r>
          </a:p>
        </p:txBody>
      </p:sp>
      <p:sp>
        <p:nvSpPr>
          <p:cNvPr id="1002" name="card-223"/>
          <p:cNvSpPr/>
          <p:nvPr/>
        </p:nvSpPr>
        <p:spPr>
          <a:xfrm>
            <a:off x="548640" y="1280160"/>
            <a:ext cx="11064240" cy="731520"/>
          </a:xfrm>
          <a:prstGeom prst="roundRect">
            <a:avLst>
              <a:gd name="adj" fmla="val 9412"/>
            </a:avLst>
          </a:prstGeom>
          <a:solidFill>
            <a:schemeClr val="bg2"/>
          </a:solidFill>
          <a:ln/>
        </p:spPr>
        <p:txBody>
          <a:bodyPr/>
          <a:lstStyle/>
          <a:p>
            <a:endParaRPr lang="en-IN"/>
          </a:p>
        </p:txBody>
      </p:sp>
      <mc:AlternateContent xmlns:mc="http://schemas.openxmlformats.org/markup-compatibility/2006" xmlns:a14="http://schemas.microsoft.com/office/drawing/2010/main">
        <mc:Choice Requires="a14">
          <p:sp>
            <p:nvSpPr>
              <p:cNvPr id="1003" name="latex-sym"/>
              <p:cNvSpPr txBox="1"/>
              <p:nvPr/>
            </p:nvSpPr>
            <p:spPr>
              <a:xfrm>
                <a:off x="1600200" y="1490472"/>
                <a:ext cx="9052560" cy="310896"/>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𝑑</m:t>
                      </m:r>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1</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2</m:t>
                          </m:r>
                        </m:sub>
                      </m:sSub>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𝑑</m:t>
                      </m:r>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2</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1</m:t>
                          </m:r>
                        </m:sub>
                      </m:sSub>
                      <m:r>
                        <a:rPr lang="en-US" sz="1600" i="1" dirty="0">
                          <a:solidFill>
                            <a:schemeClr val="tx1"/>
                          </a:solidFill>
                          <a:latin typeface="Cambria Math" panose="02040503050406030204" pitchFamily="18" charset="0"/>
                        </a:rPr>
                        <m:t>):</m:t>
                      </m:r>
                      <m:r>
                        <m:rPr>
                          <m:sty m:val="p"/>
                        </m:rPr>
                        <a:rPr lang="en-US" sz="1600" i="0" dirty="0">
                          <a:solidFill>
                            <a:schemeClr val="tx1"/>
                          </a:solidFill>
                          <a:latin typeface="Cambria Math" panose="02040503050406030204" pitchFamily="18" charset="0"/>
                        </a:rPr>
                        <m:t xml:space="preserve">    </m:t>
                      </m:r>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𝜃</m:t>
                          </m:r>
                        </m:e>
                      </m:acc>
                      <m:r>
                        <a:rPr lang="en-US" sz="1600" i="1" dirty="0">
                          <a:solidFill>
                            <a:schemeClr val="tx1"/>
                          </a:solidFill>
                          <a:latin typeface="Cambria Math" panose="02040503050406030204" pitchFamily="18" charset="0"/>
                        </a:rPr>
                        <m:t>(𝑠)=𝜃(𝐿−𝑠),</m:t>
                      </m:r>
                      <m:r>
                        <m:rPr>
                          <m:sty m:val="p"/>
                        </m:rPr>
                        <a:rPr lang="en-US" sz="1600" i="0" dirty="0">
                          <a:solidFill>
                            <a:schemeClr val="tx1"/>
                          </a:solidFill>
                          <a:latin typeface="Cambria Math" panose="02040503050406030204" pitchFamily="18" charset="0"/>
                        </a:rPr>
                        <m:t xml:space="preserve">    </m:t>
                      </m:r>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𝑝</m:t>
                          </m:r>
                        </m:e>
                      </m:acc>
                      <m:r>
                        <a:rPr lang="en-US" sz="1600" i="1" dirty="0">
                          <a:solidFill>
                            <a:schemeClr val="tx1"/>
                          </a:solidFill>
                          <a:latin typeface="Cambria Math" panose="02040503050406030204" pitchFamily="18" charset="0"/>
                        </a:rPr>
                        <m:t>=−𝑝,</m:t>
                      </m:r>
                      <m:r>
                        <m:rPr>
                          <m:sty m:val="p"/>
                        </m:rPr>
                        <a:rPr lang="en-US" sz="1600" i="0" dirty="0">
                          <a:solidFill>
                            <a:schemeClr val="tx1"/>
                          </a:solidFill>
                          <a:latin typeface="Cambria Math" panose="02040503050406030204" pitchFamily="18" charset="0"/>
                        </a:rPr>
                        <m:t xml:space="preserve">    </m:t>
                      </m:r>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𝑈</m:t>
                          </m:r>
                        </m:e>
                      </m:acc>
                      <m:r>
                        <a:rPr lang="en-US" sz="1600" i="1" dirty="0">
                          <a:solidFill>
                            <a:schemeClr val="tx1"/>
                          </a:solidFill>
                          <a:latin typeface="Cambria Math" panose="02040503050406030204" pitchFamily="18" charset="0"/>
                        </a:rPr>
                        <m:t>=𝑈,</m:t>
                      </m:r>
                      <m:r>
                        <m:rPr>
                          <m:sty m:val="p"/>
                        </m:rPr>
                        <a:rPr lang="en-US" sz="1600" i="0" dirty="0">
                          <a:solidFill>
                            <a:schemeClr val="tx1"/>
                          </a:solidFill>
                          <a:latin typeface="Cambria Math" panose="02040503050406030204" pitchFamily="18" charset="0"/>
                        </a:rPr>
                        <m:t xml:space="preserve">    </m:t>
                      </m:r>
                      <m:sSub>
                        <m:sSubPr>
                          <m:ctrlPr>
                            <a:rPr lang="en-US" sz="1600" i="1" dirty="0">
                              <a:solidFill>
                                <a:schemeClr val="tx1"/>
                              </a:solidFill>
                              <a:latin typeface="Cambria Math" panose="02040503050406030204" pitchFamily="18" charset="0"/>
                            </a:rPr>
                          </m:ctrlPr>
                        </m:sSubPr>
                        <m:e>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𝑓</m:t>
                              </m:r>
                            </m:e>
                          </m:acc>
                        </m:e>
                        <m:sub>
                          <m:r>
                            <a:rPr lang="en-US" sz="1600" i="1" dirty="0">
                              <a:solidFill>
                                <a:schemeClr val="tx1"/>
                              </a:solidFill>
                              <a:latin typeface="Cambria Math" panose="02040503050406030204" pitchFamily="18" charset="0"/>
                            </a:rPr>
                            <m:t>𝑥</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𝑥</m:t>
                          </m:r>
                        </m:sub>
                      </m:sSub>
                      <m:r>
                        <a:rPr lang="en-US" sz="1600" i="1" dirty="0">
                          <a:solidFill>
                            <a:schemeClr val="tx1"/>
                          </a:solidFill>
                          <a:latin typeface="Cambria Math" panose="02040503050406030204" pitchFamily="18" charset="0"/>
                        </a:rPr>
                        <m:t>,</m:t>
                      </m:r>
                      <m:r>
                        <m:rPr>
                          <m:sty m:val="p"/>
                        </m:rPr>
                        <a:rPr lang="en-US" sz="1600" i="0" dirty="0">
                          <a:solidFill>
                            <a:schemeClr val="tx1"/>
                          </a:solidFill>
                          <a:latin typeface="Cambria Math" panose="02040503050406030204" pitchFamily="18" charset="0"/>
                        </a:rPr>
                        <m:t xml:space="preserve">    </m:t>
                      </m:r>
                      <m:sSub>
                        <m:sSubPr>
                          <m:ctrlPr>
                            <a:rPr lang="en-US" sz="1600" i="1" dirty="0">
                              <a:solidFill>
                                <a:schemeClr val="tx1"/>
                              </a:solidFill>
                              <a:latin typeface="Cambria Math" panose="02040503050406030204" pitchFamily="18" charset="0"/>
                            </a:rPr>
                          </m:ctrlPr>
                        </m:sSubPr>
                        <m:e>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𝑓</m:t>
                              </m:r>
                            </m:e>
                          </m:acc>
                        </m:e>
                        <m:sub>
                          <m:r>
                            <a:rPr lang="en-US" sz="1600" i="1" dirty="0">
                              <a:solidFill>
                                <a:schemeClr val="tx1"/>
                              </a:solidFill>
                              <a:latin typeface="Cambria Math" panose="02040503050406030204" pitchFamily="18" charset="0"/>
                            </a:rPr>
                            <m:t>𝑦</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𝑦</m:t>
                          </m:r>
                        </m:sub>
                      </m:sSub>
                      <m:r>
                        <a:rPr lang="en-US" sz="1600" i="1" dirty="0">
                          <a:solidFill>
                            <a:schemeClr val="tx1"/>
                          </a:solidFill>
                          <a:latin typeface="Cambria Math" panose="02040503050406030204" pitchFamily="18" charset="0"/>
                        </a:rPr>
                        <m:t>,</m:t>
                      </m:r>
                      <m:r>
                        <m:rPr>
                          <m:sty m:val="p"/>
                        </m:rPr>
                        <a:rPr lang="en-US" sz="1600" i="0" dirty="0">
                          <a:solidFill>
                            <a:schemeClr val="tx1"/>
                          </a:solidFill>
                          <a:latin typeface="Cambria Math" panose="02040503050406030204" pitchFamily="18" charset="0"/>
                        </a:rPr>
                        <m:t xml:space="preserve">    </m:t>
                      </m:r>
                      <m:sSub>
                        <m:sSubPr>
                          <m:ctrlPr>
                            <a:rPr lang="en-US" sz="1600" i="1" dirty="0">
                              <a:solidFill>
                                <a:schemeClr val="tx1"/>
                              </a:solidFill>
                              <a:latin typeface="Cambria Math" panose="02040503050406030204" pitchFamily="18" charset="0"/>
                            </a:rPr>
                          </m:ctrlPr>
                        </m:sSubPr>
                        <m:e>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𝑀</m:t>
                              </m:r>
                            </m:e>
                          </m:acc>
                        </m:e>
                        <m:sub>
                          <m:r>
                            <a:rPr lang="en-US" sz="1600" i="1" dirty="0">
                              <a:solidFill>
                                <a:schemeClr val="tx1"/>
                              </a:solidFill>
                              <a:latin typeface="Cambria Math" panose="02040503050406030204" pitchFamily="18" charset="0"/>
                            </a:rPr>
                            <m:t>1</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𝑀</m:t>
                          </m:r>
                        </m:e>
                        <m:sub>
                          <m:r>
                            <a:rPr lang="en-US" sz="1600" i="1" dirty="0">
                              <a:solidFill>
                                <a:schemeClr val="tx1"/>
                              </a:solidFill>
                              <a:latin typeface="Cambria Math" panose="02040503050406030204" pitchFamily="18" charset="0"/>
                            </a:rPr>
                            <m:t>2</m:t>
                          </m:r>
                        </m:sub>
                      </m:sSub>
                    </m:oMath>
                  </m:oMathPara>
                </a14:m>
                <a:endParaRPr lang="en-US" sz="1600" dirty="0"/>
              </a:p>
            </p:txBody>
          </p:sp>
        </mc:Choice>
        <mc:Fallback xmlns="">
          <p:sp>
            <p:nvSpPr>
              <p:cNvPr id="1003" name="latex-sym"/>
              <p:cNvSpPr txBox="1">
                <a:spLocks noRot="1" noChangeAspect="1" noMove="1" noResize="1" noEditPoints="1" noAdjustHandles="1" noChangeArrowheads="1" noChangeShapeType="1" noTextEdit="1"/>
              </p:cNvSpPr>
              <p:nvPr/>
            </p:nvSpPr>
            <p:spPr>
              <a:xfrm>
                <a:off x="1600200" y="1490472"/>
                <a:ext cx="9052560" cy="310896"/>
              </a:xfrm>
              <a:prstGeom prst="rect">
                <a:avLst/>
              </a:prstGeom>
              <a:blipFill>
                <a:blip r:embed="rId2"/>
                <a:stretch>
                  <a:fillRect/>
                </a:stretch>
              </a:blipFill>
            </p:spPr>
            <p:txBody>
              <a:bodyPr/>
              <a:lstStyle/>
              <a:p>
                <a:r>
                  <a:rPr lang="en-US">
                    <a:noFill/>
                  </a:rPr>
                  <a:t> </a:t>
                </a:r>
              </a:p>
            </p:txBody>
          </p:sp>
        </mc:Fallback>
      </mc:AlternateContent>
      <p:pic>
        <p:nvPicPr>
          <p:cNvPr id="402" name="Picture 401" descr="Antisymmetry test of q, and two rods related by a 180 degree turn"/>
          <p:cNvPicPr>
            <a:picLocks noChangeAspect="1"/>
          </p:cNvPicPr>
          <p:nvPr/>
        </p:nvPicPr>
        <p:blipFill>
          <a:blip r:embed="rId3"/>
          <a:stretch>
            <a:fillRect/>
          </a:stretch>
        </p:blipFill>
        <p:spPr>
          <a:xfrm>
            <a:off x="2167128" y="2148840"/>
            <a:ext cx="7863840" cy="3489482"/>
          </a:xfrm>
          <a:prstGeom prst="rect">
            <a:avLst/>
          </a:prstGeom>
        </p:spPr>
      </p:pic>
      <p:sp>
        <p:nvSpPr>
          <p:cNvPr id="1004" name="text-103"/>
          <p:cNvSpPr txBox="1"/>
          <p:nvPr/>
        </p:nvSpPr>
        <p:spPr>
          <a:xfrm>
            <a:off x="1783080" y="5748050"/>
            <a:ext cx="8595360" cy="548640"/>
          </a:xfrm>
          <a:prstGeom prst="rect">
            <a:avLst/>
          </a:prstGeom>
          <a:noFill/>
          <a:ln/>
        </p:spPr>
        <p:txBody>
          <a:bodyPr wrap="square" lIns="0" tIns="0" rIns="0" bIns="0" rtlCol="0" anchor="t"/>
          <a:lstStyle/>
          <a:p>
            <a:pPr marL="0" indent="0">
              <a:buNone/>
            </a:pPr>
            <a:r>
              <a:rPr lang="en-US" sz="1100" i="1" dirty="0">
                <a:solidFill>
                  <a:schemeClr val="accent5"/>
                </a:solidFill>
              </a:rPr>
              <a:t>Left: |q(φ₁, φ₂) + q(φ₂, φ₁)| at d = 0.82 is about 1e-4 everywhere except a square, the bistable region. Over all layers 2.35 M of the 2.98 M nodes pass, with q within 6.6e-4 and U within 1.5e-8. Right: the rod at (−1.20, +0.35) turned 180° lies on the rod at (+0.35, −1.20).</a:t>
            </a:r>
          </a:p>
        </p:txBody>
      </p:sp>
      <p:sp>
        <p:nvSpPr>
          <p:cNvPr id="100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The bistable region: two stable rods for the same clamps</a:t>
            </a:r>
          </a:p>
        </p:txBody>
      </p:sp>
      <p:sp>
        <p:nvSpPr>
          <p:cNvPr id="1002" name="card-223"/>
          <p:cNvSpPr/>
          <p:nvPr/>
        </p:nvSpPr>
        <p:spPr>
          <a:xfrm>
            <a:off x="548640" y="1280160"/>
            <a:ext cx="11064240" cy="731520"/>
          </a:xfrm>
          <a:prstGeom prst="roundRect">
            <a:avLst>
              <a:gd name="adj" fmla="val 9412"/>
            </a:avLst>
          </a:prstGeom>
          <a:solidFill>
            <a:schemeClr val="bg2"/>
          </a:solidFill>
          <a:ln/>
        </p:spPr>
        <p:txBody>
          <a:bodyPr/>
          <a:lstStyle/>
          <a:p>
            <a:endParaRPr lang="en-IN"/>
          </a:p>
        </p:txBody>
      </p:sp>
      <mc:AlternateContent xmlns:mc="http://schemas.openxmlformats.org/markup-compatibility/2006" xmlns:a14="http://schemas.microsoft.com/office/drawing/2010/main">
        <mc:Choice Requires="a14">
          <p:sp>
            <p:nvSpPr>
              <p:cNvPr id="1003" name="latex-sym"/>
              <p:cNvSpPr txBox="1"/>
              <p:nvPr/>
            </p:nvSpPr>
            <p:spPr>
              <a:xfrm>
                <a:off x="868680" y="1490472"/>
                <a:ext cx="10424160" cy="310896"/>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m:rPr>
                          <m:sty m:val="p"/>
                        </m:rPr>
                        <a:rPr lang="en-US" sz="1600" i="0" dirty="0">
                          <a:solidFill>
                            <a:schemeClr val="tx1"/>
                          </a:solidFill>
                          <a:latin typeface="Cambria Math" panose="02040503050406030204" pitchFamily="18" charset="0"/>
                        </a:rPr>
                        <m:t xml:space="preserve">Bistable where the bent-up solve is bent up at a point and at its mirror:    </m:t>
                      </m:r>
                      <m:r>
                        <a:rPr lang="en-US" sz="1600" i="1" dirty="0">
                          <a:solidFill>
                            <a:schemeClr val="tx1"/>
                          </a:solidFill>
                          <a:latin typeface="Cambria Math" panose="02040503050406030204" pitchFamily="18" charset="0"/>
                        </a:rPr>
                        <m:t>𝑞(</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1</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2</m:t>
                          </m:r>
                        </m:sub>
                      </m:sSub>
                      <m:r>
                        <a:rPr lang="en-US" sz="1600" i="1" dirty="0">
                          <a:solidFill>
                            <a:schemeClr val="tx1"/>
                          </a:solidFill>
                          <a:latin typeface="Cambria Math" panose="02040503050406030204" pitchFamily="18" charset="0"/>
                        </a:rPr>
                        <m:t>)&gt;0</m:t>
                      </m:r>
                      <m:r>
                        <m:rPr>
                          <m:sty m:val="p"/>
                        </m:rPr>
                        <a:rPr lang="en-US" sz="1600" i="0" dirty="0">
                          <a:solidFill>
                            <a:schemeClr val="tx1"/>
                          </a:solidFill>
                          <a:latin typeface="Cambria Math" panose="02040503050406030204" pitchFamily="18" charset="0"/>
                        </a:rPr>
                        <m:t xml:space="preserve">   and   </m:t>
                      </m:r>
                      <m:r>
                        <a:rPr lang="en-US" sz="1600" i="1" dirty="0">
                          <a:solidFill>
                            <a:schemeClr val="tx1"/>
                          </a:solidFill>
                          <a:latin typeface="Cambria Math" panose="02040503050406030204" pitchFamily="18" charset="0"/>
                        </a:rPr>
                        <m:t>𝑞(</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2</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1</m:t>
                          </m:r>
                        </m:sub>
                      </m:sSub>
                      <m:r>
                        <a:rPr lang="en-US" sz="1600" i="1" dirty="0">
                          <a:solidFill>
                            <a:schemeClr val="tx1"/>
                          </a:solidFill>
                          <a:latin typeface="Cambria Math" panose="02040503050406030204" pitchFamily="18" charset="0"/>
                        </a:rPr>
                        <m:t>)&gt;0</m:t>
                      </m:r>
                    </m:oMath>
                  </m:oMathPara>
                </a14:m>
                <a:endParaRPr lang="en-US" sz="1600" dirty="0"/>
              </a:p>
            </p:txBody>
          </p:sp>
        </mc:Choice>
        <mc:Fallback xmlns="">
          <p:sp>
            <p:nvSpPr>
              <p:cNvPr id="1003" name="latex-sym"/>
              <p:cNvSpPr txBox="1">
                <a:spLocks noRot="1" noChangeAspect="1" noMove="1" noResize="1" noEditPoints="1" noAdjustHandles="1" noChangeArrowheads="1" noChangeShapeType="1" noTextEdit="1"/>
              </p:cNvSpPr>
              <p:nvPr/>
            </p:nvSpPr>
            <p:spPr>
              <a:xfrm>
                <a:off x="868680" y="1490472"/>
                <a:ext cx="10424160" cy="310896"/>
              </a:xfrm>
              <a:prstGeom prst="rect">
                <a:avLst/>
              </a:prstGeom>
              <a:blipFill>
                <a:blip r:embed="rId2"/>
                <a:stretch>
                  <a:fillRect/>
                </a:stretch>
              </a:blipFill>
            </p:spPr>
            <p:txBody>
              <a:bodyPr/>
              <a:lstStyle/>
              <a:p>
                <a:r>
                  <a:rPr lang="en-US">
                    <a:noFill/>
                  </a:rPr>
                  <a:t> </a:t>
                </a:r>
              </a:p>
            </p:txBody>
          </p:sp>
        </mc:Fallback>
      </mc:AlternateContent>
      <p:pic>
        <p:nvPicPr>
          <p:cNvPr id="402" name="Picture 401" descr="The bistable region at d = 0.82 with its fold edges, corners and cusps"/>
          <p:cNvPicPr>
            <a:picLocks noChangeAspect="1"/>
          </p:cNvPicPr>
          <p:nvPr/>
        </p:nvPicPr>
        <p:blipFill>
          <a:blip r:embed="rId3"/>
          <a:stretch>
            <a:fillRect/>
          </a:stretch>
        </p:blipFill>
        <p:spPr>
          <a:xfrm>
            <a:off x="685800" y="2148840"/>
            <a:ext cx="3920785" cy="4069080"/>
          </a:xfrm>
          <a:prstGeom prst="rect">
            <a:avLst/>
          </a:prstGeom>
        </p:spPr>
      </p:pic>
      <p:pic>
        <p:nvPicPr>
          <p:cNvPr id="403" name="Picture 402" descr="Two stable rods at the same clamp angles"/>
          <p:cNvPicPr>
            <a:picLocks noChangeAspect="1"/>
          </p:cNvPicPr>
          <p:nvPr/>
        </p:nvPicPr>
        <p:blipFill>
          <a:blip r:embed="rId4"/>
          <a:stretch>
            <a:fillRect/>
          </a:stretch>
        </p:blipFill>
        <p:spPr>
          <a:xfrm>
            <a:off x="5577840" y="2148840"/>
            <a:ext cx="5760720" cy="2625702"/>
          </a:xfrm>
          <a:prstGeom prst="rect">
            <a:avLst/>
          </a:prstGeom>
        </p:spPr>
      </p:pic>
      <p:sp>
        <p:nvSpPr>
          <p:cNvPr id="1004" name="badge-226"/>
          <p:cNvSpPr/>
          <p:nvPr/>
        </p:nvSpPr>
        <p:spPr>
          <a:xfrm>
            <a:off x="5577840" y="5048862"/>
            <a:ext cx="384048" cy="384048"/>
          </a:xfrm>
          <a:prstGeom prst="ellipse">
            <a:avLst/>
          </a:prstGeom>
          <a:solidFill>
            <a:schemeClr val="accent1"/>
          </a:solidFill>
          <a:ln/>
        </p:spPr>
        <p:txBody>
          <a:bodyPr/>
          <a:lstStyle/>
          <a:p>
            <a:endParaRPr lang="en-IN"/>
          </a:p>
        </p:txBody>
      </p:sp>
      <p:sp>
        <p:nvSpPr>
          <p:cNvPr id="1005" name="badge-label-227"/>
          <p:cNvSpPr txBox="1"/>
          <p:nvPr/>
        </p:nvSpPr>
        <p:spPr>
          <a:xfrm>
            <a:off x="5577840" y="504886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006" name="text-228"/>
          <p:cNvSpPr txBox="1"/>
          <p:nvPr/>
        </p:nvSpPr>
        <p:spPr>
          <a:xfrm>
            <a:off x="6126479" y="5021430"/>
            <a:ext cx="5394960" cy="548640"/>
          </a:xfrm>
          <a:prstGeom prst="rect">
            <a:avLst/>
          </a:prstGeom>
          <a:noFill/>
          <a:ln/>
        </p:spPr>
        <p:txBody>
          <a:bodyPr wrap="square" lIns="0" tIns="0" rIns="0" bIns="0" rtlCol="0" anchor="t"/>
          <a:lstStyle/>
          <a:p>
            <a:pPr marL="0" indent="0">
              <a:buNone/>
            </a:pPr>
            <a:r>
              <a:rPr lang="en-US" sz="1200" dirty="0">
                <a:solidFill>
                  <a:schemeClr val="tx1"/>
                </a:solidFill>
              </a:rPr>
              <a:t>Left and top: the bent-up branch ends (fold). Leave this way bent up and the rod snaps down.</a:t>
            </a:r>
            <a:endParaRPr lang="en-US" sz="1200" dirty="0"/>
          </a:p>
        </p:txBody>
      </p:sp>
      <p:sp>
        <p:nvSpPr>
          <p:cNvPr id="1007" name="badge-226"/>
          <p:cNvSpPr/>
          <p:nvPr/>
        </p:nvSpPr>
        <p:spPr>
          <a:xfrm>
            <a:off x="5577840" y="5615790"/>
            <a:ext cx="384048" cy="384048"/>
          </a:xfrm>
          <a:prstGeom prst="ellipse">
            <a:avLst/>
          </a:prstGeom>
          <a:solidFill>
            <a:schemeClr val="accent1"/>
          </a:solidFill>
          <a:ln/>
        </p:spPr>
        <p:txBody>
          <a:bodyPr/>
          <a:lstStyle/>
          <a:p>
            <a:endParaRPr lang="en-IN"/>
          </a:p>
        </p:txBody>
      </p:sp>
      <p:sp>
        <p:nvSpPr>
          <p:cNvPr id="1008" name="badge-label-227"/>
          <p:cNvSpPr txBox="1"/>
          <p:nvPr/>
        </p:nvSpPr>
        <p:spPr>
          <a:xfrm>
            <a:off x="5577840" y="561579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09" name="text-228"/>
          <p:cNvSpPr txBox="1"/>
          <p:nvPr/>
        </p:nvSpPr>
        <p:spPr>
          <a:xfrm>
            <a:off x="6126479" y="5588358"/>
            <a:ext cx="5394960" cy="548640"/>
          </a:xfrm>
          <a:prstGeom prst="rect">
            <a:avLst/>
          </a:prstGeom>
          <a:noFill/>
          <a:ln/>
        </p:spPr>
        <p:txBody>
          <a:bodyPr wrap="square" lIns="0" tIns="0" rIns="0" bIns="0" rtlCol="0" anchor="t"/>
          <a:lstStyle/>
          <a:p>
            <a:pPr marL="0" indent="0">
              <a:buNone/>
            </a:pPr>
            <a:r>
              <a:rPr lang="en-US" sz="1200" dirty="0">
                <a:solidFill>
                  <a:schemeClr val="tx1"/>
                </a:solidFill>
              </a:rPr>
              <a:t>Bottom and right: the bent-down branch ends, the mirror image. Leave this way bent down and the rod snaps up.</a:t>
            </a:r>
            <a:endParaRPr lang="en-US" sz="1200" dirty="0"/>
          </a:p>
        </p:txBody>
      </p:sp>
      <p:sp>
        <p:nvSpPr>
          <p:cNvPr id="1010" name="badge-226"/>
          <p:cNvSpPr/>
          <p:nvPr/>
        </p:nvSpPr>
        <p:spPr>
          <a:xfrm>
            <a:off x="5577840" y="6182718"/>
            <a:ext cx="384048" cy="384048"/>
          </a:xfrm>
          <a:prstGeom prst="ellipse">
            <a:avLst/>
          </a:prstGeom>
          <a:solidFill>
            <a:schemeClr val="accent1"/>
          </a:solidFill>
          <a:ln/>
        </p:spPr>
        <p:txBody>
          <a:bodyPr/>
          <a:lstStyle/>
          <a:p>
            <a:endParaRPr lang="en-IN"/>
          </a:p>
        </p:txBody>
      </p:sp>
      <p:sp>
        <p:nvSpPr>
          <p:cNvPr id="1011" name="badge-label-227"/>
          <p:cNvSpPr txBox="1"/>
          <p:nvPr/>
        </p:nvSpPr>
        <p:spPr>
          <a:xfrm>
            <a:off x="5577840" y="618271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012" name="text-228"/>
          <p:cNvSpPr txBox="1"/>
          <p:nvPr/>
        </p:nvSpPr>
        <p:spPr>
          <a:xfrm>
            <a:off x="6126479" y="6155286"/>
            <a:ext cx="5394960" cy="548640"/>
          </a:xfrm>
          <a:prstGeom prst="rect">
            <a:avLst/>
          </a:prstGeom>
          <a:noFill/>
          <a:ln/>
        </p:spPr>
        <p:txBody>
          <a:bodyPr wrap="square" lIns="0" tIns="0" rIns="0" bIns="0" rtlCol="0" anchor="t"/>
          <a:lstStyle/>
          <a:p>
            <a:pPr marL="0" indent="0">
              <a:buNone/>
            </a:pPr>
            <a:r>
              <a:rPr lang="en-US" sz="1200" dirty="0">
                <a:solidFill>
                  <a:schemeClr val="tx1"/>
                </a:solidFill>
              </a:rPr>
              <a:t>On the diagonal the curves meet at cusps. Beyond them φ₁ = φ₂ is a smooth S-crossing and nothing snaps.</a:t>
            </a:r>
            <a:endParaRPr lang="en-US" sz="1200" dirty="0"/>
          </a:p>
        </p:txBody>
      </p:sp>
      <p:sp>
        <p:nvSpPr>
          <p:cNvPr id="101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Which snap the rod meets depends on the branch it is on</a:t>
            </a:r>
          </a:p>
        </p:txBody>
      </p:sp>
      <p:pic>
        <p:nvPicPr>
          <p:cNvPr id="3" name="Picture 2" descr="q and U along phi2 = 0 for both branches, with the two snaps"/>
          <p:cNvPicPr>
            <a:picLocks noChangeAspect="1"/>
          </p:cNvPicPr>
          <p:nvPr/>
        </p:nvPicPr>
        <p:blipFill>
          <a:blip r:embed="rId2"/>
          <a:stretch>
            <a:fillRect/>
          </a:stretch>
        </p:blipFill>
        <p:spPr>
          <a:xfrm>
            <a:off x="1051560" y="1280160"/>
            <a:ext cx="10058400" cy="3820558"/>
          </a:xfrm>
          <a:prstGeom prst="rect">
            <a:avLst/>
          </a:prstGeom>
        </p:spPr>
      </p:pic>
      <p:sp>
        <p:nvSpPr>
          <p:cNvPr id="1002" name="text-103"/>
          <p:cNvSpPr txBox="1"/>
          <p:nvPr/>
        </p:nvSpPr>
        <p:spPr>
          <a:xfrm>
            <a:off x="1051560" y="5210446"/>
            <a:ext cx="10058400" cy="548640"/>
          </a:xfrm>
          <a:prstGeom prst="rect">
            <a:avLst/>
          </a:prstGeom>
          <a:noFill/>
          <a:ln/>
        </p:spPr>
        <p:txBody>
          <a:bodyPr wrap="square" lIns="0" tIns="0" rIns="0" bIns="0" rtlCol="0" anchor="t"/>
          <a:lstStyle/>
          <a:p>
            <a:pPr marL="0" indent="0">
              <a:buNone/>
            </a:pPr>
            <a:r>
              <a:rPr lang="en-US" sz="1100" i="1" dirty="0">
                <a:solidFill>
                  <a:schemeClr val="accent5"/>
                </a:solidFill>
              </a:rPr>
              <a:t>d = 0.82, φ₂ = 0. Bent up (orange), the rod crosses the whole bistable band (teal) and snaps down only at φ₁ ≈ −0.76. Bent down (slate), it snaps up only at +0.76. The loop between the two snaps is the hysteresis; each snap releases U 11.2 → 4.2.</a:t>
            </a:r>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The bistable region closes in as d → 1</a:t>
            </a:r>
          </a:p>
        </p:txBody>
      </p:sp>
      <p:pic>
        <p:nvPicPr>
          <p:cNvPr id="3" name="Picture 2" descr="Edge of the bistable region per d layer, and its size against d"/>
          <p:cNvPicPr>
            <a:picLocks noChangeAspect="1"/>
          </p:cNvPicPr>
          <p:nvPr/>
        </p:nvPicPr>
        <p:blipFill>
          <a:blip r:embed="rId2"/>
          <a:stretch>
            <a:fillRect/>
          </a:stretch>
        </p:blipFill>
        <p:spPr>
          <a:xfrm>
            <a:off x="1325880" y="1234440"/>
            <a:ext cx="9509760" cy="4111960"/>
          </a:xfrm>
          <a:prstGeom prst="rect">
            <a:avLst/>
          </a:prstGeom>
        </p:spPr>
      </p:pic>
      <p:sp>
        <p:nvSpPr>
          <p:cNvPr id="1002" name="text-103"/>
          <p:cNvSpPr txBox="1"/>
          <p:nvPr/>
        </p:nvSpPr>
        <p:spPr>
          <a:xfrm>
            <a:off x="1325880" y="5456128"/>
            <a:ext cx="9509760" cy="548640"/>
          </a:xfrm>
          <a:prstGeom prst="rect">
            <a:avLst/>
          </a:prstGeom>
          <a:noFill/>
          <a:ln/>
        </p:spPr>
        <p:txBody>
          <a:bodyPr wrap="square" lIns="0" tIns="0" rIns="0" bIns="0" rtlCol="0" anchor="t"/>
          <a:lstStyle/>
          <a:p>
            <a:pPr marL="0" indent="0">
              <a:buNone/>
            </a:pPr>
            <a:r>
              <a:rPr lang="en-US" sz="1100" i="1" dirty="0">
                <a:solidFill>
                  <a:schemeClr val="accent5"/>
                </a:solidFill>
              </a:rPr>
              <a:t>Share of the layer: 41 % at d = 0.70, 25 % at 0.82, 14 % at 0.90, 1.3 % at 0.99. Along φ₂ = 0 it spans |φ₁| &lt; 0.97, 0.75, 0.56 and 0.17. The largest energy gap between the two rods falls from 25.6 to 0.8.</a:t>
            </a:r>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The region ends in a cusp on the diagonal</a:t>
            </a:r>
          </a:p>
        </p:txBody>
      </p:sp>
      <p:pic>
        <p:nvPicPr>
          <p:cNvPr id="3" name="Picture 2" descr="The thin tip of the bistable region along the diagonal at d = 0.70"/>
          <p:cNvPicPr>
            <a:picLocks noChangeAspect="1"/>
          </p:cNvPicPr>
          <p:nvPr/>
        </p:nvPicPr>
        <p:blipFill>
          <a:blip r:embed="rId2"/>
          <a:stretch>
            <a:fillRect/>
          </a:stretch>
        </p:blipFill>
        <p:spPr>
          <a:xfrm>
            <a:off x="1325880" y="1234440"/>
            <a:ext cx="9509760" cy="4237992"/>
          </a:xfrm>
          <a:prstGeom prst="rect">
            <a:avLst/>
          </a:prstGeom>
        </p:spPr>
      </p:pic>
      <p:sp>
        <p:nvSpPr>
          <p:cNvPr id="1002" name="text-103"/>
          <p:cNvSpPr txBox="1"/>
          <p:nvPr/>
        </p:nvSpPr>
        <p:spPr>
          <a:xfrm>
            <a:off x="1325880" y="5582160"/>
            <a:ext cx="9509760" cy="548640"/>
          </a:xfrm>
          <a:prstGeom prst="rect">
            <a:avLst/>
          </a:prstGeom>
          <a:noFill/>
          <a:ln/>
        </p:spPr>
        <p:txBody>
          <a:bodyPr wrap="square" lIns="0" tIns="0" rIns="0" bIns="0" rtlCol="0" anchor="t"/>
          <a:lstStyle/>
          <a:p>
            <a:pPr marL="0" indent="0">
              <a:buNone/>
            </a:pPr>
            <a:r>
              <a:rPr lang="en-US" sz="1100" i="1" dirty="0">
                <a:solidFill>
                  <a:schemeClr val="accent5"/>
                </a:solidFill>
              </a:rPr>
              <a:t>d = 0.70. Towards the diagonal the two fold curves close in and meet at a cusp at φ ≈ 1.13. Near it both stable rods are S-shapes, mirror images with q ≈ ±0.5 and equal energy on the diagonal; at the cusp q falls to 0. The cusp moves in with d: φ ≈ 0.86 at d = 0.82, 0.20 at 0.99.</a:t>
            </a:r>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Following one rod around the snap surface</a:t>
            </a:r>
          </a:p>
        </p:txBody>
      </p:sp>
      <p:pic>
        <p:nvPicPr>
          <p:cNvPr id="3" name="branch_walk.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234440"/>
            <a:ext cx="7680960" cy="4320540"/>
          </a:xfrm>
          <a:prstGeom prst="rect">
            <a:avLst/>
          </a:prstGeom>
        </p:spPr>
      </p:pic>
      <p:sp>
        <p:nvSpPr>
          <p:cNvPr id="1002" name="text-103"/>
          <p:cNvSpPr txBox="1"/>
          <p:nvPr/>
        </p:nvSpPr>
        <p:spPr>
          <a:xfrm>
            <a:off x="502920" y="5669280"/>
            <a:ext cx="7680960" cy="548640"/>
          </a:xfrm>
          <a:prstGeom prst="rect">
            <a:avLst/>
          </a:prstGeom>
          <a:noFill/>
          <a:ln/>
        </p:spPr>
        <p:txBody>
          <a:bodyPr wrap="square" lIns="0" tIns="0" rIns="0" bIns="0" rtlCol="0" anchor="t"/>
          <a:lstStyle/>
          <a:p>
            <a:pPr marL="0" indent="0">
              <a:buNone/>
            </a:pPr>
            <a:r>
              <a:rPr lang="en-US" sz="1100" i="1" dirty="0">
                <a:solidFill>
                  <a:schemeClr val="accent5"/>
                </a:solidFill>
              </a:rPr>
              <a:t>Click to play (29 s). d = 0.82. Left: the map of the branch the rod is on; red, the snap curve it can meet; grey, the other branch's. Right: the rod, and the snap surface in (φ₁, φ₂, d) for its branch.</a:t>
            </a:r>
          </a:p>
        </p:txBody>
      </p:sp>
      <p:sp>
        <p:nvSpPr>
          <p:cNvPr id="1003" name="badge-226"/>
          <p:cNvSpPr/>
          <p:nvPr/>
        </p:nvSpPr>
        <p:spPr>
          <a:xfrm>
            <a:off x="8458200" y="1325880"/>
            <a:ext cx="384048" cy="384048"/>
          </a:xfrm>
          <a:prstGeom prst="ellipse">
            <a:avLst/>
          </a:prstGeom>
          <a:solidFill>
            <a:schemeClr val="accent1"/>
          </a:solidFill>
          <a:ln/>
        </p:spPr>
        <p:txBody>
          <a:bodyPr/>
          <a:lstStyle/>
          <a:p>
            <a:endParaRPr lang="en-IN"/>
          </a:p>
        </p:txBody>
      </p:sp>
      <p:sp>
        <p:nvSpPr>
          <p:cNvPr id="1004" name="badge-label-227"/>
          <p:cNvSpPr txBox="1"/>
          <p:nvPr/>
        </p:nvSpPr>
        <p:spPr>
          <a:xfrm>
            <a:off x="8458200" y="13258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005" name="text-228"/>
          <p:cNvSpPr txBox="1"/>
          <p:nvPr/>
        </p:nvSpPr>
        <p:spPr>
          <a:xfrm>
            <a:off x="9006840" y="1298448"/>
            <a:ext cx="3108960" cy="1463040"/>
          </a:xfrm>
          <a:prstGeom prst="rect">
            <a:avLst/>
          </a:prstGeom>
          <a:noFill/>
          <a:ln/>
        </p:spPr>
        <p:txBody>
          <a:bodyPr wrap="square" lIns="0" tIns="0" rIns="0" bIns="0" rtlCol="0" anchor="t"/>
          <a:lstStyle/>
          <a:p>
            <a:pPr marL="0" indent="0">
              <a:buNone/>
            </a:pPr>
            <a:r>
              <a:rPr lang="en-US" sz="1200" dirty="0">
                <a:solidFill>
                  <a:schemeClr val="tx1"/>
                </a:solidFill>
              </a:rPr>
              <a:t>Across. Bent up, the rod snaps down at φ₁ = −0.76, and the map and snap surface switch to the bent-down ones. Coming back it snaps up only at +0.76.</a:t>
            </a:r>
            <a:endParaRPr lang="en-US" sz="1200" dirty="0"/>
          </a:p>
        </p:txBody>
      </p:sp>
      <p:sp>
        <p:nvSpPr>
          <p:cNvPr id="1006" name="badge-226"/>
          <p:cNvSpPr/>
          <p:nvPr/>
        </p:nvSpPr>
        <p:spPr>
          <a:xfrm>
            <a:off x="8458200" y="2926080"/>
            <a:ext cx="384048" cy="384048"/>
          </a:xfrm>
          <a:prstGeom prst="ellipse">
            <a:avLst/>
          </a:prstGeom>
          <a:solidFill>
            <a:schemeClr val="accent1"/>
          </a:solidFill>
          <a:ln/>
        </p:spPr>
        <p:txBody>
          <a:bodyPr/>
          <a:lstStyle/>
          <a:p>
            <a:endParaRPr lang="en-IN"/>
          </a:p>
        </p:txBody>
      </p:sp>
      <p:sp>
        <p:nvSpPr>
          <p:cNvPr id="1007" name="badge-label-227"/>
          <p:cNvSpPr txBox="1"/>
          <p:nvPr/>
        </p:nvSpPr>
        <p:spPr>
          <a:xfrm>
            <a:off x="8458200" y="29260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08" name="text-228"/>
          <p:cNvSpPr txBox="1"/>
          <p:nvPr/>
        </p:nvSpPr>
        <p:spPr>
          <a:xfrm>
            <a:off x="9006840" y="2898648"/>
            <a:ext cx="3108960" cy="1463040"/>
          </a:xfrm>
          <a:prstGeom prst="rect">
            <a:avLst/>
          </a:prstGeom>
          <a:noFill/>
          <a:ln/>
        </p:spPr>
        <p:txBody>
          <a:bodyPr wrap="square" lIns="0" tIns="0" rIns="0" bIns="0" rtlCol="0" anchor="t"/>
          <a:lstStyle/>
          <a:p>
            <a:pPr marL="0" indent="0">
              <a:buNone/>
            </a:pPr>
            <a:r>
              <a:rPr lang="en-US" sz="1200" dirty="0">
                <a:solidFill>
                  <a:schemeClr val="tx1"/>
                </a:solidFill>
              </a:rPr>
              <a:t>Around. Raising φ₂ at φ₁ = 1.25 passes the end of the snap curve: a smooth S-crossing turns the rod bent down, no snap.</a:t>
            </a:r>
            <a:endParaRPr lang="en-US" sz="1200" dirty="0"/>
          </a:p>
        </p:txBody>
      </p:sp>
      <p:sp>
        <p:nvSpPr>
          <p:cNvPr id="1009" name="badge-226"/>
          <p:cNvSpPr/>
          <p:nvPr/>
        </p:nvSpPr>
        <p:spPr>
          <a:xfrm>
            <a:off x="8458200" y="4526280"/>
            <a:ext cx="384048" cy="384048"/>
          </a:xfrm>
          <a:prstGeom prst="ellipse">
            <a:avLst/>
          </a:prstGeom>
          <a:solidFill>
            <a:schemeClr val="accent1"/>
          </a:solidFill>
          <a:ln/>
        </p:spPr>
        <p:txBody>
          <a:bodyPr/>
          <a:lstStyle/>
          <a:p>
            <a:endParaRPr lang="en-IN"/>
          </a:p>
        </p:txBody>
      </p:sp>
      <p:sp>
        <p:nvSpPr>
          <p:cNvPr id="1010" name="badge-label-227"/>
          <p:cNvSpPr txBox="1"/>
          <p:nvPr/>
        </p:nvSpPr>
        <p:spPr>
          <a:xfrm>
            <a:off x="8458200" y="45262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011" name="text-228"/>
          <p:cNvSpPr txBox="1"/>
          <p:nvPr/>
        </p:nvSpPr>
        <p:spPr>
          <a:xfrm>
            <a:off x="9006840" y="4498848"/>
            <a:ext cx="3108960" cy="1463040"/>
          </a:xfrm>
          <a:prstGeom prst="rect">
            <a:avLst/>
          </a:prstGeom>
          <a:noFill/>
          <a:ln/>
        </p:spPr>
        <p:txBody>
          <a:bodyPr wrap="square" lIns="0" tIns="0" rIns="0" bIns="0" rtlCol="0" anchor="t"/>
          <a:lstStyle/>
          <a:p>
            <a:pPr marL="0" indent="0">
              <a:buNone/>
            </a:pPr>
            <a:r>
              <a:rPr lang="en-US" sz="1200" dirty="0">
                <a:solidFill>
                  <a:schemeClr val="tx1"/>
                </a:solidFill>
              </a:rPr>
              <a:t>Back at the start, now bent down. Repeating the first move, nothing snaps: its snap curve is in quadrants 1, 3, 4.</a:t>
            </a:r>
            <a:endParaRPr lang="en-US" sz="1200" dirty="0"/>
          </a:p>
        </p:txBody>
      </p:sp>
      <p:sp>
        <p:nvSpPr>
          <p:cNvPr id="101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097280"/>
          </a:xfrm>
          <a:prstGeom prst="rect">
            <a:avLst/>
          </a:prstGeom>
          <a:noFill/>
          <a:ln/>
        </p:spPr>
        <p:txBody>
          <a:bodyPr wrap="square" lIns="0" tIns="0" rIns="0" bIns="0" rtlCol="0" anchor="b"/>
          <a:lstStyle/>
          <a:p>
            <a:pPr marL="0" indent="0" algn="l">
              <a:buNone/>
            </a:pPr>
            <a:r>
              <a:rPr lang="en-US" sz="4000" dirty="0">
                <a:solidFill>
                  <a:schemeClr val="bg1"/>
                </a:solidFill>
              </a:rPr>
              <a:t>Continuation strategy</a:t>
            </a:r>
          </a:p>
        </p:txBody>
      </p:sp>
      <p:sp>
        <p:nvSpPr>
          <p:cNvPr id="3" name="Text 0"/>
          <p:cNvSpPr>
            <a:spLocks noGrp="1"/>
          </p:cNvSpPr>
          <p:nvPr>
            <p:ph type="body" idx="101" hasCustomPrompt="1"/>
          </p:nvPr>
        </p:nvSpPr>
        <p:spPr>
          <a:xfrm>
            <a:off x="822960" y="3657600"/>
            <a:ext cx="10515600" cy="822960"/>
          </a:xfrm>
          <a:prstGeom prst="rect">
            <a:avLst/>
          </a:prstGeom>
          <a:noFill/>
          <a:ln/>
        </p:spPr>
        <p:txBody>
          <a:bodyPr wrap="square" lIns="0" tIns="0" rIns="0" bIns="0" rtlCol="0" anchor="t"/>
          <a:lstStyle/>
          <a:p>
            <a:pPr marL="0" indent="0">
              <a:buNone/>
            </a:pPr>
            <a:r>
              <a:rPr lang="en-US" sz="2000" dirty="0">
                <a:solidFill>
                  <a:schemeClr val="accent1"/>
                </a:solidFill>
              </a:rPr>
              <a:t>How the solver walks the parameter space and guards against branch switches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Traverse the grid; reject jumps and unstable results</a:t>
            </a:r>
          </a:p>
        </p:txBody>
      </p:sp>
      <p:sp>
        <p:nvSpPr>
          <p:cNvPr id="3" name="flow-box-105"/>
          <p:cNvSpPr/>
          <p:nvPr/>
        </p:nvSpPr>
        <p:spPr>
          <a:xfrm>
            <a:off x="548640" y="1508760"/>
            <a:ext cx="1965960" cy="1325880"/>
          </a:xfrm>
          <a:prstGeom prst="roundRect">
            <a:avLst>
              <a:gd name="adj" fmla="val 5517"/>
            </a:avLst>
          </a:prstGeom>
          <a:solidFill>
            <a:schemeClr val="bg2"/>
          </a:solidFill>
          <a:ln/>
        </p:spPr>
        <p:txBody>
          <a:bodyPr/>
          <a:lstStyle/>
          <a:p>
            <a:endParaRPr lang="en-IN"/>
          </a:p>
        </p:txBody>
      </p:sp>
      <p:sp>
        <p:nvSpPr>
          <p:cNvPr id="4" name="text-106"/>
          <p:cNvSpPr txBox="1"/>
          <p:nvPr/>
        </p:nvSpPr>
        <p:spPr>
          <a:xfrm>
            <a:off x="685800" y="1600200"/>
            <a:ext cx="1691640" cy="1143000"/>
          </a:xfrm>
          <a:prstGeom prst="rect">
            <a:avLst/>
          </a:prstGeom>
          <a:noFill/>
          <a:ln/>
        </p:spPr>
        <p:txBody>
          <a:bodyPr wrap="square" lIns="0" tIns="0" rIns="0" bIns="0" rtlCol="0" anchor="ctr"/>
          <a:lstStyle/>
          <a:p>
            <a:pPr marL="0" indent="0" algn="ctr">
              <a:buNone/>
            </a:pPr>
            <a:r>
              <a:rPr lang="en-US" sz="1400" dirty="0">
                <a:solidFill>
                  <a:schemeClr val="tx1"/>
                </a:solidFill>
              </a:rPr>
              <a:t>Cold-start once at φ₁ = φ₂ = 0, smallest d; visit nodes by grid distance from it</a:t>
            </a:r>
            <a:endParaRPr lang="en-US" sz="1400" dirty="0"/>
          </a:p>
        </p:txBody>
      </p:sp>
      <p:sp>
        <p:nvSpPr>
          <p:cNvPr id="5" name="flow-arrow-107"/>
          <p:cNvSpPr/>
          <p:nvPr/>
        </p:nvSpPr>
        <p:spPr>
          <a:xfrm>
            <a:off x="2542032" y="2171700"/>
            <a:ext cx="256032" cy="0"/>
          </a:xfrm>
          <a:prstGeom prst="line">
            <a:avLst/>
          </a:prstGeom>
          <a:noFill/>
          <a:ln w="22225">
            <a:solidFill>
              <a:schemeClr val="accent5"/>
            </a:solidFill>
            <a:prstDash val="solid"/>
            <a:tailEnd type="triangle"/>
          </a:ln>
        </p:spPr>
        <p:txBody>
          <a:bodyPr/>
          <a:lstStyle/>
          <a:p>
            <a:endParaRPr lang="en-IN"/>
          </a:p>
        </p:txBody>
      </p:sp>
      <p:sp>
        <p:nvSpPr>
          <p:cNvPr id="6" name="flow-box-108"/>
          <p:cNvSpPr/>
          <p:nvPr/>
        </p:nvSpPr>
        <p:spPr>
          <a:xfrm>
            <a:off x="2825496" y="1508760"/>
            <a:ext cx="1965960" cy="1325880"/>
          </a:xfrm>
          <a:prstGeom prst="roundRect">
            <a:avLst>
              <a:gd name="adj" fmla="val 5517"/>
            </a:avLst>
          </a:prstGeom>
          <a:solidFill>
            <a:schemeClr val="bg2"/>
          </a:solidFill>
          <a:ln/>
        </p:spPr>
        <p:txBody>
          <a:bodyPr/>
          <a:lstStyle/>
          <a:p>
            <a:endParaRPr lang="en-IN"/>
          </a:p>
        </p:txBody>
      </p:sp>
      <p:sp>
        <p:nvSpPr>
          <p:cNvPr id="7" name="text-109"/>
          <p:cNvSpPr txBox="1"/>
          <p:nvPr/>
        </p:nvSpPr>
        <p:spPr>
          <a:xfrm>
            <a:off x="2962656" y="1600200"/>
            <a:ext cx="1691640" cy="1143000"/>
          </a:xfrm>
          <a:prstGeom prst="rect">
            <a:avLst/>
          </a:prstGeom>
          <a:noFill/>
          <a:ln/>
        </p:spPr>
        <p:txBody>
          <a:bodyPr wrap="square" lIns="0" tIns="0" rIns="0" bIns="0" rtlCol="0" anchor="ctr"/>
          <a:lstStyle/>
          <a:p>
            <a:pPr marL="0" indent="0" algn="ctr">
              <a:buNone/>
            </a:pPr>
            <a:r>
              <a:rPr lang="en-US" sz="1400" dirty="0">
                <a:solidFill>
                  <a:schemeClr val="tx1"/>
                </a:solidFill>
              </a:rPr>
              <a:t>Warm-start θ, f</a:t>
            </a:r>
            <a:r>
              <a:rPr lang="en-US" sz="1400" baseline="-40000" dirty="0">
                <a:solidFill>
                  <a:schemeClr val="tx1"/>
                </a:solidFill>
              </a:rPr>
              <a:t>x</a:t>
            </a:r>
            <a:r>
              <a:rPr lang="en-US" sz="1400" dirty="0">
                <a:solidFill>
                  <a:schemeClr val="tx1"/>
                </a:solidFill>
              </a:rPr>
              <a:t>, f</a:t>
            </a:r>
            <a:r>
              <a:rPr lang="en-US" sz="1400" baseline="-40000" dirty="0">
                <a:solidFill>
                  <a:schemeClr val="tx1"/>
                </a:solidFill>
              </a:rPr>
              <a:t>y</a:t>
            </a:r>
            <a:r>
              <a:rPr lang="en-US" sz="1400" dirty="0">
                <a:solidFill>
                  <a:schemeClr val="tx1"/>
                </a:solidFill>
              </a:rPr>
              <a:t> from a solved grid neighbour: bent-up ones first, then nearest</a:t>
            </a:r>
            <a:endParaRPr lang="en-US" sz="1400" dirty="0"/>
          </a:p>
        </p:txBody>
      </p:sp>
      <p:sp>
        <p:nvSpPr>
          <p:cNvPr id="8" name="flow-arrow-110"/>
          <p:cNvSpPr/>
          <p:nvPr/>
        </p:nvSpPr>
        <p:spPr>
          <a:xfrm>
            <a:off x="4818888" y="2171700"/>
            <a:ext cx="256032" cy="0"/>
          </a:xfrm>
          <a:prstGeom prst="line">
            <a:avLst/>
          </a:prstGeom>
          <a:noFill/>
          <a:ln w="22225">
            <a:solidFill>
              <a:schemeClr val="accent5"/>
            </a:solidFill>
            <a:prstDash val="solid"/>
            <a:tailEnd type="triangle"/>
          </a:ln>
        </p:spPr>
        <p:txBody>
          <a:bodyPr/>
          <a:lstStyle/>
          <a:p>
            <a:endParaRPr lang="en-IN"/>
          </a:p>
        </p:txBody>
      </p:sp>
      <p:sp>
        <p:nvSpPr>
          <p:cNvPr id="9" name="flow-box-111"/>
          <p:cNvSpPr/>
          <p:nvPr/>
        </p:nvSpPr>
        <p:spPr>
          <a:xfrm>
            <a:off x="5102352" y="1508760"/>
            <a:ext cx="1965960" cy="1325880"/>
          </a:xfrm>
          <a:prstGeom prst="roundRect">
            <a:avLst>
              <a:gd name="adj" fmla="val 5517"/>
            </a:avLst>
          </a:prstGeom>
          <a:solidFill>
            <a:schemeClr val="bg2"/>
          </a:solidFill>
          <a:ln/>
        </p:spPr>
        <p:txBody>
          <a:bodyPr/>
          <a:lstStyle/>
          <a:p>
            <a:endParaRPr lang="en-IN"/>
          </a:p>
        </p:txBody>
      </p:sp>
      <p:sp>
        <p:nvSpPr>
          <p:cNvPr id="10" name="text-112"/>
          <p:cNvSpPr txBox="1"/>
          <p:nvPr/>
        </p:nvSpPr>
        <p:spPr>
          <a:xfrm>
            <a:off x="5239512" y="1600200"/>
            <a:ext cx="1691640" cy="1143000"/>
          </a:xfrm>
          <a:prstGeom prst="rect">
            <a:avLst/>
          </a:prstGeom>
          <a:noFill/>
          <a:ln/>
        </p:spPr>
        <p:txBody>
          <a:bodyPr wrap="square" lIns="0" tIns="0" rIns="0" bIns="0" rtlCol="0" anchor="ctr"/>
          <a:lstStyle/>
          <a:p>
            <a:pPr marL="0" indent="0" algn="ctr">
              <a:buNone/>
            </a:pPr>
            <a:r>
              <a:rPr lang="en-US" sz="1400" dirty="0">
                <a:solidFill>
                  <a:schemeClr val="tx1"/>
                </a:solidFill>
              </a:rPr>
              <a:t>Newton solve (SNES, at most 50 iterations)</a:t>
            </a:r>
            <a:endParaRPr lang="en-US" sz="1400" dirty="0"/>
          </a:p>
        </p:txBody>
      </p:sp>
      <p:sp>
        <p:nvSpPr>
          <p:cNvPr id="11" name="flow-arrow-113"/>
          <p:cNvSpPr/>
          <p:nvPr/>
        </p:nvSpPr>
        <p:spPr>
          <a:xfrm>
            <a:off x="7095744" y="2171700"/>
            <a:ext cx="256032" cy="0"/>
          </a:xfrm>
          <a:prstGeom prst="line">
            <a:avLst/>
          </a:prstGeom>
          <a:noFill/>
          <a:ln w="22225">
            <a:solidFill>
              <a:schemeClr val="accent5"/>
            </a:solidFill>
            <a:prstDash val="solid"/>
            <a:tailEnd type="triangle"/>
          </a:ln>
        </p:spPr>
        <p:txBody>
          <a:bodyPr/>
          <a:lstStyle/>
          <a:p>
            <a:endParaRPr lang="en-IN"/>
          </a:p>
        </p:txBody>
      </p:sp>
      <p:sp>
        <p:nvSpPr>
          <p:cNvPr id="12" name="flow-box-114"/>
          <p:cNvSpPr/>
          <p:nvPr/>
        </p:nvSpPr>
        <p:spPr>
          <a:xfrm>
            <a:off x="7379208" y="1508760"/>
            <a:ext cx="1965960" cy="1325880"/>
          </a:xfrm>
          <a:prstGeom prst="roundRect">
            <a:avLst>
              <a:gd name="adj" fmla="val 5517"/>
            </a:avLst>
          </a:prstGeom>
          <a:solidFill>
            <a:schemeClr val="accent1"/>
          </a:solidFill>
          <a:ln/>
        </p:spPr>
        <p:txBody>
          <a:bodyPr/>
          <a:lstStyle/>
          <a:p>
            <a:endParaRPr lang="en-IN"/>
          </a:p>
        </p:txBody>
      </p:sp>
      <p:sp>
        <p:nvSpPr>
          <p:cNvPr id="13" name="text-115"/>
          <p:cNvSpPr txBox="1"/>
          <p:nvPr/>
        </p:nvSpPr>
        <p:spPr>
          <a:xfrm>
            <a:off x="7516368" y="1600200"/>
            <a:ext cx="1691640" cy="1143000"/>
          </a:xfrm>
          <a:prstGeom prst="rect">
            <a:avLst/>
          </a:prstGeom>
          <a:noFill/>
          <a:ln/>
        </p:spPr>
        <p:txBody>
          <a:bodyPr wrap="square" lIns="0" tIns="0" rIns="0" bIns="0" rtlCol="0" anchor="ctr"/>
          <a:lstStyle/>
          <a:p>
            <a:pPr marL="0" indent="0" algn="ctr">
              <a:buNone/>
            </a:pPr>
            <a:r>
              <a:rPr lang="en-US" sz="1400" dirty="0">
                <a:solidFill>
                  <a:schemeClr val="bg1"/>
                </a:solidFill>
              </a:rPr>
              <a:t>No jump in q, and stable?</a:t>
            </a:r>
          </a:p>
        </p:txBody>
      </p:sp>
      <p:sp>
        <p:nvSpPr>
          <p:cNvPr id="14" name="flow-arrow-116"/>
          <p:cNvSpPr/>
          <p:nvPr/>
        </p:nvSpPr>
        <p:spPr>
          <a:xfrm>
            <a:off x="9372600" y="2171700"/>
            <a:ext cx="256032" cy="0"/>
          </a:xfrm>
          <a:prstGeom prst="line">
            <a:avLst/>
          </a:prstGeom>
          <a:noFill/>
          <a:ln w="22225">
            <a:solidFill>
              <a:schemeClr val="accent5"/>
            </a:solidFill>
            <a:prstDash val="solid"/>
            <a:tailEnd type="triangle"/>
          </a:ln>
        </p:spPr>
        <p:txBody>
          <a:bodyPr/>
          <a:lstStyle/>
          <a:p>
            <a:endParaRPr lang="en-IN"/>
          </a:p>
        </p:txBody>
      </p:sp>
      <p:sp>
        <p:nvSpPr>
          <p:cNvPr id="15" name="flow-box-117"/>
          <p:cNvSpPr/>
          <p:nvPr/>
        </p:nvSpPr>
        <p:spPr>
          <a:xfrm>
            <a:off x="9656064" y="1508760"/>
            <a:ext cx="1965960" cy="1325880"/>
          </a:xfrm>
          <a:prstGeom prst="roundRect">
            <a:avLst>
              <a:gd name="adj" fmla="val 5517"/>
            </a:avLst>
          </a:prstGeom>
          <a:solidFill>
            <a:schemeClr val="bg2"/>
          </a:solidFill>
          <a:ln/>
        </p:spPr>
        <p:txBody>
          <a:bodyPr/>
          <a:lstStyle/>
          <a:p>
            <a:endParaRPr lang="en-IN"/>
          </a:p>
        </p:txBody>
      </p:sp>
      <p:sp>
        <p:nvSpPr>
          <p:cNvPr id="16" name="text-118"/>
          <p:cNvSpPr txBox="1"/>
          <p:nvPr/>
        </p:nvSpPr>
        <p:spPr>
          <a:xfrm>
            <a:off x="9793224" y="1600200"/>
            <a:ext cx="1691640" cy="1143000"/>
          </a:xfrm>
          <a:prstGeom prst="rect">
            <a:avLst/>
          </a:prstGeom>
          <a:noFill/>
          <a:ln/>
        </p:spPr>
        <p:txBody>
          <a:bodyPr wrap="square" lIns="0" tIns="0" rIns="0" bIns="0" rtlCol="0" anchor="ctr"/>
          <a:lstStyle/>
          <a:p>
            <a:pPr marL="0" indent="0" algn="ctr">
              <a:buNone/>
            </a:pPr>
            <a:r>
              <a:rPr lang="en-US" sz="1400" dirty="0">
                <a:solidFill>
                  <a:schemeClr val="tx1"/>
                </a:solidFill>
              </a:rPr>
              <a:t>Accept, store, and write the mirror point</a:t>
            </a:r>
            <a:endParaRPr lang="en-US" sz="1400" dirty="0"/>
          </a:p>
        </p:txBody>
      </p:sp>
      <p:sp>
        <p:nvSpPr>
          <p:cNvPr id="17" name="text-119"/>
          <p:cNvSpPr txBox="1"/>
          <p:nvPr/>
        </p:nvSpPr>
        <p:spPr>
          <a:xfrm>
            <a:off x="9345168" y="1805940"/>
            <a:ext cx="310896" cy="274320"/>
          </a:xfrm>
          <a:prstGeom prst="rect">
            <a:avLst/>
          </a:prstGeom>
          <a:noFill/>
          <a:ln/>
        </p:spPr>
        <p:txBody>
          <a:bodyPr wrap="square" lIns="0" tIns="0" rIns="0" bIns="0" rtlCol="0" anchor="t"/>
          <a:lstStyle/>
          <a:p>
            <a:pPr marL="0" indent="0" algn="ctr">
              <a:buNone/>
            </a:pPr>
            <a:r>
              <a:rPr lang="en-US" sz="1200" b="1" dirty="0">
                <a:solidFill>
                  <a:schemeClr val="accent2"/>
                </a:solidFill>
              </a:rPr>
              <a:t>yes</a:t>
            </a:r>
            <a:endParaRPr lang="en-US" sz="1200" dirty="0"/>
          </a:p>
        </p:txBody>
      </p:sp>
      <p:sp>
        <p:nvSpPr>
          <p:cNvPr id="18" name="flow-arrow-120"/>
          <p:cNvSpPr/>
          <p:nvPr/>
        </p:nvSpPr>
        <p:spPr>
          <a:xfrm>
            <a:off x="8362188" y="2862072"/>
            <a:ext cx="0" cy="548640"/>
          </a:xfrm>
          <a:prstGeom prst="line">
            <a:avLst/>
          </a:prstGeom>
          <a:noFill/>
          <a:ln w="22225">
            <a:solidFill>
              <a:schemeClr val="accent3"/>
            </a:solidFill>
            <a:prstDash val="solid"/>
            <a:tailEnd type="triangle"/>
          </a:ln>
        </p:spPr>
        <p:txBody>
          <a:bodyPr/>
          <a:lstStyle/>
          <a:p>
            <a:endParaRPr lang="en-IN"/>
          </a:p>
        </p:txBody>
      </p:sp>
      <p:sp>
        <p:nvSpPr>
          <p:cNvPr id="19" name="text-121"/>
          <p:cNvSpPr txBox="1"/>
          <p:nvPr/>
        </p:nvSpPr>
        <p:spPr>
          <a:xfrm>
            <a:off x="8453628" y="2944368"/>
            <a:ext cx="457200" cy="274320"/>
          </a:xfrm>
          <a:prstGeom prst="rect">
            <a:avLst/>
          </a:prstGeom>
          <a:noFill/>
          <a:ln/>
        </p:spPr>
        <p:txBody>
          <a:bodyPr wrap="square" lIns="0" tIns="0" rIns="0" bIns="0" rtlCol="0" anchor="t"/>
          <a:lstStyle/>
          <a:p>
            <a:pPr marL="0" indent="0">
              <a:buNone/>
            </a:pPr>
            <a:r>
              <a:rPr lang="en-US" sz="1200" b="1" dirty="0">
                <a:solidFill>
                  <a:schemeClr val="accent3"/>
                </a:solidFill>
              </a:rPr>
              <a:t>no</a:t>
            </a:r>
            <a:endParaRPr lang="en-US" sz="1200" dirty="0"/>
          </a:p>
        </p:txBody>
      </p:sp>
      <p:sp>
        <p:nvSpPr>
          <p:cNvPr id="20" name="flow-box-122"/>
          <p:cNvSpPr/>
          <p:nvPr/>
        </p:nvSpPr>
        <p:spPr>
          <a:xfrm>
            <a:off x="5618988" y="3429000"/>
            <a:ext cx="4206240" cy="960120"/>
          </a:xfrm>
          <a:prstGeom prst="roundRect">
            <a:avLst>
              <a:gd name="adj" fmla="val 7619"/>
            </a:avLst>
          </a:prstGeom>
          <a:solidFill>
            <a:schemeClr val="bg1"/>
          </a:solidFill>
          <a:ln w="19050">
            <a:solidFill>
              <a:schemeClr val="accent3"/>
            </a:solidFill>
            <a:prstDash val="solid"/>
          </a:ln>
        </p:spPr>
        <p:txBody>
          <a:bodyPr/>
          <a:lstStyle/>
          <a:p>
            <a:endParaRPr lang="en-IN"/>
          </a:p>
        </p:txBody>
      </p:sp>
      <p:sp>
        <p:nvSpPr>
          <p:cNvPr id="21" name="text-123"/>
          <p:cNvSpPr txBox="1"/>
          <p:nvPr/>
        </p:nvSpPr>
        <p:spPr>
          <a:xfrm>
            <a:off x="5756148" y="3474720"/>
            <a:ext cx="3931920" cy="868680"/>
          </a:xfrm>
          <a:prstGeom prst="rect">
            <a:avLst/>
          </a:prstGeom>
          <a:noFill/>
          <a:ln/>
        </p:spPr>
        <p:txBody>
          <a:bodyPr wrap="square" lIns="0" tIns="0" rIns="0" bIns="0" rtlCol="0" anchor="ctr"/>
          <a:lstStyle/>
          <a:p>
            <a:pPr marL="0" indent="0">
              <a:buNone/>
            </a:pPr>
            <a:r>
              <a:rPr lang="en-US" sz="1400" dirty="0">
                <a:solidFill>
                  <a:schemeClr val="tx1"/>
                </a:solidFill>
              </a:rPr>
              <a:t>Rejected or diverged: try the next neighbour. After 3 failures from one branch, wait for the other; a waiting node retries whenever a neighbour is solved.</a:t>
            </a:r>
          </a:p>
        </p:txBody>
      </p:sp>
      <p:sp>
        <p:nvSpPr>
          <p:cNvPr id="22" name="card-124"/>
          <p:cNvSpPr/>
          <p:nvPr/>
        </p:nvSpPr>
        <p:spPr>
          <a:xfrm>
            <a:off x="548640" y="4663440"/>
            <a:ext cx="3493008" cy="1508760"/>
          </a:xfrm>
          <a:prstGeom prst="roundRect">
            <a:avLst>
              <a:gd name="adj" fmla="val 4848"/>
            </a:avLst>
          </a:prstGeom>
          <a:solidFill>
            <a:schemeClr val="bg2"/>
          </a:solidFill>
          <a:ln/>
        </p:spPr>
        <p:txBody>
          <a:bodyPr/>
          <a:lstStyle/>
          <a:p>
            <a:endParaRPr lang="en-IN"/>
          </a:p>
        </p:txBody>
      </p:sp>
      <p:sp>
        <p:nvSpPr>
          <p:cNvPr id="23" name="text-125"/>
          <p:cNvSpPr txBox="1"/>
          <p:nvPr/>
        </p:nvSpPr>
        <p:spPr>
          <a:xfrm>
            <a:off x="731520" y="4773168"/>
            <a:ext cx="3108960" cy="320040"/>
          </a:xfrm>
          <a:prstGeom prst="rect">
            <a:avLst/>
          </a:prstGeom>
          <a:noFill/>
          <a:ln/>
        </p:spPr>
        <p:txBody>
          <a:bodyPr wrap="square" lIns="0" tIns="0" rIns="0" bIns="0" rtlCol="0" anchor="t"/>
          <a:lstStyle/>
          <a:p>
            <a:pPr marL="0" indent="0">
              <a:buNone/>
            </a:pPr>
            <a:r>
              <a:rPr lang="en-US" sz="1500" b="1" dirty="0">
                <a:solidFill>
                  <a:schemeClr val="accent1"/>
                </a:solidFill>
              </a:rPr>
              <a:t>Grid</a:t>
            </a:r>
            <a:endParaRPr lang="en-US" sz="1500" dirty="0"/>
          </a:p>
        </p:txBody>
      </p:sp>
      <p:sp>
        <p:nvSpPr>
          <p:cNvPr id="24" name="text-126"/>
          <p:cNvSpPr txBox="1"/>
          <p:nvPr/>
        </p:nvSpPr>
        <p:spPr>
          <a:xfrm>
            <a:off x="731520" y="5120640"/>
            <a:ext cx="3108960" cy="960120"/>
          </a:xfrm>
          <a:prstGeom prst="rect">
            <a:avLst/>
          </a:prstGeom>
          <a:noFill/>
          <a:ln/>
        </p:spPr>
        <p:txBody>
          <a:bodyPr wrap="square" lIns="0" tIns="0" rIns="0" bIns="0" rtlCol="0" anchor="t"/>
          <a:lstStyle/>
          <a:p>
            <a:pPr marL="0" indent="0">
              <a:buNone/>
            </a:pPr>
            <a:r>
              <a:rPr lang="en-US" sz="1300" dirty="0">
                <a:solidFill>
                  <a:schemeClr val="tx1"/>
                </a:solidFill>
              </a:rPr>
              <a:t>Rectilinear (d, φ₁, φ₂) grid split into 6 tetrahedra per cell; warm starts come from the 26 grid neighbours</a:t>
            </a:r>
            <a:endParaRPr lang="en-US" sz="1300" dirty="0"/>
          </a:p>
        </p:txBody>
      </p:sp>
      <p:sp>
        <p:nvSpPr>
          <p:cNvPr id="25" name="card-127"/>
          <p:cNvSpPr/>
          <p:nvPr/>
        </p:nvSpPr>
        <p:spPr>
          <a:xfrm>
            <a:off x="4334256" y="4663440"/>
            <a:ext cx="3493008" cy="1508760"/>
          </a:xfrm>
          <a:prstGeom prst="roundRect">
            <a:avLst>
              <a:gd name="adj" fmla="val 4848"/>
            </a:avLst>
          </a:prstGeom>
          <a:solidFill>
            <a:schemeClr val="bg2"/>
          </a:solidFill>
          <a:ln/>
        </p:spPr>
        <p:txBody>
          <a:bodyPr/>
          <a:lstStyle/>
          <a:p>
            <a:endParaRPr lang="en-IN"/>
          </a:p>
        </p:txBody>
      </p:sp>
      <p:sp>
        <p:nvSpPr>
          <p:cNvPr id="26" name="text-128"/>
          <p:cNvSpPr txBox="1"/>
          <p:nvPr/>
        </p:nvSpPr>
        <p:spPr>
          <a:xfrm>
            <a:off x="4517136" y="4773168"/>
            <a:ext cx="3108960" cy="320040"/>
          </a:xfrm>
          <a:prstGeom prst="rect">
            <a:avLst/>
          </a:prstGeom>
          <a:noFill/>
          <a:ln/>
        </p:spPr>
        <p:txBody>
          <a:bodyPr wrap="square" lIns="0" tIns="0" rIns="0" bIns="0" rtlCol="0" anchor="t"/>
          <a:lstStyle/>
          <a:p>
            <a:pPr marL="0" indent="0">
              <a:buNone/>
            </a:pPr>
            <a:r>
              <a:rPr lang="en-US" sz="1500" b="1" dirty="0">
                <a:solidFill>
                  <a:schemeClr val="accent1"/>
                </a:solidFill>
              </a:rPr>
              <a:t>Restartable</a:t>
            </a:r>
            <a:endParaRPr lang="en-US" sz="1500" dirty="0"/>
          </a:p>
        </p:txBody>
      </p:sp>
      <p:sp>
        <p:nvSpPr>
          <p:cNvPr id="27" name="text-129"/>
          <p:cNvSpPr txBox="1"/>
          <p:nvPr/>
        </p:nvSpPr>
        <p:spPr>
          <a:xfrm>
            <a:off x="4517136" y="5120640"/>
            <a:ext cx="3108960" cy="960120"/>
          </a:xfrm>
          <a:prstGeom prst="rect">
            <a:avLst/>
          </a:prstGeom>
          <a:noFill/>
          <a:ln/>
        </p:spPr>
        <p:txBody>
          <a:bodyPr wrap="square" lIns="0" tIns="0" rIns="0" bIns="0" rtlCol="0" anchor="t"/>
          <a:lstStyle/>
          <a:p>
            <a:pPr marL="0" indent="0">
              <a:buNone/>
            </a:pPr>
            <a:r>
              <a:rPr lang="en-US" sz="1300" dirty="0">
                <a:solidFill>
                  <a:schemeClr val="tx1"/>
                </a:solidFill>
              </a:rPr>
              <a:t>Live NPZ checkpoints, also on Ctrl-C; a resume reloads every stored θ as a warm-start source</a:t>
            </a:r>
          </a:p>
        </p:txBody>
      </p:sp>
      <p:sp>
        <p:nvSpPr>
          <p:cNvPr id="28" name="card-130"/>
          <p:cNvSpPr/>
          <p:nvPr/>
        </p:nvSpPr>
        <p:spPr>
          <a:xfrm>
            <a:off x="8119872" y="4663440"/>
            <a:ext cx="3493008" cy="1508760"/>
          </a:xfrm>
          <a:prstGeom prst="roundRect">
            <a:avLst>
              <a:gd name="adj" fmla="val 4848"/>
            </a:avLst>
          </a:prstGeom>
          <a:solidFill>
            <a:schemeClr val="bg2"/>
          </a:solidFill>
          <a:ln/>
        </p:spPr>
        <p:txBody>
          <a:bodyPr/>
          <a:lstStyle/>
          <a:p>
            <a:endParaRPr lang="en-IN"/>
          </a:p>
        </p:txBody>
      </p:sp>
      <p:sp>
        <p:nvSpPr>
          <p:cNvPr id="29" name="text-131"/>
          <p:cNvSpPr txBox="1"/>
          <p:nvPr/>
        </p:nvSpPr>
        <p:spPr>
          <a:xfrm>
            <a:off x="8302752" y="4773168"/>
            <a:ext cx="3108960" cy="320040"/>
          </a:xfrm>
          <a:prstGeom prst="rect">
            <a:avLst/>
          </a:prstGeom>
          <a:noFill/>
          <a:ln/>
        </p:spPr>
        <p:txBody>
          <a:bodyPr wrap="square" lIns="0" tIns="0" rIns="0" bIns="0" rtlCol="0" anchor="t"/>
          <a:lstStyle/>
          <a:p>
            <a:pPr marL="0" indent="0">
              <a:buNone/>
            </a:pPr>
            <a:r>
              <a:rPr lang="en-US" sz="1500" b="1" dirty="0">
                <a:solidFill>
                  <a:schemeClr val="accent1"/>
                </a:solidFill>
              </a:rPr>
              <a:t>Half domain</a:t>
            </a:r>
            <a:endParaRPr lang="en-US" sz="1500" dirty="0"/>
          </a:p>
        </p:txBody>
      </p:sp>
      <p:sp>
        <p:nvSpPr>
          <p:cNvPr id="30" name="text-132"/>
          <p:cNvSpPr txBox="1"/>
          <p:nvPr/>
        </p:nvSpPr>
        <p:spPr>
          <a:xfrm>
            <a:off x="8302752" y="5120640"/>
            <a:ext cx="3108960" cy="960120"/>
          </a:xfrm>
          <a:prstGeom prst="rect">
            <a:avLst/>
          </a:prstGeom>
          <a:noFill/>
          <a:ln/>
        </p:spPr>
        <p:txBody>
          <a:bodyPr wrap="square" lIns="0" tIns="0" rIns="0" bIns="0" rtlCol="0" anchor="t"/>
          <a:lstStyle/>
          <a:p>
            <a:pPr marL="0" indent="0">
              <a:buNone/>
            </a:pPr>
            <a:r>
              <a:rPr lang="en-US" sz="1300" dirty="0">
                <a:solidFill>
                  <a:schemeClr val="tx1"/>
                </a:solidFill>
              </a:rPr>
              <a:t>Only φ₁ + φ₂ ≥ 0 is solved; a precomputed mirror index fills the other half</a:t>
            </a:r>
            <a:endParaRPr lang="en-US" sz="13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eferral">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Going around a fold: defer, never jump</a:t>
            </a:r>
            <a:endParaRPr lang="en-US" sz="3000" dirty="0"/>
          </a:p>
        </p:txBody>
      </p:sp>
      <p:pic>
        <p:nvPicPr>
          <p:cNvPr id="401" name="figure-401" descr="Order in which the d = 0.99 layer was solved, with the deferred nodes highlighted"/>
          <p:cNvPicPr>
            <a:picLocks noChangeAspect="1"/>
          </p:cNvPicPr>
          <p:nvPr/>
        </p:nvPicPr>
        <p:blipFill>
          <a:blip r:embed="rId3"/>
          <a:stretch>
            <a:fillRect/>
          </a:stretch>
        </p:blipFill>
        <p:spPr>
          <a:xfrm>
            <a:off x="411480" y="1280622"/>
            <a:ext cx="5486400" cy="4525356"/>
          </a:xfrm>
          <a:prstGeom prst="rect">
            <a:avLst/>
          </a:prstGeom>
        </p:spPr>
      </p:pic>
      <p:sp>
        <p:nvSpPr>
          <p:cNvPr id="402" name="caption-402"/>
          <p:cNvSpPr txBox="1"/>
          <p:nvPr/>
        </p:nvSpPr>
        <p:spPr>
          <a:xfrm>
            <a:off x="548640" y="5852160"/>
            <a:ext cx="5303520" cy="411480"/>
          </a:xfrm>
          <a:prstGeom prst="rect">
            <a:avLst/>
          </a:prstGeom>
          <a:noFill/>
          <a:ln/>
        </p:spPr>
        <p:txBody>
          <a:bodyPr wrap="square" lIns="0" tIns="0" rIns="0" bIns="0" rtlCol="0" anchor="t">
            <a:normAutofit/>
          </a:bodyPr>
          <a:lstStyle/>
          <a:p>
            <a:pPr marL="0" indent="0" algn="l">
              <a:spcAft>
                <a:spcPts val="0"/>
              </a:spcAft>
              <a:buNone/>
            </a:pPr>
            <a:r>
              <a:rPr lang="en-US" sz="1100" dirty="0">
                <a:solidFill>
                  <a:schemeClr val="accent5"/>
                </a:solidFill>
              </a:rPr>
              <a:t>d = 0.99 layer: the front grows outward; orange nodes had to wait for a neighbour on the other branch.</a:t>
            </a:r>
            <a:endParaRPr lang="en-US" sz="1100" dirty="0"/>
          </a:p>
        </p:txBody>
      </p:sp>
      <p:sp>
        <p:nvSpPr>
          <p:cNvPr id="403" name="badge-403"/>
          <p:cNvSpPr/>
          <p:nvPr/>
        </p:nvSpPr>
        <p:spPr>
          <a:xfrm>
            <a:off x="6263640" y="144475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04" name="step-404"/>
          <p:cNvSpPr txBox="1"/>
          <p:nvPr/>
        </p:nvSpPr>
        <p:spPr>
          <a:xfrm>
            <a:off x="6812280" y="1417320"/>
            <a:ext cx="4800600" cy="932688"/>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Defer</a:t>
            </a:r>
            <a:endParaRPr lang="en-US" sz="1300" dirty="0"/>
          </a:p>
          <a:p>
            <a:pPr marL="0" indent="0" algn="l">
              <a:spcAft>
                <a:spcPts val="200"/>
              </a:spcAft>
              <a:buNone/>
            </a:pPr>
            <a:r>
              <a:rPr lang="en-US" sz="1300" dirty="0">
                <a:solidFill>
                  <a:schemeClr val="tx1"/>
                </a:solidFill>
              </a:rPr>
              <a:t>A node with no acceptable warm start is set aside, not forced; it is retried each time a new neighbour is solved.</a:t>
            </a:r>
            <a:endParaRPr lang="en-US" sz="1300" dirty="0"/>
          </a:p>
        </p:txBody>
      </p:sp>
      <p:sp>
        <p:nvSpPr>
          <p:cNvPr id="405" name="badge-405"/>
          <p:cNvSpPr/>
          <p:nvPr/>
        </p:nvSpPr>
        <p:spPr>
          <a:xfrm>
            <a:off x="6263640" y="2468880"/>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06" name="step-406"/>
          <p:cNvSpPr txBox="1"/>
          <p:nvPr/>
        </p:nvSpPr>
        <p:spPr>
          <a:xfrm>
            <a:off x="6812280" y="2441448"/>
            <a:ext cx="4800600" cy="932688"/>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Wait for the other branch</a:t>
            </a:r>
            <a:endParaRPr lang="en-US" sz="1300" dirty="0"/>
          </a:p>
          <a:p>
            <a:pPr marL="0" indent="0" algn="l">
              <a:spcAft>
                <a:spcPts val="200"/>
              </a:spcAft>
              <a:buNone/>
            </a:pPr>
            <a:r>
              <a:rPr lang="en-US" sz="1300" dirty="0">
                <a:solidFill>
                  <a:schemeClr val="tx1"/>
                </a:solidFill>
              </a:rPr>
              <a:t>After 3 failures from neighbours on one branch it only tries the other, so a node past a fold waits for the far side.</a:t>
            </a:r>
            <a:endParaRPr lang="en-US" sz="1300" dirty="0"/>
          </a:p>
        </p:txBody>
      </p:sp>
      <p:sp>
        <p:nvSpPr>
          <p:cNvPr id="407" name="badge-407"/>
          <p:cNvSpPr/>
          <p:nvPr/>
        </p:nvSpPr>
        <p:spPr>
          <a:xfrm>
            <a:off x="6263640" y="3493008"/>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08" name="step-408"/>
          <p:cNvSpPr txBox="1"/>
          <p:nvPr/>
        </p:nvSpPr>
        <p:spPr>
          <a:xfrm>
            <a:off x="6812280" y="3465576"/>
            <a:ext cx="4800600" cy="932688"/>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The long way round</a:t>
            </a:r>
            <a:endParaRPr lang="en-US" sz="1300" dirty="0"/>
          </a:p>
          <a:p>
            <a:pPr marL="0" indent="0" algn="l">
              <a:spcAft>
                <a:spcPts val="200"/>
              </a:spcAft>
              <a:buNone/>
            </a:pPr>
            <a:r>
              <a:rPr lang="en-US" sz="1300" dirty="0">
                <a:solidFill>
                  <a:schemeClr val="tx1"/>
                </a:solidFill>
              </a:rPr>
              <a:t>The front reaches the cut-off region through the smooth crossings and approaches it from the far side.</a:t>
            </a:r>
            <a:endParaRPr lang="en-US" sz="1300" dirty="0"/>
          </a:p>
        </p:txBody>
      </p:sp>
      <p:sp>
        <p:nvSpPr>
          <p:cNvPr id="409" name="badge-409"/>
          <p:cNvSpPr/>
          <p:nvPr/>
        </p:nvSpPr>
        <p:spPr>
          <a:xfrm>
            <a:off x="6263640" y="4517136"/>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4</a:t>
            </a:r>
          </a:p>
        </p:txBody>
      </p:sp>
      <p:sp>
        <p:nvSpPr>
          <p:cNvPr id="410" name="step-410"/>
          <p:cNvSpPr txBox="1"/>
          <p:nvPr/>
        </p:nvSpPr>
        <p:spPr>
          <a:xfrm>
            <a:off x="6812280" y="4489704"/>
            <a:ext cx="4800600" cy="932688"/>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Last resort</a:t>
            </a:r>
            <a:endParaRPr lang="en-US" sz="1300" dirty="0"/>
          </a:p>
          <a:p>
            <a:pPr marL="0" indent="0" algn="l">
              <a:spcAft>
                <a:spcPts val="200"/>
              </a:spcAft>
              <a:buNone/>
            </a:pPr>
            <a:r>
              <a:rPr lang="en-US" sz="1300" dirty="0">
                <a:solidFill>
                  <a:schemeClr val="tx1"/>
                </a:solidFill>
              </a:rPr>
              <a:t>Only if the whole front stalls is the nearest waiting node cold-started.</a:t>
            </a:r>
            <a:endParaRPr lang="en-US" sz="1300" dirty="0"/>
          </a:p>
        </p:txBody>
      </p:sp>
      <p:sp>
        <p:nvSpPr>
          <p:cNvPr id="411" name="caption-411"/>
          <p:cNvSpPr txBox="1"/>
          <p:nvPr/>
        </p:nvSpPr>
        <p:spPr>
          <a:xfrm>
            <a:off x="6263640" y="5623560"/>
            <a:ext cx="5349240" cy="548640"/>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Production run: 1,155 nodes waited (all at d ≥ 0.97); one extra cold start, at (0.99, 0.20, 0.20). A final promotion pass gave the bent-up rod to 1,571 bistable nodes the front had filled bent down.</a:t>
            </a:r>
            <a:endParaRPr lang="en-US" sz="115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tability test">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A stability test catches what the jump test misses</a:t>
            </a:r>
            <a:endParaRPr lang="en-US" sz="3000" dirty="0"/>
          </a:p>
        </p:txBody>
      </p:sp>
      <p:sp>
        <p:nvSpPr>
          <p:cNvPr id="401" name="card-401"/>
          <p:cNvSpPr/>
          <p:nvPr/>
        </p:nvSpPr>
        <p:spPr>
          <a:xfrm>
            <a:off x="548640" y="1417320"/>
            <a:ext cx="5760720" cy="2834640"/>
          </a:xfrm>
          <a:prstGeom prst="roundRect">
            <a:avLst>
              <a:gd name="adj" fmla="val 6000"/>
            </a:avLst>
          </a:prstGeom>
          <a:solidFill>
            <a:schemeClr val="bg2"/>
          </a:solidFill>
          <a:ln>
            <a:noFill/>
          </a:ln>
        </p:spPr>
        <p:txBody>
          <a:bodyPr/>
          <a:lstStyle/>
          <a:p>
            <a:endParaRPr lang="en-US"/>
          </a:p>
        </p:txBody>
      </p:sp>
      <p:sp>
        <p:nvSpPr>
          <p:cNvPr id="402" name="card-head-402"/>
          <p:cNvSpPr txBox="1"/>
          <p:nvPr/>
        </p:nvSpPr>
        <p:spPr>
          <a:xfrm>
            <a:off x="777240" y="1536192"/>
            <a:ext cx="5303520" cy="320040"/>
          </a:xfrm>
          <a:prstGeom prst="rect">
            <a:avLst/>
          </a:prstGeom>
          <a:noFill/>
          <a:ln/>
        </p:spPr>
        <p:txBody>
          <a:bodyPr wrap="square" lIns="0" tIns="0" rIns="0" bIns="0" rtlCol="0" anchor="t">
            <a:normAutofit/>
          </a:bodyPr>
          <a:lstStyle/>
          <a:p>
            <a:pPr marL="0" indent="0" algn="l">
              <a:spcAft>
                <a:spcPts val="0"/>
              </a:spcAft>
              <a:buNone/>
            </a:pPr>
            <a:r>
              <a:rPr lang="en-US" sz="1500" b="1" dirty="0">
                <a:solidFill>
                  <a:schemeClr val="accent1"/>
                </a:solidFill>
              </a:rPr>
              <a:t>Constrained second variation</a:t>
            </a:r>
            <a:endParaRPr lang="en-US" sz="1500" dirty="0"/>
          </a:p>
        </p:txBody>
      </p:sp>
      <mc:AlternateContent xmlns:mc="http://schemas.openxmlformats.org/markup-compatibility/2006" xmlns:a14="http://schemas.microsoft.com/office/drawing/2010/main">
        <mc:Choice Requires="a14">
          <p:sp>
            <p:nvSpPr>
              <p:cNvPr id="403" name="latex-Q"/>
              <p:cNvSpPr txBox="1"/>
              <p:nvPr/>
            </p:nvSpPr>
            <p:spPr>
              <a:xfrm>
                <a:off x="777240" y="1944624"/>
                <a:ext cx="3526536" cy="591312"/>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600" i="1" dirty="0">
                          <a:solidFill>
                            <a:schemeClr val="tx1"/>
                          </a:solidFill>
                          <a:latin typeface="Cambria Math" panose="02040503050406030204" pitchFamily="18" charset="0"/>
                        </a:rPr>
                        <m:t>𝑄</m:t>
                      </m:r>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𝑣</m:t>
                      </m:r>
                      <m:r>
                        <a:rPr lang="en-US" sz="1600" i="1" dirty="0">
                          <a:solidFill>
                            <a:schemeClr val="tx1"/>
                          </a:solidFill>
                          <a:latin typeface="Cambria Math" panose="02040503050406030204" pitchFamily="18" charset="0"/>
                        </a:rPr>
                        <m:t>]=</m:t>
                      </m:r>
                      <m:nary>
                        <m:naryPr>
                          <m:limLoc m:val="subSup"/>
                          <m:ctrlPr>
                            <a:rPr lang="en-US" sz="1600" i="1" dirty="0">
                              <a:solidFill>
                                <a:schemeClr val="tx1"/>
                              </a:solidFill>
                              <a:latin typeface="Cambria Math" panose="02040503050406030204" pitchFamily="18" charset="0"/>
                            </a:rPr>
                          </m:ctrlPr>
                        </m:naryPr>
                        <m:sub>
                          <m:r>
                            <a:rPr lang="en-US" sz="1600" i="1"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𝑣</m:t>
                              </m:r>
                            </m:e>
                            <m:sup>
                              <m:r>
                                <a:rPr lang="en-US" sz="1600" i="1" dirty="0">
                                  <a:solidFill>
                                    <a:schemeClr val="tx1"/>
                                  </a:solidFill>
                                  <a:latin typeface="Cambria Math" panose="02040503050406030204" pitchFamily="18" charset="0"/>
                                </a:rPr>
                                <m:t>′</m:t>
                              </m:r>
                            </m:sup>
                          </m:sSup>
                        </m:e>
                      </m:nary>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m:t>
                          </m:r>
                        </m:e>
                        <m:sup>
                          <m:r>
                            <a:rPr lang="en-US" sz="1600" i="1" dirty="0">
                              <a:solidFill>
                                <a:schemeClr val="tx1"/>
                              </a:solidFill>
                              <a:latin typeface="Cambria Math" panose="02040503050406030204" pitchFamily="18" charset="0"/>
                            </a:rPr>
                            <m:t>2</m:t>
                          </m:r>
                        </m:sup>
                      </m:sSup>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𝑥</m:t>
                          </m:r>
                        </m:sub>
                      </m:sSub>
                      <m:r>
                        <m:rPr>
                          <m:sty m:val="p"/>
                        </m:rPr>
                        <a:rPr lang="en-US" sz="1600" i="1" dirty="0">
                          <a:solidFill>
                            <a:schemeClr val="tx1"/>
                          </a:solidFill>
                          <a:latin typeface="Cambria Math" panose="02040503050406030204" pitchFamily="18" charset="0"/>
                        </a:rPr>
                        <m:t>cos</m:t>
                      </m:r>
                      <m:r>
                        <a:rPr lang="en-US" sz="1600" i="1" dirty="0">
                          <a:solidFill>
                            <a:schemeClr val="tx1"/>
                          </a:solidFill>
                          <a:latin typeface="Cambria Math" panose="02040503050406030204" pitchFamily="18" charset="0"/>
                        </a:rPr>
                        <m:t>𝜃</m:t>
                      </m:r>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𝑦</m:t>
                          </m:r>
                        </m:sub>
                      </m:sSub>
                      <m:r>
                        <m:rPr>
                          <m:sty m:val="p"/>
                        </m:rPr>
                        <a:rPr lang="en-US" sz="1600" i="1" dirty="0">
                          <a:solidFill>
                            <a:schemeClr val="tx1"/>
                          </a:solidFill>
                          <a:latin typeface="Cambria Math" panose="02040503050406030204" pitchFamily="18" charset="0"/>
                        </a:rPr>
                        <m:t>sin</m:t>
                      </m:r>
                      <m:r>
                        <a:rPr lang="en-US" sz="1600" i="1" dirty="0">
                          <a:solidFill>
                            <a:schemeClr val="tx1"/>
                          </a:solidFill>
                          <a:latin typeface="Cambria Math" panose="02040503050406030204" pitchFamily="18" charset="0"/>
                        </a:rPr>
                        <m:t>𝜃</m:t>
                      </m:r>
                      <m:r>
                        <a:rPr lang="en-US" sz="1600" i="1" dirty="0">
                          <a:solidFill>
                            <a:schemeClr val="tx1"/>
                          </a:solidFill>
                          <a:latin typeface="Cambria Math" panose="02040503050406030204" pitchFamily="18" charset="0"/>
                        </a:rPr>
                        <m:t>) </m:t>
                      </m:r>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𝑣</m:t>
                          </m:r>
                        </m:e>
                        <m:sup>
                          <m:r>
                            <a:rPr lang="en-US" sz="1600" i="1" dirty="0">
                              <a:solidFill>
                                <a:schemeClr val="tx1"/>
                              </a:solidFill>
                              <a:latin typeface="Cambria Math" panose="02040503050406030204" pitchFamily="18" charset="0"/>
                            </a:rPr>
                            <m:t>2</m:t>
                          </m:r>
                        </m:sup>
                      </m:sSup>
                      <m:r>
                        <a:rPr lang="en-US" sz="1600" i="1"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𝑑𝑠</m:t>
                      </m:r>
                    </m:oMath>
                  </m:oMathPara>
                </a14:m>
                <a:endParaRPr lang="en-US" sz="1600" dirty="0"/>
              </a:p>
            </p:txBody>
          </p:sp>
        </mc:Choice>
        <mc:Fallback xmlns="">
          <p:sp>
            <p:nvSpPr>
              <p:cNvPr id="403" name="latex-Q"/>
              <p:cNvSpPr txBox="1">
                <a:spLocks noRot="1" noChangeAspect="1" noMove="1" noResize="1" noEditPoints="1" noAdjustHandles="1" noChangeArrowheads="1" noChangeShapeType="1" noTextEdit="1"/>
              </p:cNvSpPr>
              <p:nvPr/>
            </p:nvSpPr>
            <p:spPr>
              <a:xfrm>
                <a:off x="777240" y="1944624"/>
                <a:ext cx="3526536" cy="59131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4" name="latex-Qc"/>
              <p:cNvSpPr txBox="1"/>
              <p:nvPr/>
            </p:nvSpPr>
            <p:spPr>
              <a:xfrm>
                <a:off x="777240" y="2641092"/>
                <a:ext cx="3855720" cy="524256"/>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400" i="1" dirty="0">
                          <a:solidFill>
                            <a:schemeClr val="tx1"/>
                          </a:solidFill>
                          <a:latin typeface="Cambria Math" panose="02040503050406030204" pitchFamily="18" charset="0"/>
                        </a:rPr>
                        <m:t>𝑣</m:t>
                      </m:r>
                      <m:r>
                        <a:rPr lang="en-US" sz="1400" i="1" dirty="0">
                          <a:solidFill>
                            <a:schemeClr val="tx1"/>
                          </a:solidFill>
                          <a:latin typeface="Cambria Math" panose="02040503050406030204" pitchFamily="18" charset="0"/>
                        </a:rPr>
                        <m:t>(0)=</m:t>
                      </m:r>
                      <m:r>
                        <a:rPr lang="en-US" sz="1400" i="1" dirty="0">
                          <a:solidFill>
                            <a:schemeClr val="tx1"/>
                          </a:solidFill>
                          <a:latin typeface="Cambria Math" panose="02040503050406030204" pitchFamily="18" charset="0"/>
                        </a:rPr>
                        <m:t>𝑣</m:t>
                      </m:r>
                      <m:r>
                        <a:rPr lang="en-US" sz="1400" i="1"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𝐿</m:t>
                      </m:r>
                      <m:r>
                        <a:rPr lang="en-US" sz="1400" i="1" dirty="0">
                          <a:solidFill>
                            <a:schemeClr val="tx1"/>
                          </a:solidFill>
                          <a:latin typeface="Cambria Math" panose="02040503050406030204" pitchFamily="18" charset="0"/>
                        </a:rPr>
                        <m:t>)=0, </m:t>
                      </m:r>
                      <m:nary>
                        <m:naryPr>
                          <m:limLoc m:val="subSup"/>
                          <m:ctrlPr>
                            <a:rPr lang="en-US" sz="1400" i="1" dirty="0">
                              <a:solidFill>
                                <a:schemeClr val="tx1"/>
                              </a:solidFill>
                              <a:latin typeface="Cambria Math" panose="02040503050406030204" pitchFamily="18" charset="0"/>
                            </a:rPr>
                          </m:ctrlPr>
                        </m:naryPr>
                        <m:sub>
                          <m:r>
                            <a:rPr lang="en-US" sz="1400" i="1" dirty="0">
                              <a:solidFill>
                                <a:schemeClr val="tx1"/>
                              </a:solidFill>
                              <a:latin typeface="Cambria Math" panose="02040503050406030204" pitchFamily="18" charset="0"/>
                            </a:rPr>
                            <m:t>0</m:t>
                          </m:r>
                        </m:sub>
                        <m:sup>
                          <m:r>
                            <a:rPr lang="en-US" sz="1400" i="1" dirty="0">
                              <a:solidFill>
                                <a:schemeClr val="tx1"/>
                              </a:solidFill>
                              <a:latin typeface="Cambria Math" panose="02040503050406030204" pitchFamily="18" charset="0"/>
                            </a:rPr>
                            <m:t>𝐿</m:t>
                          </m:r>
                        </m:sup>
                        <m:e>
                          <m:r>
                            <a:rPr lang="en-US" sz="1400" i="1" dirty="0">
                              <a:solidFill>
                                <a:schemeClr val="tx1"/>
                              </a:solidFill>
                              <a:latin typeface="Cambria Math" panose="02040503050406030204" pitchFamily="18" charset="0"/>
                            </a:rPr>
                            <m:t>𝑣</m:t>
                          </m:r>
                        </m:e>
                      </m:nary>
                      <m:r>
                        <m:rPr>
                          <m:sty m:val="p"/>
                        </m:rPr>
                        <a:rPr lang="en-US" sz="1400" i="1" dirty="0">
                          <a:solidFill>
                            <a:schemeClr val="tx1"/>
                          </a:solidFill>
                          <a:latin typeface="Cambria Math" panose="02040503050406030204" pitchFamily="18" charset="0"/>
                        </a:rPr>
                        <m:t>cos</m:t>
                      </m:r>
                      <m:r>
                        <a:rPr lang="en-US" sz="1400" i="1" dirty="0">
                          <a:solidFill>
                            <a:schemeClr val="tx1"/>
                          </a:solidFill>
                          <a:latin typeface="Cambria Math" panose="02040503050406030204" pitchFamily="18" charset="0"/>
                        </a:rPr>
                        <m:t>𝜃</m:t>
                      </m:r>
                      <m:r>
                        <a:rPr lang="en-US" sz="1400" i="1" dirty="0">
                          <a:solidFill>
                            <a:schemeClr val="tx1"/>
                          </a:solidFill>
                          <a:latin typeface="Cambria Math" panose="02040503050406030204" pitchFamily="18" charset="0"/>
                        </a:rPr>
                        <m:t> </m:t>
                      </m:r>
                      <m:r>
                        <a:rPr lang="en-US" sz="1400" i="1" dirty="0">
                          <a:solidFill>
                            <a:schemeClr val="tx1"/>
                          </a:solidFill>
                          <a:latin typeface="Cambria Math" panose="02040503050406030204" pitchFamily="18" charset="0"/>
                        </a:rPr>
                        <m:t>𝑑𝑠</m:t>
                      </m:r>
                      <m:r>
                        <a:rPr lang="en-US" sz="1400" i="1" dirty="0">
                          <a:solidFill>
                            <a:schemeClr val="tx1"/>
                          </a:solidFill>
                          <a:latin typeface="Cambria Math" panose="02040503050406030204" pitchFamily="18" charset="0"/>
                        </a:rPr>
                        <m:t>=</m:t>
                      </m:r>
                      <m:nary>
                        <m:naryPr>
                          <m:limLoc m:val="subSup"/>
                          <m:ctrlPr>
                            <a:rPr lang="en-US" sz="1400" i="1" dirty="0">
                              <a:solidFill>
                                <a:schemeClr val="tx1"/>
                              </a:solidFill>
                              <a:latin typeface="Cambria Math" panose="02040503050406030204" pitchFamily="18" charset="0"/>
                            </a:rPr>
                          </m:ctrlPr>
                        </m:naryPr>
                        <m:sub>
                          <m:r>
                            <a:rPr lang="en-US" sz="1400" i="1" dirty="0">
                              <a:solidFill>
                                <a:schemeClr val="tx1"/>
                              </a:solidFill>
                              <a:latin typeface="Cambria Math" panose="02040503050406030204" pitchFamily="18" charset="0"/>
                            </a:rPr>
                            <m:t>0</m:t>
                          </m:r>
                        </m:sub>
                        <m:sup>
                          <m:r>
                            <a:rPr lang="en-US" sz="1400" i="1" dirty="0">
                              <a:solidFill>
                                <a:schemeClr val="tx1"/>
                              </a:solidFill>
                              <a:latin typeface="Cambria Math" panose="02040503050406030204" pitchFamily="18" charset="0"/>
                            </a:rPr>
                            <m:t>𝐿</m:t>
                          </m:r>
                        </m:sup>
                        <m:e>
                          <m:r>
                            <a:rPr lang="en-US" sz="1400" i="1" dirty="0">
                              <a:solidFill>
                                <a:schemeClr val="tx1"/>
                              </a:solidFill>
                              <a:latin typeface="Cambria Math" panose="02040503050406030204" pitchFamily="18" charset="0"/>
                            </a:rPr>
                            <m:t>𝑣</m:t>
                          </m:r>
                        </m:e>
                      </m:nary>
                      <m:r>
                        <m:rPr>
                          <m:sty m:val="p"/>
                        </m:rPr>
                        <a:rPr lang="en-US" sz="1400" i="1" dirty="0">
                          <a:solidFill>
                            <a:schemeClr val="tx1"/>
                          </a:solidFill>
                          <a:latin typeface="Cambria Math" panose="02040503050406030204" pitchFamily="18" charset="0"/>
                        </a:rPr>
                        <m:t>sin</m:t>
                      </m:r>
                      <m:r>
                        <a:rPr lang="en-US" sz="1400" i="1" dirty="0">
                          <a:solidFill>
                            <a:schemeClr val="tx1"/>
                          </a:solidFill>
                          <a:latin typeface="Cambria Math" panose="02040503050406030204" pitchFamily="18" charset="0"/>
                        </a:rPr>
                        <m:t>𝜃</m:t>
                      </m:r>
                      <m:r>
                        <a:rPr lang="en-US" sz="1400" i="1" dirty="0">
                          <a:solidFill>
                            <a:schemeClr val="tx1"/>
                          </a:solidFill>
                          <a:latin typeface="Cambria Math" panose="02040503050406030204" pitchFamily="18" charset="0"/>
                        </a:rPr>
                        <m:t> </m:t>
                      </m:r>
                      <m:r>
                        <a:rPr lang="en-US" sz="1400" i="1" dirty="0">
                          <a:solidFill>
                            <a:schemeClr val="tx1"/>
                          </a:solidFill>
                          <a:latin typeface="Cambria Math" panose="02040503050406030204" pitchFamily="18" charset="0"/>
                        </a:rPr>
                        <m:t>𝑑𝑠</m:t>
                      </m:r>
                      <m:r>
                        <a:rPr lang="en-US" sz="1400" i="1" dirty="0">
                          <a:solidFill>
                            <a:schemeClr val="tx1"/>
                          </a:solidFill>
                          <a:latin typeface="Cambria Math" panose="02040503050406030204" pitchFamily="18" charset="0"/>
                        </a:rPr>
                        <m:t>=0</m:t>
                      </m:r>
                    </m:oMath>
                  </m:oMathPara>
                </a14:m>
                <a:endParaRPr lang="en-US" sz="1400" dirty="0"/>
              </a:p>
            </p:txBody>
          </p:sp>
        </mc:Choice>
        <mc:Fallback xmlns="">
          <p:sp>
            <p:nvSpPr>
              <p:cNvPr id="404" name="latex-Qc"/>
              <p:cNvSpPr txBox="1">
                <a:spLocks noRot="1" noChangeAspect="1" noMove="1" noResize="1" noEditPoints="1" noAdjustHandles="1" noChangeArrowheads="1" noChangeShapeType="1" noTextEdit="1"/>
              </p:cNvSpPr>
              <p:nvPr/>
            </p:nvSpPr>
            <p:spPr>
              <a:xfrm>
                <a:off x="777240" y="2641092"/>
                <a:ext cx="3855720" cy="52425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5" name="latex-inertia"/>
              <p:cNvSpPr txBox="1"/>
              <p:nvPr/>
            </p:nvSpPr>
            <p:spPr>
              <a:xfrm>
                <a:off x="777240" y="3438144"/>
                <a:ext cx="2837688" cy="256032"/>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sSub>
                        <m:sSubPr>
                          <m:ctrlPr>
                            <a:rPr lang="en-US" sz="1500" i="1" dirty="0">
                              <a:solidFill>
                                <a:schemeClr val="tx1"/>
                              </a:solidFill>
                              <a:latin typeface="Cambria Math" panose="02040503050406030204" pitchFamily="18" charset="0"/>
                            </a:rPr>
                          </m:ctrlPr>
                        </m:sSubPr>
                        <m:e>
                          <m:r>
                            <a:rPr lang="en-US" sz="1500" i="1" dirty="0">
                              <a:solidFill>
                                <a:schemeClr val="tx1"/>
                              </a:solidFill>
                              <a:latin typeface="Cambria Math" panose="02040503050406030204" pitchFamily="18" charset="0"/>
                            </a:rPr>
                            <m:t>𝑛</m:t>
                          </m:r>
                        </m:e>
                        <m:sub>
                          <m:r>
                            <a:rPr lang="en-US" sz="1500" i="1" dirty="0">
                              <a:solidFill>
                                <a:schemeClr val="tx1"/>
                              </a:solidFill>
                              <a:latin typeface="Cambria Math" panose="02040503050406030204" pitchFamily="18" charset="0"/>
                            </a:rPr>
                            <m:t>−</m:t>
                          </m:r>
                        </m:sub>
                      </m:sSub>
                      <m:r>
                        <a:rPr lang="en-US" sz="1500" i="1" dirty="0">
                          <a:solidFill>
                            <a:schemeClr val="tx1"/>
                          </a:solidFill>
                          <a:latin typeface="Cambria Math" panose="02040503050406030204" pitchFamily="18" charset="0"/>
                        </a:rPr>
                        <m:t>=</m:t>
                      </m:r>
                      <m:r>
                        <m:rPr>
                          <m:sty m:val="p"/>
                        </m:rPr>
                        <a:rPr lang="en-US" sz="1500" i="1" dirty="0">
                          <a:solidFill>
                            <a:schemeClr val="tx1"/>
                          </a:solidFill>
                          <a:latin typeface="Cambria Math" panose="02040503050406030204" pitchFamily="18" charset="0"/>
                        </a:rPr>
                        <m:t>neg</m:t>
                      </m:r>
                      <m:r>
                        <a:rPr lang="en-US" sz="1500" i="1" dirty="0">
                          <a:solidFill>
                            <a:schemeClr val="tx1"/>
                          </a:solidFill>
                          <a:latin typeface="Cambria Math" panose="02040503050406030204" pitchFamily="18" charset="0"/>
                        </a:rPr>
                        <m:t>(</m:t>
                      </m:r>
                      <m:r>
                        <a:rPr lang="en-US" sz="1500" i="1" dirty="0">
                          <a:solidFill>
                            <a:schemeClr val="tx1"/>
                          </a:solidFill>
                          <a:latin typeface="Cambria Math" panose="02040503050406030204" pitchFamily="18" charset="0"/>
                        </a:rPr>
                        <m:t>𝐴</m:t>
                      </m:r>
                      <m:r>
                        <a:rPr lang="en-US" sz="1500" i="1" dirty="0">
                          <a:solidFill>
                            <a:schemeClr val="tx1"/>
                          </a:solidFill>
                          <a:latin typeface="Cambria Math" panose="02040503050406030204" pitchFamily="18" charset="0"/>
                        </a:rPr>
                        <m:t>)+</m:t>
                      </m:r>
                      <m:r>
                        <m:rPr>
                          <m:sty m:val="p"/>
                        </m:rPr>
                        <a:rPr lang="en-US" sz="1500" i="1" dirty="0">
                          <a:solidFill>
                            <a:schemeClr val="tx1"/>
                          </a:solidFill>
                          <a:latin typeface="Cambria Math" panose="02040503050406030204" pitchFamily="18" charset="0"/>
                        </a:rPr>
                        <m:t>pos</m:t>
                      </m:r>
                      <m:r>
                        <a:rPr lang="en-US" sz="1500" i="1" dirty="0">
                          <a:solidFill>
                            <a:schemeClr val="tx1"/>
                          </a:solidFill>
                          <a:latin typeface="Cambria Math" panose="02040503050406030204" pitchFamily="18" charset="0"/>
                        </a:rPr>
                        <m:t>(</m:t>
                      </m:r>
                      <m:sSup>
                        <m:sSupPr>
                          <m:ctrlPr>
                            <a:rPr lang="en-US" sz="1500" i="1" dirty="0">
                              <a:solidFill>
                                <a:schemeClr val="tx1"/>
                              </a:solidFill>
                              <a:latin typeface="Cambria Math" panose="02040503050406030204" pitchFamily="18" charset="0"/>
                            </a:rPr>
                          </m:ctrlPr>
                        </m:sSupPr>
                        <m:e>
                          <m:r>
                            <a:rPr lang="en-US" sz="1500" i="1" dirty="0">
                              <a:solidFill>
                                <a:schemeClr val="tx1"/>
                              </a:solidFill>
                              <a:latin typeface="Cambria Math" panose="02040503050406030204" pitchFamily="18" charset="0"/>
                            </a:rPr>
                            <m:t>𝐶</m:t>
                          </m:r>
                        </m:e>
                        <m:sup>
                          <m:r>
                            <a:rPr lang="en-US" sz="1500" i="1" dirty="0">
                              <a:solidFill>
                                <a:schemeClr val="tx1"/>
                              </a:solidFill>
                              <a:latin typeface="Cambria Math" panose="02040503050406030204" pitchFamily="18" charset="0"/>
                            </a:rPr>
                            <m:t>𝑇</m:t>
                          </m:r>
                        </m:sup>
                      </m:sSup>
                      <m:sSup>
                        <m:sSupPr>
                          <m:ctrlPr>
                            <a:rPr lang="en-US" sz="1500" i="1" dirty="0">
                              <a:solidFill>
                                <a:schemeClr val="tx1"/>
                              </a:solidFill>
                              <a:latin typeface="Cambria Math" panose="02040503050406030204" pitchFamily="18" charset="0"/>
                            </a:rPr>
                          </m:ctrlPr>
                        </m:sSupPr>
                        <m:e>
                          <m:r>
                            <a:rPr lang="en-US" sz="1500" i="1" dirty="0">
                              <a:solidFill>
                                <a:schemeClr val="tx1"/>
                              </a:solidFill>
                              <a:latin typeface="Cambria Math" panose="02040503050406030204" pitchFamily="18" charset="0"/>
                            </a:rPr>
                            <m:t>𝐴</m:t>
                          </m:r>
                        </m:e>
                        <m:sup>
                          <m:r>
                            <a:rPr lang="en-US" sz="1500" i="1" dirty="0">
                              <a:solidFill>
                                <a:schemeClr val="tx1"/>
                              </a:solidFill>
                              <a:latin typeface="Cambria Math" panose="02040503050406030204" pitchFamily="18" charset="0"/>
                            </a:rPr>
                            <m:t>−1</m:t>
                          </m:r>
                        </m:sup>
                      </m:sSup>
                      <m:r>
                        <a:rPr lang="en-US" sz="1500" i="1" dirty="0">
                          <a:solidFill>
                            <a:schemeClr val="tx1"/>
                          </a:solidFill>
                          <a:latin typeface="Cambria Math" panose="02040503050406030204" pitchFamily="18" charset="0"/>
                        </a:rPr>
                        <m:t>𝐶</m:t>
                      </m:r>
                      <m:r>
                        <a:rPr lang="en-US" sz="1500" i="1" dirty="0">
                          <a:solidFill>
                            <a:schemeClr val="tx1"/>
                          </a:solidFill>
                          <a:latin typeface="Cambria Math" panose="02040503050406030204" pitchFamily="18" charset="0"/>
                        </a:rPr>
                        <m:t>)−2</m:t>
                      </m:r>
                    </m:oMath>
                  </m:oMathPara>
                </a14:m>
                <a:endParaRPr lang="en-US" sz="1500" dirty="0"/>
              </a:p>
            </p:txBody>
          </p:sp>
        </mc:Choice>
        <mc:Fallback xmlns="">
          <p:sp>
            <p:nvSpPr>
              <p:cNvPr id="405" name="latex-inertia"/>
              <p:cNvSpPr txBox="1">
                <a:spLocks noRot="1" noChangeAspect="1" noMove="1" noResize="1" noEditPoints="1" noAdjustHandles="1" noChangeArrowheads="1" noChangeShapeType="1" noTextEdit="1"/>
              </p:cNvSpPr>
              <p:nvPr/>
            </p:nvSpPr>
            <p:spPr>
              <a:xfrm>
                <a:off x="777240" y="3438144"/>
                <a:ext cx="2837688" cy="256032"/>
              </a:xfrm>
              <a:prstGeom prst="rect">
                <a:avLst/>
              </a:prstGeom>
              <a:blipFill>
                <a:blip r:embed="rId5"/>
                <a:stretch>
                  <a:fillRect/>
                </a:stretch>
              </a:blipFill>
            </p:spPr>
            <p:txBody>
              <a:bodyPr/>
              <a:lstStyle/>
              <a:p>
                <a:r>
                  <a:rPr lang="en-US">
                    <a:noFill/>
                  </a:rPr>
                  <a:t> </a:t>
                </a:r>
              </a:p>
            </p:txBody>
          </p:sp>
        </mc:Fallback>
      </mc:AlternateContent>
      <p:sp>
        <p:nvSpPr>
          <p:cNvPr id="406" name="caption-406"/>
          <p:cNvSpPr txBox="1"/>
          <p:nvPr/>
        </p:nvSpPr>
        <p:spPr>
          <a:xfrm>
            <a:off x="777240" y="3840480"/>
            <a:ext cx="5303520" cy="320040"/>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Stable when n₋ = 0: no direction lowers the energy.</a:t>
            </a:r>
            <a:endParaRPr lang="en-US" sz="1150" dirty="0"/>
          </a:p>
        </p:txBody>
      </p:sp>
      <p:sp>
        <p:nvSpPr>
          <p:cNvPr id="407" name="card-407"/>
          <p:cNvSpPr/>
          <p:nvPr/>
        </p:nvSpPr>
        <p:spPr>
          <a:xfrm>
            <a:off x="548640" y="4480560"/>
            <a:ext cx="2834640" cy="1691640"/>
          </a:xfrm>
          <a:prstGeom prst="roundRect">
            <a:avLst>
              <a:gd name="adj" fmla="val 6000"/>
            </a:avLst>
          </a:prstGeom>
          <a:solidFill>
            <a:schemeClr val="bg2"/>
          </a:solidFill>
          <a:ln>
            <a:noFill/>
          </a:ln>
        </p:spPr>
        <p:txBody>
          <a:bodyPr/>
          <a:lstStyle/>
          <a:p>
            <a:endParaRPr lang="en-US"/>
          </a:p>
        </p:txBody>
      </p:sp>
      <p:sp>
        <p:nvSpPr>
          <p:cNvPr id="408" name="tile-big-408"/>
          <p:cNvSpPr txBox="1"/>
          <p:nvPr/>
        </p:nvSpPr>
        <p:spPr>
          <a:xfrm>
            <a:off x="749808" y="4590288"/>
            <a:ext cx="2432304" cy="658368"/>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17</a:t>
            </a:r>
            <a:endParaRPr lang="en-US" sz="3000" dirty="0"/>
          </a:p>
        </p:txBody>
      </p:sp>
      <p:sp>
        <p:nvSpPr>
          <p:cNvPr id="409" name="tile-label-409"/>
          <p:cNvSpPr txBox="1"/>
          <p:nvPr/>
        </p:nvSpPr>
        <p:spPr>
          <a:xfrm>
            <a:off x="749808" y="5303520"/>
            <a:ext cx="2432304" cy="310896"/>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unstable results rejected</a:t>
            </a:r>
            <a:endParaRPr lang="en-US" sz="1400" dirty="0"/>
          </a:p>
        </p:txBody>
      </p:sp>
      <p:sp>
        <p:nvSpPr>
          <p:cNvPr id="410" name="tile-sub-410"/>
          <p:cNvSpPr txBox="1"/>
          <p:nvPr/>
        </p:nvSpPr>
        <p:spPr>
          <a:xfrm>
            <a:off x="749808" y="5650992"/>
            <a:ext cx="2432304" cy="448056"/>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during the production run</a:t>
            </a:r>
            <a:endParaRPr lang="en-US" sz="1150" dirty="0"/>
          </a:p>
        </p:txBody>
      </p:sp>
      <p:sp>
        <p:nvSpPr>
          <p:cNvPr id="411" name="card-411"/>
          <p:cNvSpPr/>
          <p:nvPr/>
        </p:nvSpPr>
        <p:spPr>
          <a:xfrm>
            <a:off x="3474720" y="4480560"/>
            <a:ext cx="2834640" cy="1691640"/>
          </a:xfrm>
          <a:prstGeom prst="roundRect">
            <a:avLst>
              <a:gd name="adj" fmla="val 6000"/>
            </a:avLst>
          </a:prstGeom>
          <a:solidFill>
            <a:schemeClr val="bg2"/>
          </a:solidFill>
          <a:ln>
            <a:noFill/>
          </a:ln>
        </p:spPr>
        <p:txBody>
          <a:bodyPr/>
          <a:lstStyle/>
          <a:p>
            <a:endParaRPr lang="en-US"/>
          </a:p>
        </p:txBody>
      </p:sp>
      <p:sp>
        <p:nvSpPr>
          <p:cNvPr id="412" name="tile-big-412"/>
          <p:cNvSpPr txBox="1"/>
          <p:nvPr/>
        </p:nvSpPr>
        <p:spPr>
          <a:xfrm>
            <a:off x="3675888" y="4590288"/>
            <a:ext cx="2432304" cy="658368"/>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0</a:t>
            </a:r>
            <a:endParaRPr lang="en-US" sz="3000" dirty="0"/>
          </a:p>
        </p:txBody>
      </p:sp>
      <p:sp>
        <p:nvSpPr>
          <p:cNvPr id="413" name="tile-label-413"/>
          <p:cNvSpPr txBox="1"/>
          <p:nvPr/>
        </p:nvSpPr>
        <p:spPr>
          <a:xfrm>
            <a:off x="3675888" y="5303520"/>
            <a:ext cx="2432304" cy="310896"/>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unstable in the final map</a:t>
            </a:r>
            <a:endParaRPr lang="en-US" sz="1400" dirty="0"/>
          </a:p>
        </p:txBody>
      </p:sp>
      <p:sp>
        <p:nvSpPr>
          <p:cNvPr id="414" name="tile-sub-414"/>
          <p:cNvSpPr txBox="1"/>
          <p:nvPr/>
        </p:nvSpPr>
        <p:spPr>
          <a:xfrm>
            <a:off x="3675888" y="5650992"/>
            <a:ext cx="2432304" cy="448056"/>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all 2,976,750 nodes re-tested</a:t>
            </a:r>
            <a:endParaRPr lang="en-US" sz="1150" dirty="0"/>
          </a:p>
        </p:txBody>
      </p:sp>
      <p:sp>
        <p:nvSpPr>
          <p:cNvPr id="415" name="badge-415"/>
          <p:cNvSpPr/>
          <p:nvPr/>
        </p:nvSpPr>
        <p:spPr>
          <a:xfrm>
            <a:off x="6629400" y="144475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16" name="step-416"/>
          <p:cNvSpPr txBox="1"/>
          <p:nvPr/>
        </p:nvSpPr>
        <p:spPr>
          <a:xfrm>
            <a:off x="7178040" y="1417320"/>
            <a:ext cx="4434840" cy="146304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Why the jump test is not enough</a:t>
            </a:r>
            <a:endParaRPr lang="en-US" sz="1300" dirty="0"/>
          </a:p>
          <a:p>
            <a:pPr marL="0" indent="0" algn="l">
              <a:spcAft>
                <a:spcPts val="200"/>
              </a:spcAft>
              <a:buNone/>
            </a:pPr>
            <a:r>
              <a:rPr lang="en-US" sz="1300" dirty="0">
                <a:solidFill>
                  <a:schemeClr val="tx1"/>
                </a:solidFill>
              </a:rPr>
              <a:t>On φ₁ = −φ₂ the rod is symmetric (f</a:t>
            </a:r>
            <a:r>
              <a:rPr lang="en-US" sz="1300" baseline="-25000" dirty="0">
                <a:solidFill>
                  <a:schemeClr val="tx1"/>
                </a:solidFill>
              </a:rPr>
              <a:t>y</a:t>
            </a:r>
            <a:r>
              <a:rPr lang="en-US" sz="1300" dirty="0">
                <a:solidFill>
                  <a:schemeClr val="tx1"/>
                </a:solidFill>
              </a:rPr>
              <a:t> = 0); the bent-up branch loses stability at a symmetry-breaking bifurcation, not a fold. Newton follows it smoothly, with no jump in q.</a:t>
            </a:r>
            <a:endParaRPr lang="en-US" sz="1300" dirty="0"/>
          </a:p>
        </p:txBody>
      </p:sp>
      <p:sp>
        <p:nvSpPr>
          <p:cNvPr id="417" name="badge-417"/>
          <p:cNvSpPr/>
          <p:nvPr/>
        </p:nvSpPr>
        <p:spPr>
          <a:xfrm>
            <a:off x="6629400" y="299923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18" name="step-418"/>
          <p:cNvSpPr txBox="1"/>
          <p:nvPr/>
        </p:nvSpPr>
        <p:spPr>
          <a:xfrm>
            <a:off x="7178040" y="2971800"/>
            <a:ext cx="4434840" cy="146304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Inertia of a bordered matrix</a:t>
            </a:r>
            <a:endParaRPr lang="en-US" sz="1300" dirty="0"/>
          </a:p>
          <a:p>
            <a:pPr marL="0" indent="0" algn="l">
              <a:spcAft>
                <a:spcPts val="200"/>
              </a:spcAft>
              <a:buNone/>
            </a:pPr>
            <a:r>
              <a:rPr lang="en-US" sz="1300" dirty="0">
                <a:solidFill>
                  <a:schemeClr val="tx1"/>
                </a:solidFill>
              </a:rPr>
              <a:t>A is the tridiagonal P1 form, C the two constraint vectors (Haynsworth). One LDLᵀ sweep: O(N), about 0.2 ms against an 11 ms solve.</a:t>
            </a:r>
            <a:endParaRPr lang="en-US" sz="1300" dirty="0"/>
          </a:p>
        </p:txBody>
      </p:sp>
      <p:sp>
        <p:nvSpPr>
          <p:cNvPr id="419" name="badge-419"/>
          <p:cNvSpPr/>
          <p:nvPr/>
        </p:nvSpPr>
        <p:spPr>
          <a:xfrm>
            <a:off x="6629400" y="455371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20" name="step-420"/>
          <p:cNvSpPr txBox="1"/>
          <p:nvPr/>
        </p:nvSpPr>
        <p:spPr>
          <a:xfrm>
            <a:off x="7178040" y="4526280"/>
            <a:ext cx="4434840" cy="146304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Every candidate</a:t>
            </a:r>
            <a:endParaRPr lang="en-US" sz="1300" dirty="0"/>
          </a:p>
          <a:p>
            <a:pPr marL="0" indent="0" algn="l">
              <a:spcAft>
                <a:spcPts val="200"/>
              </a:spcAft>
              <a:buNone/>
            </a:pPr>
            <a:r>
              <a:rPr lang="en-US" sz="1300" dirty="0">
                <a:solidFill>
                  <a:schemeClr val="tx1"/>
                </a:solidFill>
              </a:rPr>
              <a:t>Warm starts and cold starts alike: an unstable result counts as a failure and the node moves on to the next neighbour.</a:t>
            </a:r>
            <a:endParaRPr lang="en-US" sz="130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Exact first mode derivation">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Deriving the exact first mode used for the cold start</a:t>
            </a:r>
            <a:endParaRPr lang="en-US" sz="3000" dirty="0"/>
          </a:p>
        </p:txBody>
      </p:sp>
      <p:sp>
        <p:nvSpPr>
          <p:cNvPr id="3" name="step-card-1"/>
          <p:cNvSpPr/>
          <p:nvPr/>
        </p:nvSpPr>
        <p:spPr>
          <a:xfrm>
            <a:off x="548640" y="1417320"/>
            <a:ext cx="11064240" cy="713232"/>
          </a:xfrm>
          <a:prstGeom prst="roundRect">
            <a:avLst>
              <a:gd name="adj" fmla="val 8000"/>
            </a:avLst>
          </a:prstGeom>
          <a:solidFill>
            <a:schemeClr val="bg2"/>
          </a:solidFill>
          <a:ln/>
        </p:spPr>
        <p:txBody>
          <a:bodyPr/>
          <a:lstStyle/>
          <a:p>
            <a:endParaRPr lang="en-IN"/>
          </a:p>
        </p:txBody>
      </p:sp>
      <p:sp>
        <p:nvSpPr>
          <p:cNvPr id="4" name="step-badge-1"/>
          <p:cNvSpPr/>
          <p:nvPr/>
        </p:nvSpPr>
        <p:spPr>
          <a:xfrm>
            <a:off x="777240" y="1581912"/>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p>
        </p:txBody>
      </p:sp>
      <p:sp>
        <p:nvSpPr>
          <p:cNvPr id="5" name="step-text-1"/>
          <p:cNvSpPr txBox="1"/>
          <p:nvPr/>
        </p:nvSpPr>
        <p:spPr>
          <a:xfrm>
            <a:off x="1325880" y="1453896"/>
            <a:ext cx="3977640" cy="640080"/>
          </a:xfrm>
          <a:prstGeom prst="rect">
            <a:avLst/>
          </a:prstGeom>
          <a:noFill/>
          <a:ln/>
        </p:spPr>
        <p:txBody>
          <a:bodyPr wrap="square" lIns="0" tIns="0" rIns="0" bIns="0" rtlCol="0" anchor="ctr"/>
          <a:lstStyle/>
          <a:p>
            <a:pPr marL="0" indent="0">
              <a:buNone/>
            </a:pPr>
            <a:r>
              <a:rPr lang="en-US" sz="1400" dirty="0">
                <a:solidFill>
                  <a:schemeClr val="tx1"/>
                </a:solidFill>
              </a:rPr>
              <a:t>φ₁ = φ₂ = 0 is mirror-symmetric, so f</a:t>
            </a:r>
            <a:r>
              <a:rPr lang="en-US" sz="1400" baseline="-25000" dirty="0">
                <a:solidFill>
                  <a:schemeClr val="tx1"/>
                </a:solidFill>
              </a:rPr>
              <a:t>y</a:t>
            </a:r>
            <a:r>
              <a:rPr lang="en-US" sz="1400" dirty="0">
                <a:solidFill>
                  <a:schemeClr val="tx1"/>
                </a:solidFill>
              </a:rPr>
              <a:t> = 0 and the elastica is a pendulum</a:t>
            </a:r>
            <a:endParaRPr lang="en-US" sz="1400" dirty="0"/>
          </a:p>
        </p:txBody>
      </p:sp>
      <mc:AlternateContent xmlns:mc="http://schemas.openxmlformats.org/markup-compatibility/2006" xmlns:a14="http://schemas.microsoft.com/office/drawing/2010/main">
        <mc:Choice Requires="a14">
          <p:sp>
            <p:nvSpPr>
              <p:cNvPr id="6" name="latex-mode-1"/>
              <p:cNvSpPr txBox="1"/>
              <p:nvPr/>
            </p:nvSpPr>
            <p:spPr>
              <a:xfrm>
                <a:off x="5532120" y="1453896"/>
                <a:ext cx="5897880" cy="640080"/>
              </a:xfrm>
              <a:prstGeom prst="rect">
                <a:avLst/>
              </a:prstGeom>
              <a:noFill/>
              <a:ln/>
            </p:spPr>
            <p:txBody>
              <a:bodyPr wrap="square" lIns="0" tIns="0" rIns="0" bIns="0" rtlCol="0" anchor="ctr">
                <a:noAutofit/>
              </a:bodyPr>
              <a:lstStyle/>
              <a:p>
                <a:pPr marL="0" indent="0">
                  <a:buNone/>
                </a:pPr>
                <a14:m>
                  <m:oMathPara xmlns:m="http://schemas.openxmlformats.org/officeDocument/2006/math">
                    <m:oMath>
                      <m:r>
                        <a:rPr lang="en-US" sz="1600" i="1" dirty="0" smtClean="0">
                          <a:solidFill>
                            <a:schemeClr val="tx1"/>
                          </a:solidFill>
                          <a:latin typeface="Cambria Math" panose="02040503050406030204" pitchFamily="18" charset="0"/>
                        </a:rPr>
                        <m:t>𝜃</m:t>
                      </m:r>
                      <m:r>
                        <a:rPr lang="en-US" sz="1600" i="0" dirty="0" smtClean="0">
                          <a:solidFill>
                            <a:schemeClr val="tx1"/>
                          </a:solidFill>
                          <a:latin typeface="Cambria Math" panose="02040503050406030204" pitchFamily="18" charset="0"/>
                        </a:rPr>
                        <m:t>′′+</m:t>
                      </m:r>
                      <m:sSup>
                        <m:sSupPr>
                          <m:ctrlPr>
                            <a:rPr lang="en-US" sz="1600" i="1" dirty="0" smtClean="0">
                              <a:solidFill>
                                <a:schemeClr val="tx1"/>
                              </a:solidFill>
                              <a:latin typeface="Cambria Math" panose="02040503050406030204" pitchFamily="18" charset="0"/>
                            </a:rPr>
                          </m:ctrlPr>
                        </m:sSupPr>
                        <m:e>
                          <m:r>
                            <a:rPr lang="en-US" sz="1600" i="1" dirty="0" smtClean="0">
                              <a:solidFill>
                                <a:schemeClr val="tx1"/>
                              </a:solidFill>
                              <a:latin typeface="Cambria Math" panose="02040503050406030204" pitchFamily="18" charset="0"/>
                            </a:rPr>
                            <m:t>𝜆</m:t>
                          </m:r>
                        </m:e>
                        <m:sup>
                          <m:r>
                            <a:rPr lang="en-US" sz="1600" i="0" dirty="0" smtClean="0">
                              <a:solidFill>
                                <a:schemeClr val="tx1"/>
                              </a:solidFill>
                              <a:latin typeface="Cambria Math" panose="02040503050406030204" pitchFamily="18" charset="0"/>
                            </a:rPr>
                            <m:t>2</m:t>
                          </m:r>
                        </m:sup>
                      </m:sSup>
                      <m:func>
                        <m:funcPr>
                          <m:ctrlPr>
                            <a:rPr lang="en-US" sz="1600" i="0" dirty="0" smtClean="0">
                              <a:solidFill>
                                <a:schemeClr val="tx1"/>
                              </a:solidFill>
                              <a:latin typeface="Cambria Math" panose="02040503050406030204" pitchFamily="18" charset="0"/>
                            </a:rPr>
                          </m:ctrlPr>
                        </m:funcPr>
                        <m:fName>
                          <m:r>
                            <m:rPr>
                              <m:sty m:val="p"/>
                            </m:rPr>
                            <a:rPr lang="en-US" sz="1600" i="0" dirty="0" smtClean="0">
                              <a:solidFill>
                                <a:schemeClr val="tx1"/>
                              </a:solidFill>
                              <a:latin typeface="Cambria Math" panose="02040503050406030204" pitchFamily="18" charset="0"/>
                            </a:rPr>
                            <m:t>sin</m:t>
                          </m:r>
                        </m:fName>
                        <m:e>
                          <m:r>
                            <a:rPr lang="en-US" sz="1600" i="1" dirty="0" smtClean="0">
                              <a:solidFill>
                                <a:schemeClr val="tx1"/>
                              </a:solidFill>
                              <a:latin typeface="Cambria Math" panose="02040503050406030204" pitchFamily="18" charset="0"/>
                            </a:rPr>
                            <m:t>𝜃</m:t>
                          </m:r>
                        </m:e>
                      </m:func>
                      <m:r>
                        <a:rPr lang="en-US" sz="1600" i="0" dirty="0" smtClean="0">
                          <a:solidFill>
                            <a:schemeClr val="tx1"/>
                          </a:solidFill>
                          <a:latin typeface="Cambria Math" panose="02040503050406030204" pitchFamily="18" charset="0"/>
                        </a:rPr>
                        <m:t>=0, </m:t>
                      </m:r>
                      <m:sSup>
                        <m:sSupPr>
                          <m:ctrlPr>
                            <a:rPr lang="en-US" sz="1600" i="1" dirty="0" smtClean="0">
                              <a:solidFill>
                                <a:schemeClr val="tx1"/>
                              </a:solidFill>
                              <a:latin typeface="Cambria Math" panose="02040503050406030204" pitchFamily="18" charset="0"/>
                            </a:rPr>
                          </m:ctrlPr>
                        </m:sSupPr>
                        <m:e>
                          <m:r>
                            <a:rPr lang="en-US" sz="1600" i="1" dirty="0" smtClean="0">
                              <a:solidFill>
                                <a:schemeClr val="tx1"/>
                              </a:solidFill>
                              <a:latin typeface="Cambria Math" panose="02040503050406030204" pitchFamily="18" charset="0"/>
                            </a:rPr>
                            <m:t>𝜆</m:t>
                          </m:r>
                        </m:e>
                        <m:sup>
                          <m:r>
                            <a:rPr lang="en-US" sz="1600" i="0" dirty="0" smtClean="0">
                              <a:solidFill>
                                <a:schemeClr val="tx1"/>
                              </a:solidFill>
                              <a:latin typeface="Cambria Math" panose="02040503050406030204" pitchFamily="18" charset="0"/>
                            </a:rPr>
                            <m:t>2</m:t>
                          </m:r>
                        </m:sup>
                      </m:sSup>
                      <m:r>
                        <a:rPr lang="en-US" sz="1600" i="0" dirty="0" smtClean="0">
                          <a:solidFill>
                            <a:schemeClr val="tx1"/>
                          </a:solidFill>
                          <a:latin typeface="Cambria Math" panose="02040503050406030204" pitchFamily="18" charset="0"/>
                        </a:rPr>
                        <m:t>=</m:t>
                      </m:r>
                      <m:sSub>
                        <m:sSubPr>
                          <m:ctrlPr>
                            <a:rPr lang="en-US" sz="1600" i="1" dirty="0" smtClean="0">
                              <a:solidFill>
                                <a:schemeClr val="tx1"/>
                              </a:solidFill>
                              <a:latin typeface="Cambria Math" panose="02040503050406030204" pitchFamily="18" charset="0"/>
                            </a:rPr>
                          </m:ctrlPr>
                        </m:sSubPr>
                        <m:e>
                          <m:r>
                            <a:rPr lang="en-US" sz="1600" i="1" dirty="0" smtClean="0">
                              <a:solidFill>
                                <a:schemeClr val="tx1"/>
                              </a:solidFill>
                              <a:latin typeface="Cambria Math" panose="02040503050406030204" pitchFamily="18" charset="0"/>
                            </a:rPr>
                            <m:t>𝑓</m:t>
                          </m:r>
                        </m:e>
                        <m:sub>
                          <m:r>
                            <a:rPr lang="en-US" sz="1600" i="1" dirty="0" smtClean="0">
                              <a:solidFill>
                                <a:schemeClr val="tx1"/>
                              </a:solidFill>
                              <a:latin typeface="Cambria Math" panose="02040503050406030204" pitchFamily="18" charset="0"/>
                            </a:rPr>
                            <m:t>𝑥</m:t>
                          </m:r>
                        </m:sub>
                      </m:sSub>
                      <m:r>
                        <a:rPr lang="en-US" sz="1600" i="0" dirty="0" smtClean="0">
                          <a:solidFill>
                            <a:schemeClr val="tx1"/>
                          </a:solidFill>
                          <a:latin typeface="Cambria Math" panose="02040503050406030204" pitchFamily="18" charset="0"/>
                        </a:rPr>
                        <m:t>, </m:t>
                      </m:r>
                      <m:sSub>
                        <m:sSubPr>
                          <m:ctrlPr>
                            <a:rPr lang="en-US" sz="1600" i="1" dirty="0" smtClean="0">
                              <a:solidFill>
                                <a:schemeClr val="tx1"/>
                              </a:solidFill>
                              <a:latin typeface="Cambria Math" panose="02040503050406030204" pitchFamily="18" charset="0"/>
                            </a:rPr>
                          </m:ctrlPr>
                        </m:sSubPr>
                        <m:e>
                          <m:r>
                            <a:rPr lang="en-US" sz="1600" i="1" dirty="0" smtClean="0">
                              <a:solidFill>
                                <a:schemeClr val="tx1"/>
                              </a:solidFill>
                              <a:latin typeface="Cambria Math" panose="02040503050406030204" pitchFamily="18" charset="0"/>
                            </a:rPr>
                            <m:t>𝑓</m:t>
                          </m:r>
                        </m:e>
                        <m:sub>
                          <m:r>
                            <a:rPr lang="en-US" sz="1600" i="1" dirty="0" smtClean="0">
                              <a:solidFill>
                                <a:schemeClr val="tx1"/>
                              </a:solidFill>
                              <a:latin typeface="Cambria Math" panose="02040503050406030204" pitchFamily="18" charset="0"/>
                            </a:rPr>
                            <m:t>𝑦</m:t>
                          </m:r>
                        </m:sub>
                      </m:sSub>
                      <m:r>
                        <a:rPr lang="en-US" sz="1600" i="0" dirty="0" smtClean="0">
                          <a:solidFill>
                            <a:schemeClr val="tx1"/>
                          </a:solidFill>
                          <a:latin typeface="Cambria Math" panose="02040503050406030204" pitchFamily="18" charset="0"/>
                        </a:rPr>
                        <m:t>=0</m:t>
                      </m:r>
                    </m:oMath>
                  </m:oMathPara>
                </a14:m>
                <a:endParaRPr lang="en-US" sz="1600" dirty="0"/>
              </a:p>
            </p:txBody>
          </p:sp>
        </mc:Choice>
        <mc:Fallback xmlns="">
          <p:sp>
            <p:nvSpPr>
              <p:cNvPr id="6" name="latex-mode-1"/>
              <p:cNvSpPr txBox="1">
                <a:spLocks noRot="1" noChangeAspect="1" noMove="1" noResize="1" noEditPoints="1" noAdjustHandles="1" noChangeArrowheads="1" noChangeShapeType="1" noTextEdit="1"/>
              </p:cNvSpPr>
              <p:nvPr/>
            </p:nvSpPr>
            <p:spPr>
              <a:xfrm>
                <a:off x="5532120" y="1453896"/>
                <a:ext cx="5897880" cy="640080"/>
              </a:xfrm>
              <a:prstGeom prst="rect">
                <a:avLst/>
              </a:prstGeom>
              <a:blipFill>
                <a:blip r:embed="rId3"/>
                <a:stretch>
                  <a:fillRect/>
                </a:stretch>
              </a:blipFill>
              <a:ln/>
            </p:spPr>
            <p:txBody>
              <a:bodyPr/>
              <a:lstStyle/>
              <a:p>
                <a:r>
                  <a:rPr lang="en-IN">
                    <a:noFill/>
                  </a:rPr>
                  <a:t> </a:t>
                </a:r>
              </a:p>
            </p:txBody>
          </p:sp>
        </mc:Fallback>
      </mc:AlternateContent>
      <p:sp>
        <p:nvSpPr>
          <p:cNvPr id="7" name="step-card-2"/>
          <p:cNvSpPr/>
          <p:nvPr/>
        </p:nvSpPr>
        <p:spPr>
          <a:xfrm>
            <a:off x="548640" y="2221992"/>
            <a:ext cx="11064240" cy="713232"/>
          </a:xfrm>
          <a:prstGeom prst="roundRect">
            <a:avLst>
              <a:gd name="adj" fmla="val 8000"/>
            </a:avLst>
          </a:prstGeom>
          <a:solidFill>
            <a:schemeClr val="bg2"/>
          </a:solidFill>
          <a:ln/>
        </p:spPr>
        <p:txBody>
          <a:bodyPr/>
          <a:lstStyle/>
          <a:p>
            <a:endParaRPr lang="en-IN"/>
          </a:p>
        </p:txBody>
      </p:sp>
      <p:sp>
        <p:nvSpPr>
          <p:cNvPr id="8" name="step-badge-2"/>
          <p:cNvSpPr/>
          <p:nvPr/>
        </p:nvSpPr>
        <p:spPr>
          <a:xfrm>
            <a:off x="777240" y="2386584"/>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p>
        </p:txBody>
      </p:sp>
      <p:sp>
        <p:nvSpPr>
          <p:cNvPr id="9" name="step-text-2"/>
          <p:cNvSpPr txBox="1"/>
          <p:nvPr/>
        </p:nvSpPr>
        <p:spPr>
          <a:xfrm>
            <a:off x="1325880" y="2258568"/>
            <a:ext cx="3977640" cy="640080"/>
          </a:xfrm>
          <a:prstGeom prst="rect">
            <a:avLst/>
          </a:prstGeom>
          <a:noFill/>
          <a:ln/>
        </p:spPr>
        <p:txBody>
          <a:bodyPr wrap="square" lIns="0" tIns="0" rIns="0" bIns="0" rtlCol="0" anchor="ctr"/>
          <a:lstStyle/>
          <a:p>
            <a:pPr marL="0" indent="0">
              <a:buNone/>
            </a:pPr>
            <a:r>
              <a:rPr lang="en-US" sz="1400" dirty="0">
                <a:solidFill>
                  <a:schemeClr val="tx1"/>
                </a:solidFill>
              </a:rPr>
              <a:t>Multiply by θ′ and integrate once; θ′ = 0 at the peak angle α</a:t>
            </a:r>
            <a:endParaRPr lang="en-US" sz="1400" dirty="0"/>
          </a:p>
        </p:txBody>
      </p:sp>
      <mc:AlternateContent xmlns:mc="http://schemas.openxmlformats.org/markup-compatibility/2006" xmlns:a14="http://schemas.microsoft.com/office/drawing/2010/main">
        <mc:Choice Requires="a14">
          <p:sp>
            <p:nvSpPr>
              <p:cNvPr id="401" name="latex-mode-2"/>
              <p:cNvSpPr txBox="1"/>
              <p:nvPr/>
            </p:nvSpPr>
            <p:spPr>
              <a:xfrm>
                <a:off x="6856476" y="2438400"/>
                <a:ext cx="3249168" cy="280416"/>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𝜃</m:t>
                          </m:r>
                        </m:e>
                        <m:sup>
                          <m:r>
                            <a:rPr lang="en-US" sz="1600" i="1" dirty="0">
                              <a:solidFill>
                                <a:schemeClr val="tx1"/>
                              </a:solidFill>
                              <a:latin typeface="Cambria Math" panose="02040503050406030204" pitchFamily="18" charset="0"/>
                            </a:rPr>
                            <m:t>′</m:t>
                          </m:r>
                        </m:sup>
                      </m:sSup>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m:t>
                          </m:r>
                        </m:e>
                        <m:sup>
                          <m:r>
                            <a:rPr lang="en-US" sz="1600" i="1" dirty="0">
                              <a:solidFill>
                                <a:schemeClr val="tx1"/>
                              </a:solidFill>
                              <a:latin typeface="Cambria Math" panose="02040503050406030204" pitchFamily="18" charset="0"/>
                            </a:rPr>
                            <m:t>2</m:t>
                          </m:r>
                        </m:sup>
                      </m:sSup>
                      <m:r>
                        <a:rPr lang="en-US" sz="1600" i="1" dirty="0">
                          <a:solidFill>
                            <a:schemeClr val="tx1"/>
                          </a:solidFill>
                          <a:latin typeface="Cambria Math" panose="02040503050406030204" pitchFamily="18" charset="0"/>
                        </a:rPr>
                        <m:t>=4</m:t>
                      </m:r>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𝜆</m:t>
                          </m:r>
                        </m:e>
                        <m:sup>
                          <m:r>
                            <a:rPr lang="en-US" sz="1600" i="1" dirty="0">
                              <a:solidFill>
                                <a:schemeClr val="tx1"/>
                              </a:solidFill>
                              <a:latin typeface="Cambria Math" panose="02040503050406030204" pitchFamily="18" charset="0"/>
                            </a:rPr>
                            <m:t>2</m:t>
                          </m:r>
                        </m:sup>
                      </m:sSup>
                      <m:d>
                        <m:dPr>
                          <m:ctrlPr>
                            <a:rPr lang="en-US" sz="1600" i="1" dirty="0">
                              <a:solidFill>
                                <a:schemeClr val="tx1"/>
                              </a:solidFill>
                              <a:latin typeface="Cambria Math" panose="02040503050406030204" pitchFamily="18" charset="0"/>
                            </a:rPr>
                          </m:ctrlPr>
                        </m:dPr>
                        <m:e>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𝑘</m:t>
                              </m:r>
                            </m:e>
                            <m:sup>
                              <m:r>
                                <a:rPr lang="en-US" sz="1600" i="1" dirty="0">
                                  <a:solidFill>
                                    <a:schemeClr val="tx1"/>
                                  </a:solidFill>
                                  <a:latin typeface="Cambria Math" panose="02040503050406030204" pitchFamily="18" charset="0"/>
                                </a:rPr>
                                <m:t>2</m:t>
                              </m:r>
                            </m:sup>
                          </m:sSup>
                          <m:r>
                            <a:rPr lang="en-US" sz="1600" i="1" dirty="0">
                              <a:solidFill>
                                <a:schemeClr val="tx1"/>
                              </a:solidFill>
                              <a:latin typeface="Cambria Math" panose="02040503050406030204" pitchFamily="18" charset="0"/>
                            </a:rPr>
                            <m:t>−</m:t>
                          </m:r>
                          <m:sSup>
                            <m:sSupPr>
                              <m:ctrlPr>
                                <a:rPr lang="en-US" sz="1600" i="1" dirty="0">
                                  <a:solidFill>
                                    <a:schemeClr val="tx1"/>
                                  </a:solidFill>
                                  <a:latin typeface="Cambria Math" panose="02040503050406030204" pitchFamily="18" charset="0"/>
                                </a:rPr>
                              </m:ctrlPr>
                            </m:sSupPr>
                            <m:e>
                              <m:r>
                                <m:rPr>
                                  <m:sty m:val="p"/>
                                </m:rPr>
                                <a:rPr lang="en-US" sz="1600" i="1" dirty="0">
                                  <a:solidFill>
                                    <a:schemeClr val="tx1"/>
                                  </a:solidFill>
                                  <a:latin typeface="Cambria Math" panose="02040503050406030204" pitchFamily="18" charset="0"/>
                                </a:rPr>
                                <m:t>sin</m:t>
                              </m:r>
                            </m:e>
                            <m:sup>
                              <m:r>
                                <a:rPr lang="en-US" sz="1600" i="1" dirty="0">
                                  <a:solidFill>
                                    <a:schemeClr val="tx1"/>
                                  </a:solidFill>
                                  <a:latin typeface="Cambria Math" panose="02040503050406030204" pitchFamily="18" charset="0"/>
                                </a:rPr>
                                <m:t>2</m:t>
                              </m:r>
                            </m:sup>
                          </m:sSup>
                          <m:f>
                            <m:fPr>
                              <m:ctrlPr>
                                <a:rPr lang="en-US" sz="1600" i="1" dirty="0">
                                  <a:solidFill>
                                    <a:schemeClr val="tx1"/>
                                  </a:solidFill>
                                  <a:latin typeface="Cambria Math" panose="02040503050406030204" pitchFamily="18" charset="0"/>
                                </a:rPr>
                              </m:ctrlPr>
                            </m:fPr>
                            <m:num>
                              <m:r>
                                <a:rPr lang="en-US" sz="1600" i="1" dirty="0">
                                  <a:solidFill>
                                    <a:schemeClr val="tx1"/>
                                  </a:solidFill>
                                  <a:latin typeface="Cambria Math" panose="02040503050406030204" pitchFamily="18" charset="0"/>
                                </a:rPr>
                                <m:t>𝜃</m:t>
                              </m:r>
                            </m:num>
                            <m:den>
                              <m:r>
                                <a:rPr lang="en-US" sz="1600" i="1" dirty="0">
                                  <a:solidFill>
                                    <a:schemeClr val="tx1"/>
                                  </a:solidFill>
                                  <a:latin typeface="Cambria Math" panose="02040503050406030204" pitchFamily="18" charset="0"/>
                                </a:rPr>
                                <m:t>2</m:t>
                              </m:r>
                            </m:den>
                          </m:f>
                        </m:e>
                      </m:d>
                      <m:r>
                        <a:rPr lang="en-US" sz="1600" i="1"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𝑘</m:t>
                      </m:r>
                      <m:r>
                        <a:rPr lang="en-US" sz="1600" i="1" dirty="0">
                          <a:solidFill>
                            <a:schemeClr val="tx1"/>
                          </a:solidFill>
                          <a:latin typeface="Cambria Math" panose="02040503050406030204" pitchFamily="18" charset="0"/>
                        </a:rPr>
                        <m:t>=</m:t>
                      </m:r>
                      <m:r>
                        <m:rPr>
                          <m:sty m:val="p"/>
                        </m:rPr>
                        <a:rPr lang="en-US" sz="1600" i="1" dirty="0">
                          <a:solidFill>
                            <a:schemeClr val="tx1"/>
                          </a:solidFill>
                          <a:latin typeface="Cambria Math" panose="02040503050406030204" pitchFamily="18" charset="0"/>
                        </a:rPr>
                        <m:t>sin</m:t>
                      </m:r>
                      <m:f>
                        <m:fPr>
                          <m:ctrlPr>
                            <a:rPr lang="en-US" sz="1600" i="1" dirty="0">
                              <a:solidFill>
                                <a:schemeClr val="tx1"/>
                              </a:solidFill>
                              <a:latin typeface="Cambria Math" panose="02040503050406030204" pitchFamily="18" charset="0"/>
                            </a:rPr>
                          </m:ctrlPr>
                        </m:fPr>
                        <m:num>
                          <m:r>
                            <a:rPr lang="en-US" sz="1600" i="1" dirty="0">
                              <a:solidFill>
                                <a:schemeClr val="tx1"/>
                              </a:solidFill>
                              <a:latin typeface="Cambria Math" panose="02040503050406030204" pitchFamily="18" charset="0"/>
                            </a:rPr>
                            <m:t>𝛼</m:t>
                          </m:r>
                        </m:num>
                        <m:den>
                          <m:r>
                            <a:rPr lang="en-US" sz="1600" i="1" dirty="0">
                              <a:solidFill>
                                <a:schemeClr val="tx1"/>
                              </a:solidFill>
                              <a:latin typeface="Cambria Math" panose="02040503050406030204" pitchFamily="18" charset="0"/>
                            </a:rPr>
                            <m:t>2</m:t>
                          </m:r>
                        </m:den>
                      </m:f>
                    </m:oMath>
                  </m:oMathPara>
                </a14:m>
                <a:endParaRPr lang="en-US" sz="1600" dirty="0"/>
              </a:p>
            </p:txBody>
          </p:sp>
        </mc:Choice>
        <mc:Fallback xmlns="">
          <p:sp>
            <p:nvSpPr>
              <p:cNvPr id="401" name="latex-mode-2"/>
              <p:cNvSpPr txBox="1">
                <a:spLocks noRot="1" noChangeAspect="1" noMove="1" noResize="1" noEditPoints="1" noAdjustHandles="1" noChangeArrowheads="1" noChangeShapeType="1" noTextEdit="1"/>
              </p:cNvSpPr>
              <p:nvPr/>
            </p:nvSpPr>
            <p:spPr>
              <a:xfrm>
                <a:off x="6856476" y="2438400"/>
                <a:ext cx="3249168" cy="280416"/>
              </a:xfrm>
              <a:prstGeom prst="rect">
                <a:avLst/>
              </a:prstGeom>
              <a:blipFill>
                <a:blip r:embed="rId10"/>
                <a:stretch>
                  <a:fillRect/>
                </a:stretch>
              </a:blipFill>
            </p:spPr>
            <p:txBody>
              <a:bodyPr/>
              <a:lstStyle/>
              <a:p>
                <a:r>
                  <a:rPr lang="en-US">
                    <a:noFill/>
                  </a:rPr>
                  <a:t> </a:t>
                </a:r>
              </a:p>
            </p:txBody>
          </p:sp>
        </mc:Fallback>
      </mc:AlternateContent>
      <p:sp>
        <p:nvSpPr>
          <p:cNvPr id="11" name="step-card-3"/>
          <p:cNvSpPr/>
          <p:nvPr/>
        </p:nvSpPr>
        <p:spPr>
          <a:xfrm>
            <a:off x="548640" y="3026664"/>
            <a:ext cx="11064240" cy="713232"/>
          </a:xfrm>
          <a:prstGeom prst="roundRect">
            <a:avLst>
              <a:gd name="adj" fmla="val 8000"/>
            </a:avLst>
          </a:prstGeom>
          <a:solidFill>
            <a:schemeClr val="bg2"/>
          </a:solidFill>
          <a:ln/>
        </p:spPr>
        <p:txBody>
          <a:bodyPr/>
          <a:lstStyle/>
          <a:p>
            <a:endParaRPr lang="en-IN"/>
          </a:p>
        </p:txBody>
      </p:sp>
      <p:sp>
        <p:nvSpPr>
          <p:cNvPr id="12" name="step-badge-3"/>
          <p:cNvSpPr/>
          <p:nvPr/>
        </p:nvSpPr>
        <p:spPr>
          <a:xfrm>
            <a:off x="777240" y="3191256"/>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p>
        </p:txBody>
      </p:sp>
      <p:sp>
        <p:nvSpPr>
          <p:cNvPr id="13" name="step-text-3"/>
          <p:cNvSpPr txBox="1"/>
          <p:nvPr/>
        </p:nvSpPr>
        <p:spPr>
          <a:xfrm>
            <a:off x="1325880" y="3063240"/>
            <a:ext cx="3977640" cy="640080"/>
          </a:xfrm>
          <a:prstGeom prst="rect">
            <a:avLst/>
          </a:prstGeom>
          <a:noFill/>
          <a:ln/>
        </p:spPr>
        <p:txBody>
          <a:bodyPr wrap="square" lIns="0" tIns="0" rIns="0" bIns="0" rtlCol="0" anchor="ctr"/>
          <a:lstStyle/>
          <a:p>
            <a:pPr marL="0" indent="0">
              <a:buNone/>
            </a:pPr>
            <a:r>
              <a:rPr lang="en-US" sz="1400" dirty="0">
                <a:solidFill>
                  <a:schemeClr val="tx1"/>
                </a:solidFill>
              </a:rPr>
              <a:t>Substituting sin(θ/2) = k sin ψ gives ψ′ = λ√(1 − m sin²ψ), so sin ψ = sn(λs | m)</a:t>
            </a:r>
          </a:p>
        </p:txBody>
      </p:sp>
      <mc:AlternateContent xmlns:mc="http://schemas.openxmlformats.org/markup-compatibility/2006">
        <mc:Choice xmlns:a14="http://schemas.microsoft.com/office/drawing/2010/main" Requires="a14">
          <p:sp>
            <p:nvSpPr>
              <p:cNvPr id="402" name="latex-mode-3"/>
              <p:cNvSpPr txBox="1"/>
              <p:nvPr/>
            </p:nvSpPr>
            <p:spPr>
              <a:xfrm>
                <a:off x="6710172" y="3249168"/>
                <a:ext cx="3541776" cy="268224"/>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600" i="1" dirty="0" smtClean="0">
                          <a:solidFill>
                            <a:schemeClr val="tx1"/>
                          </a:solidFill>
                          <a:latin typeface="Cambria Math" panose="02040503050406030204" pitchFamily="18" charset="0"/>
                        </a:rPr>
                        <m:t>𝜃</m:t>
                      </m:r>
                      <m:d>
                        <m:dPr>
                          <m:ctrlPr>
                            <a:rPr lang="en-US" sz="1600" i="1" dirty="0" smtClean="0">
                              <a:solidFill>
                                <a:schemeClr val="tx1"/>
                              </a:solidFill>
                              <a:latin typeface="Cambria Math" panose="02040503050406030204" pitchFamily="18" charset="0"/>
                            </a:rPr>
                          </m:ctrlPr>
                        </m:dPr>
                        <m:e>
                          <m:r>
                            <a:rPr lang="en-US" sz="1600" i="1" dirty="0" smtClean="0">
                              <a:solidFill>
                                <a:schemeClr val="tx1"/>
                              </a:solidFill>
                              <a:latin typeface="Cambria Math" panose="02040503050406030204" pitchFamily="18" charset="0"/>
                            </a:rPr>
                            <m:t>𝑠</m:t>
                          </m:r>
                        </m:e>
                      </m:d>
                      <m:r>
                        <a:rPr lang="en-US" sz="1600" i="1" dirty="0" smtClean="0">
                          <a:solidFill>
                            <a:schemeClr val="tx1"/>
                          </a:solidFill>
                          <a:latin typeface="Cambria Math" panose="02040503050406030204" pitchFamily="18" charset="0"/>
                        </a:rPr>
                        <m:t>=2</m:t>
                      </m:r>
                      <m:func>
                        <m:funcPr>
                          <m:ctrlPr>
                            <a:rPr lang="en-US" sz="1600" i="1" dirty="0" smtClean="0">
                              <a:solidFill>
                                <a:schemeClr val="tx1"/>
                              </a:solidFill>
                              <a:latin typeface="Cambria Math" panose="02040503050406030204" pitchFamily="18" charset="0"/>
                            </a:rPr>
                          </m:ctrlPr>
                        </m:funcPr>
                        <m:fName>
                          <m:sSup>
                            <m:sSupPr>
                              <m:ctrlPr>
                                <a:rPr lang="en-US" sz="1600" i="1" dirty="0" smtClean="0">
                                  <a:solidFill>
                                    <a:schemeClr val="tx1"/>
                                  </a:solidFill>
                                  <a:latin typeface="Cambria Math" panose="02040503050406030204" pitchFamily="18" charset="0"/>
                                </a:rPr>
                              </m:ctrlPr>
                            </m:sSupPr>
                            <m:e>
                              <m:r>
                                <m:rPr>
                                  <m:sty m:val="p"/>
                                </m:rPr>
                                <a:rPr lang="en-US" sz="1600" i="1" dirty="0" smtClean="0">
                                  <a:solidFill>
                                    <a:schemeClr val="tx1"/>
                                  </a:solidFill>
                                  <a:latin typeface="Cambria Math" panose="02040503050406030204" pitchFamily="18" charset="0"/>
                                </a:rPr>
                                <m:t>sin</m:t>
                              </m:r>
                            </m:e>
                            <m:sup>
                              <m:r>
                                <a:rPr lang="en-US" sz="1600" b="0" i="1" dirty="0" smtClean="0">
                                  <a:solidFill>
                                    <a:schemeClr val="tx1"/>
                                  </a:solidFill>
                                  <a:latin typeface="Cambria Math" panose="02040503050406030204" pitchFamily="18" charset="0"/>
                                </a:rPr>
                                <m:t>-1</m:t>
                              </m:r>
                            </m:sup>
                          </m:sSup>
                        </m:fName>
                        <m:e>
                          <m:d>
                            <m:dPr>
                              <m:begChr m:val="["/>
                              <m:endChr m:val="]"/>
                              <m:ctrlPr>
                                <a:rPr lang="en-US" sz="1600" i="1" dirty="0" smtClean="0">
                                  <a:solidFill>
                                    <a:schemeClr val="tx1"/>
                                  </a:solidFill>
                                  <a:latin typeface="Cambria Math" panose="02040503050406030204" pitchFamily="18" charset="0"/>
                                </a:rPr>
                              </m:ctrlPr>
                            </m:dPr>
                            <m:e>
                              <m:r>
                                <a:rPr lang="en-US" sz="1600" i="1" dirty="0" smtClean="0">
                                  <a:solidFill>
                                    <a:schemeClr val="tx1"/>
                                  </a:solidFill>
                                  <a:latin typeface="Cambria Math" panose="02040503050406030204" pitchFamily="18" charset="0"/>
                                </a:rPr>
                                <m:t>𝑘</m:t>
                              </m:r>
                              <m:r>
                                <a:rPr lang="en-US" sz="1600" i="1" dirty="0" smtClean="0">
                                  <a:solidFill>
                                    <a:schemeClr val="tx1"/>
                                  </a:solidFill>
                                  <a:latin typeface="Cambria Math" panose="02040503050406030204" pitchFamily="18" charset="0"/>
                                </a:rPr>
                                <m:t> </m:t>
                              </m:r>
                              <m:r>
                                <m:rPr>
                                  <m:sty m:val="p"/>
                                </m:rPr>
                                <a:rPr lang="en-US" sz="1600" i="1" dirty="0" smtClean="0">
                                  <a:solidFill>
                                    <a:schemeClr val="tx1"/>
                                  </a:solidFill>
                                  <a:latin typeface="Cambria Math" panose="02040503050406030204" pitchFamily="18" charset="0"/>
                                </a:rPr>
                                <m:t>sn</m:t>
                              </m:r>
                              <m:d>
                                <m:dPr>
                                  <m:ctrlPr>
                                    <a:rPr lang="en-US" sz="1600" i="1" dirty="0" smtClean="0">
                                      <a:solidFill>
                                        <a:schemeClr val="tx1"/>
                                      </a:solidFill>
                                      <a:latin typeface="Cambria Math" panose="02040503050406030204" pitchFamily="18" charset="0"/>
                                    </a:rPr>
                                  </m:ctrlPr>
                                </m:dPr>
                                <m:e>
                                  <m:r>
                                    <a:rPr lang="en-US" sz="1600" i="1" dirty="0" smtClean="0">
                                      <a:solidFill>
                                        <a:schemeClr val="tx1"/>
                                      </a:solidFill>
                                      <a:latin typeface="Cambria Math" panose="02040503050406030204" pitchFamily="18" charset="0"/>
                                    </a:rPr>
                                    <m:t>𝜆</m:t>
                                  </m:r>
                                  <m:r>
                                    <a:rPr lang="en-US" sz="1600" i="1" dirty="0" smtClean="0">
                                      <a:solidFill>
                                        <a:schemeClr val="tx1"/>
                                      </a:solidFill>
                                      <a:latin typeface="Cambria Math" panose="02040503050406030204" pitchFamily="18" charset="0"/>
                                    </a:rPr>
                                    <m:t>𝑠</m:t>
                                  </m:r>
                                  <m:r>
                                    <a:rPr lang="en-US" sz="1600" i="1" dirty="0" smtClean="0">
                                      <a:solidFill>
                                        <a:schemeClr val="tx1"/>
                                      </a:solidFill>
                                      <a:latin typeface="Cambria Math" panose="02040503050406030204" pitchFamily="18" charset="0"/>
                                    </a:rPr>
                                    <m:t> | </m:t>
                                  </m:r>
                                  <m:r>
                                    <a:rPr lang="en-US" sz="1600" i="1" dirty="0" smtClean="0">
                                      <a:solidFill>
                                        <a:schemeClr val="tx1"/>
                                      </a:solidFill>
                                      <a:latin typeface="Cambria Math" panose="02040503050406030204" pitchFamily="18" charset="0"/>
                                    </a:rPr>
                                    <m:t>𝑚</m:t>
                                  </m:r>
                                </m:e>
                              </m:d>
                            </m:e>
                          </m:d>
                        </m:e>
                      </m:func>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𝑚</m:t>
                      </m:r>
                      <m:r>
                        <a:rPr lang="en-US" sz="1600" i="1" dirty="0" smtClean="0">
                          <a:solidFill>
                            <a:schemeClr val="tx1"/>
                          </a:solidFill>
                          <a:latin typeface="Cambria Math" panose="02040503050406030204" pitchFamily="18" charset="0"/>
                        </a:rPr>
                        <m:t>=</m:t>
                      </m:r>
                      <m:sSup>
                        <m:sSupPr>
                          <m:ctrlPr>
                            <a:rPr lang="en-US" sz="1600" i="1" dirty="0" smtClean="0">
                              <a:solidFill>
                                <a:schemeClr val="tx1"/>
                              </a:solidFill>
                              <a:latin typeface="Cambria Math" panose="02040503050406030204" pitchFamily="18" charset="0"/>
                            </a:rPr>
                          </m:ctrlPr>
                        </m:sSupPr>
                        <m:e>
                          <m:r>
                            <a:rPr lang="en-US" sz="1600" i="1" dirty="0" smtClean="0">
                              <a:solidFill>
                                <a:schemeClr val="tx1"/>
                              </a:solidFill>
                              <a:latin typeface="Cambria Math" panose="02040503050406030204" pitchFamily="18" charset="0"/>
                            </a:rPr>
                            <m:t>𝑘</m:t>
                          </m:r>
                        </m:e>
                        <m:sup>
                          <m:r>
                            <a:rPr lang="en-US" sz="1600" i="1" dirty="0" smtClean="0">
                              <a:solidFill>
                                <a:schemeClr val="tx1"/>
                              </a:solidFill>
                              <a:latin typeface="Cambria Math" panose="02040503050406030204" pitchFamily="18" charset="0"/>
                            </a:rPr>
                            <m:t>2</m:t>
                          </m:r>
                        </m:sup>
                      </m:sSup>
                    </m:oMath>
                  </m:oMathPara>
                </a14:m>
                <a:endParaRPr lang="en-US" sz="1600" dirty="0"/>
              </a:p>
            </p:txBody>
          </p:sp>
        </mc:Choice>
        <mc:Fallback>
          <p:sp>
            <p:nvSpPr>
              <p:cNvPr id="402" name="latex-mode-3"/>
              <p:cNvSpPr txBox="1">
                <a:spLocks noRot="1" noChangeAspect="1" noMove="1" noResize="1" noEditPoints="1" noAdjustHandles="1" noChangeArrowheads="1" noChangeShapeType="1" noTextEdit="1"/>
              </p:cNvSpPr>
              <p:nvPr/>
            </p:nvSpPr>
            <p:spPr>
              <a:xfrm>
                <a:off x="6710172" y="3249168"/>
                <a:ext cx="3541776" cy="268224"/>
              </a:xfrm>
              <a:prstGeom prst="rect">
                <a:avLst/>
              </a:prstGeom>
              <a:blipFill>
                <a:blip r:embed="rId11"/>
                <a:stretch>
                  <a:fillRect l="-2065" t="-18182" r="-1033" b="-43182"/>
                </a:stretch>
              </a:blipFill>
            </p:spPr>
            <p:txBody>
              <a:bodyPr/>
              <a:lstStyle/>
              <a:p>
                <a:r>
                  <a:rPr lang="en-IN">
                    <a:noFill/>
                  </a:rPr>
                  <a:t> </a:t>
                </a:r>
              </a:p>
            </p:txBody>
          </p:sp>
        </mc:Fallback>
      </mc:AlternateContent>
      <p:sp>
        <p:nvSpPr>
          <p:cNvPr id="15" name="step-card-4"/>
          <p:cNvSpPr/>
          <p:nvPr/>
        </p:nvSpPr>
        <p:spPr>
          <a:xfrm>
            <a:off x="548640" y="3831336"/>
            <a:ext cx="11064240" cy="713232"/>
          </a:xfrm>
          <a:prstGeom prst="roundRect">
            <a:avLst>
              <a:gd name="adj" fmla="val 8000"/>
            </a:avLst>
          </a:prstGeom>
          <a:solidFill>
            <a:schemeClr val="bg2"/>
          </a:solidFill>
          <a:ln/>
        </p:spPr>
        <p:txBody>
          <a:bodyPr/>
          <a:lstStyle/>
          <a:p>
            <a:endParaRPr lang="en-IN"/>
          </a:p>
        </p:txBody>
      </p:sp>
      <p:sp>
        <p:nvSpPr>
          <p:cNvPr id="16" name="step-badge-4"/>
          <p:cNvSpPr/>
          <p:nvPr/>
        </p:nvSpPr>
        <p:spPr>
          <a:xfrm>
            <a:off x="777240" y="3995928"/>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p>
        </p:txBody>
      </p:sp>
      <p:sp>
        <p:nvSpPr>
          <p:cNvPr id="17" name="step-text-4"/>
          <p:cNvSpPr txBox="1"/>
          <p:nvPr/>
        </p:nvSpPr>
        <p:spPr>
          <a:xfrm>
            <a:off x="1325880" y="3867912"/>
            <a:ext cx="3977640" cy="640080"/>
          </a:xfrm>
          <a:prstGeom prst="rect">
            <a:avLst/>
          </a:prstGeom>
          <a:noFill/>
          <a:ln/>
        </p:spPr>
        <p:txBody>
          <a:bodyPr wrap="square" lIns="0" tIns="0" rIns="0" bIns="0" rtlCol="0" anchor="ctr"/>
          <a:lstStyle/>
          <a:p>
            <a:pPr marL="0" indent="0">
              <a:buNone/>
            </a:pPr>
            <a:r>
              <a:rPr lang="en-US" sz="1400" dirty="0">
                <a:solidFill>
                  <a:schemeClr val="tx1"/>
                </a:solidFill>
              </a:rPr>
              <a:t>θ(L) = 0 and ∫ sin θ ds = 0 need one full period of sn (4K): four quarter-waves</a:t>
            </a:r>
            <a:endParaRPr lang="en-US" sz="1400" dirty="0"/>
          </a:p>
        </p:txBody>
      </p:sp>
      <mc:AlternateContent xmlns:mc="http://schemas.openxmlformats.org/markup-compatibility/2006" xmlns:a14="http://schemas.microsoft.com/office/drawing/2010/main">
        <mc:Choice Requires="a14">
          <p:sp>
            <p:nvSpPr>
              <p:cNvPr id="18" name="latex-mode-4"/>
              <p:cNvSpPr txBox="1"/>
              <p:nvPr/>
            </p:nvSpPr>
            <p:spPr>
              <a:xfrm>
                <a:off x="5532120" y="3867912"/>
                <a:ext cx="5897880" cy="640080"/>
              </a:xfrm>
              <a:prstGeom prst="rect">
                <a:avLst/>
              </a:prstGeom>
              <a:noFill/>
              <a:ln/>
            </p:spPr>
            <p:txBody>
              <a:bodyPr wrap="square" lIns="0" tIns="0" rIns="0" bIns="0" rtlCol="0" anchor="ctr">
                <a:noAutofit/>
              </a:bodyPr>
              <a:lstStyle/>
              <a:p>
                <a:pPr marL="0" indent="0">
                  <a:buNone/>
                </a:pPr>
                <a14:m>
                  <m:oMathPara xmlns:m="http://schemas.openxmlformats.org/officeDocument/2006/math">
                    <m:oMath>
                      <m:r>
                        <a:rPr lang="en-US" sz="1600" i="1" dirty="0" smtClean="0">
                          <a:solidFill>
                            <a:schemeClr val="tx1"/>
                          </a:solidFill>
                          <a:latin typeface="Cambria Math" panose="02040503050406030204" pitchFamily="18" charset="0"/>
                        </a:rPr>
                        <m:t>𝜆</m:t>
                      </m:r>
                      <m:r>
                        <a:rPr lang="en-US" sz="1600" i="1" dirty="0" smtClean="0">
                          <a:solidFill>
                            <a:schemeClr val="tx1"/>
                          </a:solidFill>
                          <a:latin typeface="Cambria Math" panose="02040503050406030204" pitchFamily="18" charset="0"/>
                        </a:rPr>
                        <m:t>𝐿</m:t>
                      </m:r>
                      <m:r>
                        <a:rPr lang="en-US" sz="1600" i="0" dirty="0">
                          <a:solidFill>
                            <a:schemeClr val="tx1"/>
                          </a:solidFill>
                          <a:latin typeface="Cambria Math" panose="02040503050406030204" pitchFamily="18" charset="0"/>
                        </a:rPr>
                        <m:t>=4</m:t>
                      </m:r>
                      <m:r>
                        <a:rPr lang="en-US" sz="1600" i="1" dirty="0">
                          <a:solidFill>
                            <a:schemeClr val="tx1"/>
                          </a:solidFill>
                          <a:latin typeface="Cambria Math" panose="02040503050406030204" pitchFamily="18" charset="0"/>
                        </a:rPr>
                        <m:t>𝐾</m:t>
                      </m:r>
                      <m:d>
                        <m:dPr>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𝑚</m:t>
                          </m:r>
                        </m:e>
                      </m:d>
                      <m:r>
                        <a:rPr lang="en-US" sz="1600" i="0" dirty="0">
                          <a:solidFill>
                            <a:schemeClr val="tx1"/>
                          </a:solidFill>
                          <a:latin typeface="Cambria Math" panose="02040503050406030204" pitchFamily="18" charset="0"/>
                        </a:rPr>
                        <m:t> ⇒ </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𝑥</m:t>
                          </m:r>
                        </m:sub>
                      </m:sSub>
                      <m:r>
                        <a:rPr lang="en-US" sz="1600" i="0" dirty="0">
                          <a:solidFill>
                            <a:schemeClr val="tx1"/>
                          </a:solidFill>
                          <a:latin typeface="Cambria Math" panose="02040503050406030204" pitchFamily="18" charset="0"/>
                        </a:rPr>
                        <m:t>=</m:t>
                      </m:r>
                      <m:sSup>
                        <m:sSupPr>
                          <m:ctrlPr>
                            <a:rPr lang="en-US" sz="1600" i="1" dirty="0">
                              <a:solidFill>
                                <a:schemeClr val="tx1"/>
                              </a:solidFill>
                              <a:latin typeface="Cambria Math" panose="02040503050406030204" pitchFamily="18" charset="0"/>
                            </a:rPr>
                          </m:ctrlPr>
                        </m:sSupPr>
                        <m:e>
                          <m:d>
                            <m:dPr>
                              <m:ctrlPr>
                                <a:rPr lang="en-US" sz="1600" i="1" dirty="0">
                                  <a:solidFill>
                                    <a:schemeClr val="tx1"/>
                                  </a:solidFill>
                                  <a:latin typeface="Cambria Math" panose="02040503050406030204" pitchFamily="18" charset="0"/>
                                </a:rPr>
                              </m:ctrlPr>
                            </m:dPr>
                            <m:e>
                              <m:f>
                                <m:fPr>
                                  <m:ctrlPr>
                                    <a:rPr lang="en-US" sz="1600" i="0" dirty="0">
                                      <a:solidFill>
                                        <a:schemeClr val="tx1"/>
                                      </a:solidFill>
                                      <a:latin typeface="Cambria Math" panose="02040503050406030204" pitchFamily="18" charset="0"/>
                                    </a:rPr>
                                  </m:ctrlPr>
                                </m:fPr>
                                <m:num>
                                  <m:r>
                                    <a:rPr lang="en-US" sz="1600" i="0" dirty="0">
                                      <a:solidFill>
                                        <a:schemeClr val="tx1"/>
                                      </a:solidFill>
                                      <a:latin typeface="Cambria Math" panose="02040503050406030204" pitchFamily="18" charset="0"/>
                                    </a:rPr>
                                    <m:t>4</m:t>
                                  </m:r>
                                  <m:r>
                                    <a:rPr lang="en-US" sz="1600" i="1" dirty="0">
                                      <a:solidFill>
                                        <a:schemeClr val="tx1"/>
                                      </a:solidFill>
                                      <a:latin typeface="Cambria Math" panose="02040503050406030204" pitchFamily="18" charset="0"/>
                                    </a:rPr>
                                    <m:t>𝐾</m:t>
                                  </m:r>
                                  <m:d>
                                    <m:dPr>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𝑚</m:t>
                                      </m:r>
                                    </m:e>
                                  </m:d>
                                </m:num>
                                <m:den>
                                  <m:r>
                                    <a:rPr lang="en-US" sz="1600" i="1" dirty="0">
                                      <a:solidFill>
                                        <a:schemeClr val="tx1"/>
                                      </a:solidFill>
                                      <a:latin typeface="Cambria Math" panose="02040503050406030204" pitchFamily="18" charset="0"/>
                                    </a:rPr>
                                    <m:t>𝐿</m:t>
                                  </m:r>
                                </m:den>
                              </m:f>
                            </m:e>
                          </m:d>
                        </m:e>
                        <m:sup>
                          <m:r>
                            <a:rPr lang="en-US" sz="1600" i="0" dirty="0">
                              <a:solidFill>
                                <a:schemeClr val="tx1"/>
                              </a:solidFill>
                              <a:latin typeface="Cambria Math" panose="02040503050406030204" pitchFamily="18" charset="0"/>
                            </a:rPr>
                            <m:t>2</m:t>
                          </m:r>
                        </m:sup>
                      </m:sSup>
                    </m:oMath>
                  </m:oMathPara>
                </a14:m>
                <a:endParaRPr lang="en-US" sz="1600" dirty="0"/>
              </a:p>
            </p:txBody>
          </p:sp>
        </mc:Choice>
        <mc:Fallback xmlns="">
          <p:sp>
            <p:nvSpPr>
              <p:cNvPr id="18" name="latex-mode-4"/>
              <p:cNvSpPr txBox="1">
                <a:spLocks noRot="1" noChangeAspect="1" noMove="1" noResize="1" noEditPoints="1" noAdjustHandles="1" noChangeArrowheads="1" noChangeShapeType="1" noTextEdit="1"/>
              </p:cNvSpPr>
              <p:nvPr/>
            </p:nvSpPr>
            <p:spPr>
              <a:xfrm>
                <a:off x="5532120" y="3867912"/>
                <a:ext cx="5897880" cy="640080"/>
              </a:xfrm>
              <a:prstGeom prst="rect">
                <a:avLst/>
              </a:prstGeom>
              <a:blipFill>
                <a:blip r:embed="rId6"/>
                <a:stretch>
                  <a:fillRect/>
                </a:stretch>
              </a:blipFill>
              <a:ln/>
            </p:spPr>
            <p:txBody>
              <a:bodyPr/>
              <a:lstStyle/>
              <a:p>
                <a:r>
                  <a:rPr lang="en-IN">
                    <a:noFill/>
                  </a:rPr>
                  <a:t> </a:t>
                </a:r>
              </a:p>
            </p:txBody>
          </p:sp>
        </mc:Fallback>
      </mc:AlternateContent>
      <p:sp>
        <p:nvSpPr>
          <p:cNvPr id="19" name="step-card-5"/>
          <p:cNvSpPr/>
          <p:nvPr/>
        </p:nvSpPr>
        <p:spPr>
          <a:xfrm>
            <a:off x="548640" y="4636008"/>
            <a:ext cx="11064240" cy="713232"/>
          </a:xfrm>
          <a:prstGeom prst="roundRect">
            <a:avLst>
              <a:gd name="adj" fmla="val 8000"/>
            </a:avLst>
          </a:prstGeom>
          <a:solidFill>
            <a:schemeClr val="bg2"/>
          </a:solidFill>
          <a:ln/>
        </p:spPr>
        <p:txBody>
          <a:bodyPr/>
          <a:lstStyle/>
          <a:p>
            <a:endParaRPr lang="en-IN"/>
          </a:p>
        </p:txBody>
      </p:sp>
      <p:sp>
        <p:nvSpPr>
          <p:cNvPr id="20" name="step-badge-5"/>
          <p:cNvSpPr/>
          <p:nvPr/>
        </p:nvSpPr>
        <p:spPr>
          <a:xfrm>
            <a:off x="777240" y="4800600"/>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5</a:t>
            </a:r>
          </a:p>
        </p:txBody>
      </p:sp>
      <p:sp>
        <p:nvSpPr>
          <p:cNvPr id="21" name="step-text-5"/>
          <p:cNvSpPr txBox="1"/>
          <p:nvPr/>
        </p:nvSpPr>
        <p:spPr>
          <a:xfrm>
            <a:off x="1325880" y="4672584"/>
            <a:ext cx="3977640" cy="640080"/>
          </a:xfrm>
          <a:prstGeom prst="rect">
            <a:avLst/>
          </a:prstGeom>
          <a:noFill/>
          <a:ln/>
        </p:spPr>
        <p:txBody>
          <a:bodyPr wrap="square" lIns="0" tIns="0" rIns="0" bIns="0" rtlCol="0" anchor="ctr"/>
          <a:lstStyle/>
          <a:p>
            <a:pPr marL="0" indent="0">
              <a:buNone/>
            </a:pPr>
            <a:r>
              <a:rPr lang="en-US" sz="1400" dirty="0">
                <a:solidFill>
                  <a:schemeClr val="tx1"/>
                </a:solidFill>
              </a:rPr>
              <a:t>The end distance fixes m; d/L falls monotonically in m, so a 1-D root-find is safe</a:t>
            </a:r>
            <a:endParaRPr lang="en-US" sz="1400" dirty="0"/>
          </a:p>
        </p:txBody>
      </p:sp>
      <mc:AlternateContent xmlns:mc="http://schemas.openxmlformats.org/markup-compatibility/2006" xmlns:a14="http://schemas.microsoft.com/office/drawing/2010/main">
        <mc:Choice Requires="a14">
          <p:sp>
            <p:nvSpPr>
              <p:cNvPr id="22" name="latex-mode-5"/>
              <p:cNvSpPr txBox="1"/>
              <p:nvPr/>
            </p:nvSpPr>
            <p:spPr>
              <a:xfrm>
                <a:off x="5532120" y="4672584"/>
                <a:ext cx="5897880" cy="640080"/>
              </a:xfrm>
              <a:prstGeom prst="rect">
                <a:avLst/>
              </a:prstGeom>
              <a:noFill/>
              <a:ln/>
            </p:spPr>
            <p:txBody>
              <a:bodyPr wrap="square" lIns="0" tIns="0" rIns="0" bIns="0" rtlCol="0" anchor="ctr">
                <a:noAutofit/>
              </a:bodyPr>
              <a:lstStyle/>
              <a:p>
                <a:pPr marL="0" indent="0">
                  <a:buNone/>
                </a:pPr>
                <a14:m>
                  <m:oMathPara xmlns:m="http://schemas.openxmlformats.org/officeDocument/2006/math">
                    <m:oMath>
                      <m:f>
                        <m:fPr>
                          <m:ctrlPr>
                            <a:rPr lang="en-US" sz="1600" i="1" dirty="0">
                              <a:solidFill>
                                <a:schemeClr val="tx1"/>
                              </a:solidFill>
                              <a:latin typeface="Cambria Math" panose="02040503050406030204" pitchFamily="18" charset="0"/>
                            </a:rPr>
                          </m:ctrlPr>
                        </m:fPr>
                        <m:num>
                          <m:r>
                            <a:rPr lang="en-US" sz="1600" i="1" dirty="0">
                              <a:solidFill>
                                <a:schemeClr val="tx1"/>
                              </a:solidFill>
                              <a:latin typeface="Cambria Math" panose="02040503050406030204" pitchFamily="18" charset="0"/>
                            </a:rPr>
                            <m:t>𝑑</m:t>
                          </m:r>
                        </m:num>
                        <m:den>
                          <m:r>
                            <a:rPr lang="en-US" sz="1600" i="1" dirty="0">
                              <a:solidFill>
                                <a:schemeClr val="tx1"/>
                              </a:solidFill>
                              <a:latin typeface="Cambria Math" panose="02040503050406030204" pitchFamily="18" charset="0"/>
                            </a:rPr>
                            <m:t>𝐿</m:t>
                          </m:r>
                        </m:den>
                      </m:f>
                      <m:r>
                        <a:rPr lang="en-US" sz="1600" i="0" dirty="0">
                          <a:solidFill>
                            <a:schemeClr val="tx1"/>
                          </a:solidFill>
                          <a:latin typeface="Cambria Math" panose="02040503050406030204" pitchFamily="18" charset="0"/>
                        </a:rPr>
                        <m:t>=</m:t>
                      </m:r>
                      <m:f>
                        <m:fPr>
                          <m:ctrlPr>
                            <a:rPr lang="en-US" sz="1600" i="0" dirty="0">
                              <a:solidFill>
                                <a:schemeClr val="tx1"/>
                              </a:solidFill>
                              <a:latin typeface="Cambria Math" panose="02040503050406030204" pitchFamily="18" charset="0"/>
                            </a:rPr>
                          </m:ctrlPr>
                        </m:fPr>
                        <m:num>
                          <m:r>
                            <a:rPr lang="en-US" sz="1600" i="0" dirty="0">
                              <a:solidFill>
                                <a:schemeClr val="tx1"/>
                              </a:solidFill>
                              <a:latin typeface="Cambria Math" panose="02040503050406030204" pitchFamily="18" charset="0"/>
                            </a:rPr>
                            <m:t>1</m:t>
                          </m:r>
                        </m:num>
                        <m:den>
                          <m:r>
                            <a:rPr lang="en-US" sz="1600" i="1" dirty="0">
                              <a:solidFill>
                                <a:schemeClr val="tx1"/>
                              </a:solidFill>
                              <a:latin typeface="Cambria Math" panose="02040503050406030204" pitchFamily="18" charset="0"/>
                            </a:rPr>
                            <m:t>𝐿</m:t>
                          </m:r>
                        </m:den>
                      </m:f>
                      <m:nary>
                        <m:naryPr>
                          <m:limLoc m:val="subSup"/>
                          <m:ctrlPr>
                            <a:rPr lang="en-US" sz="1600" i="0" dirty="0">
                              <a:solidFill>
                                <a:schemeClr val="tx1"/>
                              </a:solidFill>
                              <a:latin typeface="Cambria Math" panose="02040503050406030204" pitchFamily="18" charset="0"/>
                            </a:rPr>
                          </m:ctrlPr>
                        </m:naryPr>
                        <m:sub>
                          <m:r>
                            <a:rPr lang="en-US" sz="1600" i="0" dirty="0">
                              <a:solidFill>
                                <a:schemeClr val="tx1"/>
                              </a:solidFill>
                              <a:latin typeface="Cambria Math" panose="02040503050406030204" pitchFamily="18" charset="0"/>
                            </a:rPr>
                            <m:t>0</m:t>
                          </m:r>
                        </m:sub>
                        <m:sup>
                          <m:r>
                            <a:rPr lang="en-US" sz="1600" i="1" dirty="0">
                              <a:solidFill>
                                <a:schemeClr val="tx1"/>
                              </a:solidFill>
                              <a:latin typeface="Cambria Math" panose="02040503050406030204" pitchFamily="18" charset="0"/>
                            </a:rPr>
                            <m:t>𝐿</m:t>
                          </m:r>
                        </m:sup>
                        <m:e>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cos</m:t>
                              </m:r>
                            </m:fName>
                            <m:e>
                              <m:r>
                                <a:rPr lang="en-US" sz="1600" i="1" dirty="0">
                                  <a:solidFill>
                                    <a:schemeClr val="tx1"/>
                                  </a:solidFill>
                                  <a:latin typeface="Cambria Math" panose="02040503050406030204" pitchFamily="18" charset="0"/>
                                </a:rPr>
                                <m:t>𝜃</m:t>
                              </m:r>
                            </m:e>
                          </m:func>
                        </m:e>
                      </m:nary>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𝑑𝑠</m:t>
                      </m:r>
                      <m:r>
                        <a:rPr lang="en-US" sz="1600" i="0" dirty="0">
                          <a:solidFill>
                            <a:schemeClr val="tx1"/>
                          </a:solidFill>
                          <a:latin typeface="Cambria Math" panose="02040503050406030204" pitchFamily="18" charset="0"/>
                        </a:rPr>
                        <m:t>=</m:t>
                      </m:r>
                      <m:f>
                        <m:fPr>
                          <m:ctrlPr>
                            <a:rPr lang="en-US" sz="1600" i="0" dirty="0">
                              <a:solidFill>
                                <a:schemeClr val="tx1"/>
                              </a:solidFill>
                              <a:latin typeface="Cambria Math" panose="02040503050406030204" pitchFamily="18" charset="0"/>
                            </a:rPr>
                          </m:ctrlPr>
                        </m:fPr>
                        <m:num>
                          <m:r>
                            <a:rPr lang="en-US" sz="1600" i="0" dirty="0">
                              <a:solidFill>
                                <a:schemeClr val="tx1"/>
                              </a:solidFill>
                              <a:latin typeface="Cambria Math" panose="02040503050406030204" pitchFamily="18" charset="0"/>
                            </a:rPr>
                            <m:t>2</m:t>
                          </m:r>
                          <m:r>
                            <a:rPr lang="en-US" sz="1600" i="1" dirty="0">
                              <a:solidFill>
                                <a:schemeClr val="tx1"/>
                              </a:solidFill>
                              <a:latin typeface="Cambria Math" panose="02040503050406030204" pitchFamily="18" charset="0"/>
                            </a:rPr>
                            <m:t>𝐸</m:t>
                          </m:r>
                          <m:d>
                            <m:dPr>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𝑚</m:t>
                              </m:r>
                            </m:e>
                          </m:d>
                        </m:num>
                        <m:den>
                          <m:r>
                            <a:rPr lang="en-US" sz="1600" i="1" dirty="0">
                              <a:solidFill>
                                <a:schemeClr val="tx1"/>
                              </a:solidFill>
                              <a:latin typeface="Cambria Math" panose="02040503050406030204" pitchFamily="18" charset="0"/>
                            </a:rPr>
                            <m:t>𝐾</m:t>
                          </m:r>
                          <m:d>
                            <m:dPr>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𝑚</m:t>
                              </m:r>
                            </m:e>
                          </m:d>
                        </m:den>
                      </m:f>
                      <m:r>
                        <a:rPr lang="en-US" sz="1600" i="0" dirty="0">
                          <a:solidFill>
                            <a:schemeClr val="tx1"/>
                          </a:solidFill>
                          <a:latin typeface="Cambria Math" panose="02040503050406030204" pitchFamily="18" charset="0"/>
                        </a:rPr>
                        <m:t>−1</m:t>
                      </m:r>
                    </m:oMath>
                  </m:oMathPara>
                </a14:m>
                <a:endParaRPr lang="en-US" sz="1600" dirty="0"/>
              </a:p>
            </p:txBody>
          </p:sp>
        </mc:Choice>
        <mc:Fallback xmlns="">
          <p:sp>
            <p:nvSpPr>
              <p:cNvPr id="22" name="latex-mode-5"/>
              <p:cNvSpPr txBox="1">
                <a:spLocks noRot="1" noChangeAspect="1" noMove="1" noResize="1" noEditPoints="1" noAdjustHandles="1" noChangeArrowheads="1" noChangeShapeType="1" noTextEdit="1"/>
              </p:cNvSpPr>
              <p:nvPr/>
            </p:nvSpPr>
            <p:spPr>
              <a:xfrm>
                <a:off x="5532120" y="4672584"/>
                <a:ext cx="5897880" cy="640080"/>
              </a:xfrm>
              <a:prstGeom prst="rect">
                <a:avLst/>
              </a:prstGeom>
              <a:blipFill>
                <a:blip r:embed="rId7"/>
                <a:stretch>
                  <a:fillRect/>
                </a:stretch>
              </a:blipFill>
              <a:ln/>
            </p:spPr>
            <p:txBody>
              <a:bodyPr/>
              <a:lstStyle/>
              <a:p>
                <a:r>
                  <a:rPr lang="en-IN">
                    <a:noFill/>
                  </a:rPr>
                  <a:t> </a:t>
                </a:r>
              </a:p>
            </p:txBody>
          </p:sp>
        </mc:Fallback>
      </mc:AlternateContent>
      <p:sp>
        <p:nvSpPr>
          <p:cNvPr id="23" name="step-card-6"/>
          <p:cNvSpPr/>
          <p:nvPr/>
        </p:nvSpPr>
        <p:spPr>
          <a:xfrm>
            <a:off x="548640" y="5440680"/>
            <a:ext cx="11064240" cy="713232"/>
          </a:xfrm>
          <a:prstGeom prst="roundRect">
            <a:avLst>
              <a:gd name="adj" fmla="val 8000"/>
            </a:avLst>
          </a:prstGeom>
          <a:solidFill>
            <a:schemeClr val="bg2"/>
          </a:solidFill>
          <a:ln/>
        </p:spPr>
        <p:txBody>
          <a:bodyPr/>
          <a:lstStyle/>
          <a:p>
            <a:endParaRPr lang="en-IN"/>
          </a:p>
        </p:txBody>
      </p:sp>
      <p:sp>
        <p:nvSpPr>
          <p:cNvPr id="24" name="step-badge-6"/>
          <p:cNvSpPr/>
          <p:nvPr/>
        </p:nvSpPr>
        <p:spPr>
          <a:xfrm>
            <a:off x="777240" y="5605272"/>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6</a:t>
            </a:r>
          </a:p>
        </p:txBody>
      </p:sp>
      <p:sp>
        <p:nvSpPr>
          <p:cNvPr id="25" name="step-text-6"/>
          <p:cNvSpPr txBox="1"/>
          <p:nvPr/>
        </p:nvSpPr>
        <p:spPr>
          <a:xfrm>
            <a:off x="1325880" y="5477256"/>
            <a:ext cx="3977640" cy="640080"/>
          </a:xfrm>
          <a:prstGeom prst="rect">
            <a:avLst/>
          </a:prstGeom>
          <a:noFill/>
          <a:ln/>
        </p:spPr>
        <p:txBody>
          <a:bodyPr wrap="square" lIns="0" tIns="0" rIns="0" bIns="0" rtlCol="0" anchor="ctr"/>
          <a:lstStyle/>
          <a:p>
            <a:pPr marL="0" indent="0">
              <a:buNone/>
            </a:pPr>
            <a:r>
              <a:rPr lang="en-US" sz="1400" dirty="0">
                <a:solidFill>
                  <a:schemeClr val="tx1"/>
                </a:solidFill>
              </a:rPr>
              <a:t>Small bow, m → 0: the A sin(2πs/L) shape with A = 2√(1 − d/L), and the Euler load</a:t>
            </a:r>
          </a:p>
        </p:txBody>
      </p:sp>
      <mc:AlternateContent xmlns:mc="http://schemas.openxmlformats.org/markup-compatibility/2006" xmlns:a14="http://schemas.microsoft.com/office/drawing/2010/main">
        <mc:Choice Requires="a14">
          <p:sp>
            <p:nvSpPr>
              <p:cNvPr id="26" name="latex-mode-6"/>
              <p:cNvSpPr txBox="1"/>
              <p:nvPr/>
            </p:nvSpPr>
            <p:spPr>
              <a:xfrm>
                <a:off x="5532120" y="5477256"/>
                <a:ext cx="5897880" cy="640080"/>
              </a:xfrm>
              <a:prstGeom prst="rect">
                <a:avLst/>
              </a:prstGeom>
              <a:noFill/>
              <a:ln/>
            </p:spPr>
            <p:txBody>
              <a:bodyPr wrap="square" lIns="0" tIns="0" rIns="0" bIns="0" rtlCol="0" anchor="ctr">
                <a:noAutofit/>
              </a:bodyPr>
              <a:lstStyle/>
              <a:p>
                <a:pPr marL="0" indent="0">
                  <a:buNone/>
                </a:pPr>
                <a14:m>
                  <m:oMathPara xmlns:m="http://schemas.openxmlformats.org/officeDocument/2006/math">
                    <m:oMath>
                      <m:r>
                        <a:rPr lang="en-US" sz="1600" i="1" dirty="0" smtClean="0">
                          <a:solidFill>
                            <a:schemeClr val="tx1"/>
                          </a:solidFill>
                          <a:latin typeface="Cambria Math" panose="02040503050406030204" pitchFamily="18" charset="0"/>
                        </a:rPr>
                        <m:t>𝜃</m:t>
                      </m:r>
                      <m:r>
                        <a:rPr lang="en-US" sz="1600" i="0" dirty="0">
                          <a:solidFill>
                            <a:schemeClr val="tx1"/>
                          </a:solidFill>
                          <a:latin typeface="Cambria Math" panose="02040503050406030204" pitchFamily="18" charset="0"/>
                        </a:rPr>
                        <m:t>≈2</m:t>
                      </m:r>
                      <m:rad>
                        <m:radPr>
                          <m:degHide m:val="on"/>
                          <m:ctrlPr>
                            <a:rPr lang="en-US" sz="1600" i="1" dirty="0">
                              <a:solidFill>
                                <a:schemeClr val="tx1"/>
                              </a:solidFill>
                              <a:latin typeface="Cambria Math" panose="02040503050406030204" pitchFamily="18" charset="0"/>
                            </a:rPr>
                          </m:ctrlPr>
                        </m:radPr>
                        <m:deg/>
                        <m:e>
                          <m:r>
                            <a:rPr lang="en-US" sz="1600" i="1" dirty="0">
                              <a:solidFill>
                                <a:schemeClr val="tx1"/>
                              </a:solidFill>
                              <a:latin typeface="Cambria Math" panose="02040503050406030204" pitchFamily="18" charset="0"/>
                            </a:rPr>
                            <m:t>𝑚</m:t>
                          </m:r>
                        </m:e>
                      </m:rad>
                      <m:r>
                        <a:rPr lang="en-US" sz="1600" i="0" dirty="0">
                          <a:solidFill>
                            <a:schemeClr val="tx1"/>
                          </a:solidFill>
                          <a:latin typeface="Cambria Math" panose="02040503050406030204" pitchFamily="18" charset="0"/>
                        </a:rPr>
                        <m:t> </m:t>
                      </m:r>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sin</m:t>
                          </m:r>
                        </m:fName>
                        <m:e>
                          <m:f>
                            <m:fPr>
                              <m:ctrlPr>
                                <a:rPr lang="en-US" sz="1600" i="0" dirty="0">
                                  <a:solidFill>
                                    <a:schemeClr val="tx1"/>
                                  </a:solidFill>
                                  <a:latin typeface="Cambria Math" panose="02040503050406030204" pitchFamily="18" charset="0"/>
                                </a:rPr>
                              </m:ctrlPr>
                            </m:fPr>
                            <m:num>
                              <m:r>
                                <a:rPr lang="en-US" sz="1600" i="0" dirty="0">
                                  <a:solidFill>
                                    <a:schemeClr val="tx1"/>
                                  </a:solidFill>
                                  <a:latin typeface="Cambria Math" panose="02040503050406030204" pitchFamily="18" charset="0"/>
                                </a:rPr>
                                <m:t>2</m:t>
                              </m:r>
                              <m:r>
                                <a:rPr lang="en-US" sz="1600" i="1" dirty="0">
                                  <a:solidFill>
                                    <a:schemeClr val="tx1"/>
                                  </a:solidFill>
                                  <a:latin typeface="Cambria Math" panose="02040503050406030204" pitchFamily="18" charset="0"/>
                                </a:rPr>
                                <m:t>𝜋</m:t>
                              </m:r>
                              <m:r>
                                <a:rPr lang="en-US" sz="1600" i="1" dirty="0">
                                  <a:solidFill>
                                    <a:schemeClr val="tx1"/>
                                  </a:solidFill>
                                  <a:latin typeface="Cambria Math" panose="02040503050406030204" pitchFamily="18" charset="0"/>
                                </a:rPr>
                                <m:t>𝑠</m:t>
                              </m:r>
                            </m:num>
                            <m:den>
                              <m:r>
                                <a:rPr lang="en-US" sz="1600" i="1" dirty="0">
                                  <a:solidFill>
                                    <a:schemeClr val="tx1"/>
                                  </a:solidFill>
                                  <a:latin typeface="Cambria Math" panose="02040503050406030204" pitchFamily="18" charset="0"/>
                                </a:rPr>
                                <m:t>𝐿</m:t>
                              </m:r>
                            </m:den>
                          </m:f>
                        </m:e>
                      </m:func>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𝑚</m:t>
                      </m:r>
                      <m:r>
                        <a:rPr lang="en-US" sz="1600" i="0" dirty="0">
                          <a:solidFill>
                            <a:schemeClr val="tx1"/>
                          </a:solidFill>
                          <a:latin typeface="Cambria Math" panose="02040503050406030204" pitchFamily="18" charset="0"/>
                        </a:rPr>
                        <m:t>≈1−</m:t>
                      </m:r>
                      <m:f>
                        <m:fPr>
                          <m:ctrlPr>
                            <a:rPr lang="en-US" sz="1600" i="1" dirty="0">
                              <a:solidFill>
                                <a:schemeClr val="tx1"/>
                              </a:solidFill>
                              <a:latin typeface="Cambria Math" panose="02040503050406030204" pitchFamily="18" charset="0"/>
                            </a:rPr>
                          </m:ctrlPr>
                        </m:fPr>
                        <m:num>
                          <m:r>
                            <a:rPr lang="en-US" sz="1600" i="1" dirty="0">
                              <a:solidFill>
                                <a:schemeClr val="tx1"/>
                              </a:solidFill>
                              <a:latin typeface="Cambria Math" panose="02040503050406030204" pitchFamily="18" charset="0"/>
                            </a:rPr>
                            <m:t>𝑑</m:t>
                          </m:r>
                        </m:num>
                        <m:den>
                          <m:r>
                            <a:rPr lang="en-US" sz="1600" i="1" dirty="0">
                              <a:solidFill>
                                <a:schemeClr val="tx1"/>
                              </a:solidFill>
                              <a:latin typeface="Cambria Math" panose="02040503050406030204" pitchFamily="18" charset="0"/>
                            </a:rPr>
                            <m:t>𝐿</m:t>
                          </m:r>
                        </m:den>
                      </m:f>
                      <m:r>
                        <a:rPr lang="en-US" sz="1600" i="0" dirty="0">
                          <a:solidFill>
                            <a:schemeClr val="tx1"/>
                          </a:solidFill>
                          <a:latin typeface="Cambria Math" panose="02040503050406030204" pitchFamily="18" charset="0"/>
                        </a:rPr>
                        <m:t>, </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𝑥</m:t>
                          </m:r>
                        </m:sub>
                      </m:sSub>
                      <m:r>
                        <a:rPr lang="en-US" sz="1600" i="0" dirty="0">
                          <a:solidFill>
                            <a:schemeClr val="tx1"/>
                          </a:solidFill>
                          <a:latin typeface="Cambria Math" panose="02040503050406030204" pitchFamily="18" charset="0"/>
                        </a:rPr>
                        <m:t>→</m:t>
                      </m:r>
                      <m:f>
                        <m:fPr>
                          <m:ctrlPr>
                            <a:rPr lang="en-US" sz="1600" i="0" dirty="0">
                              <a:solidFill>
                                <a:schemeClr val="tx1"/>
                              </a:solidFill>
                              <a:latin typeface="Cambria Math" panose="02040503050406030204" pitchFamily="18" charset="0"/>
                            </a:rPr>
                          </m:ctrlPr>
                        </m:fPr>
                        <m:num>
                          <m:r>
                            <a:rPr lang="en-US" sz="1600" i="0" dirty="0">
                              <a:solidFill>
                                <a:schemeClr val="tx1"/>
                              </a:solidFill>
                              <a:latin typeface="Cambria Math" panose="02040503050406030204" pitchFamily="18" charset="0"/>
                            </a:rPr>
                            <m:t>4</m:t>
                          </m:r>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𝜋</m:t>
                              </m:r>
                            </m:e>
                            <m:sup>
                              <m:r>
                                <a:rPr lang="en-US" sz="1600" i="0" dirty="0">
                                  <a:solidFill>
                                    <a:schemeClr val="tx1"/>
                                  </a:solidFill>
                                  <a:latin typeface="Cambria Math" panose="02040503050406030204" pitchFamily="18" charset="0"/>
                                </a:rPr>
                                <m:t>2</m:t>
                              </m:r>
                            </m:sup>
                          </m:sSup>
                        </m:num>
                        <m:den>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𝐿</m:t>
                              </m:r>
                            </m:e>
                            <m:sup>
                              <m:r>
                                <a:rPr lang="en-US" sz="1600" i="0" dirty="0">
                                  <a:solidFill>
                                    <a:schemeClr val="tx1"/>
                                  </a:solidFill>
                                  <a:latin typeface="Cambria Math" panose="02040503050406030204" pitchFamily="18" charset="0"/>
                                </a:rPr>
                                <m:t>2</m:t>
                              </m:r>
                            </m:sup>
                          </m:sSup>
                        </m:den>
                      </m:f>
                    </m:oMath>
                  </m:oMathPara>
                </a14:m>
                <a:endParaRPr lang="en-US" sz="1600" dirty="0"/>
              </a:p>
            </p:txBody>
          </p:sp>
        </mc:Choice>
        <mc:Fallback xmlns="">
          <p:sp>
            <p:nvSpPr>
              <p:cNvPr id="26" name="latex-mode-6"/>
              <p:cNvSpPr txBox="1">
                <a:spLocks noRot="1" noChangeAspect="1" noMove="1" noResize="1" noEditPoints="1" noAdjustHandles="1" noChangeArrowheads="1" noChangeShapeType="1" noTextEdit="1"/>
              </p:cNvSpPr>
              <p:nvPr/>
            </p:nvSpPr>
            <p:spPr>
              <a:xfrm>
                <a:off x="5532120" y="5477256"/>
                <a:ext cx="5897880" cy="640080"/>
              </a:xfrm>
              <a:prstGeom prst="rect">
                <a:avLst/>
              </a:prstGeom>
              <a:blipFill>
                <a:blip r:embed="rId8"/>
                <a:stretch>
                  <a:fillRect/>
                </a:stretch>
              </a:blipFill>
              <a:ln/>
            </p:spPr>
            <p:txBody>
              <a:bodyPr/>
              <a:lstStyle/>
              <a:p>
                <a:r>
                  <a:rPr lang="en-IN">
                    <a:noFill/>
                  </a:rPr>
                  <a:t> </a:t>
                </a:r>
              </a:p>
            </p:txBody>
          </p:sp>
        </mc:Fallback>
      </mc:AlternateContent>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96FF2F9-779B-490F-DB57-7E5494C00183}"/>
                  </a:ext>
                </a:extLst>
              </p:cNvPr>
              <p:cNvSpPr txBox="1"/>
              <p:nvPr/>
            </p:nvSpPr>
            <p:spPr>
              <a:xfrm>
                <a:off x="6308123" y="6272086"/>
                <a:ext cx="4460789" cy="492699"/>
              </a:xfrm>
              <a:prstGeom prst="rect">
                <a:avLst/>
              </a:prstGeom>
              <a:noFill/>
            </p:spPr>
            <p:txBody>
              <a:bodyPr wrap="square">
                <a:spAutoFit/>
              </a:bodyPr>
              <a:lstStyle/>
              <a:p>
                <a:pPr/>
                <a14:m>
                  <m:oMathPara xmlns:m="http://schemas.openxmlformats.org/officeDocument/2006/math">
                    <m:oMath>
                      <m:r>
                        <a:rPr lang="en-GB" sz="1050" i="1" smtClean="0">
                          <a:solidFill>
                            <a:schemeClr val="bg1">
                              <a:lumMod val="65000"/>
                            </a:schemeClr>
                          </a:solidFill>
                          <a:latin typeface="Cambria Math" panose="02040503050406030204" pitchFamily="18" charset="0"/>
                        </a:rPr>
                        <m:t>𝐾</m:t>
                      </m:r>
                      <m:d>
                        <m:dPr>
                          <m:ctrlPr>
                            <a:rPr lang="en-GB" sz="1050" i="1">
                              <a:solidFill>
                                <a:schemeClr val="bg1">
                                  <a:lumMod val="65000"/>
                                </a:schemeClr>
                              </a:solidFill>
                              <a:latin typeface="Cambria Math" panose="02040503050406030204" pitchFamily="18" charset="0"/>
                            </a:rPr>
                          </m:ctrlPr>
                        </m:dPr>
                        <m:e>
                          <m:r>
                            <a:rPr lang="en-GB" sz="1050" i="1">
                              <a:solidFill>
                                <a:schemeClr val="bg1">
                                  <a:lumMod val="65000"/>
                                </a:schemeClr>
                              </a:solidFill>
                              <a:latin typeface="Cambria Math" panose="02040503050406030204" pitchFamily="18" charset="0"/>
                            </a:rPr>
                            <m:t>𝑚</m:t>
                          </m:r>
                        </m:e>
                      </m:d>
                      <m:r>
                        <a:rPr lang="en-GB" sz="1050" i="0">
                          <a:solidFill>
                            <a:schemeClr val="bg1">
                              <a:lumMod val="65000"/>
                            </a:schemeClr>
                          </a:solidFill>
                          <a:latin typeface="Cambria Math" panose="02040503050406030204" pitchFamily="18" charset="0"/>
                        </a:rPr>
                        <m:t>=</m:t>
                      </m:r>
                      <m:nary>
                        <m:naryPr>
                          <m:limLoc m:val="subSup"/>
                          <m:ctrlPr>
                            <a:rPr lang="en-GB" sz="1050" i="0">
                              <a:solidFill>
                                <a:schemeClr val="bg1">
                                  <a:lumMod val="65000"/>
                                </a:schemeClr>
                              </a:solidFill>
                              <a:latin typeface="Cambria Math" panose="02040503050406030204" pitchFamily="18" charset="0"/>
                            </a:rPr>
                          </m:ctrlPr>
                        </m:naryPr>
                        <m:sub>
                          <m:r>
                            <a:rPr lang="en-GB" sz="1050" i="0">
                              <a:solidFill>
                                <a:schemeClr val="bg1">
                                  <a:lumMod val="65000"/>
                                </a:schemeClr>
                              </a:solidFill>
                              <a:latin typeface="Cambria Math" panose="02040503050406030204" pitchFamily="18" charset="0"/>
                            </a:rPr>
                            <m:t>0</m:t>
                          </m:r>
                        </m:sub>
                        <m:sup>
                          <m:r>
                            <a:rPr lang="en-GB" sz="1050" i="1">
                              <a:solidFill>
                                <a:schemeClr val="bg1">
                                  <a:lumMod val="65000"/>
                                </a:schemeClr>
                              </a:solidFill>
                              <a:latin typeface="Cambria Math" panose="02040503050406030204" pitchFamily="18" charset="0"/>
                            </a:rPr>
                            <m:t>𝜋</m:t>
                          </m:r>
                          <m:r>
                            <a:rPr lang="en-GB" sz="1050" i="0">
                              <a:solidFill>
                                <a:schemeClr val="bg1">
                                  <a:lumMod val="65000"/>
                                </a:schemeClr>
                              </a:solidFill>
                              <a:latin typeface="Cambria Math" panose="02040503050406030204" pitchFamily="18" charset="0"/>
                            </a:rPr>
                            <m:t>/2</m:t>
                          </m:r>
                        </m:sup>
                        <m:e>
                          <m:f>
                            <m:fPr>
                              <m:ctrlPr>
                                <a:rPr lang="en-GB" sz="1050" i="1">
                                  <a:solidFill>
                                    <a:schemeClr val="bg1">
                                      <a:lumMod val="65000"/>
                                    </a:schemeClr>
                                  </a:solidFill>
                                  <a:latin typeface="Cambria Math" panose="02040503050406030204" pitchFamily="18" charset="0"/>
                                </a:rPr>
                              </m:ctrlPr>
                            </m:fPr>
                            <m:num>
                              <m:r>
                                <a:rPr lang="en-GB" sz="1050" i="1">
                                  <a:solidFill>
                                    <a:schemeClr val="bg1">
                                      <a:lumMod val="65000"/>
                                    </a:schemeClr>
                                  </a:solidFill>
                                  <a:latin typeface="Cambria Math" panose="02040503050406030204" pitchFamily="18" charset="0"/>
                                </a:rPr>
                                <m:t>𝑑</m:t>
                              </m:r>
                              <m:r>
                                <a:rPr lang="en-GB" sz="1050" i="1">
                                  <a:solidFill>
                                    <a:schemeClr val="bg1">
                                      <a:lumMod val="65000"/>
                                    </a:schemeClr>
                                  </a:solidFill>
                                  <a:latin typeface="Cambria Math" panose="02040503050406030204" pitchFamily="18" charset="0"/>
                                </a:rPr>
                                <m:t>𝜓</m:t>
                              </m:r>
                            </m:num>
                            <m:den>
                              <m:rad>
                                <m:radPr>
                                  <m:degHide m:val="on"/>
                                  <m:ctrlPr>
                                    <a:rPr lang="en-GB" sz="1050" i="1">
                                      <a:solidFill>
                                        <a:schemeClr val="bg1">
                                          <a:lumMod val="65000"/>
                                        </a:schemeClr>
                                      </a:solidFill>
                                      <a:latin typeface="Cambria Math" panose="02040503050406030204" pitchFamily="18" charset="0"/>
                                    </a:rPr>
                                  </m:ctrlPr>
                                </m:radPr>
                                <m:deg/>
                                <m:e>
                                  <m:r>
                                    <a:rPr lang="en-GB" sz="1050" i="0">
                                      <a:solidFill>
                                        <a:schemeClr val="bg1">
                                          <a:lumMod val="65000"/>
                                        </a:schemeClr>
                                      </a:solidFill>
                                      <a:latin typeface="Cambria Math" panose="02040503050406030204" pitchFamily="18" charset="0"/>
                                    </a:rPr>
                                    <m:t>1−</m:t>
                                  </m:r>
                                  <m:r>
                                    <a:rPr lang="en-GB" sz="1050" i="1">
                                      <a:solidFill>
                                        <a:schemeClr val="bg1">
                                          <a:lumMod val="65000"/>
                                        </a:schemeClr>
                                      </a:solidFill>
                                      <a:latin typeface="Cambria Math" panose="02040503050406030204" pitchFamily="18" charset="0"/>
                                    </a:rPr>
                                    <m:t>𝑚</m:t>
                                  </m:r>
                                  <m:func>
                                    <m:funcPr>
                                      <m:ctrlPr>
                                        <a:rPr lang="en-GB" sz="1050" i="1">
                                          <a:solidFill>
                                            <a:schemeClr val="bg1">
                                              <a:lumMod val="65000"/>
                                            </a:schemeClr>
                                          </a:solidFill>
                                          <a:latin typeface="Cambria Math" panose="02040503050406030204" pitchFamily="18" charset="0"/>
                                        </a:rPr>
                                      </m:ctrlPr>
                                    </m:funcPr>
                                    <m:fName>
                                      <m:sSup>
                                        <m:sSupPr>
                                          <m:ctrlPr>
                                            <a:rPr lang="en-GB" sz="1050" i="0">
                                              <a:solidFill>
                                                <a:schemeClr val="bg1">
                                                  <a:lumMod val="65000"/>
                                                </a:schemeClr>
                                              </a:solidFill>
                                              <a:latin typeface="Cambria Math" panose="02040503050406030204" pitchFamily="18" charset="0"/>
                                            </a:rPr>
                                          </m:ctrlPr>
                                        </m:sSupPr>
                                        <m:e>
                                          <m:r>
                                            <m:rPr>
                                              <m:sty m:val="p"/>
                                            </m:rPr>
                                            <a:rPr lang="en-GB" sz="1050" i="0">
                                              <a:solidFill>
                                                <a:schemeClr val="bg1">
                                                  <a:lumMod val="65000"/>
                                                </a:schemeClr>
                                              </a:solidFill>
                                              <a:latin typeface="Cambria Math" panose="02040503050406030204" pitchFamily="18" charset="0"/>
                                            </a:rPr>
                                            <m:t>sin</m:t>
                                          </m:r>
                                        </m:e>
                                        <m:sup>
                                          <m:r>
                                            <a:rPr lang="en-GB" sz="1050" i="0">
                                              <a:solidFill>
                                                <a:schemeClr val="bg1">
                                                  <a:lumMod val="65000"/>
                                                </a:schemeClr>
                                              </a:solidFill>
                                              <a:latin typeface="Cambria Math" panose="02040503050406030204" pitchFamily="18" charset="0"/>
                                            </a:rPr>
                                            <m:t>2</m:t>
                                          </m:r>
                                        </m:sup>
                                      </m:sSup>
                                    </m:fName>
                                    <m:e>
                                      <m:r>
                                        <a:rPr lang="en-GB" sz="1050" i="1">
                                          <a:solidFill>
                                            <a:schemeClr val="bg1">
                                              <a:lumMod val="65000"/>
                                            </a:schemeClr>
                                          </a:solidFill>
                                          <a:latin typeface="Cambria Math" panose="02040503050406030204" pitchFamily="18" charset="0"/>
                                        </a:rPr>
                                        <m:t>𝜓</m:t>
                                      </m:r>
                                    </m:e>
                                  </m:func>
                                </m:e>
                              </m:rad>
                            </m:den>
                          </m:f>
                        </m:e>
                      </m:nary>
                      <m:r>
                        <a:rPr lang="en-GB" sz="1050" i="0">
                          <a:solidFill>
                            <a:schemeClr val="bg1">
                              <a:lumMod val="65000"/>
                            </a:schemeClr>
                          </a:solidFill>
                          <a:latin typeface="Cambria Math" panose="02040503050406030204" pitchFamily="18" charset="0"/>
                        </a:rPr>
                        <m:t>,  </m:t>
                      </m:r>
                      <m:r>
                        <a:rPr lang="en-GB" sz="1050" i="1">
                          <a:solidFill>
                            <a:schemeClr val="bg1">
                              <a:lumMod val="65000"/>
                            </a:schemeClr>
                          </a:solidFill>
                          <a:latin typeface="Cambria Math" panose="02040503050406030204" pitchFamily="18" charset="0"/>
                        </a:rPr>
                        <m:t>𝐸</m:t>
                      </m:r>
                      <m:d>
                        <m:dPr>
                          <m:ctrlPr>
                            <a:rPr lang="en-GB" sz="1050" i="1">
                              <a:solidFill>
                                <a:schemeClr val="bg1">
                                  <a:lumMod val="65000"/>
                                </a:schemeClr>
                              </a:solidFill>
                              <a:latin typeface="Cambria Math" panose="02040503050406030204" pitchFamily="18" charset="0"/>
                            </a:rPr>
                          </m:ctrlPr>
                        </m:dPr>
                        <m:e>
                          <m:r>
                            <a:rPr lang="en-GB" sz="1050" i="1">
                              <a:solidFill>
                                <a:schemeClr val="bg1">
                                  <a:lumMod val="65000"/>
                                </a:schemeClr>
                              </a:solidFill>
                              <a:latin typeface="Cambria Math" panose="02040503050406030204" pitchFamily="18" charset="0"/>
                            </a:rPr>
                            <m:t>𝑚</m:t>
                          </m:r>
                        </m:e>
                      </m:d>
                      <m:r>
                        <a:rPr lang="en-GB" sz="1050" i="0">
                          <a:solidFill>
                            <a:schemeClr val="bg1">
                              <a:lumMod val="65000"/>
                            </a:schemeClr>
                          </a:solidFill>
                          <a:latin typeface="Cambria Math" panose="02040503050406030204" pitchFamily="18" charset="0"/>
                        </a:rPr>
                        <m:t>=</m:t>
                      </m:r>
                      <m:nary>
                        <m:naryPr>
                          <m:limLoc m:val="subSup"/>
                          <m:ctrlPr>
                            <a:rPr lang="en-GB" sz="1050" i="0">
                              <a:solidFill>
                                <a:schemeClr val="bg1">
                                  <a:lumMod val="65000"/>
                                </a:schemeClr>
                              </a:solidFill>
                              <a:latin typeface="Cambria Math" panose="02040503050406030204" pitchFamily="18" charset="0"/>
                            </a:rPr>
                          </m:ctrlPr>
                        </m:naryPr>
                        <m:sub>
                          <m:r>
                            <a:rPr lang="en-GB" sz="1050" i="0">
                              <a:solidFill>
                                <a:schemeClr val="bg1">
                                  <a:lumMod val="65000"/>
                                </a:schemeClr>
                              </a:solidFill>
                              <a:latin typeface="Cambria Math" panose="02040503050406030204" pitchFamily="18" charset="0"/>
                            </a:rPr>
                            <m:t>0</m:t>
                          </m:r>
                        </m:sub>
                        <m:sup>
                          <m:r>
                            <a:rPr lang="en-GB" sz="1050" i="1">
                              <a:solidFill>
                                <a:schemeClr val="bg1">
                                  <a:lumMod val="65000"/>
                                </a:schemeClr>
                              </a:solidFill>
                              <a:latin typeface="Cambria Math" panose="02040503050406030204" pitchFamily="18" charset="0"/>
                            </a:rPr>
                            <m:t>𝜋</m:t>
                          </m:r>
                          <m:r>
                            <a:rPr lang="en-GB" sz="1050" i="0">
                              <a:solidFill>
                                <a:schemeClr val="bg1">
                                  <a:lumMod val="65000"/>
                                </a:schemeClr>
                              </a:solidFill>
                              <a:latin typeface="Cambria Math" panose="02040503050406030204" pitchFamily="18" charset="0"/>
                            </a:rPr>
                            <m:t>/2</m:t>
                          </m:r>
                        </m:sup>
                        <m:e>
                          <m:rad>
                            <m:radPr>
                              <m:degHide m:val="on"/>
                              <m:ctrlPr>
                                <a:rPr lang="en-GB" sz="1050" i="1">
                                  <a:solidFill>
                                    <a:schemeClr val="bg1">
                                      <a:lumMod val="65000"/>
                                    </a:schemeClr>
                                  </a:solidFill>
                                  <a:latin typeface="Cambria Math" panose="02040503050406030204" pitchFamily="18" charset="0"/>
                                </a:rPr>
                              </m:ctrlPr>
                            </m:radPr>
                            <m:deg/>
                            <m:e>
                              <m:r>
                                <a:rPr lang="en-GB" sz="1050" i="0">
                                  <a:solidFill>
                                    <a:schemeClr val="bg1">
                                      <a:lumMod val="65000"/>
                                    </a:schemeClr>
                                  </a:solidFill>
                                  <a:latin typeface="Cambria Math" panose="02040503050406030204" pitchFamily="18" charset="0"/>
                                </a:rPr>
                                <m:t>1−</m:t>
                              </m:r>
                              <m:r>
                                <a:rPr lang="en-GB" sz="1050" i="1">
                                  <a:solidFill>
                                    <a:schemeClr val="bg1">
                                      <a:lumMod val="65000"/>
                                    </a:schemeClr>
                                  </a:solidFill>
                                  <a:latin typeface="Cambria Math" panose="02040503050406030204" pitchFamily="18" charset="0"/>
                                </a:rPr>
                                <m:t>𝑚</m:t>
                              </m:r>
                              <m:func>
                                <m:funcPr>
                                  <m:ctrlPr>
                                    <a:rPr lang="en-GB" sz="1050" i="1">
                                      <a:solidFill>
                                        <a:schemeClr val="bg1">
                                          <a:lumMod val="65000"/>
                                        </a:schemeClr>
                                      </a:solidFill>
                                      <a:latin typeface="Cambria Math" panose="02040503050406030204" pitchFamily="18" charset="0"/>
                                    </a:rPr>
                                  </m:ctrlPr>
                                </m:funcPr>
                                <m:fName>
                                  <m:sSup>
                                    <m:sSupPr>
                                      <m:ctrlPr>
                                        <a:rPr lang="en-GB" sz="1050" i="0">
                                          <a:solidFill>
                                            <a:schemeClr val="bg1">
                                              <a:lumMod val="65000"/>
                                            </a:schemeClr>
                                          </a:solidFill>
                                          <a:latin typeface="Cambria Math" panose="02040503050406030204" pitchFamily="18" charset="0"/>
                                        </a:rPr>
                                      </m:ctrlPr>
                                    </m:sSupPr>
                                    <m:e>
                                      <m:r>
                                        <m:rPr>
                                          <m:sty m:val="p"/>
                                        </m:rPr>
                                        <a:rPr lang="en-GB" sz="1050" i="0">
                                          <a:solidFill>
                                            <a:schemeClr val="bg1">
                                              <a:lumMod val="65000"/>
                                            </a:schemeClr>
                                          </a:solidFill>
                                          <a:latin typeface="Cambria Math" panose="02040503050406030204" pitchFamily="18" charset="0"/>
                                        </a:rPr>
                                        <m:t>sin</m:t>
                                      </m:r>
                                    </m:e>
                                    <m:sup>
                                      <m:r>
                                        <a:rPr lang="en-GB" sz="1050" i="0">
                                          <a:solidFill>
                                            <a:schemeClr val="bg1">
                                              <a:lumMod val="65000"/>
                                            </a:schemeClr>
                                          </a:solidFill>
                                          <a:latin typeface="Cambria Math" panose="02040503050406030204" pitchFamily="18" charset="0"/>
                                        </a:rPr>
                                        <m:t>2</m:t>
                                      </m:r>
                                    </m:sup>
                                  </m:sSup>
                                </m:fName>
                                <m:e>
                                  <m:r>
                                    <a:rPr lang="en-GB" sz="1050" i="1">
                                      <a:solidFill>
                                        <a:schemeClr val="bg1">
                                          <a:lumMod val="65000"/>
                                        </a:schemeClr>
                                      </a:solidFill>
                                      <a:latin typeface="Cambria Math" panose="02040503050406030204" pitchFamily="18" charset="0"/>
                                    </a:rPr>
                                    <m:t>𝜓</m:t>
                                  </m:r>
                                </m:e>
                              </m:func>
                            </m:e>
                          </m:rad>
                        </m:e>
                      </m:nary>
                      <m:r>
                        <a:rPr lang="en-GB" sz="1050" i="0">
                          <a:solidFill>
                            <a:schemeClr val="bg1">
                              <a:lumMod val="65000"/>
                            </a:schemeClr>
                          </a:solidFill>
                          <a:latin typeface="Cambria Math" panose="02040503050406030204" pitchFamily="18" charset="0"/>
                        </a:rPr>
                        <m:t> </m:t>
                      </m:r>
                      <m:r>
                        <a:rPr lang="en-GB" sz="1050" i="1">
                          <a:solidFill>
                            <a:schemeClr val="bg1">
                              <a:lumMod val="65000"/>
                            </a:schemeClr>
                          </a:solidFill>
                          <a:latin typeface="Cambria Math" panose="02040503050406030204" pitchFamily="18" charset="0"/>
                        </a:rPr>
                        <m:t>𝑑</m:t>
                      </m:r>
                      <m:r>
                        <a:rPr lang="en-GB" sz="1050" i="1">
                          <a:solidFill>
                            <a:schemeClr val="bg1">
                              <a:lumMod val="65000"/>
                            </a:schemeClr>
                          </a:solidFill>
                          <a:latin typeface="Cambria Math" panose="02040503050406030204" pitchFamily="18" charset="0"/>
                        </a:rPr>
                        <m:t>𝜓</m:t>
                      </m:r>
                    </m:oMath>
                  </m:oMathPara>
                </a14:m>
                <a:endParaRPr lang="en-GB" sz="1050" dirty="0">
                  <a:solidFill>
                    <a:schemeClr val="bg1">
                      <a:lumMod val="65000"/>
                    </a:schemeClr>
                  </a:solidFill>
                </a:endParaRPr>
              </a:p>
            </p:txBody>
          </p:sp>
        </mc:Choice>
        <mc:Fallback xmlns="">
          <p:sp>
            <p:nvSpPr>
              <p:cNvPr id="29" name="TextBox 28">
                <a:extLst>
                  <a:ext uri="{FF2B5EF4-FFF2-40B4-BE49-F238E27FC236}">
                    <a16:creationId xmlns:a16="http://schemas.microsoft.com/office/drawing/2014/main" id="{396FF2F9-779B-490F-DB57-7E5494C00183}"/>
                  </a:ext>
                </a:extLst>
              </p:cNvPr>
              <p:cNvSpPr txBox="1">
                <a:spLocks noRot="1" noChangeAspect="1" noMove="1" noResize="1" noEditPoints="1" noAdjustHandles="1" noChangeArrowheads="1" noChangeShapeType="1" noTextEdit="1"/>
              </p:cNvSpPr>
              <p:nvPr/>
            </p:nvSpPr>
            <p:spPr>
              <a:xfrm>
                <a:off x="6308123" y="6272086"/>
                <a:ext cx="4460789" cy="492699"/>
              </a:xfrm>
              <a:prstGeom prst="rect">
                <a:avLst/>
              </a:prstGeom>
              <a:blipFill>
                <a:blip r:embed="rId9"/>
                <a:stretch>
                  <a:fillRect t="-124691" b="-182716"/>
                </a:stretch>
              </a:blipFill>
            </p:spPr>
            <p:txBody>
              <a:bodyPr/>
              <a:lstStyle/>
              <a:p>
                <a:r>
                  <a:rPr lang="en-GB">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Exact first-mode cold start, then continue the clamp angles</a:t>
            </a:r>
            <a:endParaRPr lang="en-US" sz="3000" dirty="0"/>
          </a:p>
        </p:txBody>
      </p:sp>
      <p:sp>
        <p:nvSpPr>
          <p:cNvPr id="3" name="card-133"/>
          <p:cNvSpPr/>
          <p:nvPr/>
        </p:nvSpPr>
        <p:spPr>
          <a:xfrm>
            <a:off x="548640" y="1417320"/>
            <a:ext cx="11064240" cy="914400"/>
          </a:xfrm>
          <a:prstGeom prst="roundRect">
            <a:avLst>
              <a:gd name="adj" fmla="val 8000"/>
            </a:avLst>
          </a:prstGeom>
          <a:solidFill>
            <a:schemeClr val="bg2"/>
          </a:solidFill>
          <a:ln/>
        </p:spPr>
        <p:txBody>
          <a:bodyPr/>
          <a:lstStyle/>
          <a:p>
            <a:endParaRPr lang="en-IN"/>
          </a:p>
        </p:txBody>
      </p:sp>
      <p:pic>
        <p:nvPicPr>
          <p:cNvPr id="5" name="figure-135" descr="Rod shapes during the cold start at d = 0.90, φ1 = 0.60, φ2 = -0.40: exact first mode, two continuation steps, and the kept and discarded branches"/>
          <p:cNvPicPr>
            <a:picLocks noChangeAspect="1"/>
          </p:cNvPicPr>
          <p:nvPr/>
        </p:nvPicPr>
        <p:blipFill>
          <a:blip r:embed="rId3"/>
          <a:stretch>
            <a:fillRect/>
          </a:stretch>
        </p:blipFill>
        <p:spPr>
          <a:xfrm>
            <a:off x="457200" y="2560320"/>
            <a:ext cx="5394960" cy="3596640"/>
          </a:xfrm>
          <a:prstGeom prst="rect">
            <a:avLst/>
          </a:prstGeom>
        </p:spPr>
      </p:pic>
      <p:sp>
        <p:nvSpPr>
          <p:cNvPr id="6" name="text-136"/>
          <p:cNvSpPr txBox="1"/>
          <p:nvPr/>
        </p:nvSpPr>
        <p:spPr>
          <a:xfrm>
            <a:off x="6217920" y="2606040"/>
            <a:ext cx="5394960" cy="365760"/>
          </a:xfrm>
          <a:prstGeom prst="rect">
            <a:avLst/>
          </a:prstGeom>
          <a:noFill/>
          <a:ln/>
        </p:spPr>
        <p:txBody>
          <a:bodyPr wrap="square" lIns="0" tIns="0" rIns="0" bIns="0" rtlCol="0" anchor="t"/>
          <a:lstStyle/>
          <a:p>
            <a:pPr marL="0" indent="0">
              <a:buNone/>
            </a:pPr>
            <a:r>
              <a:rPr lang="en-US" sz="1600" b="1" dirty="0">
                <a:solidFill>
                  <a:schemeClr val="accent1"/>
                </a:solidFill>
              </a:rPr>
              <a:t>Predictor for each continuation step</a:t>
            </a:r>
            <a:endParaRPr lang="en-US" sz="1600" dirty="0"/>
          </a:p>
        </p:txBody>
      </p:sp>
      <mc:AlternateContent xmlns:mc="http://schemas.openxmlformats.org/markup-compatibility/2006" xmlns:a14="http://schemas.microsoft.com/office/drawing/2010/main">
        <mc:Choice Requires="a14">
          <p:sp>
            <p:nvSpPr>
              <p:cNvPr id="7" name="latex-amp"/>
              <p:cNvSpPr txBox="1"/>
              <p:nvPr/>
            </p:nvSpPr>
            <p:spPr>
              <a:xfrm>
                <a:off x="6217920" y="3017520"/>
                <a:ext cx="5425135" cy="662208"/>
              </a:xfrm>
              <a:prstGeom prst="rect">
                <a:avLst/>
              </a:prstGeom>
              <a:noFill/>
              <a:ln/>
            </p:spPr>
            <p:txBody>
              <a:bodyPr wrap="square" lIns="0" tIns="0" rIns="0" bIns="0" rtlCol="0" anchor="ctr">
                <a:noAutofit/>
              </a:bodyPr>
              <a:lstStyle/>
              <a:p>
                <a:pPr marL="0" indent="0">
                  <a:buNone/>
                </a:pPr>
                <a14:m>
                  <m:oMathPara xmlns:m="http://schemas.openxmlformats.org/officeDocument/2006/math">
                    <m:oMath>
                      <m:sSubSup>
                        <m:sSubSupPr>
                          <m:ctrlPr>
                            <a:rPr lang="en-US" sz="1600" i="1" dirty="0">
                              <a:solidFill>
                                <a:schemeClr val="tx1"/>
                              </a:solidFill>
                              <a:latin typeface="Cambria Math" panose="02040503050406030204" pitchFamily="18" charset="0"/>
                            </a:rPr>
                          </m:ctrlPr>
                        </m:sSubSupPr>
                        <m:e>
                          <m:r>
                            <a:rPr lang="en-US" sz="1600" i="1" dirty="0">
                              <a:solidFill>
                                <a:schemeClr val="tx1"/>
                              </a:solidFill>
                              <a:latin typeface="Cambria Math" panose="02040503050406030204" pitchFamily="18" charset="0"/>
                            </a:rPr>
                            <m:t>𝜃</m:t>
                          </m:r>
                        </m:e>
                        <m:sub>
                          <m:r>
                            <a:rPr lang="en-US" sz="1600" i="0" dirty="0">
                              <a:solidFill>
                                <a:schemeClr val="tx1"/>
                              </a:solidFill>
                              <a:latin typeface="Cambria Math" panose="02040503050406030204" pitchFamily="18" charset="0"/>
                            </a:rPr>
                            <m:t>0</m:t>
                          </m:r>
                        </m:sub>
                        <m:sup>
                          <m:d>
                            <m:dPr>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𝑘</m:t>
                              </m:r>
                              <m:r>
                                <a:rPr lang="en-US" sz="1600" i="0" dirty="0">
                                  <a:solidFill>
                                    <a:schemeClr val="tx1"/>
                                  </a:solidFill>
                                  <a:latin typeface="Cambria Math" panose="02040503050406030204" pitchFamily="18" charset="0"/>
                                </a:rPr>
                                <m:t>+1</m:t>
                              </m:r>
                            </m:e>
                          </m:d>
                        </m:sup>
                      </m:sSubSup>
                      <m:d>
                        <m:dPr>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𝑠</m:t>
                          </m:r>
                        </m:e>
                      </m:d>
                      <m:r>
                        <a:rPr lang="en-US" sz="1600" i="0" dirty="0">
                          <a:solidFill>
                            <a:schemeClr val="tx1"/>
                          </a:solidFill>
                          <a:latin typeface="Cambria Math" panose="02040503050406030204" pitchFamily="18" charset="0"/>
                        </a:rPr>
                        <m:t>=</m:t>
                      </m:r>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𝜃</m:t>
                          </m:r>
                        </m:e>
                        <m:sup>
                          <m:d>
                            <m:dPr>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𝑘</m:t>
                              </m:r>
                            </m:e>
                          </m:d>
                        </m:sup>
                      </m:sSup>
                      <m:d>
                        <m:dPr>
                          <m:ctrlPr>
                            <a:rPr lang="en-US" sz="1600" i="1" dirty="0">
                              <a:solidFill>
                                <a:schemeClr val="tx1"/>
                              </a:solidFill>
                              <a:latin typeface="Cambria Math" panose="02040503050406030204" pitchFamily="18" charset="0"/>
                            </a:rPr>
                          </m:ctrlPr>
                        </m:dPr>
                        <m:e>
                          <m:r>
                            <a:rPr lang="en-US" sz="1600" i="1" dirty="0">
                              <a:solidFill>
                                <a:schemeClr val="tx1"/>
                              </a:solidFill>
                              <a:latin typeface="Cambria Math" panose="02040503050406030204" pitchFamily="18" charset="0"/>
                            </a:rPr>
                            <m:t>𝑠</m:t>
                          </m:r>
                        </m:e>
                      </m:d>
                      <m:r>
                        <a:rPr lang="en-US" sz="1600" i="0" dirty="0">
                          <a:solidFill>
                            <a:schemeClr val="tx1"/>
                          </a:solidFill>
                          <a:latin typeface="Cambria Math" panose="02040503050406030204" pitchFamily="18" charset="0"/>
                        </a:rPr>
                        <m:t>+</m:t>
                      </m:r>
                      <m:r>
                        <a:rPr lang="en-US" sz="1600" i="0" dirty="0">
                          <a:solidFill>
                            <a:schemeClr val="tx1"/>
                          </a:solidFill>
                          <a:latin typeface="Cambria Math" panose="02040503050406030204" pitchFamily="18" charset="0"/>
                        </a:rPr>
                        <m:t>𝛥</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0" dirty="0">
                              <a:solidFill>
                                <a:schemeClr val="tx1"/>
                              </a:solidFill>
                              <a:latin typeface="Cambria Math" panose="02040503050406030204" pitchFamily="18" charset="0"/>
                            </a:rPr>
                            <m:t>1</m:t>
                          </m:r>
                        </m:sub>
                      </m:sSub>
                      <m:d>
                        <m:dPr>
                          <m:ctrlPr>
                            <a:rPr lang="en-US" sz="1600" i="0" dirty="0">
                              <a:solidFill>
                                <a:schemeClr val="tx1"/>
                              </a:solidFill>
                              <a:latin typeface="Cambria Math" panose="02040503050406030204" pitchFamily="18" charset="0"/>
                            </a:rPr>
                          </m:ctrlPr>
                        </m:dPr>
                        <m:e>
                          <m:r>
                            <a:rPr lang="en-US" sz="1600" i="0" dirty="0">
                              <a:solidFill>
                                <a:schemeClr val="tx1"/>
                              </a:solidFill>
                              <a:latin typeface="Cambria Math" panose="02040503050406030204" pitchFamily="18" charset="0"/>
                            </a:rPr>
                            <m:t>1−</m:t>
                          </m:r>
                          <m:f>
                            <m:fPr>
                              <m:ctrlPr>
                                <a:rPr lang="en-US" sz="1600" i="1" dirty="0">
                                  <a:solidFill>
                                    <a:schemeClr val="tx1"/>
                                  </a:solidFill>
                                  <a:latin typeface="Cambria Math" panose="02040503050406030204" pitchFamily="18" charset="0"/>
                                </a:rPr>
                              </m:ctrlPr>
                            </m:fPr>
                            <m:num>
                              <m:r>
                                <a:rPr lang="en-US" sz="1600" i="1" dirty="0">
                                  <a:solidFill>
                                    <a:schemeClr val="tx1"/>
                                  </a:solidFill>
                                  <a:latin typeface="Cambria Math" panose="02040503050406030204" pitchFamily="18" charset="0"/>
                                </a:rPr>
                                <m:t>𝑠</m:t>
                              </m:r>
                            </m:num>
                            <m:den>
                              <m:r>
                                <a:rPr lang="en-US" sz="1600" i="1" dirty="0">
                                  <a:solidFill>
                                    <a:schemeClr val="tx1"/>
                                  </a:solidFill>
                                  <a:latin typeface="Cambria Math" panose="02040503050406030204" pitchFamily="18" charset="0"/>
                                </a:rPr>
                                <m:t>𝐿</m:t>
                              </m:r>
                            </m:den>
                          </m:f>
                        </m:e>
                      </m:d>
                      <m:r>
                        <a:rPr lang="en-US" sz="1600" i="0" dirty="0">
                          <a:solidFill>
                            <a:schemeClr val="tx1"/>
                          </a:solidFill>
                          <a:latin typeface="Cambria Math" panose="02040503050406030204" pitchFamily="18" charset="0"/>
                        </a:rPr>
                        <m:t>+</m:t>
                      </m:r>
                      <m:r>
                        <a:rPr lang="en-US" sz="1600" i="0" dirty="0">
                          <a:solidFill>
                            <a:schemeClr val="tx1"/>
                          </a:solidFill>
                          <a:latin typeface="Cambria Math" panose="02040503050406030204" pitchFamily="18" charset="0"/>
                        </a:rPr>
                        <m:t>𝛥</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0" dirty="0">
                              <a:solidFill>
                                <a:schemeClr val="tx1"/>
                              </a:solidFill>
                              <a:latin typeface="Cambria Math" panose="02040503050406030204" pitchFamily="18" charset="0"/>
                            </a:rPr>
                            <m:t>2</m:t>
                          </m:r>
                        </m:sub>
                      </m:sSub>
                      <m:f>
                        <m:fPr>
                          <m:ctrlPr>
                            <a:rPr lang="en-US" sz="1600" i="1" dirty="0">
                              <a:solidFill>
                                <a:schemeClr val="tx1"/>
                              </a:solidFill>
                              <a:latin typeface="Cambria Math" panose="02040503050406030204" pitchFamily="18" charset="0"/>
                            </a:rPr>
                          </m:ctrlPr>
                        </m:fPr>
                        <m:num>
                          <m:r>
                            <a:rPr lang="en-US" sz="1600" i="1" dirty="0">
                              <a:solidFill>
                                <a:schemeClr val="tx1"/>
                              </a:solidFill>
                              <a:latin typeface="Cambria Math" panose="02040503050406030204" pitchFamily="18" charset="0"/>
                            </a:rPr>
                            <m:t>𝑠</m:t>
                          </m:r>
                        </m:num>
                        <m:den>
                          <m:r>
                            <a:rPr lang="en-US" sz="1600" i="1" dirty="0">
                              <a:solidFill>
                                <a:schemeClr val="tx1"/>
                              </a:solidFill>
                              <a:latin typeface="Cambria Math" panose="02040503050406030204" pitchFamily="18" charset="0"/>
                            </a:rPr>
                            <m:t>𝐿</m:t>
                          </m:r>
                        </m:den>
                      </m:f>
                    </m:oMath>
                  </m:oMathPara>
                </a14:m>
                <a:endParaRPr lang="en-US" sz="1600" dirty="0"/>
              </a:p>
            </p:txBody>
          </p:sp>
        </mc:Choice>
        <mc:Fallback xmlns="">
          <p:sp>
            <p:nvSpPr>
              <p:cNvPr id="7" name="latex-amp"/>
              <p:cNvSpPr txBox="1">
                <a:spLocks noRot="1" noChangeAspect="1" noMove="1" noResize="1" noEditPoints="1" noAdjustHandles="1" noChangeArrowheads="1" noChangeShapeType="1" noTextEdit="1"/>
              </p:cNvSpPr>
              <p:nvPr/>
            </p:nvSpPr>
            <p:spPr>
              <a:xfrm>
                <a:off x="6217920" y="3017520"/>
                <a:ext cx="5425135" cy="662208"/>
              </a:xfrm>
              <a:prstGeom prst="rect">
                <a:avLst/>
              </a:prstGeom>
              <a:blipFill>
                <a:blip r:embed="rId5"/>
                <a:stretch>
                  <a:fillRect/>
                </a:stretch>
              </a:blipFill>
              <a:ln/>
            </p:spPr>
            <p:txBody>
              <a:bodyPr/>
              <a:lstStyle/>
              <a:p>
                <a:r>
                  <a:rPr lang="en-IN">
                    <a:noFill/>
                  </a:rPr>
                  <a:t> </a:t>
                </a:r>
              </a:p>
            </p:txBody>
          </p:sp>
        </mc:Fallback>
      </mc:AlternateContent>
      <p:sp>
        <p:nvSpPr>
          <p:cNvPr id="8" name="badge-138"/>
          <p:cNvSpPr/>
          <p:nvPr/>
        </p:nvSpPr>
        <p:spPr>
          <a:xfrm>
            <a:off x="6217920" y="3886200"/>
            <a:ext cx="384048" cy="384048"/>
          </a:xfrm>
          <a:prstGeom prst="ellipse">
            <a:avLst/>
          </a:prstGeom>
          <a:solidFill>
            <a:schemeClr val="accent1"/>
          </a:solidFill>
          <a:ln/>
        </p:spPr>
        <p:txBody>
          <a:bodyPr/>
          <a:lstStyle/>
          <a:p>
            <a:endParaRPr lang="en-IN"/>
          </a:p>
        </p:txBody>
      </p:sp>
      <p:sp>
        <p:nvSpPr>
          <p:cNvPr id="9" name="badge-label-139"/>
          <p:cNvSpPr txBox="1"/>
          <p:nvPr/>
        </p:nvSpPr>
        <p:spPr>
          <a:xfrm>
            <a:off x="6217920" y="388620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0" name="text-140"/>
          <p:cNvSpPr txBox="1"/>
          <p:nvPr/>
        </p:nvSpPr>
        <p:spPr>
          <a:xfrm>
            <a:off x="6766560" y="3858768"/>
            <a:ext cx="4846320" cy="685800"/>
          </a:xfrm>
          <a:prstGeom prst="rect">
            <a:avLst/>
          </a:prstGeom>
          <a:noFill/>
          <a:ln/>
        </p:spPr>
        <p:txBody>
          <a:bodyPr wrap="square" lIns="0" tIns="0" rIns="0" bIns="0" rtlCol="0" anchor="t"/>
          <a:lstStyle/>
          <a:p>
            <a:pPr marL="0" indent="0">
              <a:buNone/>
            </a:pPr>
            <a:r>
              <a:rPr lang="en-US" sz="1400" dirty="0">
                <a:solidFill>
                  <a:schemeClr val="tx1"/>
                </a:solidFill>
              </a:rPr>
              <a:t>Exact at φ₁ = φ₂ = 0 for any d, with ∫ sin θ ds = 0: Newton converges in 2 iterations</a:t>
            </a:r>
            <a:endParaRPr lang="en-US" sz="1400" dirty="0"/>
          </a:p>
        </p:txBody>
      </p:sp>
      <p:sp>
        <p:nvSpPr>
          <p:cNvPr id="11" name="badge-141"/>
          <p:cNvSpPr/>
          <p:nvPr/>
        </p:nvSpPr>
        <p:spPr>
          <a:xfrm>
            <a:off x="6217920" y="4663440"/>
            <a:ext cx="384048" cy="384048"/>
          </a:xfrm>
          <a:prstGeom prst="ellipse">
            <a:avLst/>
          </a:prstGeom>
          <a:solidFill>
            <a:schemeClr val="accent1"/>
          </a:solidFill>
          <a:ln/>
        </p:spPr>
        <p:txBody>
          <a:bodyPr/>
          <a:lstStyle/>
          <a:p>
            <a:endParaRPr lang="en-IN"/>
          </a:p>
        </p:txBody>
      </p:sp>
      <p:sp>
        <p:nvSpPr>
          <p:cNvPr id="12" name="badge-label-142"/>
          <p:cNvSpPr txBox="1"/>
          <p:nvPr/>
        </p:nvSpPr>
        <p:spPr>
          <a:xfrm>
            <a:off x="6217920" y="46634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143"/>
          <p:cNvSpPr txBox="1"/>
          <p:nvPr/>
        </p:nvSpPr>
        <p:spPr>
          <a:xfrm>
            <a:off x="6766560" y="4636008"/>
            <a:ext cx="4846320" cy="685800"/>
          </a:xfrm>
          <a:prstGeom prst="rect">
            <a:avLst/>
          </a:prstGeom>
          <a:noFill/>
          <a:ln/>
        </p:spPr>
        <p:txBody>
          <a:bodyPr wrap="square" lIns="0" tIns="0" rIns="0" bIns="0" rtlCol="0" anchor="t"/>
          <a:lstStyle/>
          <a:p>
            <a:pPr marL="0" indent="0">
              <a:buNone/>
            </a:pPr>
            <a:r>
              <a:rPr lang="en-US" sz="1400" dirty="0">
                <a:solidFill>
                  <a:schemeClr val="tx1"/>
                </a:solidFill>
              </a:rPr>
              <a:t>Steps ≤ 0.25 rad, ≤ 15 Newton iterations each; a failed step halves, giving up below 0.02 rad (a fold)</a:t>
            </a:r>
            <a:endParaRPr lang="en-US" sz="1400" dirty="0"/>
          </a:p>
        </p:txBody>
      </p:sp>
      <p:sp>
        <p:nvSpPr>
          <p:cNvPr id="14" name="badge-144"/>
          <p:cNvSpPr/>
          <p:nvPr/>
        </p:nvSpPr>
        <p:spPr>
          <a:xfrm>
            <a:off x="6217920" y="5440680"/>
            <a:ext cx="384048" cy="384048"/>
          </a:xfrm>
          <a:prstGeom prst="ellipse">
            <a:avLst/>
          </a:prstGeom>
          <a:solidFill>
            <a:schemeClr val="accent1"/>
          </a:solidFill>
          <a:ln/>
        </p:spPr>
        <p:txBody>
          <a:bodyPr/>
          <a:lstStyle/>
          <a:p>
            <a:endParaRPr lang="en-IN"/>
          </a:p>
        </p:txBody>
      </p:sp>
      <p:sp>
        <p:nvSpPr>
          <p:cNvPr id="15" name="badge-label-145"/>
          <p:cNvSpPr txBox="1"/>
          <p:nvPr/>
        </p:nvSpPr>
        <p:spPr>
          <a:xfrm>
            <a:off x="6217920" y="54406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146"/>
          <p:cNvSpPr txBox="1"/>
          <p:nvPr/>
        </p:nvSpPr>
        <p:spPr>
          <a:xfrm>
            <a:off x="6766560" y="5413248"/>
            <a:ext cx="4846320" cy="685800"/>
          </a:xfrm>
          <a:prstGeom prst="rect">
            <a:avLst/>
          </a:prstGeom>
          <a:noFill/>
          <a:ln/>
        </p:spPr>
        <p:txBody>
          <a:bodyPr wrap="square" lIns="0" tIns="0" rIns="0" bIns="0" rtlCol="0" anchor="t"/>
          <a:lstStyle/>
          <a:p>
            <a:pPr marL="0" indent="0">
              <a:buNone/>
            </a:pPr>
            <a:r>
              <a:rPr lang="en-US" sz="1400" dirty="0">
                <a:solidFill>
                  <a:schemeClr val="tx1"/>
                </a:solidFill>
              </a:rPr>
              <a:t>Both hump signs are continued and the lower energy kept, so the result does not depend on which branch the ramp follows</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mc:AlternateContent xmlns:mc="http://schemas.openxmlformats.org/markup-compatibility/2006" xmlns:a14="http://schemas.microsoft.com/office/drawing/2010/main">
        <mc:Choice Requires="a14">
          <p:sp>
            <p:nvSpPr>
              <p:cNvPr id="18" name="latex-mode-6">
                <a:extLst>
                  <a:ext uri="{FF2B5EF4-FFF2-40B4-BE49-F238E27FC236}">
                    <a16:creationId xmlns:a16="http://schemas.microsoft.com/office/drawing/2014/main" id="{905E2A91-4C29-9579-8B30-63193110ECA0}"/>
                  </a:ext>
                </a:extLst>
              </p:cNvPr>
              <p:cNvSpPr txBox="1"/>
              <p:nvPr/>
            </p:nvSpPr>
            <p:spPr>
              <a:xfrm>
                <a:off x="1534616" y="1549123"/>
                <a:ext cx="8635087" cy="640080"/>
              </a:xfrm>
              <a:prstGeom prst="rect">
                <a:avLst/>
              </a:prstGeom>
              <a:noFill/>
              <a:ln/>
            </p:spPr>
            <p:txBody>
              <a:bodyPr wrap="square" lIns="0" tIns="0" rIns="0" bIns="0" rtlCol="0" anchor="ctr">
                <a:noAutofit/>
              </a:bodyPr>
              <a:lstStyle/>
              <a:p>
                <a:pPr marL="0" indent="0">
                  <a:buNone/>
                </a:pPr>
                <a14:m>
                  <m:oMathPara xmlns:m="http://schemas.openxmlformats.org/officeDocument/2006/math">
                    <m:oMath>
                      <m:r>
                        <a:rPr lang="en-US" sz="1600" i="1" dirty="0" smtClean="0">
                          <a:solidFill>
                            <a:schemeClr val="tx1"/>
                          </a:solidFill>
                          <a:latin typeface="Cambria Math" panose="02040503050406030204" pitchFamily="18" charset="0"/>
                        </a:rPr>
                        <m:t>𝜃</m:t>
                      </m:r>
                      <m:r>
                        <a:rPr lang="en-US" sz="1600" i="0" dirty="0">
                          <a:solidFill>
                            <a:schemeClr val="tx1"/>
                          </a:solidFill>
                          <a:latin typeface="Cambria Math" panose="02040503050406030204" pitchFamily="18" charset="0"/>
                        </a:rPr>
                        <m:t>≈2</m:t>
                      </m:r>
                      <m:rad>
                        <m:radPr>
                          <m:degHide m:val="on"/>
                          <m:ctrlPr>
                            <a:rPr lang="en-US" sz="1600" i="1" dirty="0">
                              <a:solidFill>
                                <a:schemeClr val="tx1"/>
                              </a:solidFill>
                              <a:latin typeface="Cambria Math" panose="02040503050406030204" pitchFamily="18" charset="0"/>
                            </a:rPr>
                          </m:ctrlPr>
                        </m:radPr>
                        <m:deg/>
                        <m:e>
                          <m:r>
                            <a:rPr lang="en-US" sz="1600" i="1" dirty="0">
                              <a:solidFill>
                                <a:schemeClr val="tx1"/>
                              </a:solidFill>
                              <a:latin typeface="Cambria Math" panose="02040503050406030204" pitchFamily="18" charset="0"/>
                            </a:rPr>
                            <m:t>𝑚</m:t>
                          </m:r>
                        </m:e>
                      </m:rad>
                      <m:r>
                        <a:rPr lang="en-US" sz="1600" i="0" dirty="0">
                          <a:solidFill>
                            <a:schemeClr val="tx1"/>
                          </a:solidFill>
                          <a:latin typeface="Cambria Math" panose="02040503050406030204" pitchFamily="18" charset="0"/>
                        </a:rPr>
                        <m:t> </m:t>
                      </m:r>
                      <m:func>
                        <m:funcPr>
                          <m:ctrlPr>
                            <a:rPr lang="en-US" sz="1600" i="0" dirty="0">
                              <a:solidFill>
                                <a:schemeClr val="tx1"/>
                              </a:solidFill>
                              <a:latin typeface="Cambria Math" panose="02040503050406030204" pitchFamily="18" charset="0"/>
                            </a:rPr>
                          </m:ctrlPr>
                        </m:funcPr>
                        <m:fName>
                          <m:r>
                            <m:rPr>
                              <m:sty m:val="p"/>
                            </m:rPr>
                            <a:rPr lang="en-US" sz="1600" i="0" dirty="0">
                              <a:solidFill>
                                <a:schemeClr val="tx1"/>
                              </a:solidFill>
                              <a:latin typeface="Cambria Math" panose="02040503050406030204" pitchFamily="18" charset="0"/>
                            </a:rPr>
                            <m:t>sin</m:t>
                          </m:r>
                        </m:fName>
                        <m:e>
                          <m:f>
                            <m:fPr>
                              <m:ctrlPr>
                                <a:rPr lang="en-US" sz="1600" i="0" dirty="0">
                                  <a:solidFill>
                                    <a:schemeClr val="tx1"/>
                                  </a:solidFill>
                                  <a:latin typeface="Cambria Math" panose="02040503050406030204" pitchFamily="18" charset="0"/>
                                </a:rPr>
                              </m:ctrlPr>
                            </m:fPr>
                            <m:num>
                              <m:r>
                                <a:rPr lang="en-US" sz="1600" i="0" dirty="0">
                                  <a:solidFill>
                                    <a:schemeClr val="tx1"/>
                                  </a:solidFill>
                                  <a:latin typeface="Cambria Math" panose="02040503050406030204" pitchFamily="18" charset="0"/>
                                </a:rPr>
                                <m:t>2</m:t>
                              </m:r>
                              <m:r>
                                <a:rPr lang="en-US" sz="1600" i="1" dirty="0">
                                  <a:solidFill>
                                    <a:schemeClr val="tx1"/>
                                  </a:solidFill>
                                  <a:latin typeface="Cambria Math" panose="02040503050406030204" pitchFamily="18" charset="0"/>
                                </a:rPr>
                                <m:t>𝜋</m:t>
                              </m:r>
                              <m:r>
                                <a:rPr lang="en-US" sz="1600" i="1" dirty="0">
                                  <a:solidFill>
                                    <a:schemeClr val="tx1"/>
                                  </a:solidFill>
                                  <a:latin typeface="Cambria Math" panose="02040503050406030204" pitchFamily="18" charset="0"/>
                                </a:rPr>
                                <m:t>𝑠</m:t>
                              </m:r>
                            </m:num>
                            <m:den>
                              <m:r>
                                <a:rPr lang="en-US" sz="1600" i="1" dirty="0">
                                  <a:solidFill>
                                    <a:schemeClr val="tx1"/>
                                  </a:solidFill>
                                  <a:latin typeface="Cambria Math" panose="02040503050406030204" pitchFamily="18" charset="0"/>
                                </a:rPr>
                                <m:t>𝐿</m:t>
                              </m:r>
                            </m:den>
                          </m:f>
                        </m:e>
                      </m:func>
                      <m:r>
                        <a:rPr lang="en-US" sz="1600" i="0" dirty="0">
                          <a:solidFill>
                            <a:schemeClr val="tx1"/>
                          </a:solidFill>
                          <a:latin typeface="Cambria Math" panose="02040503050406030204" pitchFamily="18" charset="0"/>
                        </a:rPr>
                        <m:t>, </m:t>
                      </m:r>
                      <m:r>
                        <a:rPr lang="en-US" sz="1600" i="1" dirty="0">
                          <a:solidFill>
                            <a:schemeClr val="tx1"/>
                          </a:solidFill>
                          <a:latin typeface="Cambria Math" panose="02040503050406030204" pitchFamily="18" charset="0"/>
                        </a:rPr>
                        <m:t>𝑚</m:t>
                      </m:r>
                      <m:r>
                        <a:rPr lang="en-US" sz="1600" i="0" dirty="0">
                          <a:solidFill>
                            <a:schemeClr val="tx1"/>
                          </a:solidFill>
                          <a:latin typeface="Cambria Math" panose="02040503050406030204" pitchFamily="18" charset="0"/>
                        </a:rPr>
                        <m:t>≈1−</m:t>
                      </m:r>
                      <m:f>
                        <m:fPr>
                          <m:ctrlPr>
                            <a:rPr lang="en-US" sz="1600" i="1" dirty="0">
                              <a:solidFill>
                                <a:schemeClr val="tx1"/>
                              </a:solidFill>
                              <a:latin typeface="Cambria Math" panose="02040503050406030204" pitchFamily="18" charset="0"/>
                            </a:rPr>
                          </m:ctrlPr>
                        </m:fPr>
                        <m:num>
                          <m:r>
                            <a:rPr lang="en-US" sz="1600" i="1" dirty="0">
                              <a:solidFill>
                                <a:schemeClr val="tx1"/>
                              </a:solidFill>
                              <a:latin typeface="Cambria Math" panose="02040503050406030204" pitchFamily="18" charset="0"/>
                            </a:rPr>
                            <m:t>𝑑</m:t>
                          </m:r>
                        </m:num>
                        <m:den>
                          <m:r>
                            <a:rPr lang="en-US" sz="1600" i="1" dirty="0">
                              <a:solidFill>
                                <a:schemeClr val="tx1"/>
                              </a:solidFill>
                              <a:latin typeface="Cambria Math" panose="02040503050406030204" pitchFamily="18" charset="0"/>
                            </a:rPr>
                            <m:t>𝐿</m:t>
                          </m:r>
                        </m:den>
                      </m:f>
                      <m:r>
                        <a:rPr lang="en-US" sz="1600" i="0" dirty="0">
                          <a:solidFill>
                            <a:schemeClr val="tx1"/>
                          </a:solidFill>
                          <a:latin typeface="Cambria Math" panose="02040503050406030204" pitchFamily="18" charset="0"/>
                        </a:rPr>
                        <m:t>, </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𝑥</m:t>
                          </m:r>
                        </m:sub>
                      </m:sSub>
                      <m:r>
                        <a:rPr lang="en-US" sz="1600" i="0" dirty="0">
                          <a:solidFill>
                            <a:schemeClr val="tx1"/>
                          </a:solidFill>
                          <a:latin typeface="Cambria Math" panose="02040503050406030204" pitchFamily="18" charset="0"/>
                        </a:rPr>
                        <m:t>→</m:t>
                      </m:r>
                      <m:f>
                        <m:fPr>
                          <m:ctrlPr>
                            <a:rPr lang="en-US" sz="1600" i="0" dirty="0">
                              <a:solidFill>
                                <a:schemeClr val="tx1"/>
                              </a:solidFill>
                              <a:latin typeface="Cambria Math" panose="02040503050406030204" pitchFamily="18" charset="0"/>
                            </a:rPr>
                          </m:ctrlPr>
                        </m:fPr>
                        <m:num>
                          <m:r>
                            <a:rPr lang="en-US" sz="1600" i="0" dirty="0">
                              <a:solidFill>
                                <a:schemeClr val="tx1"/>
                              </a:solidFill>
                              <a:latin typeface="Cambria Math" panose="02040503050406030204" pitchFamily="18" charset="0"/>
                            </a:rPr>
                            <m:t>4</m:t>
                          </m:r>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𝜋</m:t>
                              </m:r>
                            </m:e>
                            <m:sup>
                              <m:r>
                                <a:rPr lang="en-US" sz="1600" i="0" dirty="0">
                                  <a:solidFill>
                                    <a:schemeClr val="tx1"/>
                                  </a:solidFill>
                                  <a:latin typeface="Cambria Math" panose="02040503050406030204" pitchFamily="18" charset="0"/>
                                </a:rPr>
                                <m:t>2</m:t>
                              </m:r>
                            </m:sup>
                          </m:sSup>
                        </m:num>
                        <m:den>
                          <m:sSup>
                            <m:sSupPr>
                              <m:ctrlPr>
                                <a:rPr lang="en-US" sz="1600" i="1" dirty="0">
                                  <a:solidFill>
                                    <a:schemeClr val="tx1"/>
                                  </a:solidFill>
                                  <a:latin typeface="Cambria Math" panose="02040503050406030204" pitchFamily="18" charset="0"/>
                                </a:rPr>
                              </m:ctrlPr>
                            </m:sSupPr>
                            <m:e>
                              <m:r>
                                <a:rPr lang="en-US" sz="1600" i="1" dirty="0">
                                  <a:solidFill>
                                    <a:schemeClr val="tx1"/>
                                  </a:solidFill>
                                  <a:latin typeface="Cambria Math" panose="02040503050406030204" pitchFamily="18" charset="0"/>
                                </a:rPr>
                                <m:t>𝐿</m:t>
                              </m:r>
                            </m:e>
                            <m:sup>
                              <m:r>
                                <a:rPr lang="en-US" sz="1600" i="0" dirty="0">
                                  <a:solidFill>
                                    <a:schemeClr val="tx1"/>
                                  </a:solidFill>
                                  <a:latin typeface="Cambria Math" panose="02040503050406030204" pitchFamily="18" charset="0"/>
                                </a:rPr>
                                <m:t>2</m:t>
                              </m:r>
                            </m:sup>
                          </m:sSup>
                        </m:den>
                      </m:f>
                    </m:oMath>
                  </m:oMathPara>
                </a14:m>
                <a:endParaRPr lang="en-US" sz="1600" dirty="0"/>
              </a:p>
            </p:txBody>
          </p:sp>
        </mc:Choice>
        <mc:Fallback xmlns="">
          <p:sp>
            <p:nvSpPr>
              <p:cNvPr id="18" name="latex-mode-6">
                <a:extLst>
                  <a:ext uri="{FF2B5EF4-FFF2-40B4-BE49-F238E27FC236}">
                    <a16:creationId xmlns:a16="http://schemas.microsoft.com/office/drawing/2014/main" id="{905E2A91-4C29-9579-8B30-63193110ECA0}"/>
                  </a:ext>
                </a:extLst>
              </p:cNvPr>
              <p:cNvSpPr txBox="1">
                <a:spLocks noRot="1" noChangeAspect="1" noMove="1" noResize="1" noEditPoints="1" noAdjustHandles="1" noChangeArrowheads="1" noChangeShapeType="1" noTextEdit="1"/>
              </p:cNvSpPr>
              <p:nvPr/>
            </p:nvSpPr>
            <p:spPr>
              <a:xfrm>
                <a:off x="1534616" y="1549123"/>
                <a:ext cx="8635087" cy="640080"/>
              </a:xfrm>
              <a:prstGeom prst="rect">
                <a:avLst/>
              </a:prstGeom>
              <a:blipFill>
                <a:blip r:embed="rId6"/>
                <a:stretch>
                  <a:fillRect/>
                </a:stretch>
              </a:blipFill>
              <a:ln/>
            </p:spPr>
            <p:txBody>
              <a:bodyPr/>
              <a:lstStyle/>
              <a:p>
                <a:r>
                  <a:rPr lang="en-IN">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Mirror symmetry halves the number of solves</a:t>
            </a:r>
          </a:p>
        </p:txBody>
      </p:sp>
      <p:sp>
        <p:nvSpPr>
          <p:cNvPr id="3" name="card-223"/>
          <p:cNvSpPr/>
          <p:nvPr/>
        </p:nvSpPr>
        <p:spPr>
          <a:xfrm>
            <a:off x="548640" y="1417320"/>
            <a:ext cx="11064240" cy="777240"/>
          </a:xfrm>
          <a:prstGeom prst="roundRect">
            <a:avLst>
              <a:gd name="adj" fmla="val 9412"/>
            </a:avLst>
          </a:prstGeom>
          <a:solidFill>
            <a:schemeClr val="bg2"/>
          </a:solidFill>
          <a:ln/>
        </p:spPr>
        <p:txBody>
          <a:bodyPr/>
          <a:lstStyle/>
          <a:p>
            <a:endParaRPr lang="en-IN"/>
          </a:p>
        </p:txBody>
      </p:sp>
      <mc:AlternateContent xmlns:mc="http://schemas.openxmlformats.org/markup-compatibility/2006" xmlns:a14="http://schemas.microsoft.com/office/drawing/2010/main">
        <mc:Choice Requires="a14">
          <p:sp>
            <p:nvSpPr>
              <p:cNvPr id="401" name="latex-sym"/>
              <p:cNvSpPr txBox="1"/>
              <p:nvPr/>
            </p:nvSpPr>
            <p:spPr>
              <a:xfrm>
                <a:off x="1984248" y="1653540"/>
                <a:ext cx="8238744" cy="304800"/>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𝑑</m:t>
                      </m:r>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1</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2</m:t>
                          </m:r>
                        </m:sub>
                      </m:sSub>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𝑑</m:t>
                      </m:r>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2</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𝜑</m:t>
                          </m:r>
                        </m:e>
                        <m:sub>
                          <m:r>
                            <a:rPr lang="en-US" sz="1600" i="1" dirty="0">
                              <a:solidFill>
                                <a:schemeClr val="tx1"/>
                              </a:solidFill>
                              <a:latin typeface="Cambria Math" panose="02040503050406030204" pitchFamily="18" charset="0"/>
                            </a:rPr>
                            <m:t>1</m:t>
                          </m:r>
                        </m:sub>
                      </m:sSub>
                      <m:r>
                        <a:rPr lang="en-US" sz="1600" i="1" dirty="0">
                          <a:solidFill>
                            <a:schemeClr val="tx1"/>
                          </a:solidFill>
                          <a:latin typeface="Cambria Math" panose="02040503050406030204" pitchFamily="18" charset="0"/>
                        </a:rPr>
                        <m:t>): </m:t>
                      </m:r>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𝜃</m:t>
                          </m:r>
                        </m:e>
                      </m:acc>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𝑠</m:t>
                      </m:r>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𝜃</m:t>
                      </m:r>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𝐿</m:t>
                      </m:r>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𝑠</m:t>
                      </m:r>
                      <m:r>
                        <a:rPr lang="en-US" sz="1600" i="1" dirty="0">
                          <a:solidFill>
                            <a:schemeClr val="tx1"/>
                          </a:solidFill>
                          <a:latin typeface="Cambria Math" panose="02040503050406030204" pitchFamily="18" charset="0"/>
                        </a:rPr>
                        <m:t>), </m:t>
                      </m:r>
                      <m:sSub>
                        <m:sSubPr>
                          <m:ctrlPr>
                            <a:rPr lang="en-US" sz="1600" i="1" dirty="0">
                              <a:solidFill>
                                <a:schemeClr val="tx1"/>
                              </a:solidFill>
                              <a:latin typeface="Cambria Math" panose="02040503050406030204" pitchFamily="18" charset="0"/>
                            </a:rPr>
                          </m:ctrlPr>
                        </m:sSubPr>
                        <m:e>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𝑓</m:t>
                              </m:r>
                            </m:e>
                          </m:acc>
                        </m:e>
                        <m:sub>
                          <m:r>
                            <a:rPr lang="en-US" sz="1600" i="1" dirty="0">
                              <a:solidFill>
                                <a:schemeClr val="tx1"/>
                              </a:solidFill>
                              <a:latin typeface="Cambria Math" panose="02040503050406030204" pitchFamily="18" charset="0"/>
                            </a:rPr>
                            <m:t>𝑥</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𝑥</m:t>
                          </m:r>
                        </m:sub>
                      </m:sSub>
                      <m:r>
                        <a:rPr lang="en-US" sz="1600" i="1" dirty="0">
                          <a:solidFill>
                            <a:schemeClr val="tx1"/>
                          </a:solidFill>
                          <a:latin typeface="Cambria Math" panose="02040503050406030204" pitchFamily="18" charset="0"/>
                        </a:rPr>
                        <m:t>, </m:t>
                      </m:r>
                      <m:sSub>
                        <m:sSubPr>
                          <m:ctrlPr>
                            <a:rPr lang="en-US" sz="1600" i="1" dirty="0">
                              <a:solidFill>
                                <a:schemeClr val="tx1"/>
                              </a:solidFill>
                              <a:latin typeface="Cambria Math" panose="02040503050406030204" pitchFamily="18" charset="0"/>
                            </a:rPr>
                          </m:ctrlPr>
                        </m:sSubPr>
                        <m:e>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𝑓</m:t>
                              </m:r>
                            </m:e>
                          </m:acc>
                        </m:e>
                        <m:sub>
                          <m:r>
                            <a:rPr lang="en-US" sz="1600" i="1" dirty="0">
                              <a:solidFill>
                                <a:schemeClr val="tx1"/>
                              </a:solidFill>
                              <a:latin typeface="Cambria Math" panose="02040503050406030204" pitchFamily="18" charset="0"/>
                            </a:rPr>
                            <m:t>𝑦</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𝑓</m:t>
                          </m:r>
                        </m:e>
                        <m:sub>
                          <m:r>
                            <a:rPr lang="en-US" sz="1600" i="1" dirty="0">
                              <a:solidFill>
                                <a:schemeClr val="tx1"/>
                              </a:solidFill>
                              <a:latin typeface="Cambria Math" panose="02040503050406030204" pitchFamily="18" charset="0"/>
                            </a:rPr>
                            <m:t>𝑦</m:t>
                          </m:r>
                        </m:sub>
                      </m:sSub>
                      <m:r>
                        <a:rPr lang="en-US" sz="1600" i="1" dirty="0">
                          <a:solidFill>
                            <a:schemeClr val="tx1"/>
                          </a:solidFill>
                          <a:latin typeface="Cambria Math" panose="02040503050406030204" pitchFamily="18" charset="0"/>
                        </a:rPr>
                        <m:t>, </m:t>
                      </m:r>
                      <m:sSub>
                        <m:sSubPr>
                          <m:ctrlPr>
                            <a:rPr lang="en-US" sz="1600" i="1" dirty="0">
                              <a:solidFill>
                                <a:schemeClr val="tx1"/>
                              </a:solidFill>
                              <a:latin typeface="Cambria Math" panose="02040503050406030204" pitchFamily="18" charset="0"/>
                            </a:rPr>
                          </m:ctrlPr>
                        </m:sSubPr>
                        <m:e>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𝑀</m:t>
                              </m:r>
                            </m:e>
                          </m:acc>
                        </m:e>
                        <m:sub>
                          <m:r>
                            <a:rPr lang="en-US" sz="1600" i="1" dirty="0">
                              <a:solidFill>
                                <a:schemeClr val="tx1"/>
                              </a:solidFill>
                              <a:latin typeface="Cambria Math" panose="02040503050406030204" pitchFamily="18" charset="0"/>
                            </a:rPr>
                            <m:t>1</m:t>
                          </m:r>
                        </m:sub>
                      </m:sSub>
                      <m:r>
                        <a:rPr lang="en-US" sz="1600" i="1" dirty="0">
                          <a:solidFill>
                            <a:schemeClr val="tx1"/>
                          </a:solidFill>
                          <a:latin typeface="Cambria Math" panose="02040503050406030204" pitchFamily="18" charset="0"/>
                        </a:rPr>
                        <m:t>=</m:t>
                      </m:r>
                      <m:sSub>
                        <m:sSubPr>
                          <m:ctrlPr>
                            <a:rPr lang="en-US" sz="1600" i="1" dirty="0">
                              <a:solidFill>
                                <a:schemeClr val="tx1"/>
                              </a:solidFill>
                              <a:latin typeface="Cambria Math" panose="02040503050406030204" pitchFamily="18" charset="0"/>
                            </a:rPr>
                          </m:ctrlPr>
                        </m:sSubPr>
                        <m:e>
                          <m:r>
                            <a:rPr lang="en-US" sz="1600" i="1" dirty="0">
                              <a:solidFill>
                                <a:schemeClr val="tx1"/>
                              </a:solidFill>
                              <a:latin typeface="Cambria Math" panose="02040503050406030204" pitchFamily="18" charset="0"/>
                            </a:rPr>
                            <m:t>𝑀</m:t>
                          </m:r>
                        </m:e>
                        <m:sub>
                          <m:r>
                            <a:rPr lang="en-US" sz="1600" i="1" dirty="0">
                              <a:solidFill>
                                <a:schemeClr val="tx1"/>
                              </a:solidFill>
                              <a:latin typeface="Cambria Math" panose="02040503050406030204" pitchFamily="18" charset="0"/>
                            </a:rPr>
                            <m:t>2</m:t>
                          </m:r>
                        </m:sub>
                      </m:sSub>
                      <m:r>
                        <a:rPr lang="en-US" sz="1600" i="1" dirty="0">
                          <a:solidFill>
                            <a:schemeClr val="tx1"/>
                          </a:solidFill>
                          <a:latin typeface="Cambria Math" panose="02040503050406030204" pitchFamily="18" charset="0"/>
                        </a:rPr>
                        <m:t>, </m:t>
                      </m:r>
                      <m:acc>
                        <m:accPr>
                          <m:chr m:val="̃"/>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𝑝</m:t>
                          </m:r>
                        </m:e>
                      </m:acc>
                      <m:r>
                        <a:rPr lang="en-US" sz="1600" i="1"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𝑝</m:t>
                      </m:r>
                    </m:oMath>
                  </m:oMathPara>
                </a14:m>
                <a:endParaRPr lang="en-US" sz="1600" dirty="0"/>
              </a:p>
            </p:txBody>
          </p:sp>
        </mc:Choice>
        <mc:Fallback xmlns="">
          <p:sp>
            <p:nvSpPr>
              <p:cNvPr id="401" name="latex-sym"/>
              <p:cNvSpPr txBox="1">
                <a:spLocks noRot="1" noChangeAspect="1" noMove="1" noResize="1" noEditPoints="1" noAdjustHandles="1" noChangeArrowheads="1" noChangeShapeType="1" noTextEdit="1"/>
              </p:cNvSpPr>
              <p:nvPr/>
            </p:nvSpPr>
            <p:spPr>
              <a:xfrm>
                <a:off x="1984248" y="1653540"/>
                <a:ext cx="8238744" cy="304800"/>
              </a:xfrm>
              <a:prstGeom prst="rect">
                <a:avLst/>
              </a:prstGeom>
              <a:blipFill>
                <a:blip r:embed="rId5"/>
                <a:stretch>
                  <a:fillRect/>
                </a:stretch>
              </a:blipFill>
            </p:spPr>
            <p:txBody>
              <a:bodyPr/>
              <a:lstStyle/>
              <a:p>
                <a:r>
                  <a:rPr lang="en-US">
                    <a:noFill/>
                  </a:rPr>
                  <a:t> </a:t>
                </a:r>
              </a:p>
            </p:txBody>
          </p:sp>
        </mc:Fallback>
      </mc:AlternateContent>
      <p:pic>
        <p:nvPicPr>
          <p:cNvPr id="5" name="figure-225" descr="Solved half of the angle square, and theta with its mirror image at d = 0.90"/>
          <p:cNvPicPr>
            <a:picLocks noChangeAspect="1"/>
          </p:cNvPicPr>
          <p:nvPr/>
        </p:nvPicPr>
        <p:blipFill>
          <a:blip r:embed="rId6"/>
          <a:stretch>
            <a:fillRect/>
          </a:stretch>
        </p:blipFill>
        <p:spPr>
          <a:xfrm>
            <a:off x="640216" y="2423160"/>
            <a:ext cx="7314929" cy="3226003"/>
          </a:xfrm>
          <a:prstGeom prst="rect">
            <a:avLst/>
          </a:prstGeom>
        </p:spPr>
      </p:pic>
      <p:sp>
        <p:nvSpPr>
          <p:cNvPr id="6" name="badge-226"/>
          <p:cNvSpPr/>
          <p:nvPr/>
        </p:nvSpPr>
        <p:spPr>
          <a:xfrm>
            <a:off x="8412480" y="2606040"/>
            <a:ext cx="384048" cy="384048"/>
          </a:xfrm>
          <a:prstGeom prst="ellipse">
            <a:avLst/>
          </a:prstGeom>
          <a:solidFill>
            <a:schemeClr val="accent1"/>
          </a:solidFill>
          <a:ln/>
        </p:spPr>
        <p:txBody>
          <a:bodyPr/>
          <a:lstStyle/>
          <a:p>
            <a:endParaRPr lang="en-IN"/>
          </a:p>
        </p:txBody>
      </p:sp>
      <p:sp>
        <p:nvSpPr>
          <p:cNvPr id="7" name="badge-label-227"/>
          <p:cNvSpPr txBox="1"/>
          <p:nvPr/>
        </p:nvSpPr>
        <p:spPr>
          <a:xfrm>
            <a:off x="8412480" y="26060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228"/>
          <p:cNvSpPr txBox="1"/>
          <p:nvPr/>
        </p:nvSpPr>
        <p:spPr>
          <a:xfrm>
            <a:off x="8961120" y="2578608"/>
            <a:ext cx="2651760" cy="1005840"/>
          </a:xfrm>
          <a:prstGeom prst="rect">
            <a:avLst/>
          </a:prstGeom>
          <a:noFill/>
          <a:ln/>
        </p:spPr>
        <p:txBody>
          <a:bodyPr wrap="square" lIns="0" tIns="0" rIns="0" bIns="0" rtlCol="0" anchor="t"/>
          <a:lstStyle/>
          <a:p>
            <a:pPr marL="0" indent="0">
              <a:buNone/>
            </a:pPr>
            <a:r>
              <a:rPr lang="en-US" sz="1400" dirty="0">
                <a:solidFill>
                  <a:schemeClr val="tx1"/>
                </a:solidFill>
              </a:rPr>
              <a:t>Reflecting the rod about mid-span maps (φ₁, φ₂) to (−φ₂, −φ₁)</a:t>
            </a:r>
            <a:endParaRPr lang="en-US" sz="1400" dirty="0"/>
          </a:p>
        </p:txBody>
      </p:sp>
      <p:sp>
        <p:nvSpPr>
          <p:cNvPr id="9" name="badge-229"/>
          <p:cNvSpPr/>
          <p:nvPr/>
        </p:nvSpPr>
        <p:spPr>
          <a:xfrm>
            <a:off x="8412480" y="3703320"/>
            <a:ext cx="384048" cy="384048"/>
          </a:xfrm>
          <a:prstGeom prst="ellipse">
            <a:avLst/>
          </a:prstGeom>
          <a:solidFill>
            <a:schemeClr val="accent1"/>
          </a:solidFill>
          <a:ln/>
        </p:spPr>
        <p:txBody>
          <a:bodyPr/>
          <a:lstStyle/>
          <a:p>
            <a:endParaRPr lang="en-IN"/>
          </a:p>
        </p:txBody>
      </p:sp>
      <p:sp>
        <p:nvSpPr>
          <p:cNvPr id="10" name="badge-label-230"/>
          <p:cNvSpPr txBox="1"/>
          <p:nvPr/>
        </p:nvSpPr>
        <p:spPr>
          <a:xfrm>
            <a:off x="8412480" y="37033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231"/>
          <p:cNvSpPr txBox="1"/>
          <p:nvPr/>
        </p:nvSpPr>
        <p:spPr>
          <a:xfrm>
            <a:off x="8961120" y="3675888"/>
            <a:ext cx="2651760" cy="1005840"/>
          </a:xfrm>
          <a:prstGeom prst="rect">
            <a:avLst/>
          </a:prstGeom>
          <a:noFill/>
          <a:ln/>
        </p:spPr>
        <p:txBody>
          <a:bodyPr wrap="square" lIns="0" tIns="0" rIns="0" bIns="0" rtlCol="0" anchor="t"/>
          <a:lstStyle/>
          <a:p>
            <a:pPr marL="0" indent="0">
              <a:buNone/>
            </a:pPr>
            <a:r>
              <a:rPr lang="en-US" sz="1400" dirty="0">
                <a:solidFill>
                  <a:schemeClr val="tx1"/>
                </a:solidFill>
              </a:rPr>
              <a:t>Only φ₁ + φ₂ ≥ 0 is solved; points on the anti-diagonal are solved once</a:t>
            </a:r>
            <a:endParaRPr lang="en-US" sz="1400" dirty="0"/>
          </a:p>
        </p:txBody>
      </p:sp>
      <p:sp>
        <p:nvSpPr>
          <p:cNvPr id="12" name="badge-232"/>
          <p:cNvSpPr/>
          <p:nvPr/>
        </p:nvSpPr>
        <p:spPr>
          <a:xfrm>
            <a:off x="8412480" y="4800600"/>
            <a:ext cx="384048" cy="384048"/>
          </a:xfrm>
          <a:prstGeom prst="ellipse">
            <a:avLst/>
          </a:prstGeom>
          <a:solidFill>
            <a:schemeClr val="accent1"/>
          </a:solidFill>
          <a:ln/>
        </p:spPr>
        <p:txBody>
          <a:bodyPr/>
          <a:lstStyle/>
          <a:p>
            <a:endParaRPr lang="en-IN"/>
          </a:p>
        </p:txBody>
      </p:sp>
      <p:sp>
        <p:nvSpPr>
          <p:cNvPr id="13" name="badge-label-233"/>
          <p:cNvSpPr txBox="1"/>
          <p:nvPr/>
        </p:nvSpPr>
        <p:spPr>
          <a:xfrm>
            <a:off x="8412480" y="480060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ext-234"/>
          <p:cNvSpPr txBox="1"/>
          <p:nvPr/>
        </p:nvSpPr>
        <p:spPr>
          <a:xfrm>
            <a:off x="8961120" y="4773168"/>
            <a:ext cx="2651760" cy="1005840"/>
          </a:xfrm>
          <a:prstGeom prst="rect">
            <a:avLst/>
          </a:prstGeom>
          <a:noFill/>
          <a:ln/>
        </p:spPr>
        <p:txBody>
          <a:bodyPr wrap="square" lIns="0" tIns="0" rIns="0" bIns="0" rtlCol="0" anchor="t"/>
          <a:lstStyle/>
          <a:p>
            <a:pPr marL="0" indent="0">
              <a:buNone/>
            </a:pPr>
            <a:r>
              <a:rPr lang="en-US" sz="1400" dirty="0">
                <a:solidFill>
                  <a:schemeClr val="tx1"/>
                </a:solidFill>
              </a:rPr>
              <a:t>f</a:t>
            </a:r>
            <a:r>
              <a:rPr lang="en-US" sz="1400" baseline="-25000" dirty="0">
                <a:solidFill>
                  <a:schemeClr val="tx1"/>
                </a:solidFill>
              </a:rPr>
              <a:t>x</a:t>
            </a:r>
            <a:r>
              <a:rPr lang="en-US" sz="1400" dirty="0">
                <a:solidFill>
                  <a:schemeClr val="tx1"/>
                </a:solidFill>
              </a:rPr>
              <a:t>, U and p carry over, f</a:t>
            </a:r>
            <a:r>
              <a:rPr lang="en-US" sz="1400" baseline="-25000" dirty="0">
                <a:solidFill>
                  <a:schemeClr val="tx1"/>
                </a:solidFill>
              </a:rPr>
              <a:t>y</a:t>
            </a:r>
            <a:r>
              <a:rPr lang="en-US" sz="1400" dirty="0">
                <a:solidFill>
                  <a:schemeClr val="tx1"/>
                </a:solidFill>
              </a:rPr>
              <a:t> flips sign, and the left and right moments swap</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Production run">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822960" y="2377440"/>
            <a:ext cx="10515600" cy="1097280"/>
          </a:xfrm>
          <a:prstGeom prst="rect">
            <a:avLst/>
          </a:prstGeom>
          <a:noFill/>
          <a:ln/>
        </p:spPr>
        <p:txBody>
          <a:bodyPr wrap="square" lIns="0" tIns="0" rIns="0" bIns="0" rtlCol="0" anchor="b"/>
          <a:lstStyle/>
          <a:p>
            <a:pPr marL="0" indent="0" algn="l">
              <a:buNone/>
            </a:pPr>
            <a:r>
              <a:rPr lang="en-US" sz="4000" b="1">
                <a:solidFill>
                  <a:schemeClr val="bg1"/>
                </a:solidFill>
              </a:rPr>
              <a:t>Final </a:t>
            </a:r>
            <a:r>
              <a:rPr lang="en-US" sz="4000" b="1" dirty="0">
                <a:solidFill>
                  <a:schemeClr val="bg1"/>
                </a:solidFill>
              </a:rPr>
              <a:t>run</a:t>
            </a:r>
            <a:endParaRPr lang="en-US" sz="4000" dirty="0"/>
          </a:p>
        </p:txBody>
      </p:sp>
      <p:sp>
        <p:nvSpPr>
          <p:cNvPr id="3" name="Subtitle"/>
          <p:cNvSpPr>
            <a:spLocks noGrp="1"/>
          </p:cNvSpPr>
          <p:nvPr>
            <p:ph type="body" idx="101" hasCustomPrompt="1"/>
          </p:nvPr>
        </p:nvSpPr>
        <p:spPr>
          <a:xfrm>
            <a:off x="822960" y="3657600"/>
            <a:ext cx="10515600" cy="822960"/>
          </a:xfrm>
          <a:prstGeom prst="rect">
            <a:avLst/>
          </a:prstGeom>
          <a:noFill/>
          <a:ln/>
        </p:spPr>
        <p:txBody>
          <a:bodyPr wrap="square" lIns="0" tIns="0" rIns="0" bIns="0" rtlCol="0" anchor="t"/>
          <a:lstStyle/>
          <a:p>
            <a:pPr marL="0" indent="0">
              <a:buNone/>
            </a:pPr>
            <a:r>
              <a:rPr lang="en-US" sz="2000" dirty="0">
                <a:solidFill>
                  <a:schemeClr val="accent1"/>
                </a:solidFill>
              </a:rPr>
              <a:t>d ∈ [0.70, 0.99], φ₁, φ₂ ∈ [−π/2, π/2], Δ = 0.01: 2.98 M equilibria and their level sets</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Production summary">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2.98 M equilibria, every one checked</a:t>
            </a:r>
            <a:endParaRPr lang="en-US" sz="3000" dirty="0"/>
          </a:p>
        </p:txBody>
      </p:sp>
      <p:sp>
        <p:nvSpPr>
          <p:cNvPr id="401" name="card-401"/>
          <p:cNvSpPr/>
          <p:nvPr/>
        </p:nvSpPr>
        <p:spPr>
          <a:xfrm>
            <a:off x="548640" y="1371600"/>
            <a:ext cx="2606040" cy="1828800"/>
          </a:xfrm>
          <a:prstGeom prst="roundRect">
            <a:avLst>
              <a:gd name="adj" fmla="val 6000"/>
            </a:avLst>
          </a:prstGeom>
          <a:solidFill>
            <a:schemeClr val="bg2"/>
          </a:solidFill>
          <a:ln>
            <a:noFill/>
          </a:ln>
        </p:spPr>
        <p:txBody>
          <a:bodyPr/>
          <a:lstStyle/>
          <a:p>
            <a:endParaRPr lang="en-US"/>
          </a:p>
        </p:txBody>
      </p:sp>
      <p:sp>
        <p:nvSpPr>
          <p:cNvPr id="402" name="tile-big-402"/>
          <p:cNvSpPr txBox="1"/>
          <p:nvPr/>
        </p:nvSpPr>
        <p:spPr>
          <a:xfrm>
            <a:off x="749808" y="1481328"/>
            <a:ext cx="2203704" cy="658368"/>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2,976,750</a:t>
            </a:r>
            <a:endParaRPr lang="en-US" sz="3000" dirty="0"/>
          </a:p>
        </p:txBody>
      </p:sp>
      <p:sp>
        <p:nvSpPr>
          <p:cNvPr id="403" name="tile-label-403"/>
          <p:cNvSpPr txBox="1"/>
          <p:nvPr/>
        </p:nvSpPr>
        <p:spPr>
          <a:xfrm>
            <a:off x="749808" y="2194560"/>
            <a:ext cx="2203704" cy="310896"/>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equilibria</a:t>
            </a:r>
            <a:endParaRPr lang="en-US" sz="1400" dirty="0"/>
          </a:p>
        </p:txBody>
      </p:sp>
      <p:sp>
        <p:nvSpPr>
          <p:cNvPr id="404" name="tile-sub-404"/>
          <p:cNvSpPr txBox="1"/>
          <p:nvPr/>
        </p:nvSpPr>
        <p:spPr>
          <a:xfrm>
            <a:off x="749808" y="2542032"/>
            <a:ext cx="2203704" cy="585216"/>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30 × 315 × 315 grid; 1.49 M Newton solves, the mirror fills the rest</a:t>
            </a:r>
            <a:endParaRPr lang="en-US" sz="1150" dirty="0"/>
          </a:p>
        </p:txBody>
      </p:sp>
      <p:sp>
        <p:nvSpPr>
          <p:cNvPr id="405" name="card-405"/>
          <p:cNvSpPr/>
          <p:nvPr/>
        </p:nvSpPr>
        <p:spPr>
          <a:xfrm>
            <a:off x="3383280" y="1371600"/>
            <a:ext cx="2606040" cy="1828800"/>
          </a:xfrm>
          <a:prstGeom prst="roundRect">
            <a:avLst>
              <a:gd name="adj" fmla="val 6000"/>
            </a:avLst>
          </a:prstGeom>
          <a:solidFill>
            <a:schemeClr val="bg2"/>
          </a:solidFill>
          <a:ln>
            <a:noFill/>
          </a:ln>
        </p:spPr>
        <p:txBody>
          <a:bodyPr/>
          <a:lstStyle/>
          <a:p>
            <a:endParaRPr lang="en-US"/>
          </a:p>
        </p:txBody>
      </p:sp>
      <p:sp>
        <p:nvSpPr>
          <p:cNvPr id="406" name="tile-big-406"/>
          <p:cNvSpPr txBox="1"/>
          <p:nvPr/>
        </p:nvSpPr>
        <p:spPr>
          <a:xfrm>
            <a:off x="3584448" y="1481328"/>
            <a:ext cx="2203704" cy="658368"/>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 4 h</a:t>
            </a:r>
            <a:endParaRPr lang="en-US" sz="3000" dirty="0"/>
          </a:p>
        </p:txBody>
      </p:sp>
      <p:sp>
        <p:nvSpPr>
          <p:cNvPr id="407" name="tile-label-407"/>
          <p:cNvSpPr txBox="1"/>
          <p:nvPr/>
        </p:nvSpPr>
        <p:spPr>
          <a:xfrm>
            <a:off x="3584448" y="2194560"/>
            <a:ext cx="2203704" cy="310896"/>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on one core</a:t>
            </a:r>
            <a:endParaRPr lang="en-US" sz="1400" dirty="0"/>
          </a:p>
        </p:txBody>
      </p:sp>
      <p:sp>
        <p:nvSpPr>
          <p:cNvPr id="408" name="tile-sub-408"/>
          <p:cNvSpPr txBox="1"/>
          <p:nvPr/>
        </p:nvSpPr>
        <p:spPr>
          <a:xfrm>
            <a:off x="3584448" y="2542032"/>
            <a:ext cx="2203704" cy="585216"/>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about 11 ms per solve, from one cold start (plus one more near d = 1)</a:t>
            </a:r>
            <a:endParaRPr lang="en-US" sz="1150" dirty="0"/>
          </a:p>
        </p:txBody>
      </p:sp>
      <p:sp>
        <p:nvSpPr>
          <p:cNvPr id="409" name="card-409"/>
          <p:cNvSpPr/>
          <p:nvPr/>
        </p:nvSpPr>
        <p:spPr>
          <a:xfrm>
            <a:off x="6217920" y="1371600"/>
            <a:ext cx="2606040" cy="1828800"/>
          </a:xfrm>
          <a:prstGeom prst="roundRect">
            <a:avLst>
              <a:gd name="adj" fmla="val 6000"/>
            </a:avLst>
          </a:prstGeom>
          <a:solidFill>
            <a:schemeClr val="bg2"/>
          </a:solidFill>
          <a:ln>
            <a:noFill/>
          </a:ln>
        </p:spPr>
        <p:txBody>
          <a:bodyPr/>
          <a:lstStyle/>
          <a:p>
            <a:endParaRPr lang="en-US"/>
          </a:p>
        </p:txBody>
      </p:sp>
      <p:sp>
        <p:nvSpPr>
          <p:cNvPr id="410" name="tile-big-410"/>
          <p:cNvSpPr txBox="1"/>
          <p:nvPr/>
        </p:nvSpPr>
        <p:spPr>
          <a:xfrm>
            <a:off x="6419088" y="1481328"/>
            <a:ext cx="2203704" cy="658368"/>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0.27 %</a:t>
            </a:r>
            <a:endParaRPr lang="en-US" sz="3000" dirty="0"/>
          </a:p>
        </p:txBody>
      </p:sp>
      <p:sp>
        <p:nvSpPr>
          <p:cNvPr id="411" name="tile-label-411"/>
          <p:cNvSpPr txBox="1"/>
          <p:nvPr/>
        </p:nvSpPr>
        <p:spPr>
          <a:xfrm>
            <a:off x="6419088" y="2194560"/>
            <a:ext cx="2203704" cy="310896"/>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max error vs. BVP</a:t>
            </a:r>
            <a:endParaRPr lang="en-US" sz="1400" dirty="0"/>
          </a:p>
        </p:txBody>
      </p:sp>
      <p:sp>
        <p:nvSpPr>
          <p:cNvPr id="412" name="tile-sub-412"/>
          <p:cNvSpPr txBox="1"/>
          <p:nvPr/>
        </p:nvSpPr>
        <p:spPr>
          <a:xfrm>
            <a:off x="6419088" y="2542032"/>
            <a:ext cx="2203704" cy="585216"/>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300 random nodes re-solved with scipy solve_bvp; median 0.014 %</a:t>
            </a:r>
            <a:endParaRPr lang="en-US" sz="1150" dirty="0"/>
          </a:p>
        </p:txBody>
      </p:sp>
      <p:sp>
        <p:nvSpPr>
          <p:cNvPr id="413" name="card-413"/>
          <p:cNvSpPr/>
          <p:nvPr/>
        </p:nvSpPr>
        <p:spPr>
          <a:xfrm>
            <a:off x="9052560" y="1371600"/>
            <a:ext cx="2606040" cy="1828800"/>
          </a:xfrm>
          <a:prstGeom prst="roundRect">
            <a:avLst>
              <a:gd name="adj" fmla="val 6000"/>
            </a:avLst>
          </a:prstGeom>
          <a:solidFill>
            <a:schemeClr val="bg2"/>
          </a:solidFill>
          <a:ln>
            <a:noFill/>
          </a:ln>
        </p:spPr>
        <p:txBody>
          <a:bodyPr/>
          <a:lstStyle/>
          <a:p>
            <a:endParaRPr lang="en-US"/>
          </a:p>
        </p:txBody>
      </p:sp>
      <p:sp>
        <p:nvSpPr>
          <p:cNvPr id="414" name="tile-big-414"/>
          <p:cNvSpPr txBox="1"/>
          <p:nvPr/>
        </p:nvSpPr>
        <p:spPr>
          <a:xfrm>
            <a:off x="9253728" y="1481328"/>
            <a:ext cx="2203704" cy="658368"/>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0</a:t>
            </a:r>
            <a:endParaRPr lang="en-US" sz="3000" dirty="0"/>
          </a:p>
        </p:txBody>
      </p:sp>
      <p:sp>
        <p:nvSpPr>
          <p:cNvPr id="415" name="tile-label-415"/>
          <p:cNvSpPr txBox="1"/>
          <p:nvPr/>
        </p:nvSpPr>
        <p:spPr>
          <a:xfrm>
            <a:off x="9253728" y="2194560"/>
            <a:ext cx="2203704" cy="310896"/>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unstable equilibria</a:t>
            </a:r>
            <a:endParaRPr lang="en-US" sz="1400" dirty="0"/>
          </a:p>
        </p:txBody>
      </p:sp>
      <p:sp>
        <p:nvSpPr>
          <p:cNvPr id="416" name="tile-sub-416"/>
          <p:cNvSpPr txBox="1"/>
          <p:nvPr/>
        </p:nvSpPr>
        <p:spPr>
          <a:xfrm>
            <a:off x="9253728" y="2542032"/>
            <a:ext cx="2203704" cy="585216"/>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stability test on all 2,976,750 nodes</a:t>
            </a:r>
            <a:endParaRPr lang="en-US" sz="1150" dirty="0"/>
          </a:p>
        </p:txBody>
      </p:sp>
      <p:sp>
        <p:nvSpPr>
          <p:cNvPr id="417" name="card-417"/>
          <p:cNvSpPr/>
          <p:nvPr/>
        </p:nvSpPr>
        <p:spPr>
          <a:xfrm>
            <a:off x="548640" y="3429000"/>
            <a:ext cx="3566160" cy="2240280"/>
          </a:xfrm>
          <a:prstGeom prst="roundRect">
            <a:avLst>
              <a:gd name="adj" fmla="val 6000"/>
            </a:avLst>
          </a:prstGeom>
          <a:solidFill>
            <a:schemeClr val="bg2"/>
          </a:solidFill>
          <a:ln>
            <a:noFill/>
          </a:ln>
        </p:spPr>
        <p:txBody>
          <a:bodyPr/>
          <a:lstStyle/>
          <a:p>
            <a:endParaRPr lang="en-US"/>
          </a:p>
        </p:txBody>
      </p:sp>
      <p:sp>
        <p:nvSpPr>
          <p:cNvPr id="418" name="card-head-418"/>
          <p:cNvSpPr txBox="1"/>
          <p:nvPr/>
        </p:nvSpPr>
        <p:spPr>
          <a:xfrm>
            <a:off x="731520" y="3566160"/>
            <a:ext cx="3200400" cy="320040"/>
          </a:xfrm>
          <a:prstGeom prst="rect">
            <a:avLst/>
          </a:prstGeom>
          <a:noFill/>
          <a:ln/>
        </p:spPr>
        <p:txBody>
          <a:bodyPr wrap="square" lIns="0" tIns="0" rIns="0" bIns="0" rtlCol="0" anchor="t">
            <a:normAutofit/>
          </a:bodyPr>
          <a:lstStyle/>
          <a:p>
            <a:pPr marL="0" indent="0" algn="l">
              <a:spcAft>
                <a:spcPts val="200"/>
              </a:spcAft>
              <a:buNone/>
            </a:pPr>
            <a:r>
              <a:rPr lang="en-US" sz="1500" b="1" dirty="0">
                <a:solidFill>
                  <a:schemeClr val="accent1"/>
                </a:solidFill>
              </a:rPr>
              <a:t>Exact checks pass</a:t>
            </a:r>
            <a:endParaRPr lang="en-US" sz="1500" dirty="0"/>
          </a:p>
        </p:txBody>
      </p:sp>
      <p:sp>
        <p:nvSpPr>
          <p:cNvPr id="419" name="card-body-419"/>
          <p:cNvSpPr txBox="1"/>
          <p:nvPr/>
        </p:nvSpPr>
        <p:spPr>
          <a:xfrm>
            <a:off x="731520" y="3913632"/>
            <a:ext cx="3200400" cy="1664208"/>
          </a:xfrm>
          <a:prstGeom prst="rect">
            <a:avLst/>
          </a:prstGeom>
          <a:noFill/>
          <a:ln/>
        </p:spPr>
        <p:txBody>
          <a:bodyPr wrap="square" lIns="0" tIns="0" rIns="0" bIns="0" rtlCol="0" anchor="t">
            <a:normAutofit/>
          </a:bodyPr>
          <a:lstStyle/>
          <a:p>
            <a:pPr marL="0" indent="0" algn="l">
              <a:spcAft>
                <a:spcPts val="200"/>
              </a:spcAft>
              <a:buNone/>
            </a:pPr>
            <a:r>
              <a:rPr lang="en-US" sz="1300" dirty="0">
                <a:solidFill>
                  <a:schemeClr val="tx1"/>
                </a:solidFill>
              </a:rPr>
              <a:t>Mirror pairs agree to 3 × 10⁻⁸. At φ₁ = φ₂ = 0 every layer matches the exact first mode: f</a:t>
            </a:r>
            <a:r>
              <a:rPr lang="en-US" sz="1300" baseline="-25000" dirty="0">
                <a:solidFill>
                  <a:schemeClr val="tx1"/>
                </a:solidFill>
              </a:rPr>
              <a:t>x</a:t>
            </a:r>
            <a:r>
              <a:rPr lang="en-US" sz="1300" dirty="0">
                <a:solidFill>
                  <a:schemeClr val="tx1"/>
                </a:solidFill>
              </a:rPr>
              <a:t> within 1.3 × 10⁻⁴.</a:t>
            </a:r>
            <a:endParaRPr lang="en-US" sz="1300" dirty="0"/>
          </a:p>
        </p:txBody>
      </p:sp>
      <p:sp>
        <p:nvSpPr>
          <p:cNvPr id="420" name="card-420"/>
          <p:cNvSpPr/>
          <p:nvPr/>
        </p:nvSpPr>
        <p:spPr>
          <a:xfrm>
            <a:off x="4297680" y="3429000"/>
            <a:ext cx="3566160" cy="2240280"/>
          </a:xfrm>
          <a:prstGeom prst="roundRect">
            <a:avLst>
              <a:gd name="adj" fmla="val 6000"/>
            </a:avLst>
          </a:prstGeom>
          <a:solidFill>
            <a:schemeClr val="bg2"/>
          </a:solidFill>
          <a:ln>
            <a:noFill/>
          </a:ln>
        </p:spPr>
        <p:txBody>
          <a:bodyPr/>
          <a:lstStyle/>
          <a:p>
            <a:endParaRPr lang="en-US"/>
          </a:p>
        </p:txBody>
      </p:sp>
      <p:sp>
        <p:nvSpPr>
          <p:cNvPr id="421" name="card-head-421"/>
          <p:cNvSpPr txBox="1"/>
          <p:nvPr/>
        </p:nvSpPr>
        <p:spPr>
          <a:xfrm>
            <a:off x="4480560" y="3566160"/>
            <a:ext cx="3200400" cy="320040"/>
          </a:xfrm>
          <a:prstGeom prst="rect">
            <a:avLst/>
          </a:prstGeom>
          <a:noFill/>
          <a:ln/>
        </p:spPr>
        <p:txBody>
          <a:bodyPr wrap="square" lIns="0" tIns="0" rIns="0" bIns="0" rtlCol="0" anchor="t">
            <a:normAutofit/>
          </a:bodyPr>
          <a:lstStyle/>
          <a:p>
            <a:pPr marL="0" indent="0" algn="l">
              <a:spcAft>
                <a:spcPts val="200"/>
              </a:spcAft>
              <a:buNone/>
            </a:pPr>
            <a:r>
              <a:rPr lang="en-US" sz="1500" b="1" dirty="0">
                <a:solidFill>
                  <a:schemeClr val="accent1"/>
                </a:solidFill>
              </a:rPr>
              <a:t>Branch share</a:t>
            </a:r>
            <a:endParaRPr lang="en-US" sz="1500" dirty="0"/>
          </a:p>
        </p:txBody>
      </p:sp>
      <p:sp>
        <p:nvSpPr>
          <p:cNvPr id="422" name="card-body-422"/>
          <p:cNvSpPr txBox="1"/>
          <p:nvPr/>
        </p:nvSpPr>
        <p:spPr>
          <a:xfrm>
            <a:off x="4480560" y="3913632"/>
            <a:ext cx="3200400" cy="1664208"/>
          </a:xfrm>
          <a:prstGeom prst="rect">
            <a:avLst/>
          </a:prstGeom>
          <a:noFill/>
          <a:ln/>
        </p:spPr>
        <p:txBody>
          <a:bodyPr wrap="square" lIns="0" tIns="0" rIns="0" bIns="0" rtlCol="0" anchor="t">
            <a:normAutofit/>
          </a:bodyPr>
          <a:lstStyle/>
          <a:p>
            <a:pPr marL="0" indent="0" algn="l">
              <a:spcAft>
                <a:spcPts val="200"/>
              </a:spcAft>
              <a:buNone/>
            </a:pPr>
            <a:r>
              <a:rPr lang="en-US" sz="1300" dirty="0">
                <a:solidFill>
                  <a:schemeClr val="tx1"/>
                </a:solidFill>
              </a:rPr>
              <a:t>Bent up on 70.6 % of the layer at d = 0.70, falling almost linearly to 50.5 % at d = 0.99. Snap surface area 2.64 (30,081 snap edges).</a:t>
            </a:r>
            <a:endParaRPr lang="en-US" sz="1300" dirty="0"/>
          </a:p>
        </p:txBody>
      </p:sp>
      <p:sp>
        <p:nvSpPr>
          <p:cNvPr id="423" name="card-423"/>
          <p:cNvSpPr/>
          <p:nvPr/>
        </p:nvSpPr>
        <p:spPr>
          <a:xfrm>
            <a:off x="8046720" y="3429000"/>
            <a:ext cx="3566160" cy="2240280"/>
          </a:xfrm>
          <a:prstGeom prst="roundRect">
            <a:avLst>
              <a:gd name="adj" fmla="val 6000"/>
            </a:avLst>
          </a:prstGeom>
          <a:solidFill>
            <a:schemeClr val="bg2"/>
          </a:solidFill>
          <a:ln>
            <a:noFill/>
          </a:ln>
        </p:spPr>
        <p:txBody>
          <a:bodyPr/>
          <a:lstStyle/>
          <a:p>
            <a:endParaRPr lang="en-US"/>
          </a:p>
        </p:txBody>
      </p:sp>
      <p:sp>
        <p:nvSpPr>
          <p:cNvPr id="424" name="card-head-424"/>
          <p:cNvSpPr txBox="1"/>
          <p:nvPr/>
        </p:nvSpPr>
        <p:spPr>
          <a:xfrm>
            <a:off x="8229600" y="3566160"/>
            <a:ext cx="3200400" cy="320040"/>
          </a:xfrm>
          <a:prstGeom prst="rect">
            <a:avLst/>
          </a:prstGeom>
          <a:noFill/>
          <a:ln/>
        </p:spPr>
        <p:txBody>
          <a:bodyPr wrap="square" lIns="0" tIns="0" rIns="0" bIns="0" rtlCol="0" anchor="t">
            <a:normAutofit/>
          </a:bodyPr>
          <a:lstStyle/>
          <a:p>
            <a:pPr marL="0" indent="0" algn="l">
              <a:spcAft>
                <a:spcPts val="200"/>
              </a:spcAft>
              <a:buNone/>
            </a:pPr>
            <a:r>
              <a:rPr lang="en-US" sz="1500" b="1" dirty="0">
                <a:solidFill>
                  <a:schemeClr val="accent1"/>
                </a:solidFill>
              </a:rPr>
              <a:t>Ranges</a:t>
            </a:r>
            <a:endParaRPr lang="en-US" sz="1500" dirty="0"/>
          </a:p>
        </p:txBody>
      </p:sp>
      <p:sp>
        <p:nvSpPr>
          <p:cNvPr id="425" name="card-body-425"/>
          <p:cNvSpPr txBox="1"/>
          <p:nvPr/>
        </p:nvSpPr>
        <p:spPr>
          <a:xfrm>
            <a:off x="8229600" y="3913632"/>
            <a:ext cx="3200400" cy="1664208"/>
          </a:xfrm>
          <a:prstGeom prst="rect">
            <a:avLst/>
          </a:prstGeom>
          <a:noFill/>
          <a:ln/>
        </p:spPr>
        <p:txBody>
          <a:bodyPr wrap="square" lIns="0" tIns="0" rIns="0" bIns="0" rtlCol="0" anchor="t">
            <a:normAutofit/>
          </a:bodyPr>
          <a:lstStyle/>
          <a:p>
            <a:pPr marL="0" indent="0" algn="l">
              <a:spcAft>
                <a:spcPts val="200"/>
              </a:spcAft>
              <a:buNone/>
            </a:pPr>
            <a:r>
              <a:rPr lang="en-US" sz="1300" dirty="0">
                <a:solidFill>
                  <a:schemeClr val="tx1"/>
                </a:solidFill>
              </a:rPr>
              <a:t>f</a:t>
            </a:r>
            <a:r>
              <a:rPr lang="en-US" sz="1300" baseline="-25000" dirty="0">
                <a:solidFill>
                  <a:schemeClr val="tx1"/>
                </a:solidFill>
              </a:rPr>
              <a:t>x</a:t>
            </a:r>
            <a:r>
              <a:rPr lang="en-US" sz="1300" dirty="0">
                <a:solidFill>
                  <a:schemeClr val="tx1"/>
                </a:solidFill>
              </a:rPr>
              <a:t> from −13,785 (tension, d = 0.99, |φ| = π/2) to +93;  |f</a:t>
            </a:r>
            <a:r>
              <a:rPr lang="en-US" sz="1300" baseline="-25000" dirty="0">
                <a:solidFill>
                  <a:schemeClr val="tx1"/>
                </a:solidFill>
              </a:rPr>
              <a:t>y</a:t>
            </a:r>
            <a:r>
              <a:rPr lang="en-US" sz="1300" dirty="0">
                <a:solidFill>
                  <a:schemeClr val="tx1"/>
                </a:solidFill>
              </a:rPr>
              <a:t>| ≤ 340;  |M| ≤ 168;  U from 0.10 to 142.</a:t>
            </a:r>
            <a:endParaRPr lang="en-US" sz="1300" dirty="0"/>
          </a:p>
        </p:txBody>
      </p:sp>
      <p:sp>
        <p:nvSpPr>
          <p:cNvPr id="426" name="caption-426"/>
          <p:cNvSpPr txBox="1"/>
          <p:nvPr/>
        </p:nvSpPr>
        <p:spPr>
          <a:xfrm>
            <a:off x="548640" y="5852160"/>
            <a:ext cx="9509760" cy="274320"/>
          </a:xfrm>
          <a:prstGeom prst="rect">
            <a:avLst/>
          </a:prstGeom>
          <a:noFill/>
          <a:ln/>
        </p:spPr>
        <p:txBody>
          <a:bodyPr wrap="square" lIns="0" tIns="0" rIns="0" bIns="0" rtlCol="0" anchor="t">
            <a:normAutofit/>
          </a:bodyPr>
          <a:lstStyle/>
          <a:p>
            <a:pPr marL="0" indent="0" algn="l">
              <a:spcAft>
                <a:spcPts val="0"/>
              </a:spcAft>
              <a:buNone/>
            </a:pPr>
            <a:r>
              <a:rPr lang="en-US" sz="1100" dirty="0">
                <a:solidFill>
                  <a:schemeClr val="accent5"/>
                </a:solidFill>
              </a:rPr>
              <a:t>ParaView: data/production/post/elastica_solution_space.vtu (every node, all fields).</a:t>
            </a:r>
            <a:endParaRPr lang="en-US" sz="110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iso_energy">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Constant-energy surfaces: shells around the straight rod</a:t>
            </a:r>
            <a:endParaRPr lang="en-US" sz="3000" dirty="0"/>
          </a:p>
        </p:txBody>
      </p:sp>
      <p:pic>
        <p:nvPicPr>
          <p:cNvPr id="401" name="figure-401" descr="iso_energy level sets over (phi1, phi2, d), coloured by d"/>
          <p:cNvPicPr>
            <a:picLocks noChangeAspect="1"/>
          </p:cNvPicPr>
          <p:nvPr/>
        </p:nvPicPr>
        <p:blipFill>
          <a:blip r:embed="rId3"/>
          <a:stretch>
            <a:fillRect/>
          </a:stretch>
        </p:blipFill>
        <p:spPr>
          <a:xfrm>
            <a:off x="548640" y="1188720"/>
            <a:ext cx="11064240" cy="2573079"/>
          </a:xfrm>
          <a:prstGeom prst="rect">
            <a:avLst/>
          </a:prstGeom>
        </p:spPr>
      </p:pic>
      <p:pic>
        <p:nvPicPr>
          <p:cNvPr id="402" name="figure-402" descr="iso_energy level lines on four d layers"/>
          <p:cNvPicPr>
            <a:picLocks noChangeAspect="1"/>
          </p:cNvPicPr>
          <p:nvPr/>
        </p:nvPicPr>
        <p:blipFill>
          <a:blip r:embed="rId4"/>
          <a:stretch>
            <a:fillRect/>
          </a:stretch>
        </p:blipFill>
        <p:spPr>
          <a:xfrm>
            <a:off x="548640" y="3871527"/>
            <a:ext cx="8648564" cy="2346393"/>
          </a:xfrm>
          <a:prstGeom prst="rect">
            <a:avLst/>
          </a:prstGeom>
        </p:spPr>
      </p:pic>
      <p:sp>
        <p:nvSpPr>
          <p:cNvPr id="403" name="card-403"/>
          <p:cNvSpPr/>
          <p:nvPr/>
        </p:nvSpPr>
        <p:spPr>
          <a:xfrm>
            <a:off x="9425804" y="3871527"/>
            <a:ext cx="2187076" cy="2346393"/>
          </a:xfrm>
          <a:prstGeom prst="roundRect">
            <a:avLst>
              <a:gd name="adj" fmla="val 6000"/>
            </a:avLst>
          </a:prstGeom>
          <a:solidFill>
            <a:schemeClr val="bg2"/>
          </a:solidFill>
          <a:ln>
            <a:noFill/>
          </a:ln>
        </p:spPr>
        <p:txBody>
          <a:bodyPr/>
          <a:lstStyle/>
          <a:p>
            <a:endParaRPr lang="en-US"/>
          </a:p>
        </p:txBody>
      </p:sp>
      <p:sp>
        <p:nvSpPr>
          <p:cNvPr id="404" name="card-head-404"/>
          <p:cNvSpPr txBox="1"/>
          <p:nvPr/>
        </p:nvSpPr>
        <p:spPr>
          <a:xfrm>
            <a:off x="9608684" y="4008687"/>
            <a:ext cx="1821316" cy="320040"/>
          </a:xfrm>
          <a:prstGeom prst="rect">
            <a:avLst/>
          </a:prstGeom>
          <a:noFill/>
          <a:ln/>
        </p:spPr>
        <p:txBody>
          <a:bodyPr wrap="square" lIns="0" tIns="0" rIns="0" bIns="0" rtlCol="0" anchor="t">
            <a:normAutofit/>
          </a:bodyPr>
          <a:lstStyle/>
          <a:p>
            <a:pPr marL="0" indent="0" algn="l">
              <a:spcAft>
                <a:spcPts val="200"/>
              </a:spcAft>
              <a:buNone/>
            </a:pPr>
            <a:r>
              <a:rPr lang="en-US" sz="1500" b="1" dirty="0">
                <a:solidFill>
                  <a:schemeClr val="accent1"/>
                </a:solidFill>
              </a:rPr>
              <a:t>U = ½∫θ′² ds</a:t>
            </a:r>
            <a:endParaRPr lang="en-US" sz="1500" dirty="0"/>
          </a:p>
        </p:txBody>
      </p:sp>
      <p:sp>
        <p:nvSpPr>
          <p:cNvPr id="405" name="card-body-405"/>
          <p:cNvSpPr txBox="1"/>
          <p:nvPr/>
        </p:nvSpPr>
        <p:spPr>
          <a:xfrm>
            <a:off x="9608684" y="4356159"/>
            <a:ext cx="1821316" cy="1770321"/>
          </a:xfrm>
          <a:prstGeom prst="rect">
            <a:avLst/>
          </a:prstGeom>
          <a:noFill/>
          <a:ln/>
        </p:spPr>
        <p:txBody>
          <a:bodyPr wrap="square" lIns="0" tIns="0" rIns="0" bIns="0" rtlCol="0" anchor="t">
            <a:normAutofit/>
          </a:bodyPr>
          <a:lstStyle/>
          <a:p>
            <a:pPr marL="0" indent="0" algn="l">
              <a:spcAft>
                <a:spcPts val="200"/>
              </a:spcAft>
              <a:buNone/>
            </a:pPr>
            <a:r>
              <a:rPr lang="en-US" sz="1150" dirty="0">
                <a:solidFill>
                  <a:schemeClr val="tx1"/>
                </a:solidFill>
              </a:rPr>
              <a:t>From 0.10 to 142. Lowest for a nearly straight rod (d → 1, φ → 0): U = 2 is a bowl around that corner and higher levels are wider domes. Each ends at the snap (faint red), where U jumps.</a:t>
            </a:r>
            <a:endParaRPr lang="en-US" sz="115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iso_force_fx">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Constant axial force f</a:t>
            </a:r>
            <a:r>
              <a:rPr lang="en-US" sz="3000" b="1" baseline="-25000" dirty="0">
                <a:solidFill>
                  <a:schemeClr val="tx1"/>
                </a:solidFill>
              </a:rPr>
              <a:t>x</a:t>
            </a:r>
            <a:r>
              <a:rPr lang="en-US" sz="3000" b="1" dirty="0">
                <a:solidFill>
                  <a:schemeClr val="tx1"/>
                </a:solidFill>
              </a:rPr>
              <a:t>: bounded in compression</a:t>
            </a:r>
            <a:endParaRPr lang="en-US" sz="3000" dirty="0"/>
          </a:p>
        </p:txBody>
      </p:sp>
      <p:pic>
        <p:nvPicPr>
          <p:cNvPr id="401" name="figure-401" descr="iso_force_fx level sets over (phi1, phi2, d), coloured by d"/>
          <p:cNvPicPr>
            <a:picLocks noChangeAspect="1"/>
          </p:cNvPicPr>
          <p:nvPr/>
        </p:nvPicPr>
        <p:blipFill>
          <a:blip r:embed="rId3"/>
          <a:stretch>
            <a:fillRect/>
          </a:stretch>
        </p:blipFill>
        <p:spPr>
          <a:xfrm>
            <a:off x="548640" y="1188720"/>
            <a:ext cx="11064240" cy="2573079"/>
          </a:xfrm>
          <a:prstGeom prst="rect">
            <a:avLst/>
          </a:prstGeom>
        </p:spPr>
      </p:pic>
      <p:pic>
        <p:nvPicPr>
          <p:cNvPr id="402" name="figure-402" descr="iso_force_fx level lines on four d layers"/>
          <p:cNvPicPr>
            <a:picLocks noChangeAspect="1"/>
          </p:cNvPicPr>
          <p:nvPr/>
        </p:nvPicPr>
        <p:blipFill>
          <a:blip r:embed="rId4"/>
          <a:stretch>
            <a:fillRect/>
          </a:stretch>
        </p:blipFill>
        <p:spPr>
          <a:xfrm>
            <a:off x="548640" y="3871527"/>
            <a:ext cx="8648564" cy="2346393"/>
          </a:xfrm>
          <a:prstGeom prst="rect">
            <a:avLst/>
          </a:prstGeom>
        </p:spPr>
      </p:pic>
      <p:sp>
        <p:nvSpPr>
          <p:cNvPr id="403" name="card-403"/>
          <p:cNvSpPr/>
          <p:nvPr/>
        </p:nvSpPr>
        <p:spPr>
          <a:xfrm>
            <a:off x="9425804" y="3871527"/>
            <a:ext cx="2187076" cy="2346393"/>
          </a:xfrm>
          <a:prstGeom prst="roundRect">
            <a:avLst>
              <a:gd name="adj" fmla="val 6000"/>
            </a:avLst>
          </a:prstGeom>
          <a:solidFill>
            <a:schemeClr val="bg2"/>
          </a:solidFill>
          <a:ln>
            <a:noFill/>
          </a:ln>
        </p:spPr>
        <p:txBody>
          <a:bodyPr/>
          <a:lstStyle/>
          <a:p>
            <a:endParaRPr lang="en-US"/>
          </a:p>
        </p:txBody>
      </p:sp>
      <p:sp>
        <p:nvSpPr>
          <p:cNvPr id="404" name="card-head-404"/>
          <p:cNvSpPr txBox="1"/>
          <p:nvPr/>
        </p:nvSpPr>
        <p:spPr>
          <a:xfrm>
            <a:off x="9608684" y="4008687"/>
            <a:ext cx="1821316" cy="320040"/>
          </a:xfrm>
          <a:prstGeom prst="rect">
            <a:avLst/>
          </a:prstGeom>
          <a:noFill/>
          <a:ln/>
        </p:spPr>
        <p:txBody>
          <a:bodyPr wrap="square" lIns="0" tIns="0" rIns="0" bIns="0" rtlCol="0" anchor="t">
            <a:normAutofit/>
          </a:bodyPr>
          <a:lstStyle/>
          <a:p>
            <a:pPr marL="0" indent="0" algn="l">
              <a:spcAft>
                <a:spcPts val="200"/>
              </a:spcAft>
              <a:buNone/>
            </a:pPr>
            <a:r>
              <a:rPr lang="en-US" sz="1500" b="1" dirty="0">
                <a:solidFill>
                  <a:schemeClr val="accent1"/>
                </a:solidFill>
              </a:rPr>
              <a:t>f</a:t>
            </a:r>
            <a:r>
              <a:rPr lang="en-US" sz="1500" b="1" baseline="-25000" dirty="0">
                <a:solidFill>
                  <a:schemeClr val="accent1"/>
                </a:solidFill>
              </a:rPr>
              <a:t>x</a:t>
            </a:r>
            <a:r>
              <a:rPr lang="en-US" sz="1500" b="1" dirty="0">
                <a:solidFill>
                  <a:schemeClr val="accent1"/>
                </a:solidFill>
              </a:rPr>
              <a:t> &gt; 0: compression</a:t>
            </a:r>
            <a:endParaRPr lang="en-US" sz="1500" dirty="0"/>
          </a:p>
        </p:txBody>
      </p:sp>
      <p:sp>
        <p:nvSpPr>
          <p:cNvPr id="405" name="card-body-405"/>
          <p:cNvSpPr txBox="1"/>
          <p:nvPr/>
        </p:nvSpPr>
        <p:spPr>
          <a:xfrm>
            <a:off x="9608684" y="4356159"/>
            <a:ext cx="1821316" cy="1770321"/>
          </a:xfrm>
          <a:prstGeom prst="rect">
            <a:avLst/>
          </a:prstGeom>
          <a:noFill/>
          <a:ln/>
        </p:spPr>
        <p:txBody>
          <a:bodyPr wrap="square" lIns="0" tIns="0" rIns="0" bIns="0" rtlCol="0" anchor="t">
            <a:normAutofit/>
          </a:bodyPr>
          <a:lstStyle/>
          <a:p>
            <a:pPr marL="0" indent="0" algn="l">
              <a:spcAft>
                <a:spcPts val="200"/>
              </a:spcAft>
              <a:buNone/>
            </a:pPr>
            <a:r>
              <a:rPr lang="en-US" sz="1150" dirty="0">
                <a:solidFill>
                  <a:schemeClr val="tx1"/>
                </a:solidFill>
              </a:rPr>
              <a:t>From −13,785 (tension, d = 0.99, |φ| = π/2) to +93. Compressive levels exist only inside the bent-up region: f</a:t>
            </a:r>
            <a:r>
              <a:rPr lang="en-US" sz="1150" baseline="-25000" dirty="0">
                <a:solidFill>
                  <a:schemeClr val="tx1"/>
                </a:solidFill>
              </a:rPr>
              <a:t>x</a:t>
            </a:r>
            <a:r>
              <a:rPr lang="en-US" sz="1150" dirty="0">
                <a:solidFill>
                  <a:schemeClr val="tx1"/>
                </a:solidFill>
              </a:rPr>
              <a:t> = 60 is a sliver and nothing reaches 100.</a:t>
            </a:r>
            <a:endParaRPr lang="en-US" sz="115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iso_force_fy">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Constant transverse force f</a:t>
            </a:r>
            <a:r>
              <a:rPr lang="en-US" sz="3000" b="1" baseline="-25000" dirty="0">
                <a:solidFill>
                  <a:schemeClr val="tx1"/>
                </a:solidFill>
              </a:rPr>
              <a:t>y</a:t>
            </a:r>
            <a:r>
              <a:rPr lang="en-US" sz="3000" b="1" dirty="0">
                <a:solidFill>
                  <a:schemeClr val="tx1"/>
                </a:solidFill>
              </a:rPr>
              <a:t>: mirror-image pairs</a:t>
            </a:r>
            <a:endParaRPr lang="en-US" sz="3000" dirty="0"/>
          </a:p>
        </p:txBody>
      </p:sp>
      <p:pic>
        <p:nvPicPr>
          <p:cNvPr id="401" name="figure-401" descr="iso_force_fy level sets over (phi1, phi2, d), coloured by d"/>
          <p:cNvPicPr>
            <a:picLocks noChangeAspect="1"/>
          </p:cNvPicPr>
          <p:nvPr/>
        </p:nvPicPr>
        <p:blipFill>
          <a:blip r:embed="rId3"/>
          <a:stretch>
            <a:fillRect/>
          </a:stretch>
        </p:blipFill>
        <p:spPr>
          <a:xfrm>
            <a:off x="548640" y="1188720"/>
            <a:ext cx="11064240" cy="2573079"/>
          </a:xfrm>
          <a:prstGeom prst="rect">
            <a:avLst/>
          </a:prstGeom>
        </p:spPr>
      </p:pic>
      <p:pic>
        <p:nvPicPr>
          <p:cNvPr id="402" name="figure-402" descr="iso_force_fy level lines on four d layers"/>
          <p:cNvPicPr>
            <a:picLocks noChangeAspect="1"/>
          </p:cNvPicPr>
          <p:nvPr/>
        </p:nvPicPr>
        <p:blipFill>
          <a:blip r:embed="rId4"/>
          <a:stretch>
            <a:fillRect/>
          </a:stretch>
        </p:blipFill>
        <p:spPr>
          <a:xfrm>
            <a:off x="548640" y="3871527"/>
            <a:ext cx="8648564" cy="2346393"/>
          </a:xfrm>
          <a:prstGeom prst="rect">
            <a:avLst/>
          </a:prstGeom>
        </p:spPr>
      </p:pic>
      <p:sp>
        <p:nvSpPr>
          <p:cNvPr id="403" name="card-403"/>
          <p:cNvSpPr/>
          <p:nvPr/>
        </p:nvSpPr>
        <p:spPr>
          <a:xfrm>
            <a:off x="9425804" y="3871527"/>
            <a:ext cx="2187076" cy="2346393"/>
          </a:xfrm>
          <a:prstGeom prst="roundRect">
            <a:avLst>
              <a:gd name="adj" fmla="val 6000"/>
            </a:avLst>
          </a:prstGeom>
          <a:solidFill>
            <a:schemeClr val="bg2"/>
          </a:solidFill>
          <a:ln>
            <a:noFill/>
          </a:ln>
        </p:spPr>
        <p:txBody>
          <a:bodyPr/>
          <a:lstStyle/>
          <a:p>
            <a:endParaRPr lang="en-US"/>
          </a:p>
        </p:txBody>
      </p:sp>
      <p:sp>
        <p:nvSpPr>
          <p:cNvPr id="404" name="card-head-404"/>
          <p:cNvSpPr txBox="1"/>
          <p:nvPr/>
        </p:nvSpPr>
        <p:spPr>
          <a:xfrm>
            <a:off x="9608684" y="4008687"/>
            <a:ext cx="1821316" cy="320040"/>
          </a:xfrm>
          <a:prstGeom prst="rect">
            <a:avLst/>
          </a:prstGeom>
          <a:noFill/>
          <a:ln/>
        </p:spPr>
        <p:txBody>
          <a:bodyPr wrap="square" lIns="0" tIns="0" rIns="0" bIns="0" rtlCol="0" anchor="t">
            <a:normAutofit/>
          </a:bodyPr>
          <a:lstStyle/>
          <a:p>
            <a:pPr marL="0" indent="0" algn="l">
              <a:spcAft>
                <a:spcPts val="200"/>
              </a:spcAft>
              <a:buNone/>
            </a:pPr>
            <a:r>
              <a:rPr lang="en-US" sz="1500" b="1" dirty="0">
                <a:solidFill>
                  <a:schemeClr val="accent1"/>
                </a:solidFill>
              </a:rPr>
              <a:t>Odd under the mirror</a:t>
            </a:r>
            <a:endParaRPr lang="en-US" sz="1500" dirty="0"/>
          </a:p>
        </p:txBody>
      </p:sp>
      <p:sp>
        <p:nvSpPr>
          <p:cNvPr id="405" name="card-body-405"/>
          <p:cNvSpPr txBox="1"/>
          <p:nvPr/>
        </p:nvSpPr>
        <p:spPr>
          <a:xfrm>
            <a:off x="9608684" y="4356159"/>
            <a:ext cx="1821316" cy="1770321"/>
          </a:xfrm>
          <a:prstGeom prst="rect">
            <a:avLst/>
          </a:prstGeom>
          <a:noFill/>
          <a:ln/>
        </p:spPr>
        <p:txBody>
          <a:bodyPr wrap="square" lIns="0" tIns="0" rIns="0" bIns="0" rtlCol="0" anchor="t">
            <a:normAutofit/>
          </a:bodyPr>
          <a:lstStyle/>
          <a:p>
            <a:pPr marL="0" indent="0" algn="l">
              <a:spcAft>
                <a:spcPts val="200"/>
              </a:spcAft>
              <a:buNone/>
            </a:pPr>
            <a:r>
              <a:rPr lang="en-US" sz="1150" dirty="0">
                <a:solidFill>
                  <a:schemeClr val="tx1"/>
                </a:solidFill>
              </a:rPr>
              <a:t>|f</a:t>
            </a:r>
            <a:r>
              <a:rPr lang="en-US" sz="1150" baseline="-25000" dirty="0">
                <a:solidFill>
                  <a:schemeClr val="tx1"/>
                </a:solidFill>
              </a:rPr>
              <a:t>y</a:t>
            </a:r>
            <a:r>
              <a:rPr lang="en-US" sz="1150" dirty="0">
                <a:solidFill>
                  <a:schemeClr val="tx1"/>
                </a:solidFill>
              </a:rPr>
              <a:t>| ≤ 340. (φ₁, φ₂) → (−φ₂, −φ₁) flips f</a:t>
            </a:r>
            <a:r>
              <a:rPr lang="en-US" sz="1150" baseline="-25000" dirty="0">
                <a:solidFill>
                  <a:schemeClr val="tx1"/>
                </a:solidFill>
              </a:rPr>
              <a:t>y</a:t>
            </a:r>
            <a:r>
              <a:rPr lang="en-US" sz="1150" dirty="0">
                <a:solidFill>
                  <a:schemeClr val="tx1"/>
                </a:solidFill>
              </a:rPr>
              <a:t>, so f</a:t>
            </a:r>
            <a:r>
              <a:rPr lang="en-US" sz="1150" baseline="-25000" dirty="0">
                <a:solidFill>
                  <a:schemeClr val="tx1"/>
                </a:solidFill>
              </a:rPr>
              <a:t>y</a:t>
            </a:r>
            <a:r>
              <a:rPr lang="en-US" sz="1150" dirty="0">
                <a:solidFill>
                  <a:schemeClr val="tx1"/>
                </a:solidFill>
              </a:rPr>
              <a:t> = 0 holds on the whole plane φ₁ = −φ₂ and ± levels come in pairs of equal area.</a:t>
            </a:r>
            <a:endParaRPr lang="en-US" sz="115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25</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iso_moment">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Constant clamp moment M₁; M₂ is its mirror image</a:t>
            </a:r>
            <a:endParaRPr lang="en-US" sz="3000" dirty="0"/>
          </a:p>
        </p:txBody>
      </p:sp>
      <p:pic>
        <p:nvPicPr>
          <p:cNvPr id="401" name="figure-401" descr="iso_moment level sets over (phi1, phi2, d), coloured by d"/>
          <p:cNvPicPr>
            <a:picLocks noChangeAspect="1"/>
          </p:cNvPicPr>
          <p:nvPr/>
        </p:nvPicPr>
        <p:blipFill>
          <a:blip r:embed="rId3"/>
          <a:stretch>
            <a:fillRect/>
          </a:stretch>
        </p:blipFill>
        <p:spPr>
          <a:xfrm>
            <a:off x="548640" y="1188720"/>
            <a:ext cx="11064240" cy="2573079"/>
          </a:xfrm>
          <a:prstGeom prst="rect">
            <a:avLst/>
          </a:prstGeom>
        </p:spPr>
      </p:pic>
      <p:pic>
        <p:nvPicPr>
          <p:cNvPr id="402" name="figure-402" descr="iso_moment level lines on four d layers"/>
          <p:cNvPicPr>
            <a:picLocks noChangeAspect="1"/>
          </p:cNvPicPr>
          <p:nvPr/>
        </p:nvPicPr>
        <p:blipFill>
          <a:blip r:embed="rId4"/>
          <a:stretch>
            <a:fillRect/>
          </a:stretch>
        </p:blipFill>
        <p:spPr>
          <a:xfrm>
            <a:off x="548640" y="3871527"/>
            <a:ext cx="8648564" cy="2346393"/>
          </a:xfrm>
          <a:prstGeom prst="rect">
            <a:avLst/>
          </a:prstGeom>
        </p:spPr>
      </p:pic>
      <p:sp>
        <p:nvSpPr>
          <p:cNvPr id="403" name="card-403"/>
          <p:cNvSpPr/>
          <p:nvPr/>
        </p:nvSpPr>
        <p:spPr>
          <a:xfrm>
            <a:off x="9425804" y="3871527"/>
            <a:ext cx="2187076" cy="2346393"/>
          </a:xfrm>
          <a:prstGeom prst="roundRect">
            <a:avLst>
              <a:gd name="adj" fmla="val 6000"/>
            </a:avLst>
          </a:prstGeom>
          <a:solidFill>
            <a:schemeClr val="bg2"/>
          </a:solidFill>
          <a:ln>
            <a:noFill/>
          </a:ln>
        </p:spPr>
        <p:txBody>
          <a:bodyPr/>
          <a:lstStyle/>
          <a:p>
            <a:endParaRPr lang="en-US"/>
          </a:p>
        </p:txBody>
      </p:sp>
      <p:sp>
        <p:nvSpPr>
          <p:cNvPr id="404" name="card-head-404"/>
          <p:cNvSpPr txBox="1"/>
          <p:nvPr/>
        </p:nvSpPr>
        <p:spPr>
          <a:xfrm>
            <a:off x="9608684" y="4008687"/>
            <a:ext cx="1821316" cy="320040"/>
          </a:xfrm>
          <a:prstGeom prst="rect">
            <a:avLst/>
          </a:prstGeom>
          <a:noFill/>
          <a:ln/>
        </p:spPr>
        <p:txBody>
          <a:bodyPr wrap="square" lIns="0" tIns="0" rIns="0" bIns="0" rtlCol="0" anchor="t">
            <a:normAutofit/>
          </a:bodyPr>
          <a:lstStyle/>
          <a:p>
            <a:pPr marL="0" indent="0" algn="l">
              <a:spcAft>
                <a:spcPts val="200"/>
              </a:spcAft>
              <a:buNone/>
            </a:pPr>
            <a:r>
              <a:rPr lang="en-US" sz="1500" b="1" dirty="0">
                <a:solidFill>
                  <a:schemeClr val="accent1"/>
                </a:solidFill>
              </a:rPr>
              <a:t>M₁ = θ′(0)</a:t>
            </a:r>
            <a:endParaRPr lang="en-US" sz="1500" dirty="0"/>
          </a:p>
        </p:txBody>
      </p:sp>
      <p:sp>
        <p:nvSpPr>
          <p:cNvPr id="405" name="card-body-405"/>
          <p:cNvSpPr txBox="1"/>
          <p:nvPr/>
        </p:nvSpPr>
        <p:spPr>
          <a:xfrm>
            <a:off x="9608684" y="4356159"/>
            <a:ext cx="1821316" cy="1770321"/>
          </a:xfrm>
          <a:prstGeom prst="rect">
            <a:avLst/>
          </a:prstGeom>
          <a:noFill/>
          <a:ln/>
        </p:spPr>
        <p:txBody>
          <a:bodyPr wrap="square" lIns="0" tIns="0" rIns="0" bIns="0" rtlCol="0" anchor="t">
            <a:normAutofit/>
          </a:bodyPr>
          <a:lstStyle/>
          <a:p>
            <a:pPr marL="0" indent="0" algn="l">
              <a:spcAft>
                <a:spcPts val="200"/>
              </a:spcAft>
              <a:buNone/>
            </a:pPr>
            <a:r>
              <a:rPr lang="en-US" sz="1150" dirty="0">
                <a:solidFill>
                  <a:schemeClr val="tx1"/>
                </a:solidFill>
              </a:rPr>
              <a:t>Within ±168. M₂ at (φ₁, φ₂) is M₁ at (−φ₂, −φ₁), so its surfaces are mirror images (both in the VTU). Small |M₁| levels split into two sheets.</a:t>
            </a:r>
            <a:endParaRPr lang="en-US" sz="115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26</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Refined samplin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822960" y="2377440"/>
            <a:ext cx="10515600" cy="1097280"/>
          </a:xfrm>
          <a:prstGeom prst="rect">
            <a:avLst/>
          </a:prstGeom>
          <a:noFill/>
          <a:ln/>
        </p:spPr>
        <p:txBody>
          <a:bodyPr wrap="square" lIns="0" tIns="0" rIns="0" bIns="0" rtlCol="0" anchor="b"/>
          <a:lstStyle/>
          <a:p>
            <a:pPr marL="0" indent="0" algn="l">
              <a:buNone/>
            </a:pPr>
            <a:r>
              <a:rPr lang="en-US" sz="4000" b="1">
                <a:solidFill>
                  <a:schemeClr val="bg1"/>
                </a:solidFill>
              </a:rPr>
              <a:t>Refined </a:t>
            </a:r>
            <a:r>
              <a:rPr lang="en-US" sz="4000" b="1" dirty="0">
                <a:solidFill>
                  <a:schemeClr val="bg1"/>
                </a:solidFill>
              </a:rPr>
              <a:t>sampling</a:t>
            </a:r>
            <a:endParaRPr lang="en-US" sz="4000" dirty="0"/>
          </a:p>
        </p:txBody>
      </p:sp>
      <p:sp>
        <p:nvSpPr>
          <p:cNvPr id="3" name="Subtitle"/>
          <p:cNvSpPr>
            <a:spLocks noGrp="1"/>
          </p:cNvSpPr>
          <p:nvPr>
            <p:ph type="body" idx="101" hasCustomPrompt="1"/>
          </p:nvPr>
        </p:nvSpPr>
        <p:spPr>
          <a:xfrm>
            <a:off x="822960" y="3657600"/>
            <a:ext cx="10515600" cy="822960"/>
          </a:xfrm>
          <a:prstGeom prst="rect">
            <a:avLst/>
          </a:prstGeom>
          <a:noFill/>
          <a:ln/>
        </p:spPr>
        <p:txBody>
          <a:bodyPr wrap="square" lIns="0" tIns="0" rIns="0" bIns="0" rtlCol="0" anchor="t"/>
          <a:lstStyle/>
          <a:p>
            <a:pPr marL="0" indent="0">
              <a:buNone/>
            </a:pPr>
            <a:r>
              <a:rPr lang="en-US" sz="2000" dirty="0">
                <a:solidFill>
                  <a:schemeClr val="accent1"/>
                </a:solidFill>
              </a:rPr>
              <a:t>Training data: both branches at every node, and more solves where the energy is low: 7.6 M states</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Refinement criterion">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b="1" dirty="0">
                <a:solidFill>
                  <a:schemeClr val="tx1"/>
                </a:solidFill>
              </a:rPr>
              <a:t>More points per cell where the energy is low</a:t>
            </a:r>
            <a:endParaRPr lang="en-US" sz="3000" dirty="0"/>
          </a:p>
        </p:txBody>
      </p:sp>
      <p:sp>
        <p:nvSpPr>
          <p:cNvPr id="401" name="card-401"/>
          <p:cNvSpPr/>
          <p:nvPr/>
        </p:nvSpPr>
        <p:spPr>
          <a:xfrm>
            <a:off x="548640" y="1417320"/>
            <a:ext cx="5760720" cy="3108960"/>
          </a:xfrm>
          <a:prstGeom prst="roundRect">
            <a:avLst>
              <a:gd name="adj" fmla="val 6000"/>
            </a:avLst>
          </a:prstGeom>
          <a:solidFill>
            <a:schemeClr val="bg2"/>
          </a:solidFill>
          <a:ln>
            <a:noFill/>
          </a:ln>
        </p:spPr>
        <p:txBody>
          <a:bodyPr/>
          <a:lstStyle/>
          <a:p>
            <a:endParaRPr lang="en-US"/>
          </a:p>
        </p:txBody>
      </p:sp>
      <p:sp>
        <p:nvSpPr>
          <p:cNvPr id="402" name="card-head-402"/>
          <p:cNvSpPr txBox="1"/>
          <p:nvPr/>
        </p:nvSpPr>
        <p:spPr>
          <a:xfrm>
            <a:off x="777240" y="1536192"/>
            <a:ext cx="5303520" cy="320040"/>
          </a:xfrm>
          <a:prstGeom prst="rect">
            <a:avLst/>
          </a:prstGeom>
          <a:noFill/>
          <a:ln/>
        </p:spPr>
        <p:txBody>
          <a:bodyPr wrap="square" lIns="0" tIns="0" rIns="0" bIns="0" rtlCol="0" anchor="t">
            <a:normAutofit/>
          </a:bodyPr>
          <a:lstStyle/>
          <a:p>
            <a:pPr marL="0" indent="0" algn="l">
              <a:spcAft>
                <a:spcPts val="0"/>
              </a:spcAft>
              <a:buNone/>
            </a:pPr>
            <a:r>
              <a:rPr lang="en-US" sz="1500" b="1" dirty="0">
                <a:solidFill>
                  <a:schemeClr val="accent1"/>
                </a:solidFill>
              </a:rPr>
              <a:t>Points per grid cell</a:t>
            </a:r>
            <a:endParaRPr lang="en-US" sz="1500" dirty="0"/>
          </a:p>
        </p:txBody>
      </p:sp>
      <mc:AlternateContent xmlns:mc="http://schemas.openxmlformats.org/markup-compatibility/2006" xmlns:a14="http://schemas.microsoft.com/office/drawing/2010/main">
        <mc:Choice Requires="a14">
          <p:sp>
            <p:nvSpPr>
              <p:cNvPr id="405" name="latex-rule"/>
              <p:cNvSpPr txBox="1"/>
              <p:nvPr/>
            </p:nvSpPr>
            <p:spPr>
              <a:xfrm>
                <a:off x="777240" y="1847088"/>
                <a:ext cx="2703450" cy="566928"/>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500" i="1" dirty="0">
                          <a:solidFill>
                            <a:schemeClr val="tx1"/>
                          </a:solidFill>
                          <a:latin typeface="Cambria Math" panose="02040503050406030204" pitchFamily="18" charset="0"/>
                        </a:rPr>
                        <m:t>𝑛</m:t>
                      </m:r>
                      <m:r>
                        <a:rPr lang="en-US" sz="1500" i="1" dirty="0">
                          <a:solidFill>
                            <a:schemeClr val="tx1"/>
                          </a:solidFill>
                          <a:latin typeface="Cambria Math" panose="02040503050406030204" pitchFamily="18" charset="0"/>
                        </a:rPr>
                        <m:t>=</m:t>
                      </m:r>
                      <m:r>
                        <m:rPr>
                          <m:sty m:val="p"/>
                        </m:rPr>
                        <a:rPr lang="en-US" sz="1500" i="1" dirty="0">
                          <a:solidFill>
                            <a:schemeClr val="tx1"/>
                          </a:solidFill>
                          <a:latin typeface="Cambria Math" panose="02040503050406030204" pitchFamily="18" charset="0"/>
                        </a:rPr>
                        <m:t>clip</m:t>
                      </m:r>
                      <m:d>
                        <m:dPr>
                          <m:ctrlPr>
                            <a:rPr lang="en-US" sz="1500" i="1" dirty="0">
                              <a:solidFill>
                                <a:schemeClr val="tx1"/>
                              </a:solidFill>
                              <a:latin typeface="Cambria Math" panose="02040503050406030204" pitchFamily="18" charset="0"/>
                            </a:rPr>
                          </m:ctrlPr>
                        </m:dPr>
                        <m:e>
                          <m:sSup>
                            <m:sSupPr>
                              <m:ctrlPr>
                                <a:rPr lang="en-US" sz="1500" i="1" dirty="0">
                                  <a:solidFill>
                                    <a:schemeClr val="tx1"/>
                                  </a:solidFill>
                                  <a:latin typeface="Cambria Math" panose="02040503050406030204" pitchFamily="18" charset="0"/>
                                </a:rPr>
                              </m:ctrlPr>
                            </m:sSupPr>
                            <m:e>
                              <m:d>
                                <m:dPr>
                                  <m:ctrlPr>
                                    <a:rPr lang="en-US" sz="1500" i="1" dirty="0">
                                      <a:solidFill>
                                        <a:schemeClr val="tx1"/>
                                      </a:solidFill>
                                      <a:latin typeface="Cambria Math" panose="02040503050406030204" pitchFamily="18" charset="0"/>
                                    </a:rPr>
                                  </m:ctrlPr>
                                </m:dPr>
                                <m:e>
                                  <m:f>
                                    <m:fPr>
                                      <m:ctrlPr>
                                        <a:rPr lang="en-US" sz="1500" i="1" dirty="0">
                                          <a:solidFill>
                                            <a:schemeClr val="tx1"/>
                                          </a:solidFill>
                                          <a:latin typeface="Cambria Math" panose="02040503050406030204" pitchFamily="18" charset="0"/>
                                        </a:rPr>
                                      </m:ctrlPr>
                                    </m:fPr>
                                    <m:num>
                                      <m:sSub>
                                        <m:sSubPr>
                                          <m:ctrlPr>
                                            <a:rPr lang="en-US" sz="1500" i="1" dirty="0">
                                              <a:solidFill>
                                                <a:schemeClr val="tx1"/>
                                              </a:solidFill>
                                              <a:latin typeface="Cambria Math" panose="02040503050406030204" pitchFamily="18" charset="0"/>
                                            </a:rPr>
                                          </m:ctrlPr>
                                        </m:sSubPr>
                                        <m:e>
                                          <m:r>
                                            <a:rPr lang="en-US" sz="1500" i="1" dirty="0">
                                              <a:solidFill>
                                                <a:schemeClr val="tx1"/>
                                              </a:solidFill>
                                              <a:latin typeface="Cambria Math" panose="02040503050406030204" pitchFamily="18" charset="0"/>
                                            </a:rPr>
                                            <m:t>𝑢</m:t>
                                          </m:r>
                                        </m:e>
                                        <m:sub>
                                          <m:r>
                                            <m:rPr>
                                              <m:sty m:val="p"/>
                                            </m:rPr>
                                            <a:rPr lang="en-US" sz="1500" i="1" dirty="0">
                                              <a:solidFill>
                                                <a:schemeClr val="tx1"/>
                                              </a:solidFill>
                                              <a:latin typeface="Cambria Math" panose="02040503050406030204" pitchFamily="18" charset="0"/>
                                            </a:rPr>
                                            <m:t>ref</m:t>
                                          </m:r>
                                        </m:sub>
                                      </m:sSub>
                                    </m:num>
                                    <m:den>
                                      <m:sSub>
                                        <m:sSubPr>
                                          <m:ctrlPr>
                                            <a:rPr lang="en-US" sz="1500" i="1" dirty="0">
                                              <a:solidFill>
                                                <a:schemeClr val="tx1"/>
                                              </a:solidFill>
                                              <a:latin typeface="Cambria Math" panose="02040503050406030204" pitchFamily="18" charset="0"/>
                                            </a:rPr>
                                          </m:ctrlPr>
                                        </m:sSubPr>
                                        <m:e>
                                          <m:r>
                                            <a:rPr lang="en-US" sz="1500" i="1" dirty="0">
                                              <a:solidFill>
                                                <a:schemeClr val="tx1"/>
                                              </a:solidFill>
                                              <a:latin typeface="Cambria Math" panose="02040503050406030204" pitchFamily="18" charset="0"/>
                                            </a:rPr>
                                            <m:t>𝑈</m:t>
                                          </m:r>
                                        </m:e>
                                        <m:sub>
                                          <m:r>
                                            <m:rPr>
                                              <m:sty m:val="p"/>
                                            </m:rPr>
                                            <a:rPr lang="en-US" sz="1500" i="1" dirty="0">
                                              <a:solidFill>
                                                <a:schemeClr val="tx1"/>
                                              </a:solidFill>
                                              <a:latin typeface="Cambria Math" panose="02040503050406030204" pitchFamily="18" charset="0"/>
                                            </a:rPr>
                                            <m:t>min</m:t>
                                          </m:r>
                                        </m:sub>
                                      </m:sSub>
                                    </m:den>
                                  </m:f>
                                </m:e>
                              </m:d>
                            </m:e>
                            <m:sup>
                              <m:r>
                                <a:rPr lang="en-US" sz="1500" i="1" dirty="0">
                                  <a:solidFill>
                                    <a:schemeClr val="tx1"/>
                                  </a:solidFill>
                                  <a:latin typeface="Cambria Math" panose="02040503050406030204" pitchFamily="18" charset="0"/>
                                </a:rPr>
                                <m:t>2</m:t>
                              </m:r>
                            </m:sup>
                          </m:sSup>
                          <m:r>
                            <a:rPr lang="en-US" sz="1500" i="1" dirty="0">
                              <a:solidFill>
                                <a:schemeClr val="tx1"/>
                              </a:solidFill>
                              <a:latin typeface="Cambria Math" panose="02040503050406030204" pitchFamily="18" charset="0"/>
                            </a:rPr>
                            <m:t>,</m:t>
                          </m:r>
                          <m:r>
                            <a:rPr lang="en-US" sz="1500" i="1" dirty="0">
                              <a:solidFill>
                                <a:schemeClr val="tx1"/>
                              </a:solidFill>
                              <a:latin typeface="Cambria Math" panose="02040503050406030204" pitchFamily="18" charset="0"/>
                            </a:rPr>
                            <m:t>1</m:t>
                          </m:r>
                          <m:r>
                            <a:rPr lang="en-US" sz="1500" i="1" dirty="0">
                              <a:solidFill>
                                <a:schemeClr val="tx1"/>
                              </a:solidFill>
                              <a:latin typeface="Cambria Math" panose="02040503050406030204" pitchFamily="18" charset="0"/>
                            </a:rPr>
                            <m:t>,</m:t>
                          </m:r>
                          <m:r>
                            <a:rPr lang="en-US" sz="1500" i="1" dirty="0">
                              <a:solidFill>
                                <a:schemeClr val="tx1"/>
                              </a:solidFill>
                              <a:latin typeface="Cambria Math" panose="02040503050406030204" pitchFamily="18" charset="0"/>
                            </a:rPr>
                            <m:t>64</m:t>
                          </m:r>
                        </m:e>
                      </m:d>
                    </m:oMath>
                  </m:oMathPara>
                </a14:m>
                <a:endParaRPr lang="en-US" sz="1500" dirty="0"/>
              </a:p>
            </p:txBody>
          </p:sp>
        </mc:Choice>
        <mc:Fallback xmlns="">
          <p:sp>
            <p:nvSpPr>
              <p:cNvPr id="405" name="latex-rule"/>
              <p:cNvSpPr txBox="1">
                <a:spLocks noRot="1" noChangeAspect="1" noMove="1" noResize="1" noEditPoints="1" noAdjustHandles="1" noChangeArrowheads="1" noChangeShapeType="1" noTextEdit="1"/>
              </p:cNvSpPr>
              <p:nvPr/>
            </p:nvSpPr>
            <p:spPr>
              <a:xfrm>
                <a:off x="777240" y="1847088"/>
                <a:ext cx="2703450" cy="566928"/>
              </a:xfrm>
              <a:prstGeom prst="rect">
                <a:avLst/>
              </a:prstGeom>
              <a:blipFill>
                <a:blip r:embed="rId6"/>
                <a:stretch>
                  <a:fillRect/>
                </a:stretch>
              </a:blipFill>
            </p:spPr>
            <p:txBody>
              <a:bodyPr/>
              <a:lstStyle/>
              <a:p>
                <a:r>
                  <a:rPr lang="en-US">
                    <a:noFill/>
                  </a:rPr>
                  <a:t> </a:t>
                </a:r>
              </a:p>
            </p:txBody>
          </p:sp>
        </mc:Fallback>
      </mc:AlternateContent>
      <p:pic>
        <p:nvPicPr>
          <p:cNvPr id="406" name="rule-plot-406" descr="Points per cell against the lowest bent-up corner energy: 64 up to U = 0.375, falling as (3 / U) squared, one point above U = 2.45; at least 16 in partial cells"/>
          <p:cNvPicPr>
            <a:picLocks noChangeAspect="1"/>
          </p:cNvPicPr>
          <p:nvPr/>
        </p:nvPicPr>
        <p:blipFill>
          <a:blip r:embed="rId7"/>
          <a:stretch>
            <a:fillRect/>
          </a:stretch>
        </p:blipFill>
        <p:spPr>
          <a:xfrm>
            <a:off x="685800" y="2348512"/>
            <a:ext cx="5303520" cy="2086328"/>
          </a:xfrm>
          <a:prstGeom prst="rect">
            <a:avLst/>
          </a:prstGeom>
        </p:spPr>
      </p:pic>
      <p:sp>
        <p:nvSpPr>
          <p:cNvPr id="407" name="card-407"/>
          <p:cNvSpPr/>
          <p:nvPr/>
        </p:nvSpPr>
        <p:spPr>
          <a:xfrm>
            <a:off x="548640" y="4709160"/>
            <a:ext cx="2834640" cy="1600200"/>
          </a:xfrm>
          <a:prstGeom prst="roundRect">
            <a:avLst>
              <a:gd name="adj" fmla="val 6000"/>
            </a:avLst>
          </a:prstGeom>
          <a:solidFill>
            <a:schemeClr val="bg2"/>
          </a:solidFill>
          <a:ln>
            <a:noFill/>
          </a:ln>
        </p:spPr>
        <p:txBody>
          <a:bodyPr/>
          <a:lstStyle/>
          <a:p>
            <a:endParaRPr lang="en-US"/>
          </a:p>
        </p:txBody>
      </p:sp>
      <p:sp>
        <p:nvSpPr>
          <p:cNvPr id="408" name="tile-big-408"/>
          <p:cNvSpPr txBox="1"/>
          <p:nvPr/>
        </p:nvSpPr>
        <p:spPr>
          <a:xfrm>
            <a:off x="749808" y="4800600"/>
            <a:ext cx="2432304" cy="658368"/>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1.11 M</a:t>
            </a:r>
            <a:endParaRPr lang="en-US" sz="3000" dirty="0"/>
          </a:p>
        </p:txBody>
      </p:sp>
      <p:sp>
        <p:nvSpPr>
          <p:cNvPr id="409" name="tile-label-409"/>
          <p:cNvSpPr txBox="1"/>
          <p:nvPr/>
        </p:nvSpPr>
        <p:spPr>
          <a:xfrm>
            <a:off x="749808" y="5495544"/>
            <a:ext cx="2432304" cy="310896"/>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new points solved</a:t>
            </a:r>
            <a:endParaRPr lang="en-US" sz="1400" dirty="0"/>
          </a:p>
        </p:txBody>
      </p:sp>
      <p:sp>
        <p:nvSpPr>
          <p:cNvPr id="410" name="tile-sub-410"/>
          <p:cNvSpPr txBox="1"/>
          <p:nvPr/>
        </p:nvSpPr>
        <p:spPr>
          <a:xfrm>
            <a:off x="749808" y="5824728"/>
            <a:ext cx="2432304" cy="448056"/>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998 k states, 112 k past a fold; 23 min on 14 workers</a:t>
            </a:r>
            <a:endParaRPr lang="en-US" sz="1150" dirty="0"/>
          </a:p>
        </p:txBody>
      </p:sp>
      <p:sp>
        <p:nvSpPr>
          <p:cNvPr id="411" name="card-411"/>
          <p:cNvSpPr/>
          <p:nvPr/>
        </p:nvSpPr>
        <p:spPr>
          <a:xfrm>
            <a:off x="3474720" y="4709160"/>
            <a:ext cx="2834640" cy="1600200"/>
          </a:xfrm>
          <a:prstGeom prst="roundRect">
            <a:avLst>
              <a:gd name="adj" fmla="val 6000"/>
            </a:avLst>
          </a:prstGeom>
          <a:solidFill>
            <a:schemeClr val="bg2"/>
          </a:solidFill>
          <a:ln>
            <a:noFill/>
          </a:ln>
        </p:spPr>
        <p:txBody>
          <a:bodyPr/>
          <a:lstStyle/>
          <a:p>
            <a:endParaRPr lang="en-US"/>
          </a:p>
        </p:txBody>
      </p:sp>
      <p:sp>
        <p:nvSpPr>
          <p:cNvPr id="412" name="tile-big-412"/>
          <p:cNvSpPr txBox="1"/>
          <p:nvPr/>
        </p:nvSpPr>
        <p:spPr>
          <a:xfrm>
            <a:off x="3675888" y="4800600"/>
            <a:ext cx="2432304" cy="658368"/>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7.6 M</a:t>
            </a:r>
            <a:endParaRPr lang="en-US" sz="3000" dirty="0"/>
          </a:p>
        </p:txBody>
      </p:sp>
      <p:sp>
        <p:nvSpPr>
          <p:cNvPr id="413" name="tile-label-413"/>
          <p:cNvSpPr txBox="1"/>
          <p:nvPr/>
        </p:nvSpPr>
        <p:spPr>
          <a:xfrm>
            <a:off x="3675888" y="5495544"/>
            <a:ext cx="2432304" cy="310896"/>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states in the dataset</a:t>
            </a:r>
            <a:endParaRPr lang="en-US" sz="1400" dirty="0"/>
          </a:p>
        </p:txBody>
      </p:sp>
      <p:sp>
        <p:nvSpPr>
          <p:cNvPr id="414" name="tile-sub-414"/>
          <p:cNvSpPr txBox="1"/>
          <p:nvPr/>
        </p:nvSpPr>
        <p:spPr>
          <a:xfrm>
            <a:off x="3675888" y="5824728"/>
            <a:ext cx="2432304" cy="448056"/>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28.9 % with U &lt; 1, against 2.4 % in the production run</a:t>
            </a:r>
            <a:endParaRPr lang="en-US" sz="1150" dirty="0"/>
          </a:p>
        </p:txBody>
      </p:sp>
      <p:sp>
        <p:nvSpPr>
          <p:cNvPr id="430" name="badge-430"/>
          <p:cNvSpPr/>
          <p:nvPr/>
        </p:nvSpPr>
        <p:spPr>
          <a:xfrm>
            <a:off x="6629400" y="144475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31" name="step-431"/>
          <p:cNvSpPr txBox="1"/>
          <p:nvPr/>
        </p:nvSpPr>
        <p:spPr>
          <a:xfrm>
            <a:off x="7178040" y="1417320"/>
            <a:ext cx="4434840" cy="114300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Density follows the energy</a:t>
            </a:r>
            <a:endParaRPr lang="en-US" sz="1300" dirty="0"/>
          </a:p>
          <a:p>
            <a:pPr marL="0" indent="0" algn="l">
              <a:spcAft>
                <a:spcPts val="200"/>
              </a:spcAft>
              <a:buNone/>
            </a:pPr>
            <a:r>
              <a:rPr lang="en-US" sz="1300" dirty="0">
                <a:solidFill>
                  <a:schemeClr val="tx1"/>
                </a:solidFill>
              </a:rPr>
              <a:t>U</a:t>
            </a:r>
            <a:r>
              <a:rPr lang="en-US" sz="1300" baseline="-25000" dirty="0">
                <a:solidFill>
                  <a:schemeClr val="tx1"/>
                </a:solidFill>
              </a:rPr>
              <a:t>min</a:t>
            </a:r>
            <a:r>
              <a:rPr lang="en-US" sz="1300" dirty="0">
                <a:solidFill>
                  <a:schemeClr val="tx1"/>
                </a:solidFill>
              </a:rPr>
              <a:t> is the lowest bent-up energy at the cell's 8 corners and u</a:t>
            </a:r>
            <a:r>
              <a:rPr lang="en-US" sz="1300" baseline="-25000" dirty="0">
                <a:solidFill>
                  <a:schemeClr val="tx1"/>
                </a:solidFill>
              </a:rPr>
              <a:t>ref</a:t>
            </a:r>
            <a:r>
              <a:rPr lang="en-US" sz="1300" dirty="0">
                <a:solidFill>
                  <a:schemeClr val="tx1"/>
                </a:solidFill>
              </a:rPr>
              <a:t> = 3: one point (the node) above U</a:t>
            </a:r>
            <a:r>
              <a:rPr lang="en-US" sz="1300" baseline="-25000" dirty="0">
                <a:solidFill>
                  <a:schemeClr val="tx1"/>
                </a:solidFill>
              </a:rPr>
              <a:t>min</a:t>
            </a:r>
            <a:r>
              <a:rPr lang="en-US" sz="1300" dirty="0">
                <a:solidFill>
                  <a:schemeClr val="tx1"/>
                </a:solidFill>
              </a:rPr>
              <a:t> = 2.45, all 64 below 0.375.</a:t>
            </a:r>
            <a:endParaRPr lang="en-US" sz="1300" dirty="0"/>
          </a:p>
        </p:txBody>
      </p:sp>
      <p:sp>
        <p:nvSpPr>
          <p:cNvPr id="432" name="badge-432"/>
          <p:cNvSpPr/>
          <p:nvPr/>
        </p:nvSpPr>
        <p:spPr>
          <a:xfrm>
            <a:off x="6629400" y="267919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33" name="step-433"/>
          <p:cNvSpPr txBox="1"/>
          <p:nvPr/>
        </p:nvSpPr>
        <p:spPr>
          <a:xfrm>
            <a:off x="7178040" y="2651760"/>
            <a:ext cx="4434840" cy="114300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Partial cells: at least 16</a:t>
            </a:r>
            <a:endParaRPr lang="en-US" sz="1300" dirty="0"/>
          </a:p>
          <a:p>
            <a:pPr marL="0" indent="0" algn="l">
              <a:spcAft>
                <a:spcPts val="200"/>
              </a:spcAft>
              <a:buNone/>
            </a:pPr>
            <a:r>
              <a:rPr lang="en-US" sz="1300" dirty="0">
                <a:solidFill>
                  <a:schemeClr val="tx1"/>
                </a:solidFill>
              </a:rPr>
              <a:t>Cells where the bent-up branch holds at some corners only: its fold edges, and along φ₁ = φ₂, where p changes sign smoothly.</a:t>
            </a:r>
            <a:endParaRPr lang="en-US" sz="1300" dirty="0"/>
          </a:p>
        </p:txBody>
      </p:sp>
      <p:sp>
        <p:nvSpPr>
          <p:cNvPr id="434" name="badge-434"/>
          <p:cNvSpPr/>
          <p:nvPr/>
        </p:nvSpPr>
        <p:spPr>
          <a:xfrm>
            <a:off x="6629400" y="391363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35" name="step-435"/>
          <p:cNvSpPr txBox="1"/>
          <p:nvPr/>
        </p:nvSpPr>
        <p:spPr>
          <a:xfrm>
            <a:off x="7178040" y="3886200"/>
            <a:ext cx="4434840" cy="114300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Spread through the cell</a:t>
            </a:r>
            <a:endParaRPr lang="en-US" sz="1300" dirty="0"/>
          </a:p>
          <a:p>
            <a:pPr marL="0" indent="0" algn="l">
              <a:spcAft>
                <a:spcPts val="200"/>
              </a:spcAft>
              <a:buNone/>
            </a:pPr>
            <a:r>
              <a:rPr lang="en-US" sz="1300" dirty="0">
                <a:solidFill>
                  <a:schemeClr val="tx1"/>
                </a:solidFill>
              </a:rPr>
              <a:t>The node, then a scrambled Sobol set with a random shift per cell. Only the bent-up branch on φ₁ + φ₂ ≥ 0 is solved; mirror and reflection give the rest.</a:t>
            </a:r>
            <a:endParaRPr lang="en-US" sz="1300" dirty="0"/>
          </a:p>
        </p:txBody>
      </p:sp>
      <p:sp>
        <p:nvSpPr>
          <p:cNvPr id="436" name="badge-436"/>
          <p:cNvSpPr/>
          <p:nvPr/>
        </p:nvSpPr>
        <p:spPr>
          <a:xfrm>
            <a:off x="6629400" y="5148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4</a:t>
            </a:r>
          </a:p>
        </p:txBody>
      </p:sp>
      <p:sp>
        <p:nvSpPr>
          <p:cNvPr id="437" name="step-437"/>
          <p:cNvSpPr txBox="1"/>
          <p:nvPr/>
        </p:nvSpPr>
        <p:spPr>
          <a:xfrm>
            <a:off x="7178040" y="5120640"/>
            <a:ext cx="4434840" cy="114300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Production tests, and negatives</a:t>
            </a:r>
            <a:endParaRPr lang="en-US" sz="1300" dirty="0"/>
          </a:p>
          <a:p>
            <a:pPr marL="0" indent="0" algn="l">
              <a:spcAft>
                <a:spcPts val="200"/>
              </a:spcAft>
              <a:buNone/>
            </a:pPr>
            <a:r>
              <a:rPr lang="en-US" sz="1300" dirty="0">
                <a:solidFill>
                  <a:schemeClr val="tx1"/>
                </a:solidFill>
              </a:rPr>
              <a:t>Warm start from the corners, nearest first, at most 3 tries: no jump in q, stable. A failure in a partial cell is kept as a negative example (no state).</a:t>
            </a:r>
            <a:endParaRPr lang="en-US" sz="1300" dirty="0"/>
          </a:p>
        </p:txBody>
      </p:sp>
      <p:sp>
        <p:nvSpPr>
          <p:cNvPr id="9" name="Slide Number"/>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Inside a cell: new points spread evenly</a:t>
            </a:r>
          </a:p>
        </p:txBody>
      </p:sp>
      <p:pic>
        <p:nvPicPr>
          <p:cNvPr id="3" name="Picture 2" descr="A grid cell drawn as a cube: 8 solved corners, the cell's own corner marked, and 15 new points spread through the inside"/>
          <p:cNvPicPr>
            <a:picLocks noChangeAspect="1"/>
          </p:cNvPicPr>
          <p:nvPr/>
        </p:nvPicPr>
        <p:blipFill>
          <a:blip r:embed="rId3"/>
          <a:stretch>
            <a:fillRect/>
          </a:stretch>
        </p:blipFill>
        <p:spPr>
          <a:xfrm>
            <a:off x="548640" y="1325880"/>
            <a:ext cx="3579725" cy="4343400"/>
          </a:xfrm>
          <a:prstGeom prst="rect">
            <a:avLst/>
          </a:prstGeom>
        </p:spPr>
      </p:pic>
      <p:pic>
        <p:nvPicPr>
          <p:cNvPr id="450" name="Picture 450" descr="16 points in a cell placed four ways: random (clumps and holes), a regular lattice (same in every cell), a Sobol sequence (one point per square), and Sobol shifted per cell"/>
          <p:cNvPicPr>
            <a:picLocks noChangeAspect="1"/>
          </p:cNvPicPr>
          <p:nvPr/>
        </p:nvPicPr>
        <p:blipFill>
          <a:blip r:embed="rId4"/>
          <a:stretch>
            <a:fillRect/>
          </a:stretch>
        </p:blipFill>
        <p:spPr>
          <a:xfrm>
            <a:off x="4448405" y="1325880"/>
            <a:ext cx="7191907" cy="2453137"/>
          </a:xfrm>
          <a:prstGeom prst="rect">
            <a:avLst/>
          </a:prstGeom>
        </p:spPr>
      </p:pic>
      <p:sp>
        <p:nvSpPr>
          <p:cNvPr id="1002" name="text-103"/>
          <p:cNvSpPr txBox="1"/>
          <p:nvPr/>
        </p:nvSpPr>
        <p:spPr>
          <a:xfrm>
            <a:off x="548640" y="5715000"/>
            <a:ext cx="3579725" cy="548640"/>
          </a:xfrm>
          <a:prstGeom prst="rect">
            <a:avLst/>
          </a:prstGeom>
          <a:noFill/>
          <a:ln/>
        </p:spPr>
        <p:txBody>
          <a:bodyPr wrap="square" lIns="0" tIns="0" rIns="0" bIns="0" rtlCol="0" anchor="t"/>
          <a:lstStyle/>
          <a:p>
            <a:pPr marL="0" indent="0">
              <a:buNone/>
            </a:pPr>
            <a:r>
              <a:rPr lang="en-US" sz="1100" i="1" dirty="0">
                <a:solidFill>
                  <a:schemeClr val="accent5"/>
                </a:solidFill>
              </a:rPr>
              <a:t>Example: n = 16, so the cell's own corner plus 15 new points, anywhere inside, d included: the data also covers values between the 30 d layers.</a:t>
            </a:r>
          </a:p>
        </p:txBody>
      </p:sp>
      <p:sp>
        <p:nvSpPr>
          <p:cNvPr id="440" name="badge-440"/>
          <p:cNvSpPr/>
          <p:nvPr/>
        </p:nvSpPr>
        <p:spPr>
          <a:xfrm>
            <a:off x="4448405" y="4126489"/>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41" name="step-441"/>
          <p:cNvSpPr txBox="1"/>
          <p:nvPr/>
        </p:nvSpPr>
        <p:spPr>
          <a:xfrm>
            <a:off x="4978757" y="4099057"/>
            <a:ext cx="1684070" cy="2164583"/>
          </a:xfrm>
          <a:prstGeom prst="rect">
            <a:avLst/>
          </a:prstGeom>
          <a:noFill/>
          <a:ln/>
        </p:spPr>
        <p:txBody>
          <a:bodyPr wrap="square" lIns="0" tIns="0" rIns="0" bIns="0" rtlCol="0" anchor="t">
            <a:normAutofit/>
          </a:bodyPr>
          <a:lstStyle/>
          <a:p>
            <a:pPr marL="0" indent="0" algn="l">
              <a:spcAft>
                <a:spcPts val="200"/>
              </a:spcAft>
              <a:buNone/>
            </a:pPr>
            <a:r>
              <a:rPr lang="en-US" sz="1200" b="1" dirty="0">
                <a:solidFill>
                  <a:schemeClr val="tx1"/>
                </a:solidFill>
              </a:rPr>
              <a:t>What a cell is</a:t>
            </a:r>
            <a:endParaRPr lang="en-US" sz="1200" dirty="0"/>
          </a:p>
          <a:p>
            <a:pPr marL="0" indent="0" algn="l">
              <a:spcAft>
                <a:spcPts val="200"/>
              </a:spcAft>
              <a:buNone/>
            </a:pPr>
            <a:r>
              <a:rPr lang="en-US" sz="1200" dirty="0">
                <a:solidFill>
                  <a:schemeClr val="tx1"/>
                </a:solidFill>
              </a:rPr>
              <a:t>The box between 8 neighbouring grid points, 0.01 wide in φ₁, φ₂ and d. Its corners are already solved.</a:t>
            </a:r>
            <a:endParaRPr lang="en-US" sz="1200" dirty="0"/>
          </a:p>
        </p:txBody>
      </p:sp>
      <p:sp>
        <p:nvSpPr>
          <p:cNvPr id="442" name="badge-442"/>
          <p:cNvSpPr/>
          <p:nvPr/>
        </p:nvSpPr>
        <p:spPr>
          <a:xfrm>
            <a:off x="6937148" y="4126489"/>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43" name="step-443"/>
          <p:cNvSpPr txBox="1"/>
          <p:nvPr/>
        </p:nvSpPr>
        <p:spPr>
          <a:xfrm>
            <a:off x="7467500" y="4099057"/>
            <a:ext cx="1684070" cy="2164583"/>
          </a:xfrm>
          <a:prstGeom prst="rect">
            <a:avLst/>
          </a:prstGeom>
          <a:noFill/>
          <a:ln/>
        </p:spPr>
        <p:txBody>
          <a:bodyPr wrap="square" lIns="0" tIns="0" rIns="0" bIns="0" rtlCol="0" anchor="t">
            <a:normAutofit/>
          </a:bodyPr>
          <a:lstStyle/>
          <a:p>
            <a:pPr marL="0" indent="0" algn="l">
              <a:spcAft>
                <a:spcPts val="200"/>
              </a:spcAft>
              <a:buNone/>
            </a:pPr>
            <a:r>
              <a:rPr lang="en-US" sz="1200" b="1" dirty="0">
                <a:solidFill>
                  <a:schemeClr val="tx1"/>
                </a:solidFill>
              </a:rPr>
              <a:t>Spread evenly: Sobol</a:t>
            </a:r>
            <a:endParaRPr lang="en-US" sz="1200" dirty="0"/>
          </a:p>
          <a:p>
            <a:pPr marL="0" indent="0" algn="l">
              <a:spcAft>
                <a:spcPts val="200"/>
              </a:spcAft>
              <a:buNone/>
            </a:pPr>
            <a:r>
              <a:rPr lang="en-US" sz="1200" dirty="0">
                <a:solidFill>
                  <a:schemeClr val="tx1"/>
                </a:solidFill>
              </a:rPr>
              <a:t>A recipe that gives every part of the box its share of points: no clumps, no holes.</a:t>
            </a:r>
            <a:endParaRPr lang="en-US" sz="1200" dirty="0"/>
          </a:p>
        </p:txBody>
      </p:sp>
      <p:sp>
        <p:nvSpPr>
          <p:cNvPr id="444" name="badge-444"/>
          <p:cNvSpPr/>
          <p:nvPr/>
        </p:nvSpPr>
        <p:spPr>
          <a:xfrm>
            <a:off x="9425890" y="4126489"/>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45" name="step-445"/>
          <p:cNvSpPr txBox="1"/>
          <p:nvPr/>
        </p:nvSpPr>
        <p:spPr>
          <a:xfrm>
            <a:off x="9956242" y="4099057"/>
            <a:ext cx="1684070" cy="2164583"/>
          </a:xfrm>
          <a:prstGeom prst="rect">
            <a:avLst/>
          </a:prstGeom>
          <a:noFill/>
          <a:ln/>
        </p:spPr>
        <p:txBody>
          <a:bodyPr wrap="square" lIns="0" tIns="0" rIns="0" bIns="0" rtlCol="0" anchor="t">
            <a:normAutofit/>
          </a:bodyPr>
          <a:lstStyle/>
          <a:p>
            <a:pPr marL="0" indent="0" algn="l">
              <a:spcAft>
                <a:spcPts val="200"/>
              </a:spcAft>
              <a:buNone/>
            </a:pPr>
            <a:r>
              <a:rPr lang="en-US" sz="1200" b="1" dirty="0">
                <a:solidFill>
                  <a:schemeClr val="tx1"/>
                </a:solidFill>
              </a:rPr>
              <a:t>A new shift in each cell</a:t>
            </a:r>
            <a:endParaRPr lang="en-US" sz="1200" dirty="0"/>
          </a:p>
          <a:p>
            <a:pPr marL="0" indent="0" algn="l">
              <a:spcAft>
                <a:spcPts val="200"/>
              </a:spcAft>
              <a:buNone/>
            </a:pPr>
            <a:r>
              <a:rPr lang="en-US" sz="1200" dirty="0">
                <a:solidFill>
                  <a:schemeClr val="tx1"/>
                </a:solidFill>
              </a:rPr>
              <a:t>Each cell slides its pattern by its own random amount, so neighbouring cells never share one pattern.</a:t>
            </a:r>
            <a:endParaRPr lang="en-US" sz="1200" dirty="0"/>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Solving each new point from its neighbours</a:t>
            </a:r>
          </a:p>
        </p:txBody>
      </p:sp>
      <p:pic>
        <p:nvPicPr>
          <p:cNvPr id="3" name="Picture 2" descr="Left: a new point in a cell face, solved from the nearest corners holding the bent-up rod, up to three tries. Right: one solved rod and its three images in the clamp-angle square"/>
          <p:cNvPicPr>
            <a:picLocks noChangeAspect="1"/>
          </p:cNvPicPr>
          <p:nvPr/>
        </p:nvPicPr>
        <p:blipFill>
          <a:blip r:embed="rId3"/>
          <a:stretch>
            <a:fillRect/>
          </a:stretch>
        </p:blipFill>
        <p:spPr>
          <a:xfrm>
            <a:off x="548640" y="1280160"/>
            <a:ext cx="6126480" cy="3405229"/>
          </a:xfrm>
          <a:prstGeom prst="rect">
            <a:avLst/>
          </a:prstGeom>
        </p:spPr>
      </p:pic>
      <p:sp>
        <p:nvSpPr>
          <p:cNvPr id="460" name="badge-460"/>
          <p:cNvSpPr/>
          <p:nvPr/>
        </p:nvSpPr>
        <p:spPr>
          <a:xfrm>
            <a:off x="7315200" y="135331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61" name="step-461"/>
          <p:cNvSpPr txBox="1"/>
          <p:nvPr/>
        </p:nvSpPr>
        <p:spPr>
          <a:xfrm>
            <a:off x="7845552" y="1325880"/>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Start from a nearby answer</a:t>
            </a:r>
            <a:endParaRPr lang="en-US" sz="1300" dirty="0"/>
          </a:p>
          <a:p>
            <a:pPr marL="0" indent="0" algn="l">
              <a:spcAft>
                <a:spcPts val="200"/>
              </a:spcAft>
              <a:buNone/>
            </a:pPr>
            <a:r>
              <a:rPr lang="en-US" sz="1300" dirty="0">
                <a:solidFill>
                  <a:schemeClr val="tx1"/>
                </a:solidFill>
              </a:rPr>
              <a:t>Each rod is found by Newton's method, which improves a guess step by step. A solved corner rod, at most 0.01 away, is a very good guess.</a:t>
            </a:r>
            <a:endParaRPr lang="en-US" sz="1300" dirty="0"/>
          </a:p>
        </p:txBody>
      </p:sp>
      <p:sp>
        <p:nvSpPr>
          <p:cNvPr id="462" name="badge-462"/>
          <p:cNvSpPr/>
          <p:nvPr/>
        </p:nvSpPr>
        <p:spPr>
          <a:xfrm>
            <a:off x="7315200" y="2596896"/>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63" name="step-463"/>
          <p:cNvSpPr txBox="1"/>
          <p:nvPr/>
        </p:nvSpPr>
        <p:spPr>
          <a:xfrm>
            <a:off x="7845552" y="2569464"/>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Nearest corner first, up to 3 tries</a:t>
            </a:r>
            <a:endParaRPr lang="en-US" sz="1300" dirty="0"/>
          </a:p>
          <a:p>
            <a:pPr marL="0" indent="0" algn="l">
              <a:spcAft>
                <a:spcPts val="200"/>
              </a:spcAft>
              <a:buNone/>
            </a:pPr>
            <a:r>
              <a:rPr lang="en-US" sz="1300" dirty="0">
                <a:solidFill>
                  <a:schemeClr val="tx1"/>
                </a:solidFill>
              </a:rPr>
              <a:t>Only corners holding the bent-up rod are used. The answer is kept if it converged, did not snap to the other shape, and is stable.</a:t>
            </a:r>
            <a:endParaRPr lang="en-US" sz="1300" dirty="0"/>
          </a:p>
        </p:txBody>
      </p:sp>
      <p:sp>
        <p:nvSpPr>
          <p:cNvPr id="464" name="badge-464"/>
          <p:cNvSpPr/>
          <p:nvPr/>
        </p:nvSpPr>
        <p:spPr>
          <a:xfrm>
            <a:off x="7315200" y="3840480"/>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65" name="step-465"/>
          <p:cNvSpPr txBox="1"/>
          <p:nvPr/>
        </p:nvSpPr>
        <p:spPr>
          <a:xfrm>
            <a:off x="7845552" y="3813048"/>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If every try fails</a:t>
            </a:r>
            <a:endParaRPr lang="en-US" sz="1300" dirty="0"/>
          </a:p>
          <a:p>
            <a:pPr marL="0" indent="0" algn="l">
              <a:spcAft>
                <a:spcPts val="200"/>
              </a:spcAft>
              <a:buNone/>
            </a:pPr>
            <a:r>
              <a:rPr lang="en-US" sz="1300" dirty="0">
                <a:solidFill>
                  <a:schemeClr val="tx1"/>
                </a:solidFill>
              </a:rPr>
              <a:t>Near a fold the bent-up rod may not exist at that point: it is kept as a “no rod here” example, which shows where the shape ends. Elsewhere: a fresh solve, or the point is dropped.</a:t>
            </a:r>
            <a:endParaRPr lang="en-US" sz="1300" dirty="0"/>
          </a:p>
        </p:txBody>
      </p:sp>
      <p:sp>
        <p:nvSpPr>
          <p:cNvPr id="466" name="badge-466"/>
          <p:cNvSpPr/>
          <p:nvPr/>
        </p:nvSpPr>
        <p:spPr>
          <a:xfrm>
            <a:off x="7315200" y="5084064"/>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4</a:t>
            </a:r>
          </a:p>
        </p:txBody>
      </p:sp>
      <p:sp>
        <p:nvSpPr>
          <p:cNvPr id="467" name="step-467"/>
          <p:cNvSpPr txBox="1"/>
          <p:nvPr/>
        </p:nvSpPr>
        <p:spPr>
          <a:xfrm>
            <a:off x="7845552" y="5056632"/>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One solve gives four rods</a:t>
            </a:r>
            <a:endParaRPr lang="en-US" sz="1300" dirty="0"/>
          </a:p>
          <a:p>
            <a:pPr marL="0" indent="0" algn="l">
              <a:spcAft>
                <a:spcPts val="200"/>
              </a:spcAft>
              <a:buNone/>
            </a:pPr>
            <a:r>
              <a:rPr lang="en-US" sz="1300" dirty="0">
                <a:solidFill>
                  <a:schemeClr val="tx1"/>
                </a:solidFill>
              </a:rPr>
              <a:t>A rod seen from behind (ends swapped) or turned upside down is still a valid rod, so only a quarter of the points are solved.</a:t>
            </a:r>
            <a:endParaRPr lang="en-US" sz="1300" dirty="0"/>
          </a:p>
        </p:txBody>
      </p:sp>
      <p:sp>
        <p:nvSpPr>
          <p:cNvPr id="480" name="card-480"/>
          <p:cNvSpPr/>
          <p:nvPr/>
        </p:nvSpPr>
        <p:spPr>
          <a:xfrm>
            <a:off x="548640" y="4913989"/>
            <a:ext cx="1889760" cy="1349651"/>
          </a:xfrm>
          <a:prstGeom prst="roundRect">
            <a:avLst>
              <a:gd name="adj" fmla="val 6000"/>
            </a:avLst>
          </a:prstGeom>
          <a:solidFill>
            <a:schemeClr val="bg2"/>
          </a:solidFill>
          <a:ln>
            <a:noFill/>
          </a:ln>
        </p:spPr>
        <p:txBody>
          <a:bodyPr/>
          <a:lstStyle/>
          <a:p>
            <a:endParaRPr lang="en-US"/>
          </a:p>
        </p:txBody>
      </p:sp>
      <p:sp>
        <p:nvSpPr>
          <p:cNvPr id="481" name="tile-big-481"/>
          <p:cNvSpPr txBox="1"/>
          <p:nvPr/>
        </p:nvSpPr>
        <p:spPr>
          <a:xfrm>
            <a:off x="73152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998 k</a:t>
            </a:r>
            <a:endParaRPr lang="en-US" sz="3000" dirty="0"/>
          </a:p>
        </p:txBody>
      </p:sp>
      <p:sp>
        <p:nvSpPr>
          <p:cNvPr id="482" name="tile-label-482"/>
          <p:cNvSpPr txBox="1"/>
          <p:nvPr/>
        </p:nvSpPr>
        <p:spPr>
          <a:xfrm>
            <a:off x="73152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rods accepted</a:t>
            </a:r>
            <a:endParaRPr lang="en-US" sz="1400" dirty="0"/>
          </a:p>
        </p:txBody>
      </p:sp>
      <p:sp>
        <p:nvSpPr>
          <p:cNvPr id="483" name="tile-sub-483"/>
          <p:cNvSpPr txBox="1"/>
          <p:nvPr/>
        </p:nvSpPr>
        <p:spPr>
          <a:xfrm>
            <a:off x="73152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from 1.11 M new points</a:t>
            </a:r>
            <a:endParaRPr lang="en-US" sz="1150" dirty="0"/>
          </a:p>
        </p:txBody>
      </p:sp>
      <p:sp>
        <p:nvSpPr>
          <p:cNvPr id="484" name="card-484"/>
          <p:cNvSpPr/>
          <p:nvPr/>
        </p:nvSpPr>
        <p:spPr>
          <a:xfrm>
            <a:off x="2667000" y="4913989"/>
            <a:ext cx="1889760" cy="1349651"/>
          </a:xfrm>
          <a:prstGeom prst="roundRect">
            <a:avLst>
              <a:gd name="adj" fmla="val 6000"/>
            </a:avLst>
          </a:prstGeom>
          <a:solidFill>
            <a:schemeClr val="bg2"/>
          </a:solidFill>
          <a:ln>
            <a:noFill/>
          </a:ln>
        </p:spPr>
        <p:txBody>
          <a:bodyPr/>
          <a:lstStyle/>
          <a:p>
            <a:endParaRPr lang="en-US"/>
          </a:p>
        </p:txBody>
      </p:sp>
      <p:sp>
        <p:nvSpPr>
          <p:cNvPr id="485" name="tile-big-485"/>
          <p:cNvSpPr txBox="1"/>
          <p:nvPr/>
        </p:nvSpPr>
        <p:spPr>
          <a:xfrm>
            <a:off x="284988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112 k</a:t>
            </a:r>
            <a:endParaRPr lang="en-US" sz="3000" dirty="0"/>
          </a:p>
        </p:txBody>
      </p:sp>
      <p:sp>
        <p:nvSpPr>
          <p:cNvPr id="486" name="tile-label-486"/>
          <p:cNvSpPr txBox="1"/>
          <p:nvPr/>
        </p:nvSpPr>
        <p:spPr>
          <a:xfrm>
            <a:off x="284988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“no rod here”</a:t>
            </a:r>
            <a:endParaRPr lang="en-US" sz="1400" dirty="0"/>
          </a:p>
        </p:txBody>
      </p:sp>
      <p:sp>
        <p:nvSpPr>
          <p:cNvPr id="487" name="tile-sub-487"/>
          <p:cNvSpPr txBox="1"/>
          <p:nvPr/>
        </p:nvSpPr>
        <p:spPr>
          <a:xfrm>
            <a:off x="284988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kept: past a fold</a:t>
            </a:r>
            <a:endParaRPr lang="en-US" sz="1150" dirty="0"/>
          </a:p>
        </p:txBody>
      </p:sp>
      <p:sp>
        <p:nvSpPr>
          <p:cNvPr id="488" name="card-488"/>
          <p:cNvSpPr/>
          <p:nvPr/>
        </p:nvSpPr>
        <p:spPr>
          <a:xfrm>
            <a:off x="4785360" y="4913989"/>
            <a:ext cx="1889760" cy="1349651"/>
          </a:xfrm>
          <a:prstGeom prst="roundRect">
            <a:avLst>
              <a:gd name="adj" fmla="val 6000"/>
            </a:avLst>
          </a:prstGeom>
          <a:solidFill>
            <a:schemeClr val="bg2"/>
          </a:solidFill>
          <a:ln>
            <a:noFill/>
          </a:ln>
        </p:spPr>
        <p:txBody>
          <a:bodyPr/>
          <a:lstStyle/>
          <a:p>
            <a:endParaRPr lang="en-US"/>
          </a:p>
        </p:txBody>
      </p:sp>
      <p:sp>
        <p:nvSpPr>
          <p:cNvPr id="489" name="tile-big-489"/>
          <p:cNvSpPr txBox="1"/>
          <p:nvPr/>
        </p:nvSpPr>
        <p:spPr>
          <a:xfrm>
            <a:off x="496824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9</a:t>
            </a:r>
            <a:endParaRPr lang="en-US" sz="3000" dirty="0"/>
          </a:p>
        </p:txBody>
      </p:sp>
      <p:sp>
        <p:nvSpPr>
          <p:cNvPr id="490" name="tile-label-490"/>
          <p:cNvSpPr txBox="1"/>
          <p:nvPr/>
        </p:nvSpPr>
        <p:spPr>
          <a:xfrm>
            <a:off x="496824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dropped</a:t>
            </a:r>
            <a:endParaRPr lang="en-US" sz="1400" dirty="0"/>
          </a:p>
        </p:txBody>
      </p:sp>
      <p:sp>
        <p:nvSpPr>
          <p:cNvPr id="491" name="tile-sub-491"/>
          <p:cNvSpPr txBox="1"/>
          <p:nvPr/>
        </p:nvSpPr>
        <p:spPr>
          <a:xfrm>
            <a:off x="496824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3 more: solved afresh</a:t>
            </a:r>
            <a:endParaRPr lang="en-US" sz="1150" dirty="0"/>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Refinement moves the data to low energy</a:t>
            </a:r>
          </a:p>
        </p:txBody>
      </p:sp>
      <p:pic>
        <p:nvPicPr>
          <p:cNvPr id="3" name="Picture 2" descr="Energy histograms on the same bins and axes: the production run (2.98 M states, 2.4 % with U below 1) and the training dataset (7.60 M states, 28.9 % with U below 1)"/>
          <p:cNvPicPr>
            <a:picLocks noChangeAspect="1"/>
          </p:cNvPicPr>
          <p:nvPr/>
        </p:nvPicPr>
        <p:blipFill>
          <a:blip r:embed="rId3"/>
          <a:stretch>
            <a:fillRect/>
          </a:stretch>
        </p:blipFill>
        <p:spPr>
          <a:xfrm>
            <a:off x="1325880" y="1234440"/>
            <a:ext cx="9509760" cy="4125699"/>
          </a:xfrm>
          <a:prstGeom prst="rect">
            <a:avLst/>
          </a:prstGeom>
        </p:spPr>
      </p:pic>
      <p:sp>
        <p:nvSpPr>
          <p:cNvPr id="1002" name="text-103"/>
          <p:cNvSpPr txBox="1"/>
          <p:nvPr/>
        </p:nvSpPr>
        <p:spPr>
          <a:xfrm>
            <a:off x="1325880" y="5543019"/>
            <a:ext cx="9509760" cy="548640"/>
          </a:xfrm>
          <a:prstGeom prst="rect">
            <a:avLst/>
          </a:prstGeom>
          <a:noFill/>
          <a:ln/>
        </p:spPr>
        <p:txBody>
          <a:bodyPr wrap="square" lIns="0" tIns="0" rIns="0" bIns="0" rtlCol="0" anchor="t"/>
          <a:lstStyle/>
          <a:p>
            <a:pPr marL="0" indent="0">
              <a:buNone/>
            </a:pPr>
            <a:r>
              <a:rPr lang="en-US" sz="1100" i="1" dirty="0">
                <a:solidFill>
                  <a:schemeClr val="accent5"/>
                </a:solidFill>
              </a:rPr>
              <a:t>Same bins and axes. Before: one state per grid node, 2.4 % of them with U &lt; 1. After: both branches at every node plus 4.0 M refined states (998 k solves and their symmetry images); 28.9 % with U &lt; 1 and 24.6 % with 1 ≤ U &lt; 3. The grid's high-energy states are all kept.</a:t>
            </a:r>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In 3D: the new points gather where the energy is low</a:t>
            </a:r>
          </a:p>
        </p:txBody>
      </p:sp>
      <p:pic>
        <p:nvPicPr>
          <p:cNvPr id="3" name="Picture 2" descr="The domain (phi1, phi2, d) before and after refinement, 1 percent of the points drawn from each: an even cloud of grid states before; after, refined points concentrated at high d near the centre"/>
          <p:cNvPicPr>
            <a:picLocks noChangeAspect="1"/>
          </p:cNvPicPr>
          <p:nvPr/>
        </p:nvPicPr>
        <p:blipFill>
          <a:blip r:embed="rId3"/>
          <a:stretch>
            <a:fillRect/>
          </a:stretch>
        </p:blipFill>
        <p:spPr>
          <a:xfrm>
            <a:off x="1675990" y="1188720"/>
            <a:ext cx="8839715" cy="4434840"/>
          </a:xfrm>
          <a:prstGeom prst="rect">
            <a:avLst/>
          </a:prstGeom>
        </p:spPr>
      </p:pic>
      <p:sp>
        <p:nvSpPr>
          <p:cNvPr id="1002" name="text-103"/>
          <p:cNvSpPr txBox="1"/>
          <p:nvPr/>
        </p:nvSpPr>
        <p:spPr>
          <a:xfrm>
            <a:off x="914400" y="5715000"/>
            <a:ext cx="10360152" cy="594360"/>
          </a:xfrm>
          <a:prstGeom prst="rect">
            <a:avLst/>
          </a:prstGeom>
          <a:noFill/>
          <a:ln/>
        </p:spPr>
        <p:txBody>
          <a:bodyPr wrap="square" lIns="0" tIns="0" rIns="0" bIns="0" rtlCol="0" anchor="t"/>
          <a:lstStyle/>
          <a:p>
            <a:pPr marL="0" indent="0">
              <a:buNone/>
            </a:pPr>
            <a:r>
              <a:rPr lang="en-US" sz="1100" i="1" dirty="0">
                <a:solidFill>
                  <a:schemeClr val="accent5"/>
                </a:solidFill>
              </a:rPr>
              <a:t>Each side draws the same random 1 % of its points, so dot density is data density. Before: one state per grid node, evenly spread. After: refined points (orange) fill the low-energy region at high d near the centre; grid nodes (slate) still cover the rest. Orange away from the centre comes from the minimum of 16 points per partial cell: fold edges, and the diagonal φ₁ = φ₂.</a:t>
            </a:r>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000"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Close up: more points inside the cells where U is low</a:t>
            </a:r>
          </a:p>
        </p:txBody>
      </p:sp>
      <p:pic>
        <p:nvPicPr>
          <p:cNvPr id="3" name="Picture 2" descr="A block of 5 by 5 by 3 grid cells near d = 0.97: 144 grid nodes before; after, 1,926 bent-up states, dense at the top where the energy is lowest and sparse at the bottom"/>
          <p:cNvPicPr>
            <a:picLocks noChangeAspect="1"/>
          </p:cNvPicPr>
          <p:nvPr/>
        </p:nvPicPr>
        <p:blipFill>
          <a:blip r:embed="rId3"/>
          <a:stretch>
            <a:fillRect/>
          </a:stretch>
        </p:blipFill>
        <p:spPr>
          <a:xfrm>
            <a:off x="1236312" y="1188720"/>
            <a:ext cx="9719071" cy="4434840"/>
          </a:xfrm>
          <a:prstGeom prst="rect">
            <a:avLst/>
          </a:prstGeom>
        </p:spPr>
      </p:pic>
      <p:sp>
        <p:nvSpPr>
          <p:cNvPr id="1002" name="text-103"/>
          <p:cNvSpPr txBox="1"/>
          <p:nvPr/>
        </p:nvSpPr>
        <p:spPr>
          <a:xfrm>
            <a:off x="914400" y="5715000"/>
            <a:ext cx="10360152" cy="594360"/>
          </a:xfrm>
          <a:prstGeom prst="rect">
            <a:avLst/>
          </a:prstGeom>
          <a:noFill/>
          <a:ln/>
        </p:spPr>
        <p:txBody>
          <a:bodyPr wrap="square" lIns="0" tIns="0" rIns="0" bIns="0" rtlCol="0" anchor="t"/>
          <a:lstStyle/>
          <a:p>
            <a:pPr marL="0" indent="0">
              <a:buNone/>
            </a:pPr>
            <a:r>
              <a:rPr lang="en-US" sz="1100" i="1" dirty="0">
                <a:solidFill>
                  <a:schemeClr val="accent5"/>
                </a:solidFill>
              </a:rPr>
              <a:t>Every bent-up point in 75 cells at d = 0.96–0.99, φ₁ ∈ [−0.05, 0], φ₂ ∈ [−0.03, 0.02]. The grid nodes stay; each cell adds its own points inside. Towards the top U falls (0.36 at the lowest) and the cells hold up to 64 points; at the bottom, where U reaches 1.8, as few as 5.</a:t>
            </a:r>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idx="100" hasCustomPrompt="1"/>
          </p:nvPr>
        </p:nvSpPr>
        <p:spPr>
          <a:xfrm>
            <a:off x="822960" y="2377440"/>
            <a:ext cx="10515600" cy="1097280"/>
          </a:xfrm>
          <a:prstGeom prst="rect">
            <a:avLst/>
          </a:prstGeom>
          <a:noFill/>
          <a:ln/>
        </p:spPr>
        <p:txBody>
          <a:bodyPr wrap="square" lIns="0" tIns="0" rIns="0" bIns="0" rtlCol="0" anchor="b"/>
          <a:lstStyle/>
          <a:p>
            <a:pPr marL="0" indent="0" algn="l">
              <a:buNone/>
            </a:pPr>
            <a:r>
              <a:rPr lang="en-US" sz="4000" b="1">
                <a:solidFill>
                  <a:schemeClr val="bg1"/>
                </a:solidFill>
              </a:rPr>
              <a:t>Iso-energy </a:t>
            </a:r>
            <a:r>
              <a:rPr lang="en-US" sz="4000" b="1" dirty="0">
                <a:solidFill>
                  <a:schemeClr val="bg1"/>
                </a:solidFill>
              </a:rPr>
              <a:t>sampling</a:t>
            </a:r>
            <a:endParaRPr lang="en-US" sz="4000" dirty="0"/>
          </a:p>
        </p:txBody>
      </p:sp>
      <p:sp>
        <p:nvSpPr>
          <p:cNvPr id="3" name="Subtitle"/>
          <p:cNvSpPr>
            <a:spLocks noGrp="1"/>
          </p:cNvSpPr>
          <p:nvPr>
            <p:ph type="body" idx="101" hasCustomPrompt="1"/>
          </p:nvPr>
        </p:nvSpPr>
        <p:spPr>
          <a:xfrm>
            <a:off x="822960" y="3657600"/>
            <a:ext cx="10515600" cy="822960"/>
          </a:xfrm>
          <a:prstGeom prst="rect">
            <a:avLst/>
          </a:prstGeom>
          <a:noFill/>
          <a:ln/>
        </p:spPr>
        <p:txBody>
          <a:bodyPr wrap="square" lIns="0" tIns="0" rIns="0" bIns="0" rtlCol="0" anchor="t"/>
          <a:lstStyle/>
          <a:p>
            <a:pPr marL="0" indent="0">
              <a:buNone/>
            </a:pPr>
            <a:r>
              <a:rPr lang="en-US" sz="2000" dirty="0">
                <a:solidFill>
                  <a:schemeClr val="accent1"/>
                </a:solidFill>
              </a:rPr>
              <a:t>A second scheme: points on level sets of U, as many per level as a 1/U target asks: 8.9 M states, 45 % with U &lt; 1</a:t>
            </a:r>
            <a:endParaRPr lang="en-US" sz="20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Aim the whole histogram at a target</a:t>
            </a:r>
          </a:p>
        </p:txBody>
      </p:sp>
      <p:sp>
        <p:nvSpPr>
          <p:cNvPr id="460" name="badge-460"/>
          <p:cNvSpPr/>
          <p:nvPr/>
        </p:nvSpPr>
        <p:spPr>
          <a:xfrm>
            <a:off x="7315200" y="135331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61" name="step-461"/>
          <p:cNvSpPr txBox="1"/>
          <p:nvPr/>
        </p:nvSpPr>
        <p:spPr>
          <a:xfrm>
            <a:off x="7845552" y="1325880"/>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A target for the dataset</a:t>
            </a:r>
            <a:endParaRPr lang="en-US" sz="1300" dirty="0"/>
          </a:p>
          <a:p>
            <a:pPr marL="0" indent="0" algn="l">
              <a:spcAft>
                <a:spcPts val="200"/>
              </a:spcAft>
              <a:buNone/>
            </a:pPr>
            <a:r>
              <a:rPr lang="en-US" sz="1300" dirty="0">
                <a:solidFill>
                  <a:schemeClr val="tx1"/>
                </a:solidFill>
              </a:rPr>
              <a:t>Rows per unit energy H(U) = C / U, from the lowest energy, 0.10, up to Uₚ ≈ 3.5, where the grid’s own histogram peaks. Above Uₚ the grid alone.</a:t>
            </a:r>
            <a:endParaRPr lang="en-US" sz="1300" dirty="0"/>
          </a:p>
        </p:txBody>
      </p:sp>
      <p:sp>
        <p:nvSpPr>
          <p:cNvPr id="462" name="badge-462"/>
          <p:cNvSpPr/>
          <p:nvPr/>
        </p:nvSpPr>
        <p:spPr>
          <a:xfrm>
            <a:off x="7315200" y="2596896"/>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63" name="step-463"/>
          <p:cNvSpPr txBox="1"/>
          <p:nvPr/>
        </p:nvSpPr>
        <p:spPr>
          <a:xfrm>
            <a:off x="7845552" y="2569464"/>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Why 1 / U</a:t>
            </a:r>
            <a:endParaRPr lang="en-US" sz="1300" dirty="0"/>
          </a:p>
          <a:p>
            <a:pPr marL="0" indent="0" algn="l">
              <a:spcAft>
                <a:spcPts val="200"/>
              </a:spcAft>
              <a:buNone/>
            </a:pPr>
            <a:r>
              <a:rPr lang="en-US" sz="1300" dirty="0">
                <a:solidFill>
                  <a:schemeClr val="tx1"/>
                </a:solidFill>
              </a:rPr>
              <a:t>Every decade of U gets the same data: what a fit of log U, or of U to a fixed relative error, needs. 1 / U² would take 15.5 M solves, 11 times as many.</a:t>
            </a:r>
            <a:endParaRPr lang="en-US" sz="1300" dirty="0"/>
          </a:p>
        </p:txBody>
      </p:sp>
      <p:sp>
        <p:nvSpPr>
          <p:cNvPr id="464" name="badge-464"/>
          <p:cNvSpPr/>
          <p:nvPr/>
        </p:nvSpPr>
        <p:spPr>
          <a:xfrm>
            <a:off x="7315200" y="3840480"/>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65" name="step-465"/>
          <p:cNvSpPr txBox="1"/>
          <p:nvPr/>
        </p:nvSpPr>
        <p:spPr>
          <a:xfrm>
            <a:off x="7845552" y="3813048"/>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Levels 5 % apart</a:t>
            </a:r>
            <a:endParaRPr lang="en-US" sz="1300" dirty="0"/>
          </a:p>
          <a:p>
            <a:pPr marL="0" indent="0" algn="l">
              <a:spcAft>
                <a:spcPts val="200"/>
              </a:spcAft>
              <a:buNone/>
            </a:pPr>
            <a:r>
              <a:rPr lang="en-US" sz="1300" dirty="0">
                <a:solidFill>
                  <a:schemeClr val="tx1"/>
                </a:solidFill>
              </a:rPr>
              <a:t>74 levels Uₖ from 0.10 to 3.5. Each gets the target’s rows in its interval, less the grid’s rows already there, divided by four: one solve gives four rods.</a:t>
            </a:r>
            <a:endParaRPr lang="en-US" sz="1300" dirty="0"/>
          </a:p>
        </p:txBody>
      </p:sp>
      <p:sp>
        <p:nvSpPr>
          <p:cNvPr id="466" name="badge-466"/>
          <p:cNvSpPr/>
          <p:nvPr/>
        </p:nvSpPr>
        <p:spPr>
          <a:xfrm>
            <a:off x="7315200" y="5084064"/>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4</a:t>
            </a:r>
          </a:p>
        </p:txBody>
      </p:sp>
      <p:sp>
        <p:nvSpPr>
          <p:cNvPr id="467" name="step-467"/>
          <p:cNvSpPr txBox="1"/>
          <p:nvPr/>
        </p:nvSpPr>
        <p:spPr>
          <a:xfrm>
            <a:off x="7845552" y="5056632"/>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Planned before any solve</a:t>
            </a:r>
            <a:endParaRPr lang="en-US" sz="1300" dirty="0"/>
          </a:p>
          <a:p>
            <a:pPr marL="0" indent="0" algn="l">
              <a:spcAft>
                <a:spcPts val="200"/>
              </a:spcAft>
              <a:buNone/>
            </a:pPr>
            <a:r>
              <a:rPr lang="en-US" sz="1300" dirty="0">
                <a:solidFill>
                  <a:schemeClr val="tx1"/>
                </a:solidFill>
              </a:rPr>
              <a:t>A dry run places every point and predicts the histogram: 2.5 min for all 74 levels.</a:t>
            </a:r>
            <a:endParaRPr lang="en-US" sz="1300" dirty="0"/>
          </a:p>
        </p:txBody>
      </p:sp>
      <p:sp>
        <p:nvSpPr>
          <p:cNvPr id="480" name="card-480"/>
          <p:cNvSpPr/>
          <p:nvPr/>
        </p:nvSpPr>
        <p:spPr>
          <a:xfrm>
            <a:off x="548640" y="4913989"/>
            <a:ext cx="1889760" cy="1349651"/>
          </a:xfrm>
          <a:prstGeom prst="roundRect">
            <a:avLst>
              <a:gd name="adj" fmla="val 6000"/>
            </a:avLst>
          </a:prstGeom>
          <a:solidFill>
            <a:schemeClr val="bg2"/>
          </a:solidFill>
          <a:ln>
            <a:noFill/>
          </a:ln>
        </p:spPr>
        <p:txBody>
          <a:bodyPr/>
          <a:lstStyle/>
          <a:p>
            <a:endParaRPr lang="en-US"/>
          </a:p>
        </p:txBody>
      </p:sp>
      <p:sp>
        <p:nvSpPr>
          <p:cNvPr id="481" name="tile-big-481"/>
          <p:cNvSpPr txBox="1"/>
          <p:nvPr/>
        </p:nvSpPr>
        <p:spPr>
          <a:xfrm>
            <a:off x="73152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74</a:t>
            </a:r>
            <a:endParaRPr lang="en-US" sz="3000" dirty="0"/>
          </a:p>
        </p:txBody>
      </p:sp>
      <p:sp>
        <p:nvSpPr>
          <p:cNvPr id="482" name="tile-label-482"/>
          <p:cNvSpPr txBox="1"/>
          <p:nvPr/>
        </p:nvSpPr>
        <p:spPr>
          <a:xfrm>
            <a:off x="73152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levels</a:t>
            </a:r>
            <a:endParaRPr lang="en-US" sz="1400" dirty="0"/>
          </a:p>
        </p:txBody>
      </p:sp>
      <p:sp>
        <p:nvSpPr>
          <p:cNvPr id="483" name="tile-sub-483"/>
          <p:cNvSpPr txBox="1"/>
          <p:nvPr/>
        </p:nvSpPr>
        <p:spPr>
          <a:xfrm>
            <a:off x="73152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U = 0.10 to 3.5</a:t>
            </a:r>
            <a:endParaRPr lang="en-US" sz="1150" dirty="0"/>
          </a:p>
        </p:txBody>
      </p:sp>
      <p:sp>
        <p:nvSpPr>
          <p:cNvPr id="484" name="card-484"/>
          <p:cNvSpPr/>
          <p:nvPr/>
        </p:nvSpPr>
        <p:spPr>
          <a:xfrm>
            <a:off x="2667000" y="4913989"/>
            <a:ext cx="1889760" cy="1349651"/>
          </a:xfrm>
          <a:prstGeom prst="roundRect">
            <a:avLst>
              <a:gd name="adj" fmla="val 6000"/>
            </a:avLst>
          </a:prstGeom>
          <a:solidFill>
            <a:schemeClr val="bg2"/>
          </a:solidFill>
          <a:ln>
            <a:noFill/>
          </a:ln>
        </p:spPr>
        <p:txBody>
          <a:bodyPr/>
          <a:lstStyle/>
          <a:p>
            <a:endParaRPr lang="en-US"/>
          </a:p>
        </p:txBody>
      </p:sp>
      <p:sp>
        <p:nvSpPr>
          <p:cNvPr id="485" name="tile-big-485"/>
          <p:cNvSpPr txBox="1"/>
          <p:nvPr/>
        </p:nvSpPr>
        <p:spPr>
          <a:xfrm>
            <a:off x="284988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1.33 M</a:t>
            </a:r>
            <a:endParaRPr lang="en-US" sz="3000" dirty="0"/>
          </a:p>
        </p:txBody>
      </p:sp>
      <p:sp>
        <p:nvSpPr>
          <p:cNvPr id="486" name="tile-label-486"/>
          <p:cNvSpPr txBox="1"/>
          <p:nvPr/>
        </p:nvSpPr>
        <p:spPr>
          <a:xfrm>
            <a:off x="284988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points solved</a:t>
            </a:r>
            <a:endParaRPr lang="en-US" sz="1400" dirty="0"/>
          </a:p>
        </p:txBody>
      </p:sp>
      <p:sp>
        <p:nvSpPr>
          <p:cNvPr id="487" name="tile-sub-487"/>
          <p:cNvSpPr txBox="1"/>
          <p:nvPr/>
        </p:nvSpPr>
        <p:spPr>
          <a:xfrm>
            <a:off x="284988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none dropped</a:t>
            </a:r>
            <a:endParaRPr lang="en-US" sz="1150" dirty="0"/>
          </a:p>
        </p:txBody>
      </p:sp>
      <p:sp>
        <p:nvSpPr>
          <p:cNvPr id="488" name="card-488"/>
          <p:cNvSpPr/>
          <p:nvPr/>
        </p:nvSpPr>
        <p:spPr>
          <a:xfrm>
            <a:off x="4785360" y="4913989"/>
            <a:ext cx="1889760" cy="1349651"/>
          </a:xfrm>
          <a:prstGeom prst="roundRect">
            <a:avLst>
              <a:gd name="adj" fmla="val 6000"/>
            </a:avLst>
          </a:prstGeom>
          <a:solidFill>
            <a:schemeClr val="bg2"/>
          </a:solidFill>
          <a:ln>
            <a:noFill/>
          </a:ln>
        </p:spPr>
        <p:txBody>
          <a:bodyPr/>
          <a:lstStyle/>
          <a:p>
            <a:endParaRPr lang="en-US"/>
          </a:p>
        </p:txBody>
      </p:sp>
      <p:sp>
        <p:nvSpPr>
          <p:cNvPr id="489" name="tile-big-489"/>
          <p:cNvSpPr txBox="1"/>
          <p:nvPr/>
        </p:nvSpPr>
        <p:spPr>
          <a:xfrm>
            <a:off x="496824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1.81 M / U</a:t>
            </a:r>
            <a:endParaRPr lang="en-US" sz="3000" dirty="0"/>
          </a:p>
        </p:txBody>
      </p:sp>
      <p:sp>
        <p:nvSpPr>
          <p:cNvPr id="490" name="tile-label-490"/>
          <p:cNvSpPr txBox="1"/>
          <p:nvPr/>
        </p:nvSpPr>
        <p:spPr>
          <a:xfrm>
            <a:off x="496824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rows per unit U</a:t>
            </a:r>
            <a:endParaRPr lang="en-US" sz="1400" dirty="0"/>
          </a:p>
        </p:txBody>
      </p:sp>
      <p:sp>
        <p:nvSpPr>
          <p:cNvPr id="491" name="tile-sub-491"/>
          <p:cNvSpPr txBox="1"/>
          <p:nvPr/>
        </p:nvSpPr>
        <p:spPr>
          <a:xfrm>
            <a:off x="496824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measured, 0.12 ≤ U ≤ 3.5</a:t>
            </a:r>
            <a:endParaRPr lang="en-US" sz="1150" dirty="0"/>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pic>
        <p:nvPicPr>
          <p:cNvPr id="1004" name="Picture 1003" descr="iso_target.png"/>
          <p:cNvPicPr>
            <a:picLocks noChangeAspect="1"/>
          </p:cNvPicPr>
          <p:nvPr/>
        </p:nvPicPr>
        <p:blipFill>
          <a:blip r:embed="rId2"/>
          <a:stretch>
            <a:fillRect/>
          </a:stretch>
        </p:blipFill>
        <p:spPr>
          <a:xfrm>
            <a:off x="548640" y="1282822"/>
            <a:ext cx="6126480" cy="3399905"/>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Points spread evenly over each level surface</a:t>
            </a:r>
          </a:p>
        </p:txBody>
      </p:sp>
      <p:sp>
        <p:nvSpPr>
          <p:cNvPr id="460" name="badge-460"/>
          <p:cNvSpPr/>
          <p:nvPr/>
        </p:nvSpPr>
        <p:spPr>
          <a:xfrm>
            <a:off x="7315200" y="135331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61" name="step-461"/>
          <p:cNvSpPr txBox="1"/>
          <p:nvPr/>
        </p:nvSpPr>
        <p:spPr>
          <a:xfrm>
            <a:off x="7845552" y="1325880"/>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The level surface</a:t>
            </a:r>
            <a:endParaRPr lang="en-US" sz="1300" dirty="0"/>
          </a:p>
          <a:p>
            <a:pPr marL="0" indent="0" algn="l">
              <a:spcAft>
                <a:spcPts val="200"/>
              </a:spcAft>
              <a:buNone/>
            </a:pPr>
            <a:r>
              <a:rPr lang="en-US" sz="1300" dirty="0">
                <a:solidFill>
                  <a:schemeClr val="tx1"/>
                </a:solidFill>
              </a:rPr>
              <a:t>Marching tetrahedra over the 6 tetrahedra of every cell, only those with the bent-up rod at all four corners and no jump in q: the surface ends at the fold.</a:t>
            </a:r>
            <a:endParaRPr lang="en-US" sz="1300" dirty="0"/>
          </a:p>
        </p:txBody>
      </p:sp>
      <p:sp>
        <p:nvSpPr>
          <p:cNvPr id="462" name="badge-462"/>
          <p:cNvSpPr/>
          <p:nvPr/>
        </p:nvSpPr>
        <p:spPr>
          <a:xfrm>
            <a:off x="7315200" y="2596896"/>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63" name="step-463"/>
          <p:cNvSpPr txBox="1"/>
          <p:nvPr/>
        </p:nvSpPr>
        <p:spPr>
          <a:xfrm>
            <a:off x="7845552" y="2569464"/>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Candidates</a:t>
            </a:r>
            <a:endParaRPr lang="en-US" sz="1300" dirty="0"/>
          </a:p>
          <a:p>
            <a:pPr marL="0" indent="0" algn="l">
              <a:spcAft>
                <a:spcPts val="200"/>
              </a:spcAft>
              <a:buNone/>
            </a:pPr>
            <a:r>
              <a:rPr lang="en-US" sz="1300" dirty="0">
                <a:solidFill>
                  <a:schemeClr val="tx1"/>
                </a:solidFill>
              </a:rPr>
              <a:t>The surface’s own vertices, one per crossed grid edge, then a lattice inside every triangle at half the spacing.</a:t>
            </a:r>
            <a:endParaRPr lang="en-US" sz="1300" dirty="0"/>
          </a:p>
        </p:txBody>
      </p:sp>
      <p:sp>
        <p:nvSpPr>
          <p:cNvPr id="464" name="badge-464"/>
          <p:cNvSpPr/>
          <p:nvPr/>
        </p:nvSpPr>
        <p:spPr>
          <a:xfrm>
            <a:off x="7315200" y="3840480"/>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65" name="step-465"/>
          <p:cNvSpPr txBox="1"/>
          <p:nvPr/>
        </p:nvSpPr>
        <p:spPr>
          <a:xfrm>
            <a:off x="7845552" y="3813048"/>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Poisson-disk selection</a:t>
            </a:r>
            <a:endParaRPr lang="en-US" sz="1300" dirty="0"/>
          </a:p>
          <a:p>
            <a:pPr marL="0" indent="0" algn="l">
              <a:spcAft>
                <a:spcPts val="200"/>
              </a:spcAft>
              <a:buNone/>
            </a:pPr>
            <a:r>
              <a:rPr lang="en-US" sz="1300" dirty="0">
                <a:solidFill>
                  <a:schemeClr val="tx1"/>
                </a:solidFill>
              </a:rPr>
              <a:t>Vertices first, then lattice points, in random order: a point is kept unless a kept point lies within r. r is tuned per level to within 3 % of its target.</a:t>
            </a:r>
            <a:endParaRPr lang="en-US" sz="1300" dirty="0"/>
          </a:p>
        </p:txBody>
      </p:sp>
      <p:sp>
        <p:nvSpPr>
          <p:cNvPr id="466" name="badge-466"/>
          <p:cNvSpPr/>
          <p:nvPr/>
        </p:nvSpPr>
        <p:spPr>
          <a:xfrm>
            <a:off x="7315200" y="5084064"/>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4</a:t>
            </a:r>
          </a:p>
        </p:txBody>
      </p:sp>
      <p:sp>
        <p:nvSpPr>
          <p:cNvPr id="467" name="step-467"/>
          <p:cNvSpPr txBox="1"/>
          <p:nvPr/>
        </p:nvSpPr>
        <p:spPr>
          <a:xfrm>
            <a:off x="7845552" y="5056632"/>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Half the surface</a:t>
            </a:r>
            <a:endParaRPr lang="en-US" sz="1300" dirty="0"/>
          </a:p>
          <a:p>
            <a:pPr marL="0" indent="0" algn="l">
              <a:spcAft>
                <a:spcPts val="200"/>
              </a:spcAft>
              <a:buNone/>
            </a:pPr>
            <a:r>
              <a:rPr lang="en-US" sz="1300" dirty="0">
                <a:solidFill>
                  <a:schemeClr val="tx1"/>
                </a:solidFill>
              </a:rPr>
              <a:t>Only φ₁ + φ₂ ≥ 0 is placed; the mirror and the reflection give the other three rods. r never drops below 0.05 grid steps.</a:t>
            </a:r>
            <a:endParaRPr lang="en-US" sz="1300" dirty="0"/>
          </a:p>
        </p:txBody>
      </p:sp>
      <p:sp>
        <p:nvSpPr>
          <p:cNvPr id="480" name="card-480"/>
          <p:cNvSpPr/>
          <p:nvPr/>
        </p:nvSpPr>
        <p:spPr>
          <a:xfrm>
            <a:off x="548640" y="4913989"/>
            <a:ext cx="1889760" cy="1349651"/>
          </a:xfrm>
          <a:prstGeom prst="roundRect">
            <a:avLst>
              <a:gd name="adj" fmla="val 6000"/>
            </a:avLst>
          </a:prstGeom>
          <a:solidFill>
            <a:schemeClr val="bg2"/>
          </a:solidFill>
          <a:ln>
            <a:noFill/>
          </a:ln>
        </p:spPr>
        <p:txBody>
          <a:bodyPr/>
          <a:lstStyle/>
          <a:p>
            <a:endParaRPr lang="en-US"/>
          </a:p>
        </p:txBody>
      </p:sp>
      <p:sp>
        <p:nvSpPr>
          <p:cNvPr id="481" name="tile-big-481"/>
          <p:cNvSpPr txBox="1"/>
          <p:nvPr/>
        </p:nvSpPr>
        <p:spPr>
          <a:xfrm>
            <a:off x="73152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1.06 r</a:t>
            </a:r>
            <a:endParaRPr lang="en-US" sz="3000" dirty="0"/>
          </a:p>
        </p:txBody>
      </p:sp>
      <p:sp>
        <p:nvSpPr>
          <p:cNvPr id="482" name="tile-label-482"/>
          <p:cNvSpPr txBox="1"/>
          <p:nvPr/>
        </p:nvSpPr>
        <p:spPr>
          <a:xfrm>
            <a:off x="73152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median spacing</a:t>
            </a:r>
            <a:endParaRPr lang="en-US" sz="1400" dirty="0"/>
          </a:p>
        </p:txBody>
      </p:sp>
      <p:sp>
        <p:nvSpPr>
          <p:cNvPr id="483" name="tile-sub-483"/>
          <p:cNvSpPr txBox="1"/>
          <p:nvPr/>
        </p:nvSpPr>
        <p:spPr>
          <a:xfrm>
            <a:off x="73152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nearest neighbour, all levels</a:t>
            </a:r>
            <a:endParaRPr lang="en-US" sz="1150" dirty="0"/>
          </a:p>
        </p:txBody>
      </p:sp>
      <p:sp>
        <p:nvSpPr>
          <p:cNvPr id="484" name="card-484"/>
          <p:cNvSpPr/>
          <p:nvPr/>
        </p:nvSpPr>
        <p:spPr>
          <a:xfrm>
            <a:off x="2667000" y="4913989"/>
            <a:ext cx="1889760" cy="1349651"/>
          </a:xfrm>
          <a:prstGeom prst="roundRect">
            <a:avLst>
              <a:gd name="adj" fmla="val 6000"/>
            </a:avLst>
          </a:prstGeom>
          <a:solidFill>
            <a:schemeClr val="bg2"/>
          </a:solidFill>
          <a:ln>
            <a:noFill/>
          </a:ln>
        </p:spPr>
        <p:txBody>
          <a:bodyPr/>
          <a:lstStyle/>
          <a:p>
            <a:endParaRPr lang="en-US"/>
          </a:p>
        </p:txBody>
      </p:sp>
      <p:sp>
        <p:nvSpPr>
          <p:cNvPr id="485" name="tile-big-485"/>
          <p:cNvSpPr txBox="1"/>
          <p:nvPr/>
        </p:nvSpPr>
        <p:spPr>
          <a:xfrm>
            <a:off x="284988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1.54 r</a:t>
            </a:r>
            <a:endParaRPr lang="en-US" sz="3000" dirty="0"/>
          </a:p>
        </p:txBody>
      </p:sp>
      <p:sp>
        <p:nvSpPr>
          <p:cNvPr id="486" name="tile-label-486"/>
          <p:cNvSpPr txBox="1"/>
          <p:nvPr/>
        </p:nvSpPr>
        <p:spPr>
          <a:xfrm>
            <a:off x="284988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99.9 % closer</a:t>
            </a:r>
            <a:endParaRPr lang="en-US" sz="1400" dirty="0"/>
          </a:p>
        </p:txBody>
      </p:sp>
      <p:sp>
        <p:nvSpPr>
          <p:cNvPr id="487" name="tile-sub-487"/>
          <p:cNvSpPr txBox="1"/>
          <p:nvPr/>
        </p:nvSpPr>
        <p:spPr>
          <a:xfrm>
            <a:off x="284988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no wide gaps</a:t>
            </a:r>
            <a:endParaRPr lang="en-US" sz="1150" dirty="0"/>
          </a:p>
        </p:txBody>
      </p:sp>
      <p:sp>
        <p:nvSpPr>
          <p:cNvPr id="488" name="card-488"/>
          <p:cNvSpPr/>
          <p:nvPr/>
        </p:nvSpPr>
        <p:spPr>
          <a:xfrm>
            <a:off x="4785360" y="4913989"/>
            <a:ext cx="1889760" cy="1349651"/>
          </a:xfrm>
          <a:prstGeom prst="roundRect">
            <a:avLst>
              <a:gd name="adj" fmla="val 6000"/>
            </a:avLst>
          </a:prstGeom>
          <a:solidFill>
            <a:schemeClr val="bg2"/>
          </a:solidFill>
          <a:ln>
            <a:noFill/>
          </a:ln>
        </p:spPr>
        <p:txBody>
          <a:bodyPr/>
          <a:lstStyle/>
          <a:p>
            <a:endParaRPr lang="en-US"/>
          </a:p>
        </p:txBody>
      </p:sp>
      <p:sp>
        <p:nvSpPr>
          <p:cNvPr id="489" name="tile-big-489"/>
          <p:cNvSpPr txBox="1"/>
          <p:nvPr/>
        </p:nvSpPr>
        <p:spPr>
          <a:xfrm>
            <a:off x="496824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2.6 k</a:t>
            </a:r>
            <a:endParaRPr lang="en-US" sz="3000" dirty="0"/>
          </a:p>
        </p:txBody>
      </p:sp>
      <p:sp>
        <p:nvSpPr>
          <p:cNvPr id="490" name="tile-label-490"/>
          <p:cNvSpPr txBox="1"/>
          <p:nvPr/>
        </p:nvSpPr>
        <p:spPr>
          <a:xfrm>
            <a:off x="496824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on the lowest level</a:t>
            </a:r>
            <a:endParaRPr lang="en-US" sz="1400" dirty="0"/>
          </a:p>
        </p:txBody>
      </p:sp>
      <p:sp>
        <p:nvSpPr>
          <p:cNvPr id="491" name="tile-sub-491"/>
          <p:cNvSpPr txBox="1"/>
          <p:nvPr/>
        </p:nvSpPr>
        <p:spPr>
          <a:xfrm>
            <a:off x="496824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target 22 k: a tiny cap at d = 0.99</a:t>
            </a:r>
            <a:endParaRPr lang="en-US" sz="1150" dirty="0"/>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pic>
        <p:nvPicPr>
          <p:cNvPr id="1004" name="Picture 1003" descr="iso_surface.png"/>
          <p:cNvPicPr>
            <a:picLocks noChangeAspect="1"/>
          </p:cNvPicPr>
          <p:nvPr/>
        </p:nvPicPr>
        <p:blipFill>
          <a:blip r:embed="rId2"/>
          <a:stretch>
            <a:fillRect/>
          </a:stretch>
        </p:blipFill>
        <p:spPr>
          <a:xfrm>
            <a:off x="548640" y="1282822"/>
            <a:ext cx="6126480" cy="3399905"/>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Solve, then slide each point onto its level</a:t>
            </a:r>
          </a:p>
        </p:txBody>
      </p:sp>
      <p:sp>
        <p:nvSpPr>
          <p:cNvPr id="460" name="badge-460"/>
          <p:cNvSpPr/>
          <p:nvPr/>
        </p:nvSpPr>
        <p:spPr>
          <a:xfrm>
            <a:off x="7315200" y="135331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61" name="step-461"/>
          <p:cNvSpPr txBox="1"/>
          <p:nvPr/>
        </p:nvSpPr>
        <p:spPr>
          <a:xfrm>
            <a:off x="7845552" y="1325880"/>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Warm start from the corners</a:t>
            </a:r>
            <a:endParaRPr lang="en-US" sz="1300" dirty="0"/>
          </a:p>
          <a:p>
            <a:pPr marL="0" indent="0" algn="l">
              <a:spcAft>
                <a:spcPts val="200"/>
              </a:spcAft>
              <a:buNone/>
            </a:pPr>
            <a:r>
              <a:rPr lang="en-US" sz="1300" dirty="0">
                <a:solidFill>
                  <a:schemeClr val="tx1"/>
                </a:solidFill>
              </a:rPr>
              <a:t>As in the cell scheme: corners holding the bent-up rod, nearest first, at most 3 tries; no jump in q, and stable.</a:t>
            </a:r>
            <a:endParaRPr lang="en-US" sz="1300" dirty="0"/>
          </a:p>
        </p:txBody>
      </p:sp>
      <p:sp>
        <p:nvSpPr>
          <p:cNvPr id="462" name="badge-462"/>
          <p:cNvSpPr/>
          <p:nvPr/>
        </p:nvSpPr>
        <p:spPr>
          <a:xfrm>
            <a:off x="7315200" y="2596896"/>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63" name="step-463"/>
          <p:cNvSpPr txBox="1"/>
          <p:nvPr/>
        </p:nvSpPr>
        <p:spPr>
          <a:xfrm>
            <a:off x="7845552" y="2569464"/>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It lands near the level</a:t>
            </a:r>
            <a:endParaRPr lang="en-US" sz="1300" dirty="0"/>
          </a:p>
          <a:p>
            <a:pPr marL="0" indent="0" algn="l">
              <a:spcAft>
                <a:spcPts val="200"/>
              </a:spcAft>
              <a:buNone/>
            </a:pPr>
            <a:r>
              <a:rPr lang="en-US" sz="1300" dirty="0">
                <a:solidFill>
                  <a:schemeClr val="tx1"/>
                </a:solidFill>
              </a:rPr>
              <a:t>The surface came from linear interpolation, so the solve misses Uₖ slightly; near d = 0.99 by a few %.</a:t>
            </a:r>
            <a:endParaRPr lang="en-US" sz="1300" dirty="0"/>
          </a:p>
        </p:txBody>
      </p:sp>
      <p:sp>
        <p:nvSpPr>
          <p:cNvPr id="464" name="badge-464"/>
          <p:cNvSpPr/>
          <p:nvPr/>
        </p:nvSpPr>
        <p:spPr>
          <a:xfrm>
            <a:off x="7315200" y="3840480"/>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65" name="step-465"/>
          <p:cNvSpPr txBox="1"/>
          <p:nvPr/>
        </p:nvSpPr>
        <p:spPr>
          <a:xfrm>
            <a:off x="7845552" y="3813048"/>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The gradient comes free</a:t>
            </a:r>
            <a:endParaRPr lang="en-US" sz="1300" dirty="0"/>
          </a:p>
          <a:p>
            <a:pPr marL="0" indent="0" algn="l">
              <a:spcAft>
                <a:spcPts val="200"/>
              </a:spcAft>
              <a:buNone/>
            </a:pPr>
            <a:r>
              <a:rPr lang="en-US" sz="1300" dirty="0">
                <a:solidFill>
                  <a:schemeClr val="tx1"/>
                </a:solidFill>
              </a:rPr>
              <a:t>Envelope theorem: ∇U = (−fx, −M₁, M₂) in (d, φ₁, φ₂), which the solve already gives. Step by −(U − Uₖ) ∇U / |∇U|² and re-solve from the rod just found.</a:t>
            </a:r>
            <a:endParaRPr lang="en-US" sz="1300" dirty="0"/>
          </a:p>
        </p:txBody>
      </p:sp>
      <p:sp>
        <p:nvSpPr>
          <p:cNvPr id="466" name="badge-466"/>
          <p:cNvSpPr/>
          <p:nvPr/>
        </p:nvSpPr>
        <p:spPr>
          <a:xfrm>
            <a:off x="7315200" y="5084064"/>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4</a:t>
            </a:r>
          </a:p>
        </p:txBody>
      </p:sp>
      <p:sp>
        <p:nvSpPr>
          <p:cNvPr id="467" name="step-467"/>
          <p:cNvSpPr txBox="1"/>
          <p:nvPr/>
        </p:nvSpPr>
        <p:spPr>
          <a:xfrm>
            <a:off x="7845552" y="5056632"/>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Up to 4 steps</a:t>
            </a:r>
            <a:endParaRPr lang="en-US" sz="1300" dirty="0"/>
          </a:p>
          <a:p>
            <a:pPr marL="0" indent="0" algn="l">
              <a:spcAft>
                <a:spcPts val="200"/>
              </a:spcAft>
              <a:buNone/>
            </a:pPr>
            <a:r>
              <a:rPr lang="en-US" sz="1300" dirty="0">
                <a:solidFill>
                  <a:schemeClr val="tx1"/>
                </a:solidFill>
              </a:rPr>
              <a:t>Until |U / Uₖ − 1| &lt; 10⁻⁴. A step that would leave the box slides along its face.</a:t>
            </a:r>
            <a:endParaRPr lang="en-US" sz="1300" dirty="0"/>
          </a:p>
        </p:txBody>
      </p:sp>
      <p:sp>
        <p:nvSpPr>
          <p:cNvPr id="480" name="card-480"/>
          <p:cNvSpPr/>
          <p:nvPr/>
        </p:nvSpPr>
        <p:spPr>
          <a:xfrm>
            <a:off x="548640" y="4913989"/>
            <a:ext cx="1889760" cy="1349651"/>
          </a:xfrm>
          <a:prstGeom prst="roundRect">
            <a:avLst>
              <a:gd name="adj" fmla="val 6000"/>
            </a:avLst>
          </a:prstGeom>
          <a:solidFill>
            <a:schemeClr val="bg2"/>
          </a:solidFill>
          <a:ln>
            <a:noFill/>
          </a:ln>
        </p:spPr>
        <p:txBody>
          <a:bodyPr/>
          <a:lstStyle/>
          <a:p>
            <a:endParaRPr lang="en-US"/>
          </a:p>
        </p:txBody>
      </p:sp>
      <p:sp>
        <p:nvSpPr>
          <p:cNvPr id="481" name="tile-big-481"/>
          <p:cNvSpPr txBox="1"/>
          <p:nvPr/>
        </p:nvSpPr>
        <p:spPr>
          <a:xfrm>
            <a:off x="73152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99.78 %</a:t>
            </a:r>
            <a:endParaRPr lang="en-US" sz="3000" dirty="0"/>
          </a:p>
        </p:txBody>
      </p:sp>
      <p:sp>
        <p:nvSpPr>
          <p:cNvPr id="482" name="tile-label-482"/>
          <p:cNvSpPr txBox="1"/>
          <p:nvPr/>
        </p:nvSpPr>
        <p:spPr>
          <a:xfrm>
            <a:off x="73152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within 10⁻⁴</a:t>
            </a:r>
            <a:endParaRPr lang="en-US" sz="1400" dirty="0"/>
          </a:p>
        </p:txBody>
      </p:sp>
      <p:sp>
        <p:nvSpPr>
          <p:cNvPr id="483" name="tile-sub-483"/>
          <p:cNvSpPr txBox="1"/>
          <p:nvPr/>
        </p:nvSpPr>
        <p:spPr>
          <a:xfrm>
            <a:off x="73152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the rest: valid rods, 2.8 × 10⁻⁴ off</a:t>
            </a:r>
            <a:endParaRPr lang="en-US" sz="1150" dirty="0"/>
          </a:p>
        </p:txBody>
      </p:sp>
      <p:sp>
        <p:nvSpPr>
          <p:cNvPr id="484" name="card-484"/>
          <p:cNvSpPr/>
          <p:nvPr/>
        </p:nvSpPr>
        <p:spPr>
          <a:xfrm>
            <a:off x="2667000" y="4913989"/>
            <a:ext cx="1889760" cy="1349651"/>
          </a:xfrm>
          <a:prstGeom prst="roundRect">
            <a:avLst>
              <a:gd name="adj" fmla="val 6000"/>
            </a:avLst>
          </a:prstGeom>
          <a:solidFill>
            <a:schemeClr val="bg2"/>
          </a:solidFill>
          <a:ln>
            <a:noFill/>
          </a:ln>
        </p:spPr>
        <p:txBody>
          <a:bodyPr/>
          <a:lstStyle/>
          <a:p>
            <a:endParaRPr lang="en-US"/>
          </a:p>
        </p:txBody>
      </p:sp>
      <p:sp>
        <p:nvSpPr>
          <p:cNvPr id="485" name="tile-big-485"/>
          <p:cNvSpPr txBox="1"/>
          <p:nvPr/>
        </p:nvSpPr>
        <p:spPr>
          <a:xfrm>
            <a:off x="284988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1.55</a:t>
            </a:r>
            <a:endParaRPr lang="en-US" sz="3000" dirty="0"/>
          </a:p>
        </p:txBody>
      </p:sp>
      <p:sp>
        <p:nvSpPr>
          <p:cNvPr id="486" name="tile-label-486"/>
          <p:cNvSpPr txBox="1"/>
          <p:nvPr/>
        </p:nvSpPr>
        <p:spPr>
          <a:xfrm>
            <a:off x="284988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projection steps</a:t>
            </a:r>
            <a:endParaRPr lang="en-US" sz="1400" dirty="0"/>
          </a:p>
        </p:txBody>
      </p:sp>
      <p:sp>
        <p:nvSpPr>
          <p:cNvPr id="487" name="tile-sub-487"/>
          <p:cNvSpPr txBox="1"/>
          <p:nvPr/>
        </p:nvSpPr>
        <p:spPr>
          <a:xfrm>
            <a:off x="284988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mean per solve</a:t>
            </a:r>
            <a:endParaRPr lang="en-US" sz="1150" dirty="0"/>
          </a:p>
        </p:txBody>
      </p:sp>
      <p:sp>
        <p:nvSpPr>
          <p:cNvPr id="488" name="card-488"/>
          <p:cNvSpPr/>
          <p:nvPr/>
        </p:nvSpPr>
        <p:spPr>
          <a:xfrm>
            <a:off x="4785360" y="4913989"/>
            <a:ext cx="1889760" cy="1349651"/>
          </a:xfrm>
          <a:prstGeom prst="roundRect">
            <a:avLst>
              <a:gd name="adj" fmla="val 6000"/>
            </a:avLst>
          </a:prstGeom>
          <a:solidFill>
            <a:schemeClr val="bg2"/>
          </a:solidFill>
          <a:ln>
            <a:noFill/>
          </a:ln>
        </p:spPr>
        <p:txBody>
          <a:bodyPr/>
          <a:lstStyle/>
          <a:p>
            <a:endParaRPr lang="en-US"/>
          </a:p>
        </p:txBody>
      </p:sp>
      <p:sp>
        <p:nvSpPr>
          <p:cNvPr id="489" name="tile-big-489"/>
          <p:cNvSpPr txBox="1"/>
          <p:nvPr/>
        </p:nvSpPr>
        <p:spPr>
          <a:xfrm>
            <a:off x="496824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28 min</a:t>
            </a:r>
            <a:endParaRPr lang="en-US" sz="3000" dirty="0"/>
          </a:p>
        </p:txBody>
      </p:sp>
      <p:sp>
        <p:nvSpPr>
          <p:cNvPr id="490" name="tile-label-490"/>
          <p:cNvSpPr txBox="1"/>
          <p:nvPr/>
        </p:nvSpPr>
        <p:spPr>
          <a:xfrm>
            <a:off x="496824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on 14 workers</a:t>
            </a:r>
            <a:endParaRPr lang="en-US" sz="1400" dirty="0"/>
          </a:p>
        </p:txBody>
      </p:sp>
      <p:sp>
        <p:nvSpPr>
          <p:cNvPr id="491" name="tile-sub-491"/>
          <p:cNvSpPr txBox="1"/>
          <p:nvPr/>
        </p:nvSpPr>
        <p:spPr>
          <a:xfrm>
            <a:off x="496824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1.33 M solves</a:t>
            </a:r>
            <a:endParaRPr lang="en-US" sz="1150" dirty="0"/>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pic>
        <p:nvPicPr>
          <p:cNvPr id="1004" name="Picture 1003" descr="iso_projection.png"/>
          <p:cNvPicPr>
            <a:picLocks noChangeAspect="1"/>
          </p:cNvPicPr>
          <p:nvPr/>
        </p:nvPicPr>
        <p:blipFill>
          <a:blip r:embed="rId2"/>
          <a:stretch>
            <a:fillRect/>
          </a:stretch>
        </p:blipFill>
        <p:spPr>
          <a:xfrm>
            <a:off x="548640" y="1282822"/>
            <a:ext cx="6126480" cy="3399905"/>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Iso-energy sampling puts 45 % of the data below U = 1</a:t>
            </a:r>
          </a:p>
        </p:txBody>
      </p:sp>
      <p:sp>
        <p:nvSpPr>
          <p:cNvPr id="1002" name="text-103"/>
          <p:cNvSpPr txBox="1"/>
          <p:nvPr/>
        </p:nvSpPr>
        <p:spPr>
          <a:xfrm>
            <a:off x="1325880" y="5543019"/>
            <a:ext cx="9509760" cy="548640"/>
          </a:xfrm>
          <a:prstGeom prst="rect">
            <a:avLst/>
          </a:prstGeom>
          <a:noFill/>
          <a:ln/>
        </p:spPr>
        <p:txBody>
          <a:bodyPr wrap="square" lIns="0" tIns="0" rIns="0" bIns="0" rtlCol="0" anchor="t"/>
          <a:lstStyle/>
          <a:p>
            <a:pPr marL="0" indent="0">
              <a:buNone/>
            </a:pPr>
            <a:r>
              <a:rPr lang="en-US" sz="1100" i="1" dirty="0">
                <a:solidFill>
                  <a:schemeClr val="accent5"/>
                </a:solidFill>
              </a:rPr>
              <a:t>Same bins and axes as the cell scheme. The iso scheme adds 5.3 M states (1.33 M solves and their images), 74 % of them with U &lt; 1; the grid’s states are all kept. The lowest four levels, within 20 % of the lowest energy, are tiny caps on the d = 0.99 face and hold 2.6 k–21 k points instead of 22 k.</a:t>
            </a:r>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pic>
        <p:nvPicPr>
          <p:cNvPr id="1004" name="Picture 1003" descr="iso_histograms.png"/>
          <p:cNvPicPr>
            <a:picLocks noChangeAspect="1"/>
          </p:cNvPicPr>
          <p:nvPr/>
        </p:nvPicPr>
        <p:blipFill>
          <a:blip r:embed="rId2"/>
          <a:stretch>
            <a:fillRect/>
          </a:stretch>
        </p:blipFill>
        <p:spPr>
          <a:xfrm>
            <a:off x="1325880" y="1235733"/>
            <a:ext cx="9509760" cy="412311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idx="100" hasCustomPrompt="1"/>
          </p:nvPr>
        </p:nvSpPr>
        <p:spPr>
          <a:xfrm>
            <a:off x="822960" y="2377440"/>
            <a:ext cx="10515600" cy="1097280"/>
          </a:xfrm>
          <a:prstGeom prst="rect">
            <a:avLst/>
          </a:prstGeom>
          <a:noFill/>
          <a:ln/>
        </p:spPr>
        <p:txBody>
          <a:bodyPr wrap="square" lIns="0" tIns="0" rIns="0" bIns="0" rtlCol="0" anchor="b"/>
          <a:lstStyle/>
          <a:p>
            <a:pPr marL="0" indent="0" algn="l">
              <a:buNone/>
            </a:pPr>
            <a:r>
              <a:rPr lang="en-US" sz="4000" b="1">
                <a:solidFill>
                  <a:schemeClr val="bg1"/>
                </a:solidFill>
              </a:rPr>
              <a:t>Energy-shell </a:t>
            </a:r>
            <a:r>
              <a:rPr lang="en-US" sz="4000" b="1" dirty="0">
                <a:solidFill>
                  <a:schemeClr val="bg1"/>
                </a:solidFill>
              </a:rPr>
              <a:t>sampling</a:t>
            </a:r>
            <a:endParaRPr lang="en-US" sz="4000" dirty="0"/>
          </a:p>
        </p:txBody>
      </p:sp>
      <p:sp>
        <p:nvSpPr>
          <p:cNvPr id="3" name="Subtitle"/>
          <p:cNvSpPr>
            <a:spLocks noGrp="1"/>
          </p:cNvSpPr>
          <p:nvPr>
            <p:ph type="body" idx="101" hasCustomPrompt="1"/>
          </p:nvPr>
        </p:nvSpPr>
        <p:spPr>
          <a:xfrm>
            <a:off x="822960" y="3657600"/>
            <a:ext cx="10515600" cy="822960"/>
          </a:xfrm>
          <a:prstGeom prst="rect">
            <a:avLst/>
          </a:prstGeom>
          <a:noFill/>
          <a:ln/>
        </p:spPr>
        <p:txBody>
          <a:bodyPr wrap="square" lIns="0" tIns="0" rIns="0" bIns="0" rtlCol="0" anchor="t"/>
          <a:lstStyle/>
          <a:p>
            <a:pPr marL="0" indent="0">
              <a:buNone/>
            </a:pPr>
            <a:r>
              <a:rPr lang="en-US" sz="2000" dirty="0">
                <a:solidFill>
                  <a:schemeClr val="accent1"/>
                </a:solidFill>
              </a:rPr>
              <a:t>A third scheme: the same target, with the points spread through the shells between the levels instead of on them: 9.0 M states, 46 % with U &lt; 1</a:t>
            </a:r>
            <a:endParaRPr lang="en-US" sz="20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Points on the levels leave the energies between them empty</a:t>
            </a:r>
          </a:p>
        </p:txBody>
      </p:sp>
      <p:sp>
        <p:nvSpPr>
          <p:cNvPr id="1002" name="text-103"/>
          <p:cNvSpPr txBox="1"/>
          <p:nvPr/>
        </p:nvSpPr>
        <p:spPr>
          <a:xfrm>
            <a:off x="1325880" y="5543019"/>
            <a:ext cx="9509760" cy="548640"/>
          </a:xfrm>
          <a:prstGeom prst="rect">
            <a:avLst/>
          </a:prstGeom>
          <a:noFill/>
          <a:ln/>
        </p:spPr>
        <p:txBody>
          <a:bodyPr wrap="square" lIns="0" tIns="0" rIns="0" bIns="0" rtlCol="0" anchor="t"/>
          <a:lstStyle/>
          <a:p>
            <a:pPr marL="0" indent="0">
              <a:buNone/>
            </a:pPr>
            <a:r>
              <a:rPr lang="en-US" sz="1100" i="1" dirty="0">
                <a:solidFill>
                  <a:schemeClr val="accent5"/>
                </a:solidFill>
              </a:rPr>
              <a:t>Left: energies of the new states from U = 0.9 to 1.2, on 0.24 % bins. The iso scheme’s sit on its levels (dotted), 5 % apart: all of them within 0.5 % of a level. The shells’ fill the range: 18 % within 0.5 % of a level, about what evenly spread energies give. Right: in space the two look alike at this scale; a slab of d a third of a grid step thick holds 4.4 k and 4.0 k points. The gap is in the energies.</a:t>
            </a:r>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pic>
        <p:nvPicPr>
          <p:cNvPr id="1004" name="Picture 1003" descr="shell_comb.png"/>
          <p:cNvPicPr>
            <a:picLocks noChangeAspect="1"/>
          </p:cNvPicPr>
          <p:nvPr/>
        </p:nvPicPr>
        <p:blipFill>
          <a:blip r:embed="rId2"/>
          <a:stretch>
            <a:fillRect/>
          </a:stretch>
        </p:blipFill>
        <p:spPr>
          <a:xfrm>
            <a:off x="1325880" y="1235733"/>
            <a:ext cx="9509760" cy="4123112"/>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Fill the shell between two levels</a:t>
            </a:r>
          </a:p>
        </p:txBody>
      </p:sp>
      <p:sp>
        <p:nvSpPr>
          <p:cNvPr id="460" name="badge-460"/>
          <p:cNvSpPr/>
          <p:nvPr/>
        </p:nvSpPr>
        <p:spPr>
          <a:xfrm>
            <a:off x="7315200" y="135331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1</a:t>
            </a:r>
          </a:p>
        </p:txBody>
      </p:sp>
      <p:sp>
        <p:nvSpPr>
          <p:cNvPr id="461" name="step-461"/>
          <p:cNvSpPr txBox="1"/>
          <p:nvPr/>
        </p:nvSpPr>
        <p:spPr>
          <a:xfrm>
            <a:off x="7845552" y="1325880"/>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Same target, levels as bin edges</a:t>
            </a:r>
            <a:endParaRPr lang="en-US" sz="1300" dirty="0"/>
          </a:p>
          <a:p>
            <a:pPr marL="0" indent="0" algn="l">
              <a:spcAft>
                <a:spcPts val="200"/>
              </a:spcAft>
              <a:buNone/>
            </a:pPr>
            <a:r>
              <a:rPr lang="en-US" sz="1300" dirty="0">
                <a:solidFill>
                  <a:schemeClr val="tx1"/>
                </a:solidFill>
              </a:rPr>
              <a:t>H(U) = 1.81 M / U up to Uₚ ≈ 3.5, in 74 bins 5 % wide; each gets the target’s rows less the grid’s, divided by four.</a:t>
            </a:r>
            <a:endParaRPr lang="en-US" sz="1300" dirty="0"/>
          </a:p>
        </p:txBody>
      </p:sp>
      <p:sp>
        <p:nvSpPr>
          <p:cNvPr id="462" name="badge-462"/>
          <p:cNvSpPr/>
          <p:nvPr/>
        </p:nvSpPr>
        <p:spPr>
          <a:xfrm>
            <a:off x="7315200" y="2596896"/>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2</a:t>
            </a:r>
          </a:p>
        </p:txBody>
      </p:sp>
      <p:sp>
        <p:nvSpPr>
          <p:cNvPr id="463" name="step-463"/>
          <p:cNvSpPr txBox="1"/>
          <p:nvPr/>
        </p:nvSpPr>
        <p:spPr>
          <a:xfrm>
            <a:off x="7845552" y="2569464"/>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The shell</a:t>
            </a:r>
            <a:endParaRPr lang="en-US" sz="1300" dirty="0"/>
          </a:p>
          <a:p>
            <a:pPr marL="0" indent="0" algn="l">
              <a:spcAft>
                <a:spcPts val="200"/>
              </a:spcAft>
              <a:buNone/>
            </a:pPr>
            <a:r>
              <a:rPr lang="en-US" sz="1300" dirty="0">
                <a:solidFill>
                  <a:schemeClr val="tx1"/>
                </a:solidFill>
              </a:rPr>
              <a:t>Where the energy interpolant over the jump-free bent-up tetrahedra lies in the bin: it ends at the fold and at the box.</a:t>
            </a:r>
            <a:endParaRPr lang="en-US" sz="1300" dirty="0"/>
          </a:p>
        </p:txBody>
      </p:sp>
      <p:sp>
        <p:nvSpPr>
          <p:cNvPr id="464" name="badge-464"/>
          <p:cNvSpPr/>
          <p:nvPr/>
        </p:nvSpPr>
        <p:spPr>
          <a:xfrm>
            <a:off x="7315200" y="3840480"/>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3</a:t>
            </a:r>
          </a:p>
        </p:txBody>
      </p:sp>
      <p:sp>
        <p:nvSpPr>
          <p:cNvPr id="465" name="step-465"/>
          <p:cNvSpPr txBox="1"/>
          <p:nvPr/>
        </p:nvSpPr>
        <p:spPr>
          <a:xfrm>
            <a:off x="7845552" y="3813048"/>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Uniform candidates, Poisson disk in 3D</a:t>
            </a:r>
            <a:endParaRPr lang="en-US" sz="1300" dirty="0"/>
          </a:p>
          <a:p>
            <a:pPr marL="0" indent="0" algn="l">
              <a:spcAft>
                <a:spcPts val="200"/>
              </a:spcAft>
              <a:buNone/>
            </a:pPr>
            <a:r>
              <a:rPr lang="en-US" sz="1300" dirty="0">
                <a:solidFill>
                  <a:schemeClr val="tx1"/>
                </a:solidFill>
              </a:rPr>
              <a:t>The same number of random points in every tetrahedron the bin crosses, kept inside the shell, 12 per point wanted; a greedy 3D Poisson-disk pass keeps the target, r tuned per bin.</a:t>
            </a:r>
            <a:endParaRPr lang="en-US" sz="1300" dirty="0"/>
          </a:p>
        </p:txBody>
      </p:sp>
      <p:sp>
        <p:nvSpPr>
          <p:cNvPr id="466" name="badge-466"/>
          <p:cNvSpPr/>
          <p:nvPr/>
        </p:nvSpPr>
        <p:spPr>
          <a:xfrm>
            <a:off x="7315200" y="5084064"/>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4</a:t>
            </a:r>
          </a:p>
        </p:txBody>
      </p:sp>
      <p:sp>
        <p:nvSpPr>
          <p:cNvPr id="467" name="step-467"/>
          <p:cNvSpPr txBox="1"/>
          <p:nvPr/>
        </p:nvSpPr>
        <p:spPr>
          <a:xfrm>
            <a:off x="7845552" y="5056632"/>
            <a:ext cx="3794760" cy="118872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Solve, then project onto the plan</a:t>
            </a:r>
            <a:endParaRPr lang="en-US" sz="1300" dirty="0"/>
          </a:p>
          <a:p>
            <a:pPr marL="0" indent="0" algn="l">
              <a:spcAft>
                <a:spcPts val="200"/>
              </a:spcAft>
              <a:buNone/>
            </a:pPr>
            <a:r>
              <a:rPr lang="en-US" sz="1300" dirty="0">
                <a:solidFill>
                  <a:schemeClr val="tx1"/>
                </a:solidFill>
              </a:rPr>
              <a:t>Warm start from the corners, then along ∇U = (−fx, −M₁, M₂) to the point’s planned energy, within 10⁻⁴. Stopping at the bin edge instead piles states up there.</a:t>
            </a:r>
            <a:endParaRPr lang="en-US" sz="1300" dirty="0"/>
          </a:p>
        </p:txBody>
      </p:sp>
      <p:sp>
        <p:nvSpPr>
          <p:cNvPr id="480" name="card-480"/>
          <p:cNvSpPr/>
          <p:nvPr/>
        </p:nvSpPr>
        <p:spPr>
          <a:xfrm>
            <a:off x="548640" y="4913989"/>
            <a:ext cx="1889760" cy="1349651"/>
          </a:xfrm>
          <a:prstGeom prst="roundRect">
            <a:avLst>
              <a:gd name="adj" fmla="val 6000"/>
            </a:avLst>
          </a:prstGeom>
          <a:solidFill>
            <a:schemeClr val="bg2"/>
          </a:solidFill>
          <a:ln>
            <a:noFill/>
          </a:ln>
        </p:spPr>
        <p:txBody>
          <a:bodyPr/>
          <a:lstStyle/>
          <a:p>
            <a:endParaRPr lang="en-US"/>
          </a:p>
        </p:txBody>
      </p:sp>
      <p:sp>
        <p:nvSpPr>
          <p:cNvPr id="481" name="tile-big-481"/>
          <p:cNvSpPr txBox="1"/>
          <p:nvPr/>
        </p:nvSpPr>
        <p:spPr>
          <a:xfrm>
            <a:off x="73152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1.36 M</a:t>
            </a:r>
            <a:endParaRPr lang="en-US" sz="3000" dirty="0"/>
          </a:p>
        </p:txBody>
      </p:sp>
      <p:sp>
        <p:nvSpPr>
          <p:cNvPr id="482" name="tile-label-482"/>
          <p:cNvSpPr txBox="1"/>
          <p:nvPr/>
        </p:nvSpPr>
        <p:spPr>
          <a:xfrm>
            <a:off x="73152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points solved</a:t>
            </a:r>
            <a:endParaRPr lang="en-US" sz="1400" dirty="0"/>
          </a:p>
        </p:txBody>
      </p:sp>
      <p:sp>
        <p:nvSpPr>
          <p:cNvPr id="483" name="tile-sub-483"/>
          <p:cNvSpPr txBox="1"/>
          <p:nvPr/>
        </p:nvSpPr>
        <p:spPr>
          <a:xfrm>
            <a:off x="73152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planned in 69 s, none dropped</a:t>
            </a:r>
            <a:endParaRPr lang="en-US" sz="1150" dirty="0"/>
          </a:p>
        </p:txBody>
      </p:sp>
      <p:sp>
        <p:nvSpPr>
          <p:cNvPr id="484" name="card-484"/>
          <p:cNvSpPr/>
          <p:nvPr/>
        </p:nvSpPr>
        <p:spPr>
          <a:xfrm>
            <a:off x="2667000" y="4913989"/>
            <a:ext cx="1889760" cy="1349651"/>
          </a:xfrm>
          <a:prstGeom prst="roundRect">
            <a:avLst>
              <a:gd name="adj" fmla="val 6000"/>
            </a:avLst>
          </a:prstGeom>
          <a:solidFill>
            <a:schemeClr val="bg2"/>
          </a:solidFill>
          <a:ln>
            <a:noFill/>
          </a:ln>
        </p:spPr>
        <p:txBody>
          <a:bodyPr/>
          <a:lstStyle/>
          <a:p>
            <a:endParaRPr lang="en-US"/>
          </a:p>
        </p:txBody>
      </p:sp>
      <p:sp>
        <p:nvSpPr>
          <p:cNvPr id="485" name="tile-big-485"/>
          <p:cNvSpPr txBox="1"/>
          <p:nvPr/>
        </p:nvSpPr>
        <p:spPr>
          <a:xfrm>
            <a:off x="284988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99.64 %</a:t>
            </a:r>
            <a:endParaRPr lang="en-US" sz="3000" dirty="0"/>
          </a:p>
        </p:txBody>
      </p:sp>
      <p:sp>
        <p:nvSpPr>
          <p:cNvPr id="486" name="tile-label-486"/>
          <p:cNvSpPr txBox="1"/>
          <p:nvPr/>
        </p:nvSpPr>
        <p:spPr>
          <a:xfrm>
            <a:off x="284988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within 10⁻⁴ of plan</a:t>
            </a:r>
            <a:endParaRPr lang="en-US" sz="1400" dirty="0"/>
          </a:p>
        </p:txBody>
      </p:sp>
      <p:sp>
        <p:nvSpPr>
          <p:cNvPr id="487" name="tile-sub-487"/>
          <p:cNvSpPr txBox="1"/>
          <p:nvPr/>
        </p:nvSpPr>
        <p:spPr>
          <a:xfrm>
            <a:off x="284988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99.95 % in their bin</a:t>
            </a:r>
            <a:endParaRPr lang="en-US" sz="1150" dirty="0"/>
          </a:p>
        </p:txBody>
      </p:sp>
      <p:sp>
        <p:nvSpPr>
          <p:cNvPr id="488" name="card-488"/>
          <p:cNvSpPr/>
          <p:nvPr/>
        </p:nvSpPr>
        <p:spPr>
          <a:xfrm>
            <a:off x="4785360" y="4913989"/>
            <a:ext cx="1889760" cy="1349651"/>
          </a:xfrm>
          <a:prstGeom prst="roundRect">
            <a:avLst>
              <a:gd name="adj" fmla="val 6000"/>
            </a:avLst>
          </a:prstGeom>
          <a:solidFill>
            <a:schemeClr val="bg2"/>
          </a:solidFill>
          <a:ln>
            <a:noFill/>
          </a:ln>
        </p:spPr>
        <p:txBody>
          <a:bodyPr/>
          <a:lstStyle/>
          <a:p>
            <a:endParaRPr lang="en-US"/>
          </a:p>
        </p:txBody>
      </p:sp>
      <p:sp>
        <p:nvSpPr>
          <p:cNvPr id="489" name="tile-big-489"/>
          <p:cNvSpPr txBox="1"/>
          <p:nvPr/>
        </p:nvSpPr>
        <p:spPr>
          <a:xfrm>
            <a:off x="4968240" y="4968853"/>
            <a:ext cx="1524000" cy="548640"/>
          </a:xfrm>
          <a:prstGeom prst="rect">
            <a:avLst/>
          </a:prstGeom>
          <a:noFill/>
          <a:ln/>
        </p:spPr>
        <p:txBody>
          <a:bodyPr wrap="square" lIns="0" tIns="0" rIns="0" bIns="0" rtlCol="0" anchor="ctr">
            <a:normAutofit/>
          </a:bodyPr>
          <a:lstStyle/>
          <a:p>
            <a:pPr marL="0" indent="0" algn="l">
              <a:spcAft>
                <a:spcPts val="0"/>
              </a:spcAft>
              <a:buNone/>
            </a:pPr>
            <a:r>
              <a:rPr lang="en-US" sz="3000" b="1" dirty="0">
                <a:solidFill>
                  <a:schemeClr val="accent1"/>
                </a:solidFill>
              </a:rPr>
              <a:t>29 min</a:t>
            </a:r>
            <a:endParaRPr lang="en-US" sz="3000" dirty="0"/>
          </a:p>
        </p:txBody>
      </p:sp>
      <p:sp>
        <p:nvSpPr>
          <p:cNvPr id="490" name="tile-label-490"/>
          <p:cNvSpPr txBox="1"/>
          <p:nvPr/>
        </p:nvSpPr>
        <p:spPr>
          <a:xfrm>
            <a:off x="4968240" y="5517493"/>
            <a:ext cx="152400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on 14 workers</a:t>
            </a:r>
            <a:endParaRPr lang="en-US" sz="1400" dirty="0"/>
          </a:p>
        </p:txBody>
      </p:sp>
      <p:sp>
        <p:nvSpPr>
          <p:cNvPr id="491" name="tile-sub-491"/>
          <p:cNvSpPr txBox="1"/>
          <p:nvPr/>
        </p:nvSpPr>
        <p:spPr>
          <a:xfrm>
            <a:off x="4968240" y="5810101"/>
            <a:ext cx="152400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1.62 projection steps on average</a:t>
            </a:r>
            <a:endParaRPr lang="en-US" sz="1150" dirty="0"/>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pic>
        <p:nvPicPr>
          <p:cNvPr id="1004" name="Picture 1003" descr="shell_points.png"/>
          <p:cNvPicPr>
            <a:picLocks noChangeAspect="1"/>
          </p:cNvPicPr>
          <p:nvPr/>
        </p:nvPicPr>
        <p:blipFill>
          <a:blip r:embed="rId2"/>
          <a:stretch>
            <a:fillRect/>
          </a:stretch>
        </p:blipFill>
        <p:spPr>
          <a:xfrm>
            <a:off x="548640" y="1282822"/>
            <a:ext cx="6126480" cy="3399905"/>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Three schemes on the same bins</a:t>
            </a:r>
          </a:p>
        </p:txBody>
      </p:sp>
      <p:sp>
        <p:nvSpPr>
          <p:cNvPr id="1002" name="text-103"/>
          <p:cNvSpPr txBox="1"/>
          <p:nvPr/>
        </p:nvSpPr>
        <p:spPr>
          <a:xfrm>
            <a:off x="1325880" y="5543019"/>
            <a:ext cx="9509760" cy="548640"/>
          </a:xfrm>
          <a:prstGeom prst="rect">
            <a:avLst/>
          </a:prstGeom>
          <a:noFill/>
          <a:ln/>
        </p:spPr>
        <p:txBody>
          <a:bodyPr wrap="square" lIns="0" tIns="0" rIns="0" bIns="0" rtlCol="0" anchor="t"/>
          <a:lstStyle/>
          <a:p>
            <a:pPr marL="0" indent="0">
              <a:buNone/>
            </a:pPr>
            <a:r>
              <a:rPr lang="en-US" sz="1100" i="1" dirty="0">
                <a:solidFill>
                  <a:schemeClr val="accent5"/>
                </a:solidFill>
              </a:rPr>
              <a:t>The shells add 5.4 M states (1.36 M solves and their images) and match the iso scheme bin for bin at this scale: 46 % of the data below U = 1, against 29 % per cell. In the smallest bins, caps at d = 0.99, a 3D shell holds more points than a surface: 5.4 k, 11 k and 17 k in the lowest three, against 2.6 k, 8.4 k and 15 k; the target is 22 k.</a:t>
            </a:r>
          </a:p>
        </p:txBody>
      </p:sp>
      <p:sp>
        <p:nvSpPr>
          <p:cNvPr id="100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pic>
        <p:nvPicPr>
          <p:cNvPr id="1004" name="Picture 1003" descr="shell_histograms.png"/>
          <p:cNvPicPr>
            <a:picLocks noChangeAspect="1"/>
          </p:cNvPicPr>
          <p:nvPr/>
        </p:nvPicPr>
        <p:blipFill>
          <a:blip r:embed="rId2"/>
          <a:stretch>
            <a:fillRect/>
          </a:stretch>
        </p:blipFill>
        <p:spPr>
          <a:xfrm>
            <a:off x="1325880" y="1235733"/>
            <a:ext cx="9509760" cy="4123112"/>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idx="100" hasCustomPrompt="1"/>
          </p:nvPr>
        </p:nvSpPr>
        <p:spPr>
          <a:xfrm>
            <a:off x="822960" y="2377440"/>
            <a:ext cx="10515600" cy="1097280"/>
          </a:xfrm>
          <a:prstGeom prst="rect">
            <a:avLst/>
          </a:prstGeom>
          <a:noFill/>
          <a:ln/>
        </p:spPr>
        <p:txBody>
          <a:bodyPr wrap="square" lIns="0" tIns="0" rIns="0" bIns="0" rtlCol="0" anchor="b"/>
          <a:lstStyle/>
          <a:p>
            <a:pPr marL="0" indent="0" algn="l">
              <a:buNone/>
            </a:pPr>
            <a:r>
              <a:rPr lang="en-US" sz="4000" b="1" dirty="0">
                <a:solidFill>
                  <a:schemeClr val="bg1"/>
                </a:solidFill>
              </a:rPr>
              <a:t>A neural-network surrogate</a:t>
            </a:r>
            <a:endParaRPr lang="en-US" sz="4000" dirty="0"/>
          </a:p>
        </p:txBody>
      </p:sp>
      <p:sp>
        <p:nvSpPr>
          <p:cNvPr id="3" name="Subtitle"/>
          <p:cNvSpPr>
            <a:spLocks noGrp="1"/>
          </p:cNvSpPr>
          <p:nvPr>
            <p:ph type="body" idx="101" hasCustomPrompt="1"/>
          </p:nvPr>
        </p:nvSpPr>
        <p:spPr>
          <a:xfrm>
            <a:off x="822960" y="3657600"/>
            <a:ext cx="10515600" cy="822960"/>
          </a:xfrm>
          <a:prstGeom prst="rect">
            <a:avLst/>
          </a:prstGeom>
          <a:noFill/>
          <a:ln/>
        </p:spPr>
        <p:txBody>
          <a:bodyPr wrap="square" lIns="0" tIns="0" rIns="0" bIns="0" rtlCol="0" anchor="t"/>
          <a:lstStyle/>
          <a:p>
            <a:pPr marL="0" indent="0">
              <a:buNone/>
            </a:pPr>
            <a:r>
              <a:rPr lang="en-US" sz="2000" dirty="0">
                <a:solidFill>
                  <a:schemeClr val="accent1"/>
                </a:solidFill>
              </a:rPr>
              <a:t>A fast formula, fitted to 9 million solver results, that gives U, M₁, M₂, fx, fy and which shapes exist at any clamp setting; and how far it can be trusted</a:t>
            </a:r>
            <a:endParaRPr lang="en-US" sz="20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0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Why replace the solver with a network?</a:t>
            </a:r>
          </a:p>
        </p:txBody>
      </p:sp>
      <p:sp>
        <p:nvSpPr>
          <p:cNvPr id="2002"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A solve takes 18 ms and must start from a solved neighbour; the network answers any clamp setting in microseconds, with exact derivatives.</a:t>
            </a:r>
          </a:p>
        </p:txBody>
      </p:sp>
      <p:pic>
        <p:nvPicPr>
          <p:cNvPr id="2000" name="Picture nn_speed.png" descr="nn_speed.png"/>
          <p:cNvPicPr>
            <a:picLocks noChangeAspect="1"/>
          </p:cNvPicPr>
          <p:nvPr/>
        </p:nvPicPr>
        <p:blipFill>
          <a:blip r:embed="rId2"/>
          <a:stretch>
            <a:fillRect/>
          </a:stretch>
        </p:blipFill>
        <p:spPr>
          <a:xfrm>
            <a:off x="548640" y="1691640"/>
            <a:ext cx="5852160" cy="4114800"/>
          </a:xfrm>
          <a:prstGeom prst="rect">
            <a:avLst/>
          </a:prstGeom>
        </p:spPr>
      </p:pic>
      <p:sp>
        <p:nvSpPr>
          <p:cNvPr id="2003" name="badge-1"/>
          <p:cNvSpPr/>
          <p:nvPr/>
        </p:nvSpPr>
        <p:spPr>
          <a:xfrm>
            <a:off x="6675120" y="1719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1</a:t>
            </a:r>
          </a:p>
        </p:txBody>
      </p:sp>
      <p:sp>
        <p:nvSpPr>
          <p:cNvPr id="2004" name="step-1"/>
          <p:cNvSpPr txBox="1"/>
          <p:nvPr/>
        </p:nvSpPr>
        <p:spPr>
          <a:xfrm>
            <a:off x="7132320" y="1691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The solver</a:t>
            </a:r>
          </a:p>
          <a:p>
            <a:pPr marL="0" indent="0" algn="l">
              <a:spcAft>
                <a:spcPts val="200"/>
              </a:spcAft>
              <a:buNone/>
            </a:pPr>
            <a:r>
              <a:rPr lang="en-US" sz="1250" dirty="0">
                <a:solidFill>
                  <a:schemeClr val="tx1"/>
                </a:solidFill>
              </a:rPr>
              <a:t xml:space="preserve">Newton iterations on 203 unknowns at every point, each started from an already-solved neighbour: 17.9 ms of one CPU core, 5 hours per million states.</a:t>
            </a:r>
          </a:p>
        </p:txBody>
      </p:sp>
      <p:sp>
        <p:nvSpPr>
          <p:cNvPr id="2005" name="badge-2"/>
          <p:cNvSpPr/>
          <p:nvPr/>
        </p:nvSpPr>
        <p:spPr>
          <a:xfrm>
            <a:off x="6675120" y="2862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2</a:t>
            </a:r>
          </a:p>
        </p:txBody>
      </p:sp>
      <p:sp>
        <p:nvSpPr>
          <p:cNvPr id="2006" name="step-2"/>
          <p:cNvSpPr txBox="1"/>
          <p:nvPr/>
        </p:nvSpPr>
        <p:spPr>
          <a:xfrm>
            <a:off x="7132320" y="2834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The surrogate</a:t>
            </a:r>
          </a:p>
          <a:p>
            <a:pPr marL="0" indent="0" algn="l">
              <a:spcAft>
                <a:spcPts val="200"/>
              </a:spcAft>
              <a:buNone/>
            </a:pPr>
            <a:r>
              <a:rPr lang="en-US" sz="1250" dirty="0">
                <a:solidFill>
                  <a:schemeClr val="tx1"/>
                </a:solidFill>
              </a:rPr>
              <a:t xml:space="preserve">One formula, evaluated at any (d, φ₁, φ₂) and either shape, with no neighbour needed: 0.46 µs per state on a GPU, 7.6 µs on a CPU.</a:t>
            </a:r>
          </a:p>
        </p:txBody>
      </p:sp>
      <p:sp>
        <p:nvSpPr>
          <p:cNvPr id="2007" name="badge-3"/>
          <p:cNvSpPr/>
          <p:nvPr/>
        </p:nvSpPr>
        <p:spPr>
          <a:xfrm>
            <a:off x="6675120" y="4005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3</a:t>
            </a:r>
          </a:p>
        </p:txBody>
      </p:sp>
      <p:sp>
        <p:nvSpPr>
          <p:cNvPr id="2008" name="step-3"/>
          <p:cNvSpPr txBox="1"/>
          <p:nvPr/>
        </p:nvSpPr>
        <p:spPr>
          <a:xfrm>
            <a:off x="7132320" y="3977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What that is for</a:t>
            </a:r>
          </a:p>
          <a:p>
            <a:pPr marL="0" indent="0" algn="l">
              <a:spcAft>
                <a:spcPts val="200"/>
              </a:spcAft>
              <a:buNone/>
            </a:pPr>
            <a:r>
              <a:rPr lang="en-US" sz="1250" dirty="0">
                <a:solidFill>
                  <a:schemeClr val="tx1"/>
                </a:solidFill>
              </a:rPr>
              <a:t xml:space="preserve">Sweeps over millions of clamp settings, and optimisation or control loops that need many evaluations and their derivatives.</a:t>
            </a:r>
          </a:p>
        </p:txBody>
      </p:sp>
      <p:sp>
        <p:nvSpPr>
          <p:cNvPr id="2009" name="badge-4"/>
          <p:cNvSpPr/>
          <p:nvPr/>
        </p:nvSpPr>
        <p:spPr>
          <a:xfrm>
            <a:off x="6675120" y="5148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4</a:t>
            </a:r>
          </a:p>
        </p:txBody>
      </p:sp>
      <p:sp>
        <p:nvSpPr>
          <p:cNvPr id="2010" name="step-4"/>
          <p:cNvSpPr txBox="1"/>
          <p:nvPr/>
        </p:nvSpPr>
        <p:spPr>
          <a:xfrm>
            <a:off x="7132320" y="5120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The price</a:t>
            </a:r>
          </a:p>
          <a:p>
            <a:pPr marL="0" indent="0" algn="l">
              <a:spcAft>
                <a:spcPts val="200"/>
              </a:spcAft>
              <a:buNone/>
            </a:pPr>
            <a:r>
              <a:rPr lang="en-US" sz="1250" dirty="0">
                <a:solidFill>
                  <a:schemeClr val="tx1"/>
                </a:solidFill>
              </a:rPr>
              <a:t xml:space="preserve">It is a fit, so it carries an error. The slides that follow measure that error, and where it is largest.</a:t>
            </a:r>
          </a:p>
        </p:txBody>
      </p:sp>
      <p:sp>
        <p:nvSpPr>
          <p:cNvPr id="201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13"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What is a neural network?</a:t>
            </a:r>
          </a:p>
        </p:txBody>
      </p:sp>
      <p:sp>
        <p:nvSpPr>
          <p:cNvPr id="2014"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A flexible formula built from many simple units. Fitting sets its 662 thousand numbers so that it reproduces the solver’s results.</a:t>
            </a:r>
          </a:p>
        </p:txBody>
      </p:sp>
      <p:pic>
        <p:nvPicPr>
          <p:cNvPr id="2012" name="Picture nn_unit.png" descr="nn_unit.png"/>
          <p:cNvPicPr>
            <a:picLocks noChangeAspect="1"/>
          </p:cNvPicPr>
          <p:nvPr/>
        </p:nvPicPr>
        <p:blipFill>
          <a:blip r:embed="rId2"/>
          <a:stretch>
            <a:fillRect/>
          </a:stretch>
        </p:blipFill>
        <p:spPr>
          <a:xfrm>
            <a:off x="548640" y="1691640"/>
            <a:ext cx="5852160" cy="4114800"/>
          </a:xfrm>
          <a:prstGeom prst="rect">
            <a:avLst/>
          </a:prstGeom>
        </p:spPr>
      </p:pic>
      <p:sp>
        <p:nvSpPr>
          <p:cNvPr id="2015" name="badge-1"/>
          <p:cNvSpPr/>
          <p:nvPr/>
        </p:nvSpPr>
        <p:spPr>
          <a:xfrm>
            <a:off x="6675120" y="1719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1</a:t>
            </a:r>
          </a:p>
        </p:txBody>
      </p:sp>
      <p:sp>
        <p:nvSpPr>
          <p:cNvPr id="2016" name="step-1"/>
          <p:cNvSpPr txBox="1"/>
          <p:nvPr/>
        </p:nvSpPr>
        <p:spPr>
          <a:xfrm>
            <a:off x="7132320" y="1691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One unit</a:t>
            </a:r>
          </a:p>
          <a:p>
            <a:pPr marL="0" indent="0" algn="l">
              <a:spcAft>
                <a:spcPts val="200"/>
              </a:spcAft>
              <a:buNone/>
            </a:pPr>
            <a:r>
              <a:rPr lang="en-US" sz="1250" dirty="0">
                <a:solidFill>
                  <a:schemeClr val="tx1"/>
                </a:solidFill>
              </a:rPr>
              <a:t xml:space="preserve">Takes a weighted sum of its inputs, adds a constant, and bends the result with a smooth curve (bottom left).</a:t>
            </a:r>
          </a:p>
        </p:txBody>
      </p:sp>
      <p:sp>
        <p:nvSpPr>
          <p:cNvPr id="2017" name="badge-2"/>
          <p:cNvSpPr/>
          <p:nvPr/>
        </p:nvSpPr>
        <p:spPr>
          <a:xfrm>
            <a:off x="6675120" y="2862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2</a:t>
            </a:r>
          </a:p>
        </p:txBody>
      </p:sp>
      <p:sp>
        <p:nvSpPr>
          <p:cNvPr id="2018" name="step-2"/>
          <p:cNvSpPr txBox="1"/>
          <p:nvPr/>
        </p:nvSpPr>
        <p:spPr>
          <a:xfrm>
            <a:off x="7132320" y="2834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Layers of units</a:t>
            </a:r>
          </a:p>
          <a:p>
            <a:pPr marL="0" indent="0" algn="l">
              <a:spcAft>
                <a:spcPts val="200"/>
              </a:spcAft>
              <a:buNone/>
            </a:pPr>
            <a:r>
              <a:rPr lang="en-US" sz="1250" dirty="0">
                <a:solidFill>
                  <a:schemeClr val="tx1"/>
                </a:solidFill>
              </a:rPr>
              <a:t xml:space="preserve">Each layer feeds the next: 6 layers of 256 units. Stacking simple bends lets the formula follow curved, steep surfaces such as U(d, φ₁, φ₂).</a:t>
            </a:r>
          </a:p>
        </p:txBody>
      </p:sp>
      <p:sp>
        <p:nvSpPr>
          <p:cNvPr id="2019" name="badge-3"/>
          <p:cNvSpPr/>
          <p:nvPr/>
        </p:nvSpPr>
        <p:spPr>
          <a:xfrm>
            <a:off x="6675120" y="4005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3</a:t>
            </a:r>
          </a:p>
        </p:txBody>
      </p:sp>
      <p:sp>
        <p:nvSpPr>
          <p:cNvPr id="2020" name="step-3"/>
          <p:cNvSpPr txBox="1"/>
          <p:nvPr/>
        </p:nvSpPr>
        <p:spPr>
          <a:xfrm>
            <a:off x="7132320" y="3977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Fitting</a:t>
            </a:r>
          </a:p>
          <a:p>
            <a:pPr marL="0" indent="0" algn="l">
              <a:spcAft>
                <a:spcPts val="200"/>
              </a:spcAft>
              <a:buNone/>
            </a:pPr>
            <a:r>
              <a:rPr lang="en-US" sz="1250" dirty="0">
                <a:solidFill>
                  <a:schemeClr val="tx1"/>
                </a:solidFill>
              </a:rPr>
              <a:t xml:space="preserve">Start from random weights; again and again, compare with the solver on a batch of states and nudge every weight to reduce the mismatch (gradient descent).</a:t>
            </a:r>
          </a:p>
        </p:txBody>
      </p:sp>
      <p:sp>
        <p:nvSpPr>
          <p:cNvPr id="2021" name="badge-4"/>
          <p:cNvSpPr/>
          <p:nvPr/>
        </p:nvSpPr>
        <p:spPr>
          <a:xfrm>
            <a:off x="6675120" y="5148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4</a:t>
            </a:r>
          </a:p>
        </p:txBody>
      </p:sp>
      <p:sp>
        <p:nvSpPr>
          <p:cNvPr id="2022" name="step-4"/>
          <p:cNvSpPr txBox="1"/>
          <p:nvPr/>
        </p:nvSpPr>
        <p:spPr>
          <a:xfrm>
            <a:off x="7132320" y="5120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Why a smooth bend</a:t>
            </a:r>
          </a:p>
          <a:p>
            <a:pPr marL="0" indent="0" algn="l">
              <a:spcAft>
                <a:spcPts val="200"/>
              </a:spcAft>
              <a:buNone/>
            </a:pPr>
            <a:r>
              <a:rPr lang="en-US" sz="1250" dirty="0">
                <a:solidFill>
                  <a:schemeClr val="tx1"/>
                </a:solidFill>
              </a:rPr>
              <a:t xml:space="preserve">The formula can then be differentiated exactly everywhere, which the forces need (slide 55).</a:t>
            </a:r>
          </a:p>
        </p:txBody>
      </p:sp>
      <p:sp>
        <p:nvSpPr>
          <p:cNvPr id="202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5"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What goes in, and what comes out?</a:t>
            </a:r>
          </a:p>
        </p:txBody>
      </p:sp>
      <p:sp>
        <p:nvSpPr>
          <p:cNvPr id="2026"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In: the clamp setting and the shape, bent up or bent down. Out: U, M₁, M₂ and whether that shape exists. The forces follow from U.</a:t>
            </a:r>
          </a:p>
        </p:txBody>
      </p:sp>
      <p:pic>
        <p:nvPicPr>
          <p:cNvPr id="2024" name="Picture nn_io.png" descr="nn_io.png"/>
          <p:cNvPicPr>
            <a:picLocks noChangeAspect="1"/>
          </p:cNvPicPr>
          <p:nvPr/>
        </p:nvPicPr>
        <p:blipFill>
          <a:blip r:embed="rId2"/>
          <a:stretch>
            <a:fillRect/>
          </a:stretch>
        </p:blipFill>
        <p:spPr>
          <a:xfrm>
            <a:off x="548640" y="1691640"/>
            <a:ext cx="5852160" cy="4114800"/>
          </a:xfrm>
          <a:prstGeom prst="rect">
            <a:avLst/>
          </a:prstGeom>
        </p:spPr>
      </p:pic>
      <p:sp>
        <p:nvSpPr>
          <p:cNvPr id="2027" name="badge-1"/>
          <p:cNvSpPr/>
          <p:nvPr/>
        </p:nvSpPr>
        <p:spPr>
          <a:xfrm>
            <a:off x="6675120" y="1719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1</a:t>
            </a:r>
          </a:p>
        </p:txBody>
      </p:sp>
      <p:sp>
        <p:nvSpPr>
          <p:cNvPr id="2028" name="step-1"/>
          <p:cNvSpPr txBox="1"/>
          <p:nvPr/>
        </p:nvSpPr>
        <p:spPr>
          <a:xfrm>
            <a:off x="7132320" y="1691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The shape is an input</a:t>
            </a:r>
          </a:p>
          <a:p>
            <a:pPr marL="0" indent="0" algn="l">
              <a:spcAft>
                <a:spcPts val="200"/>
              </a:spcAft>
              <a:buNone/>
            </a:pPr>
            <a:r>
              <a:rPr lang="en-US" sz="1250" dirty="0">
                <a:solidFill>
                  <a:schemeClr val="tx1"/>
                </a:solidFill>
              </a:rPr>
              <a:t xml:space="preserve">Where both shapes exist, one clamp setting has two answers: b = +1 or −1 says which one is wanted.</a:t>
            </a:r>
          </a:p>
        </p:txBody>
      </p:sp>
      <p:sp>
        <p:nvSpPr>
          <p:cNvPr id="2029" name="badge-2"/>
          <p:cNvSpPr/>
          <p:nvPr/>
        </p:nvSpPr>
        <p:spPr>
          <a:xfrm>
            <a:off x="6675120" y="2862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2</a:t>
            </a:r>
          </a:p>
        </p:txBody>
      </p:sp>
      <p:sp>
        <p:nvSpPr>
          <p:cNvPr id="2030" name="step-2"/>
          <p:cNvSpPr txBox="1"/>
          <p:nvPr/>
        </p:nvSpPr>
        <p:spPr>
          <a:xfrm>
            <a:off x="7132320" y="2834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The energy network</a:t>
            </a:r>
          </a:p>
          <a:p>
            <a:pPr marL="0" indent="0" algn="l">
              <a:spcAft>
                <a:spcPts val="200"/>
              </a:spcAft>
              <a:buNone/>
            </a:pPr>
            <a:r>
              <a:rPr lang="en-US" sz="1250" dirty="0">
                <a:solidFill>
                  <a:schemeClr val="tx1"/>
                </a:solidFill>
              </a:rPr>
              <a:t xml:space="preserve">Gives U, M₁ and M₂ of that shape. It works with ln U and asinh M rather than U and M (slides 57 and 58).</a:t>
            </a:r>
          </a:p>
        </p:txBody>
      </p:sp>
      <p:sp>
        <p:nvSpPr>
          <p:cNvPr id="2031" name="badge-3"/>
          <p:cNvSpPr/>
          <p:nvPr/>
        </p:nvSpPr>
        <p:spPr>
          <a:xfrm>
            <a:off x="6675120" y="4005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3</a:t>
            </a:r>
          </a:p>
        </p:txBody>
      </p:sp>
      <p:sp>
        <p:nvSpPr>
          <p:cNvPr id="2032" name="step-3"/>
          <p:cNvSpPr txBox="1"/>
          <p:nvPr/>
        </p:nvSpPr>
        <p:spPr>
          <a:xfrm>
            <a:off x="7132320" y="3977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The existence network</a:t>
            </a:r>
          </a:p>
          <a:p>
            <a:pPr marL="0" indent="0" algn="l">
              <a:spcAft>
                <a:spcPts val="200"/>
              </a:spcAft>
              <a:buNone/>
            </a:pPr>
            <a:r>
              <a:rPr lang="en-US" sz="1250" dirty="0">
                <a:solidFill>
                  <a:schemeClr val="tx1"/>
                </a:solidFill>
              </a:rPr>
              <a:t xml:space="preserve">Gives the probability that the shape exists there: past a fold the rod has snapped, and there is no such state.</a:t>
            </a:r>
          </a:p>
        </p:txBody>
      </p:sp>
      <p:sp>
        <p:nvSpPr>
          <p:cNvPr id="2033" name="badge-4"/>
          <p:cNvSpPr/>
          <p:nvPr/>
        </p:nvSpPr>
        <p:spPr>
          <a:xfrm>
            <a:off x="6675120" y="5148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4</a:t>
            </a:r>
          </a:p>
        </p:txBody>
      </p:sp>
      <p:sp>
        <p:nvSpPr>
          <p:cNvPr id="2034" name="step-4"/>
          <p:cNvSpPr txBox="1"/>
          <p:nvPr/>
        </p:nvSpPr>
        <p:spPr>
          <a:xfrm>
            <a:off x="7132320" y="5120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The forces</a:t>
            </a:r>
          </a:p>
          <a:p>
            <a:pPr marL="0" indent="0" algn="l">
              <a:spcAft>
                <a:spcPts val="200"/>
              </a:spcAft>
              <a:buNone/>
            </a:pPr>
            <a:r>
              <a:rPr lang="en-US" sz="1250" dirty="0">
                <a:solidFill>
                  <a:schemeClr val="tx1"/>
                </a:solidFill>
              </a:rPr>
              <a:t xml:space="preserve">Not separate outputs: fx and fy are slopes of the network’s U, computed exactly (next slide).</a:t>
            </a:r>
          </a:p>
        </p:txBody>
      </p:sp>
      <p:sp>
        <p:nvSpPr>
          <p:cNvPr id="203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37"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Why can the forces come from the energy?</a:t>
            </a:r>
          </a:p>
        </p:txBody>
      </p:sp>
      <p:sp>
        <p:nvSpPr>
          <p:cNvPr id="2038"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Because the end loads are the slopes of U: fx = −∂U/∂d, M₁ = −∂U/∂φ₁, M₂ = ∂U/∂φ₂, and fy follows from a rotation.</a:t>
            </a:r>
          </a:p>
        </p:txBody>
      </p:sp>
      <p:pic>
        <p:nvPicPr>
          <p:cNvPr id="2036" name="Picture nn_slopes.png" descr="nn_slopes.png"/>
          <p:cNvPicPr>
            <a:picLocks noChangeAspect="1"/>
          </p:cNvPicPr>
          <p:nvPr/>
        </p:nvPicPr>
        <p:blipFill>
          <a:blip r:embed="rId2"/>
          <a:stretch>
            <a:fillRect/>
          </a:stretch>
        </p:blipFill>
        <p:spPr>
          <a:xfrm>
            <a:off x="548640" y="1691640"/>
            <a:ext cx="5852160" cy="4114800"/>
          </a:xfrm>
          <a:prstGeom prst="rect">
            <a:avLst/>
          </a:prstGeom>
        </p:spPr>
      </p:pic>
      <p:sp>
        <p:nvSpPr>
          <p:cNvPr id="2039" name="badge-1"/>
          <p:cNvSpPr/>
          <p:nvPr/>
        </p:nvSpPr>
        <p:spPr>
          <a:xfrm>
            <a:off x="6675120" y="1719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1</a:t>
            </a:r>
          </a:p>
        </p:txBody>
      </p:sp>
      <p:sp>
        <p:nvSpPr>
          <p:cNvPr id="2040" name="step-1"/>
          <p:cNvSpPr txBox="1"/>
          <p:nvPr/>
        </p:nvSpPr>
        <p:spPr>
          <a:xfrm>
            <a:off x="7132320" y="1691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Work done at the ends</a:t>
            </a:r>
          </a:p>
          <a:p>
            <a:pPr marL="0" indent="0" algn="l">
              <a:spcAft>
                <a:spcPts val="200"/>
              </a:spcAft>
              <a:buNone/>
            </a:pPr>
            <a:r>
              <a:rPr lang="en-US" sz="1250" dirty="0">
                <a:solidFill>
                  <a:schemeClr val="tx1"/>
                </a:solidFill>
              </a:rPr>
              <a:t xml:space="preserve">Moving the clamps changes the stored energy by the work of the end loads: dU = −fx dd − M₁ dφ₁ + M₂ dφ₂ (the envelope theorem).</a:t>
            </a:r>
          </a:p>
        </p:txBody>
      </p:sp>
      <p:sp>
        <p:nvSpPr>
          <p:cNvPr id="2041" name="badge-2"/>
          <p:cNvSpPr/>
          <p:nvPr/>
        </p:nvSpPr>
        <p:spPr>
          <a:xfrm>
            <a:off x="6675120" y="2862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2</a:t>
            </a:r>
          </a:p>
        </p:txBody>
      </p:sp>
      <p:sp>
        <p:nvSpPr>
          <p:cNvPr id="2042" name="step-2"/>
          <p:cNvSpPr txBox="1"/>
          <p:nvPr/>
        </p:nvSpPr>
        <p:spPr>
          <a:xfrm>
            <a:off x="7132320" y="2834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fy from a rotation</a:t>
            </a:r>
          </a:p>
          <a:p>
            <a:pPr marL="0" indent="0" algn="l">
              <a:spcAft>
                <a:spcPts val="200"/>
              </a:spcAft>
              <a:buNone/>
            </a:pPr>
            <a:r>
              <a:rPr lang="en-US" sz="1250" dirty="0">
                <a:solidFill>
                  <a:schemeClr val="tx1"/>
                </a:solidFill>
              </a:rPr>
              <a:t xml:space="preserve">Turning the whole rod by α changes nothing but moves its end sideways by d α, so fy = (∂U/∂φ₁ + ∂U/∂φ₂) / d.</a:t>
            </a:r>
          </a:p>
        </p:txBody>
      </p:sp>
      <p:sp>
        <p:nvSpPr>
          <p:cNvPr id="2043" name="badge-3"/>
          <p:cNvSpPr/>
          <p:nvPr/>
        </p:nvSpPr>
        <p:spPr>
          <a:xfrm>
            <a:off x="6675120" y="4005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3</a:t>
            </a:r>
          </a:p>
        </p:txBody>
      </p:sp>
      <p:sp>
        <p:nvSpPr>
          <p:cNvPr id="2044" name="step-3"/>
          <p:cNvSpPr txBox="1"/>
          <p:nvPr/>
        </p:nvSpPr>
        <p:spPr>
          <a:xfrm>
            <a:off x="7132320" y="3977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Checked on the solver</a:t>
            </a:r>
          </a:p>
          <a:p>
            <a:pPr marL="0" indent="0" algn="l">
              <a:spcAft>
                <a:spcPts val="200"/>
              </a:spcAft>
              <a:buNone/>
            </a:pPr>
            <a:r>
              <a:rPr lang="en-US" sz="1250" dirty="0">
                <a:solidFill>
                  <a:schemeClr val="tx1"/>
                </a:solidFill>
              </a:rPr>
              <a:t xml:space="preserve">Slopes of the solver’s own U between grid points match its fx, M₁ and M₂ to 1 part in 10⁴. Left: the tangents, at one clamp setting.</a:t>
            </a:r>
          </a:p>
        </p:txBody>
      </p:sp>
      <p:sp>
        <p:nvSpPr>
          <p:cNvPr id="2045" name="badge-4"/>
          <p:cNvSpPr/>
          <p:nvPr/>
        </p:nvSpPr>
        <p:spPr>
          <a:xfrm>
            <a:off x="6675120" y="5148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4</a:t>
            </a:r>
          </a:p>
        </p:txBody>
      </p:sp>
      <p:sp>
        <p:nvSpPr>
          <p:cNvPr id="2046" name="step-4"/>
          <p:cNvSpPr txBox="1"/>
          <p:nvPr/>
        </p:nvSpPr>
        <p:spPr>
          <a:xfrm>
            <a:off x="7132320" y="5120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What it buys</a:t>
            </a:r>
          </a:p>
          <a:p>
            <a:pPr marL="0" indent="0" algn="l">
              <a:spcAft>
                <a:spcPts val="200"/>
              </a:spcAft>
              <a:buNone/>
            </a:pPr>
            <a:r>
              <a:rPr lang="en-US" sz="1250" dirty="0">
                <a:solidFill>
                  <a:schemeClr val="tx1"/>
                </a:solidFill>
              </a:rPr>
              <a:t xml:space="preserve">Forces consistent with the energy by construction, from exact derivatives of the formula, not from differences between nearby points.</a:t>
            </a:r>
          </a:p>
        </p:txBody>
      </p:sp>
      <p:sp>
        <p:nvSpPr>
          <p:cNvPr id="204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49"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Which data is it fitted to, and how is it tested?</a:t>
            </a:r>
          </a:p>
        </p:txBody>
      </p:sp>
      <p:sp>
        <p:nvSpPr>
          <p:cNvPr id="2050"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11.4 million solver results. One grid cell in five is held back, whole, and used only to measure the error.</a:t>
            </a:r>
          </a:p>
        </p:txBody>
      </p:sp>
      <p:pic>
        <p:nvPicPr>
          <p:cNvPr id="2048" name="Picture nn_data.png" descr="nn_data.png"/>
          <p:cNvPicPr>
            <a:picLocks noChangeAspect="1"/>
          </p:cNvPicPr>
          <p:nvPr/>
        </p:nvPicPr>
        <p:blipFill>
          <a:blip r:embed="rId2"/>
          <a:stretch>
            <a:fillRect/>
          </a:stretch>
        </p:blipFill>
        <p:spPr>
          <a:xfrm>
            <a:off x="548640" y="1691640"/>
            <a:ext cx="5852160" cy="4114800"/>
          </a:xfrm>
          <a:prstGeom prst="rect">
            <a:avLst/>
          </a:prstGeom>
        </p:spPr>
      </p:pic>
      <p:sp>
        <p:nvSpPr>
          <p:cNvPr id="2051" name="badge-1"/>
          <p:cNvSpPr/>
          <p:nvPr/>
        </p:nvSpPr>
        <p:spPr>
          <a:xfrm>
            <a:off x="6675120" y="1719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1</a:t>
            </a:r>
          </a:p>
        </p:txBody>
      </p:sp>
      <p:sp>
        <p:nvSpPr>
          <p:cNvPr id="2052" name="step-1"/>
          <p:cNvSpPr txBox="1"/>
          <p:nvPr/>
        </p:nvSpPr>
        <p:spPr>
          <a:xfrm>
            <a:off x="7132320" y="1691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The states</a:t>
            </a:r>
          </a:p>
          <a:p>
            <a:pPr marL="0" indent="0" algn="l">
              <a:spcAft>
                <a:spcPts val="200"/>
              </a:spcAft>
              <a:buNone/>
            </a:pPr>
            <a:r>
              <a:rPr lang="en-US" sz="1250" dirty="0">
                <a:solidFill>
                  <a:schemeClr val="tx1"/>
                </a:solidFill>
              </a:rPr>
              <a:t xml:space="preserve">9.04 million solved states of both shapes, denser where the energy is low (the refinement schemes earlier in the deck).</a:t>
            </a:r>
          </a:p>
        </p:txBody>
      </p:sp>
      <p:sp>
        <p:nvSpPr>
          <p:cNvPr id="2053" name="badge-2"/>
          <p:cNvSpPr/>
          <p:nvPr/>
        </p:nvSpPr>
        <p:spPr>
          <a:xfrm>
            <a:off x="6675120" y="2862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2</a:t>
            </a:r>
          </a:p>
        </p:txBody>
      </p:sp>
      <p:sp>
        <p:nvSpPr>
          <p:cNvPr id="2054" name="step-2"/>
          <p:cNvSpPr txBox="1"/>
          <p:nvPr/>
        </p:nvSpPr>
        <p:spPr>
          <a:xfrm>
            <a:off x="7132320" y="2834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The no-state points</a:t>
            </a:r>
          </a:p>
          <a:p>
            <a:pPr marL="0" indent="0" algn="l">
              <a:spcAft>
                <a:spcPts val="200"/>
              </a:spcAft>
              <a:buNone/>
            </a:pPr>
            <a:r>
              <a:rPr lang="en-US" sz="1250" dirty="0">
                <a:solidFill>
                  <a:schemeClr val="tx1"/>
                </a:solidFill>
              </a:rPr>
              <a:t xml:space="preserve">2.34 million grid points past a fold, where the chosen shape does not exist: the examples for the existence network.</a:t>
            </a:r>
          </a:p>
        </p:txBody>
      </p:sp>
      <p:sp>
        <p:nvSpPr>
          <p:cNvPr id="2055" name="badge-3"/>
          <p:cNvSpPr/>
          <p:nvPr/>
        </p:nvSpPr>
        <p:spPr>
          <a:xfrm>
            <a:off x="6675120" y="4005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3</a:t>
            </a:r>
          </a:p>
        </p:txBody>
      </p:sp>
      <p:sp>
        <p:nvSpPr>
          <p:cNvPr id="2056" name="step-3"/>
          <p:cNvSpPr txBox="1"/>
          <p:nvPr/>
        </p:nvSpPr>
        <p:spPr>
          <a:xfrm>
            <a:off x="7132320" y="3977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Held back</a:t>
            </a:r>
          </a:p>
          <a:p>
            <a:pPr marL="0" indent="0" algn="l">
              <a:spcAft>
                <a:spcPts val="200"/>
              </a:spcAft>
              <a:buNone/>
            </a:pPr>
            <a:r>
              <a:rPr lang="en-US" sz="1250" dirty="0">
                <a:solidFill>
                  <a:schemeClr val="tx1"/>
                </a:solidFill>
              </a:rPr>
              <a:t xml:space="preserve">20 % of the grid cells, drawn at random in each energy band, are never shown to the fit. Every error on the following slides is measured on them.</a:t>
            </a:r>
          </a:p>
        </p:txBody>
      </p:sp>
      <p:sp>
        <p:nvSpPr>
          <p:cNvPr id="2057" name="badge-4"/>
          <p:cNvSpPr/>
          <p:nvPr/>
        </p:nvSpPr>
        <p:spPr>
          <a:xfrm>
            <a:off x="6675120" y="5148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4</a:t>
            </a:r>
          </a:p>
        </p:txBody>
      </p:sp>
      <p:sp>
        <p:nvSpPr>
          <p:cNvPr id="2058" name="step-4"/>
          <p:cNvSpPr txBox="1"/>
          <p:nvPr/>
        </p:nvSpPr>
        <p:spPr>
          <a:xfrm>
            <a:off x="7132320" y="5120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Mirror images together</a:t>
            </a:r>
          </a:p>
          <a:p>
            <a:pPr marL="0" indent="0" algn="l">
              <a:spcAft>
                <a:spcPts val="200"/>
              </a:spcAft>
              <a:buNone/>
            </a:pPr>
            <a:r>
              <a:rPr lang="en-US" sz="1250" dirty="0">
                <a:solidFill>
                  <a:schemeClr val="tx1"/>
                </a:solidFill>
              </a:rPr>
              <a:t xml:space="preserve">A state and its mirror images always fall on the same side, so no held-back state is the mirror of a fitted one.</a:t>
            </a:r>
          </a:p>
        </p:txBody>
      </p:sp>
      <p:sp>
        <p:nvSpPr>
          <p:cNvPr id="205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70"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Why fit ln U instead of U?</a:t>
            </a:r>
          </a:p>
        </p:txBody>
      </p:sp>
      <p:sp>
        <p:nvSpPr>
          <p:cNvPr id="2071"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U spans 0.1 to 142. Fitted directly, the large energies would dominate the fit; fitted as ln U, every state counts by its relative error.</a:t>
            </a:r>
          </a:p>
        </p:txBody>
      </p:sp>
      <p:pic>
        <p:nvPicPr>
          <p:cNvPr id="2060" name="Picture nn_log.png" descr="nn_log.png"/>
          <p:cNvPicPr>
            <a:picLocks noChangeAspect="1"/>
          </p:cNvPicPr>
          <p:nvPr/>
        </p:nvPicPr>
        <p:blipFill>
          <a:blip r:embed="rId2"/>
          <a:stretch>
            <a:fillRect/>
          </a:stretch>
        </p:blipFill>
        <p:spPr>
          <a:xfrm>
            <a:off x="1051560" y="1691640"/>
            <a:ext cx="10058400" cy="2514600"/>
          </a:xfrm>
          <a:prstGeom prst="rect">
            <a:avLst/>
          </a:prstGeom>
        </p:spPr>
      </p:pic>
      <p:sp>
        <p:nvSpPr>
          <p:cNvPr id="2061" name="eq-card-0"/>
          <p:cNvSpPr/>
          <p:nvPr/>
        </p:nvSpPr>
        <p:spPr>
          <a:xfrm>
            <a:off x="548640" y="4297680"/>
            <a:ext cx="11064240" cy="54864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62" name="latex-log_rel"/>
              <p:cNvSpPr txBox="1"/>
              <p:nvPr/>
            </p:nvSpPr>
            <p:spPr>
              <a:xfrm>
                <a:off x="777240" y="4357116"/>
                <a:ext cx="1740408" cy="429768"/>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m:rPr>
                          <m:sty m:val="p"/>
                        </m:rPr>
                        <a:rPr lang="en-US" sz="1400" i="0" dirty="0">
                          <a:solidFill>
                            <a:schemeClr val="tx1"/>
                          </a:solidFill>
                          <a:latin typeface="Cambria Math" panose="02040503050406030204" pitchFamily="18" charset="0"/>
                        </a:rPr>
                        <m:t>ln</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U</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δ</m:t>
                      </m:r>
                      <m:r>
                        <a:rPr lang="en-US" sz="1400" i="1" dirty="0">
                          <a:solidFill>
                            <a:schemeClr val="tx1"/>
                          </a:solidFill>
                          <a:latin typeface="Cambria Math" panose="02040503050406030204" pitchFamily="18" charset="0"/>
                        </a:rPr>
                        <m:t>U</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ln</m:t>
                      </m:r>
                      <m:r>
                        <a:rPr lang="en-US" sz="1400" i="1" dirty="0">
                          <a:solidFill>
                            <a:schemeClr val="tx1"/>
                          </a:solidFill>
                          <a:latin typeface="Cambria Math" panose="02040503050406030204" pitchFamily="18" charset="0"/>
                        </a:rPr>
                        <m:t>U</m:t>
                      </m:r>
                      <m:r>
                        <m:rPr>
                          <m:sty m:val="p"/>
                        </m:rPr>
                        <a:rPr lang="en-US" sz="1400" i="0" dirty="0">
                          <a:solidFill>
                            <a:schemeClr val="tx1"/>
                          </a:solidFill>
                          <a:latin typeface="Cambria Math" panose="02040503050406030204" pitchFamily="18" charset="0"/>
                        </a:rPr>
                        <m:t>≈</m:t>
                      </m:r>
                      <m:f>
                        <m:fPr>
                          <m:type m:val="bar"/>
                        </m:fPr>
                        <m:num>
                          <m:r>
                            <a:rPr lang="en-US" sz="1400" i="1" dirty="0">
                              <a:solidFill>
                                <a:schemeClr val="tx1"/>
                              </a:solidFill>
                              <a:latin typeface="Cambria Math" panose="02040503050406030204" pitchFamily="18" charset="0"/>
                            </a:rPr>
                            <m:t>δ</m:t>
                          </m:r>
                          <m:r>
                            <a:rPr lang="en-US" sz="1400" i="1" dirty="0">
                              <a:solidFill>
                                <a:schemeClr val="tx1"/>
                              </a:solidFill>
                              <a:latin typeface="Cambria Math" panose="02040503050406030204" pitchFamily="18" charset="0"/>
                            </a:rPr>
                            <m:t>U</m:t>
                          </m:r>
                        </m:num>
                        <m:den>
                          <m:r>
                            <a:rPr lang="en-US" sz="1400" i="1" dirty="0">
                              <a:solidFill>
                                <a:schemeClr val="tx1"/>
                              </a:solidFill>
                              <a:latin typeface="Cambria Math" panose="02040503050406030204" pitchFamily="18" charset="0"/>
                            </a:rPr>
                            <m:t>U</m:t>
                          </m:r>
                        </m:den>
                      </m:f>
                    </m:oMath>
                  </m:oMathPara>
                </a14:m>
              </a:p>
            </p:txBody>
          </p:sp>
        </mc:Choice>
        <mc:Fallback xmlns="">
          <p:sp>
            <p:nvSpPr>
              <p:cNvPr id="2062" name="latex-log_rel"/>
              <p:cNvSpPr txBox="1">
                <a:spLocks noRot="1" noChangeAspect="1" noMove="1" noResize="1" noEditPoints="1" noAdjustHandles="1" noChangeArrowheads="1" noChangeShapeType="1" noTextEdit="1"/>
              </p:cNvSpPr>
              <p:nvPr/>
            </p:nvSpPr>
            <p:spPr>
              <a:xfrm>
                <a:off x="777240" y="4357116"/>
                <a:ext cx="1740408" cy="429768"/>
              </a:xfrm>
              <a:prstGeom prst="rect">
                <a:avLst/>
              </a:prstGeom>
              <a:blipFill>
                <a:blip r:embed="rId10"/>
                <a:stretch>
                  <a:fillRect/>
                </a:stretch>
              </a:blipFill>
            </p:spPr>
            <p:txBody>
              <a:bodyPr/>
              <a:lstStyle/>
              <a:p>
                <a:r>
                  <a:rPr lang="en-US">
                    <a:noFill/>
                  </a:rPr>
                  <a:t> </a:t>
                </a:r>
              </a:p>
            </p:txBody>
          </p:sp>
        </mc:Fallback>
      </mc:AlternateContent>
      <p:sp>
        <p:nvSpPr>
          <p:cNvPr id="2063" name="eq-note-0"/>
          <p:cNvSpPr txBox="1"/>
          <p:nvPr/>
        </p:nvSpPr>
        <p:spPr>
          <a:xfrm>
            <a:off x="6217920" y="4352544"/>
            <a:ext cx="5212080" cy="43891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A miss in ln U is a relative miss in U: 0.001 in ln U is 0.1 % of U, at U = 0.1 and at U = 100 alike.</a:t>
            </a:r>
          </a:p>
        </p:txBody>
      </p:sp>
      <p:sp>
        <p:nvSpPr>
          <p:cNvPr id="2064" name="eq-card-1"/>
          <p:cNvSpPr/>
          <p:nvPr/>
        </p:nvSpPr>
        <p:spPr>
          <a:xfrm>
            <a:off x="548640" y="4892040"/>
            <a:ext cx="11064240" cy="54864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65" name="latex-log_weight"/>
              <p:cNvSpPr txBox="1"/>
              <p:nvPr/>
            </p:nvSpPr>
            <p:spPr>
              <a:xfrm>
                <a:off x="777240" y="5047488"/>
                <a:ext cx="3654552" cy="237744"/>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δ</m:t>
                      </m:r>
                      <m:r>
                        <a:rPr lang="en-US" sz="1400" i="1" dirty="0">
                          <a:solidFill>
                            <a:schemeClr val="tx1"/>
                          </a:solidFill>
                          <a:latin typeface="Cambria Math" panose="02040503050406030204" pitchFamily="18" charset="0"/>
                        </a:rPr>
                        <m:t>U</m:t>
                      </m:r>
                      <m:sSup>
                        <m:e>
                          <m:r>
                            <m:rPr>
                              <m:sty m:val="p"/>
                            </m:rPr>
                            <a:rPr lang="en-US" sz="1400" i="0" dirty="0">
                              <a:solidFill>
                                <a:schemeClr val="tx1"/>
                              </a:solidFill>
                              <a:latin typeface="Cambria Math" panose="02040503050406030204" pitchFamily="18" charset="0"/>
                            </a:rPr>
                            <m:t>)</m:t>
                          </m:r>
                        </m:e>
                        <m:sup>
                          <m:r>
                            <a:rPr lang="en-US" sz="1400" i="1" dirty="0">
                              <a:solidFill>
                                <a:schemeClr val="tx1"/>
                              </a:solidFill>
                              <a:latin typeface="Cambria Math" panose="02040503050406030204" pitchFamily="18" charset="0"/>
                            </a:rPr>
                            <m:t>2</m:t>
                          </m:r>
                        </m:sup>
                      </m:sSup>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0.01</m:t>
                      </m:r>
                      <m:r>
                        <a:rPr lang="en-US" sz="1400" i="1" dirty="0">
                          <a:solidFill>
                            <a:schemeClr val="tx1"/>
                          </a:solidFill>
                          <a:latin typeface="Cambria Math" panose="02040503050406030204" pitchFamily="18" charset="0"/>
                        </a:rPr>
                        <m:t> </m:t>
                      </m:r>
                      <m:r>
                        <a:rPr lang="en-US" sz="1400" i="1" dirty="0">
                          <a:solidFill>
                            <a:schemeClr val="tx1"/>
                          </a:solidFill>
                          <a:latin typeface="Cambria Math" panose="02040503050406030204" pitchFamily="18" charset="0"/>
                        </a:rPr>
                        <m:t>U</m:t>
                      </m:r>
                      <m:sSup>
                        <m:e>
                          <m:r>
                            <m:rPr>
                              <m:sty m:val="p"/>
                            </m:rPr>
                            <a:rPr lang="en-US" sz="1400" i="0" dirty="0">
                              <a:solidFill>
                                <a:schemeClr val="tx1"/>
                              </a:solidFill>
                              <a:latin typeface="Cambria Math" panose="02040503050406030204" pitchFamily="18" charset="0"/>
                            </a:rPr>
                            <m:t>)</m:t>
                          </m:r>
                        </m:e>
                        <m:sup>
                          <m:r>
                            <a:rPr lang="en-US" sz="1400" i="1" dirty="0">
                              <a:solidFill>
                                <a:schemeClr val="tx1"/>
                              </a:solidFill>
                              <a:latin typeface="Cambria Math" panose="02040503050406030204" pitchFamily="18" charset="0"/>
                            </a:rPr>
                            <m:t>2</m:t>
                          </m:r>
                        </m:sup>
                      </m:sSup>
                      <m:r>
                        <a:rPr lang="en-US" sz="1400" i="1" dirty="0">
                          <a:solidFill>
                            <a:schemeClr val="tx1"/>
                          </a:solidFill>
                          <a:latin typeface="Cambria Math" panose="02040503050406030204" pitchFamily="18" charset="0"/>
                        </a:rPr>
                        <m:t>  </m:t>
                      </m:r>
                      <m:r>
                        <m:rPr>
                          <m:sty m:val="p"/>
                        </m:rPr>
                        <a:rPr lang="en-US" sz="1400" i="0" dirty="0">
                          <a:solidFill>
                            <a:schemeClr val="tx1"/>
                          </a:solidFill>
                          <a:latin typeface="Cambria Math" panose="02040503050406030204" pitchFamily="18" charset="0"/>
                        </a:rPr>
                        <m:t>a</m:t>
                      </m:r>
                      <m:r>
                        <m:rPr>
                          <m:sty m:val="p"/>
                        </m:rPr>
                        <a:rPr lang="en-US" sz="1400" i="0" dirty="0">
                          <a:solidFill>
                            <a:schemeClr val="tx1"/>
                          </a:solidFill>
                          <a:latin typeface="Cambria Math" panose="02040503050406030204" pitchFamily="18" charset="0"/>
                        </a:rPr>
                        <m:t>g</m:t>
                      </m:r>
                      <m:r>
                        <m:rPr>
                          <m:sty m:val="p"/>
                        </m:rPr>
                        <a:rPr lang="en-US" sz="1400" i="0" dirty="0">
                          <a:solidFill>
                            <a:schemeClr val="tx1"/>
                          </a:solidFill>
                          <a:latin typeface="Cambria Math" panose="02040503050406030204" pitchFamily="18" charset="0"/>
                        </a:rPr>
                        <m:t>a</m:t>
                      </m:r>
                      <m:r>
                        <m:rPr>
                          <m:sty m:val="p"/>
                        </m:rPr>
                        <a:rPr lang="en-US" sz="1400" i="0" dirty="0">
                          <a:solidFill>
                            <a:schemeClr val="tx1"/>
                          </a:solidFill>
                          <a:latin typeface="Cambria Math" panose="02040503050406030204" pitchFamily="18" charset="0"/>
                        </a:rPr>
                        <m:t>i</m:t>
                      </m:r>
                      <m:r>
                        <m:rPr>
                          <m:sty m:val="p"/>
                        </m:rPr>
                        <a:rPr lang="en-US" sz="1400" i="0" dirty="0">
                          <a:solidFill>
                            <a:schemeClr val="tx1"/>
                          </a:solidFill>
                          <a:latin typeface="Cambria Math" panose="02040503050406030204" pitchFamily="18" charset="0"/>
                        </a:rPr>
                        <m:t>n</m:t>
                      </m:r>
                      <m:r>
                        <m:rPr>
                          <m:sty m:val="p"/>
                        </m:rPr>
                        <a:rPr lang="en-US" sz="1400" i="0" dirty="0">
                          <a:solidFill>
                            <a:schemeClr val="tx1"/>
                          </a:solidFill>
                          <a:latin typeface="Cambria Math" panose="02040503050406030204" pitchFamily="18" charset="0"/>
                        </a:rPr>
                        <m:t>s</m:t>
                      </m:r>
                      <m:r>
                        <m:rPr>
                          <m:sty m:val="p"/>
                        </m:rPr>
                        <a:rPr lang="en-US" sz="1400" i="0" dirty="0">
                          <a:solidFill>
                            <a:schemeClr val="tx1"/>
                          </a:solidFill>
                          <a:latin typeface="Cambria Math" panose="02040503050406030204" pitchFamily="18" charset="0"/>
                        </a:rPr>
                        <m:t>t</m:t>
                      </m:r>
                      <m:r>
                        <a:rPr lang="en-US" sz="1400" i="1" dirty="0">
                          <a:solidFill>
                            <a:schemeClr val="tx1"/>
                          </a:solidFill>
                          <a:latin typeface="Cambria Math" panose="02040503050406030204" pitchFamily="18" charset="0"/>
                        </a:rPr>
                        <m:t>  </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δ</m:t>
                      </m:r>
                      <m:r>
                        <m:rPr>
                          <m:sty m:val="p"/>
                        </m:rPr>
                        <a:rPr lang="en-US" sz="1400" i="0" dirty="0">
                          <a:solidFill>
                            <a:schemeClr val="tx1"/>
                          </a:solidFill>
                          <a:latin typeface="Cambria Math" panose="02040503050406030204" pitchFamily="18" charset="0"/>
                        </a:rPr>
                        <m:t>ln</m:t>
                      </m:r>
                      <m:r>
                        <a:rPr lang="en-US" sz="1400" i="1" dirty="0">
                          <a:solidFill>
                            <a:schemeClr val="tx1"/>
                          </a:solidFill>
                          <a:latin typeface="Cambria Math" panose="02040503050406030204" pitchFamily="18" charset="0"/>
                        </a:rPr>
                        <m:t>U</m:t>
                      </m:r>
                      <m:sSup>
                        <m:e>
                          <m:r>
                            <m:rPr>
                              <m:sty m:val="p"/>
                            </m:rPr>
                            <a:rPr lang="en-US" sz="1400" i="0" dirty="0">
                              <a:solidFill>
                                <a:schemeClr val="tx1"/>
                              </a:solidFill>
                              <a:latin typeface="Cambria Math" panose="02040503050406030204" pitchFamily="18" charset="0"/>
                            </a:rPr>
                            <m:t>)</m:t>
                          </m:r>
                        </m:e>
                        <m:sup>
                          <m:r>
                            <a:rPr lang="en-US" sz="1400" i="1" dirty="0">
                              <a:solidFill>
                                <a:schemeClr val="tx1"/>
                              </a:solidFill>
                              <a:latin typeface="Cambria Math" panose="02040503050406030204" pitchFamily="18" charset="0"/>
                            </a:rPr>
                            <m:t>2</m:t>
                          </m:r>
                        </m:sup>
                      </m:sSup>
                      <m:r>
                        <m:rPr>
                          <m:sty m:val="p"/>
                        </m:rPr>
                        <a:rPr lang="en-US" sz="1400" i="0" dirty="0">
                          <a:solidFill>
                            <a:schemeClr val="tx1"/>
                          </a:solidFill>
                          <a:latin typeface="Cambria Math" panose="02040503050406030204" pitchFamily="18" charset="0"/>
                        </a:rPr>
                        <m:t>=</m:t>
                      </m:r>
                      <m:sSup>
                        <m:e>
                          <m:r>
                            <a:rPr lang="en-US" sz="1400" i="1" dirty="0">
                              <a:solidFill>
                                <a:schemeClr val="tx1"/>
                              </a:solidFill>
                              <a:latin typeface="Cambria Math" panose="02040503050406030204" pitchFamily="18" charset="0"/>
                            </a:rPr>
                            <m:t>0.01</m:t>
                          </m:r>
                        </m:e>
                        <m:sup>
                          <m:r>
                            <a:rPr lang="en-US" sz="1400" i="1" dirty="0">
                              <a:solidFill>
                                <a:schemeClr val="tx1"/>
                              </a:solidFill>
                              <a:latin typeface="Cambria Math" panose="02040503050406030204" pitchFamily="18" charset="0"/>
                            </a:rPr>
                            <m:t>2</m:t>
                          </m:r>
                        </m:sup>
                      </m:sSup>
                    </m:oMath>
                  </m:oMathPara>
                </a14:m>
              </a:p>
            </p:txBody>
          </p:sp>
        </mc:Choice>
        <mc:Fallback xmlns="">
          <p:sp>
            <p:nvSpPr>
              <p:cNvPr id="2065" name="latex-log_weight"/>
              <p:cNvSpPr txBox="1">
                <a:spLocks noRot="1" noChangeAspect="1" noMove="1" noResize="1" noEditPoints="1" noAdjustHandles="1" noChangeArrowheads="1" noChangeShapeType="1" noTextEdit="1"/>
              </p:cNvSpPr>
              <p:nvPr/>
            </p:nvSpPr>
            <p:spPr>
              <a:xfrm>
                <a:off x="777240" y="5047488"/>
                <a:ext cx="3654552" cy="237744"/>
              </a:xfrm>
              <a:prstGeom prst="rect">
                <a:avLst/>
              </a:prstGeom>
              <a:blipFill>
                <a:blip r:embed="rId11"/>
                <a:stretch>
                  <a:fillRect/>
                </a:stretch>
              </a:blipFill>
            </p:spPr>
            <p:txBody>
              <a:bodyPr/>
              <a:lstStyle/>
              <a:p>
                <a:r>
                  <a:rPr lang="en-US">
                    <a:noFill/>
                  </a:rPr>
                  <a:t> </a:t>
                </a:r>
              </a:p>
            </p:txBody>
          </p:sp>
        </mc:Fallback>
      </mc:AlternateContent>
      <p:sp>
        <p:nvSpPr>
          <p:cNvPr id="2066" name="eq-note-1"/>
          <p:cNvSpPr txBox="1"/>
          <p:nvPr/>
        </p:nvSpPr>
        <p:spPr>
          <a:xfrm>
            <a:off x="6217920" y="4946904"/>
            <a:ext cx="5212080" cy="43891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For the same 1 % miss, the plain squared error weighs a state at U = 142 two million times one at U = 0.1 (middle); ln U weighs them equally.</a:t>
            </a:r>
          </a:p>
        </p:txBody>
      </p:sp>
      <p:sp>
        <p:nvSpPr>
          <p:cNvPr id="2067" name="eq-card-2"/>
          <p:cNvSpPr/>
          <p:nvPr/>
        </p:nvSpPr>
        <p:spPr>
          <a:xfrm>
            <a:off x="548640" y="5486400"/>
            <a:ext cx="11064240" cy="54864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68" name="latex-log_pos"/>
              <p:cNvSpPr txBox="1"/>
              <p:nvPr/>
            </p:nvSpPr>
            <p:spPr>
              <a:xfrm>
                <a:off x="777240" y="5654040"/>
                <a:ext cx="1755648" cy="213360"/>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400" i="1" dirty="0">
                          <a:solidFill>
                            <a:schemeClr val="tx1"/>
                          </a:solidFill>
                          <a:latin typeface="Cambria Math" panose="02040503050406030204" pitchFamily="18" charset="0"/>
                        </a:rPr>
                        <m:t>U</m:t>
                      </m:r>
                      <m:r>
                        <m:rPr>
                          <m:sty m:val="p"/>
                        </m:rPr>
                        <a:rPr lang="en-US" sz="1400" i="0" dirty="0">
                          <a:solidFill>
                            <a:schemeClr val="tx1"/>
                          </a:solidFill>
                          <a:latin typeface="Cambria Math" panose="02040503050406030204" pitchFamily="18" charset="0"/>
                        </a:rPr>
                        <m:t>=</m:t>
                      </m:r>
                      <m:sSup>
                        <m:e>
                          <m:r>
                            <a:rPr lang="en-US" sz="1400" i="1" dirty="0">
                              <a:solidFill>
                                <a:schemeClr val="tx1"/>
                              </a:solidFill>
                              <a:latin typeface="Cambria Math" panose="02040503050406030204" pitchFamily="18" charset="0"/>
                            </a:rPr>
                            <m:t>e</m:t>
                          </m:r>
                        </m:e>
                        <m:sup>
                          <m:r>
                            <a:rPr lang="en-US" sz="1400" i="1" dirty="0">
                              <a:solidFill>
                                <a:schemeClr val="tx1"/>
                              </a:solidFill>
                              <a:latin typeface="Cambria Math" panose="02040503050406030204" pitchFamily="18" charset="0"/>
                            </a:rPr>
                            <m:t>z</m:t>
                          </m:r>
                        </m:sup>
                      </m:sSup>
                      <m:r>
                        <m:rPr>
                          <m:sty m:val="p"/>
                        </m:rPr>
                        <a:rPr lang="en-US" sz="1400" i="0" dirty="0">
                          <a:solidFill>
                            <a:schemeClr val="tx1"/>
                          </a:solidFill>
                          <a:latin typeface="Cambria Math" panose="02040503050406030204" pitchFamily="18" charset="0"/>
                        </a:rPr>
                        <m:t>&gt;</m:t>
                      </m:r>
                      <m:r>
                        <a:rPr lang="en-US" sz="1400" i="1" dirty="0">
                          <a:solidFill>
                            <a:schemeClr val="tx1"/>
                          </a:solidFill>
                          <a:latin typeface="Cambria Math" panose="02040503050406030204" pitchFamily="18" charset="0"/>
                        </a:rPr>
                        <m:t>0</m:t>
                      </m:r>
                      <m:r>
                        <a:rPr lang="en-US" sz="1400" i="1" dirty="0">
                          <a:solidFill>
                            <a:schemeClr val="tx1"/>
                          </a:solidFill>
                          <a:latin typeface="Cambria Math" panose="02040503050406030204" pitchFamily="18" charset="0"/>
                        </a:rPr>
                        <m:t> </m:t>
                      </m:r>
                      <m:r>
                        <m:rPr>
                          <m:sty m:val="p"/>
                        </m:rPr>
                        <a:rPr lang="en-US" sz="1400" i="0" dirty="0">
                          <a:solidFill>
                            <a:schemeClr val="tx1"/>
                          </a:solidFill>
                          <a:latin typeface="Cambria Math" panose="02040503050406030204" pitchFamily="18" charset="0"/>
                        </a:rPr>
                        <m:t>f</m:t>
                      </m:r>
                      <m:r>
                        <m:rPr>
                          <m:sty m:val="p"/>
                        </m:rPr>
                        <a:rPr lang="en-US" sz="1400" i="0" dirty="0">
                          <a:solidFill>
                            <a:schemeClr val="tx1"/>
                          </a:solidFill>
                          <a:latin typeface="Cambria Math" panose="02040503050406030204" pitchFamily="18" charset="0"/>
                        </a:rPr>
                        <m:t>o</m:t>
                      </m:r>
                      <m:r>
                        <m:rPr>
                          <m:sty m:val="p"/>
                        </m:rPr>
                        <a:rPr lang="en-US" sz="1400" i="0" dirty="0">
                          <a:solidFill>
                            <a:schemeClr val="tx1"/>
                          </a:solidFill>
                          <a:latin typeface="Cambria Math" panose="02040503050406030204" pitchFamily="18" charset="0"/>
                        </a:rPr>
                        <m:t>r</m:t>
                      </m:r>
                      <m:r>
                        <m:rPr>
                          <m:sty m:val="p"/>
                        </m:rPr>
                        <a:rPr lang="en-US" sz="1400" i="0" dirty="0">
                          <a:solidFill>
                            <a:schemeClr val="tx1"/>
                          </a:solidFill>
                          <a:latin typeface="Cambria Math" panose="02040503050406030204" pitchFamily="18" charset="0"/>
                        </a:rPr>
                        <m:t> </m:t>
                      </m:r>
                      <m:r>
                        <m:rPr>
                          <m:sty m:val="p"/>
                        </m:rPr>
                        <a:rPr lang="en-US" sz="1400" i="0" dirty="0">
                          <a:solidFill>
                            <a:schemeClr val="tx1"/>
                          </a:solidFill>
                          <a:latin typeface="Cambria Math" panose="02040503050406030204" pitchFamily="18" charset="0"/>
                        </a:rPr>
                        <m:t>e</m:t>
                      </m:r>
                      <m:r>
                        <m:rPr>
                          <m:sty m:val="p"/>
                        </m:rPr>
                        <a:rPr lang="en-US" sz="1400" i="0" dirty="0">
                          <a:solidFill>
                            <a:schemeClr val="tx1"/>
                          </a:solidFill>
                          <a:latin typeface="Cambria Math" panose="02040503050406030204" pitchFamily="18" charset="0"/>
                        </a:rPr>
                        <m:t>v</m:t>
                      </m:r>
                      <m:r>
                        <m:rPr>
                          <m:sty m:val="p"/>
                        </m:rPr>
                        <a:rPr lang="en-US" sz="1400" i="0" dirty="0">
                          <a:solidFill>
                            <a:schemeClr val="tx1"/>
                          </a:solidFill>
                          <a:latin typeface="Cambria Math" panose="02040503050406030204" pitchFamily="18" charset="0"/>
                        </a:rPr>
                        <m:t>e</m:t>
                      </m:r>
                      <m:r>
                        <m:rPr>
                          <m:sty m:val="p"/>
                        </m:rPr>
                        <a:rPr lang="en-US" sz="1400" i="0" dirty="0">
                          <a:solidFill>
                            <a:schemeClr val="tx1"/>
                          </a:solidFill>
                          <a:latin typeface="Cambria Math" panose="02040503050406030204" pitchFamily="18" charset="0"/>
                        </a:rPr>
                        <m:t>r</m:t>
                      </m:r>
                      <m:r>
                        <m:rPr>
                          <m:sty m:val="p"/>
                        </m:rPr>
                        <a:rPr lang="en-US" sz="1400" i="0" dirty="0">
                          <a:solidFill>
                            <a:schemeClr val="tx1"/>
                          </a:solidFill>
                          <a:latin typeface="Cambria Math" panose="02040503050406030204" pitchFamily="18" charset="0"/>
                        </a:rPr>
                        <m:t>y</m:t>
                      </m:r>
                      <m:r>
                        <m:rPr>
                          <m:sty m:val="p"/>
                        </m:rPr>
                        <a:rPr lang="en-US" sz="1400" i="0" dirty="0">
                          <a:solidFill>
                            <a:schemeClr val="tx1"/>
                          </a:solidFill>
                          <a:latin typeface="Cambria Math" panose="02040503050406030204" pitchFamily="18" charset="0"/>
                        </a:rPr>
                        <m:t> </m:t>
                      </m:r>
                      <m:r>
                        <a:rPr lang="en-US" sz="1400" i="1" dirty="0">
                          <a:solidFill>
                            <a:schemeClr val="tx1"/>
                          </a:solidFill>
                          <a:latin typeface="Cambria Math" panose="02040503050406030204" pitchFamily="18" charset="0"/>
                        </a:rPr>
                        <m:t>z</m:t>
                      </m:r>
                    </m:oMath>
                  </m:oMathPara>
                </a14:m>
              </a:p>
            </p:txBody>
          </p:sp>
        </mc:Choice>
        <mc:Fallback xmlns="">
          <p:sp>
            <p:nvSpPr>
              <p:cNvPr id="2068" name="latex-log_pos"/>
              <p:cNvSpPr txBox="1">
                <a:spLocks noRot="1" noChangeAspect="1" noMove="1" noResize="1" noEditPoints="1" noAdjustHandles="1" noChangeArrowheads="1" noChangeShapeType="1" noTextEdit="1"/>
              </p:cNvSpPr>
              <p:nvPr/>
            </p:nvSpPr>
            <p:spPr>
              <a:xfrm>
                <a:off x="777240" y="5654040"/>
                <a:ext cx="1755648" cy="213360"/>
              </a:xfrm>
              <a:prstGeom prst="rect">
                <a:avLst/>
              </a:prstGeom>
              <a:blipFill>
                <a:blip r:embed="rId12"/>
                <a:stretch>
                  <a:fillRect/>
                </a:stretch>
              </a:blipFill>
            </p:spPr>
            <p:txBody>
              <a:bodyPr/>
              <a:lstStyle/>
              <a:p>
                <a:r>
                  <a:rPr lang="en-US">
                    <a:noFill/>
                  </a:rPr>
                  <a:t> </a:t>
                </a:r>
              </a:p>
            </p:txBody>
          </p:sp>
        </mc:Fallback>
      </mc:AlternateContent>
      <p:sp>
        <p:nvSpPr>
          <p:cNvPr id="2069" name="eq-note-2"/>
          <p:cNvSpPr txBox="1"/>
          <p:nvPr/>
        </p:nvSpPr>
        <p:spPr>
          <a:xfrm>
            <a:off x="6217920" y="5541264"/>
            <a:ext cx="5212080" cy="43891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The network’s output z can be any number, and U = eᶻ is still a positive energy (right).</a:t>
            </a:r>
          </a:p>
        </p:txBody>
      </p:sp>
      <p:sp>
        <p:nvSpPr>
          <p:cNvPr id="207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83"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Why asinh for the moments and forces?</a:t>
            </a:r>
          </a:p>
        </p:txBody>
      </p:sp>
      <p:sp>
        <p:nvSpPr>
          <p:cNvPr id="2084"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They change sign, so ln is ruled out. asinh is linear near zero and logarithmic far from it: absolute accuracy near 0, relative when large.</a:t>
            </a:r>
          </a:p>
        </p:txBody>
      </p:sp>
      <p:pic>
        <p:nvPicPr>
          <p:cNvPr id="2073" name="Picture nn_asinh.png" descr="nn_asinh.png"/>
          <p:cNvPicPr>
            <a:picLocks noChangeAspect="1"/>
          </p:cNvPicPr>
          <p:nvPr/>
        </p:nvPicPr>
        <p:blipFill>
          <a:blip r:embed="rId2"/>
          <a:stretch>
            <a:fillRect/>
          </a:stretch>
        </p:blipFill>
        <p:spPr>
          <a:xfrm>
            <a:off x="1051560" y="1691640"/>
            <a:ext cx="10058400" cy="2514600"/>
          </a:xfrm>
          <a:prstGeom prst="rect">
            <a:avLst/>
          </a:prstGeom>
        </p:spPr>
      </p:pic>
      <p:sp>
        <p:nvSpPr>
          <p:cNvPr id="2074" name="eq-card-0"/>
          <p:cNvSpPr/>
          <p:nvPr/>
        </p:nvSpPr>
        <p:spPr>
          <a:xfrm>
            <a:off x="548640" y="4297680"/>
            <a:ext cx="11064240" cy="54864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75" name="latex-asinh_def"/>
              <p:cNvSpPr txBox="1"/>
              <p:nvPr/>
            </p:nvSpPr>
            <p:spPr>
              <a:xfrm>
                <a:off x="777240" y="4436364"/>
                <a:ext cx="2197608" cy="271272"/>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m:rPr>
                          <m:sty m:val="p"/>
                        </m:rPr>
                        <a:rPr lang="en-US" sz="1400" i="0" dirty="0">
                          <a:solidFill>
                            <a:schemeClr val="tx1"/>
                          </a:solidFill>
                          <a:latin typeface="Cambria Math" panose="02040503050406030204" pitchFamily="18" charset="0"/>
                        </a:rPr>
                        <m:t>asinh</m:t>
                      </m:r>
                      <m:r>
                        <a:rPr lang="en-US" sz="1400" i="1" dirty="0">
                          <a:solidFill>
                            <a:schemeClr val="tx1"/>
                          </a:solidFill>
                          <a:latin typeface="Cambria Math" panose="02040503050406030204" pitchFamily="18" charset="0"/>
                        </a:rPr>
                        <m:t>M</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ln</m:t>
                      </m:r>
                      <m:d>
                        <m:dPr>
                          <m:begChr m:val="("/>
                          <m:sepChr m:val=""/>
                          <m:endChr m:val=")"/>
                          <m:grow/>
                        </m:dPr>
                        <m:e>
                          <m:r>
                            <a:rPr lang="en-US" sz="1400" i="1" dirty="0">
                              <a:solidFill>
                                <a:schemeClr val="tx1"/>
                              </a:solidFill>
                              <a:latin typeface="Cambria Math" panose="02040503050406030204" pitchFamily="18" charset="0"/>
                            </a:rPr>
                            <m:t>M</m:t>
                          </m:r>
                          <m:r>
                            <m:rPr>
                              <m:sty m:val="p"/>
                            </m:rPr>
                            <a:rPr lang="en-US" sz="1400" i="0" dirty="0">
                              <a:solidFill>
                                <a:schemeClr val="tx1"/>
                              </a:solidFill>
                              <a:latin typeface="Cambria Math" panose="02040503050406030204" pitchFamily="18" charset="0"/>
                            </a:rPr>
                            <m:t>+</m:t>
                          </m:r>
                          <m:rad>
                            <m:radPr>
                              <m:degHide m:val="on"/>
                            </m:radPr>
                            <m:deg/>
                            <m:e>
                              <m:sSup>
                                <m:e>
                                  <m:r>
                                    <a:rPr lang="en-US" sz="1400" i="1" dirty="0">
                                      <a:solidFill>
                                        <a:schemeClr val="tx1"/>
                                      </a:solidFill>
                                      <a:latin typeface="Cambria Math" panose="02040503050406030204" pitchFamily="18" charset="0"/>
                                    </a:rPr>
                                    <m:t>M</m:t>
                                  </m:r>
                                </m:e>
                                <m:sup>
                                  <m:r>
                                    <a:rPr lang="en-US" sz="1400" i="1" dirty="0">
                                      <a:solidFill>
                                        <a:schemeClr val="tx1"/>
                                      </a:solidFill>
                                      <a:latin typeface="Cambria Math" panose="02040503050406030204" pitchFamily="18" charset="0"/>
                                    </a:rPr>
                                    <m:t>2</m:t>
                                  </m:r>
                                </m:sup>
                              </m:sSup>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1</m:t>
                              </m:r>
                            </m:e>
                          </m:rad>
                        </m:e>
                      </m:d>
                    </m:oMath>
                  </m:oMathPara>
                </a14:m>
              </a:p>
            </p:txBody>
          </p:sp>
        </mc:Choice>
        <mc:Fallback xmlns="">
          <p:sp>
            <p:nvSpPr>
              <p:cNvPr id="2075" name="latex-asinh_def"/>
              <p:cNvSpPr txBox="1">
                <a:spLocks noRot="1" noChangeAspect="1" noMove="1" noResize="1" noEditPoints="1" noAdjustHandles="1" noChangeArrowheads="1" noChangeShapeType="1" noTextEdit="1"/>
              </p:cNvSpPr>
              <p:nvPr/>
            </p:nvSpPr>
            <p:spPr>
              <a:xfrm>
                <a:off x="777240" y="4436364"/>
                <a:ext cx="2197608" cy="271272"/>
              </a:xfrm>
              <a:prstGeom prst="rect">
                <a:avLst/>
              </a:prstGeom>
              <a:blipFill>
                <a:blip r:embed="rId10"/>
                <a:stretch>
                  <a:fillRect/>
                </a:stretch>
              </a:blipFill>
            </p:spPr>
            <p:txBody>
              <a:bodyPr/>
              <a:lstStyle/>
              <a:p>
                <a:r>
                  <a:rPr lang="en-US">
                    <a:noFill/>
                  </a:rPr>
                  <a:t> </a:t>
                </a:r>
              </a:p>
            </p:txBody>
          </p:sp>
        </mc:Fallback>
      </mc:AlternateContent>
      <p:sp>
        <p:nvSpPr>
          <p:cNvPr id="2076" name="eq-note-0"/>
          <p:cNvSpPr txBox="1"/>
          <p:nvPr/>
        </p:nvSpPr>
        <p:spPr>
          <a:xfrm>
            <a:off x="6217920" y="4352544"/>
            <a:ext cx="5212080" cy="43891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Defined for every M, positive or negative. Used for M₁ and M₂, and for fx / 10 when the force is fitted.</a:t>
            </a:r>
          </a:p>
        </p:txBody>
      </p:sp>
      <p:sp>
        <p:nvSpPr>
          <p:cNvPr id="2077" name="eq-card-1"/>
          <p:cNvSpPr/>
          <p:nvPr/>
        </p:nvSpPr>
        <p:spPr>
          <a:xfrm>
            <a:off x="548640" y="4892040"/>
            <a:ext cx="11064240" cy="54864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78" name="latex-asinh_lim"/>
              <p:cNvSpPr txBox="1"/>
              <p:nvPr/>
            </p:nvSpPr>
            <p:spPr>
              <a:xfrm>
                <a:off x="777240" y="5059680"/>
                <a:ext cx="4465320" cy="213360"/>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m:rPr>
                          <m:sty m:val="p"/>
                        </m:rPr>
                        <a:rPr lang="en-US" sz="1400" i="0" dirty="0">
                          <a:solidFill>
                            <a:schemeClr val="tx1"/>
                          </a:solidFill>
                          <a:latin typeface="Cambria Math" panose="02040503050406030204" pitchFamily="18" charset="0"/>
                        </a:rPr>
                        <m:t>asinh</m:t>
                      </m:r>
                      <m:r>
                        <a:rPr lang="en-US" sz="1400" i="1" dirty="0">
                          <a:solidFill>
                            <a:schemeClr val="tx1"/>
                          </a:solidFill>
                          <a:latin typeface="Cambria Math" panose="02040503050406030204" pitchFamily="18" charset="0"/>
                        </a:rPr>
                        <m:t>M</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M</m:t>
                      </m:r>
                      <m:r>
                        <a:rPr lang="en-US" sz="1400" i="1" dirty="0">
                          <a:solidFill>
                            <a:schemeClr val="tx1"/>
                          </a:solidFill>
                          <a:latin typeface="Cambria Math" panose="02040503050406030204" pitchFamily="18" charset="0"/>
                        </a:rPr>
                        <m:t> </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M</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1</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  </m:t>
                      </m:r>
                      <m:r>
                        <m:rPr>
                          <m:sty m:val="p"/>
                        </m:rPr>
                        <a:rPr lang="en-US" sz="1400" i="0" dirty="0">
                          <a:solidFill>
                            <a:schemeClr val="tx1"/>
                          </a:solidFill>
                          <a:latin typeface="Cambria Math" panose="02040503050406030204" pitchFamily="18" charset="0"/>
                        </a:rPr>
                        <m:t>asinh</m:t>
                      </m:r>
                      <m:r>
                        <a:rPr lang="en-US" sz="1400" i="1" dirty="0">
                          <a:solidFill>
                            <a:schemeClr val="tx1"/>
                          </a:solidFill>
                          <a:latin typeface="Cambria Math" panose="02040503050406030204" pitchFamily="18" charset="0"/>
                        </a:rPr>
                        <m:t>M</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ln</m:t>
                      </m:r>
                      <m:r>
                        <a:rPr lang="en-US" sz="1400" i="1" dirty="0">
                          <a:solidFill>
                            <a:schemeClr val="tx1"/>
                          </a:solidFill>
                          <a:latin typeface="Cambria Math" panose="02040503050406030204" pitchFamily="18" charset="0"/>
                        </a:rPr>
                        <m:t>2</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M</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 </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M</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1</m:t>
                      </m:r>
                      <m:r>
                        <m:rPr>
                          <m:sty m:val="p"/>
                        </m:rPr>
                        <a:rPr lang="en-US" sz="1400" i="0" dirty="0">
                          <a:solidFill>
                            <a:schemeClr val="tx1"/>
                          </a:solidFill>
                          <a:latin typeface="Cambria Math" panose="02040503050406030204" pitchFamily="18" charset="0"/>
                        </a:rPr>
                        <m:t>)</m:t>
                      </m:r>
                    </m:oMath>
                  </m:oMathPara>
                </a14:m>
              </a:p>
            </p:txBody>
          </p:sp>
        </mc:Choice>
        <mc:Fallback xmlns="">
          <p:sp>
            <p:nvSpPr>
              <p:cNvPr id="2078" name="latex-asinh_lim"/>
              <p:cNvSpPr txBox="1">
                <a:spLocks noRot="1" noChangeAspect="1" noMove="1" noResize="1" noEditPoints="1" noAdjustHandles="1" noChangeArrowheads="1" noChangeShapeType="1" noTextEdit="1"/>
              </p:cNvSpPr>
              <p:nvPr/>
            </p:nvSpPr>
            <p:spPr>
              <a:xfrm>
                <a:off x="777240" y="5059680"/>
                <a:ext cx="4465320" cy="213360"/>
              </a:xfrm>
              <a:prstGeom prst="rect">
                <a:avLst/>
              </a:prstGeom>
              <a:blipFill>
                <a:blip r:embed="rId11"/>
                <a:stretch>
                  <a:fillRect/>
                </a:stretch>
              </a:blipFill>
            </p:spPr>
            <p:txBody>
              <a:bodyPr/>
              <a:lstStyle/>
              <a:p>
                <a:r>
                  <a:rPr lang="en-US">
                    <a:noFill/>
                  </a:rPr>
                  <a:t> </a:t>
                </a:r>
              </a:p>
            </p:txBody>
          </p:sp>
        </mc:Fallback>
      </mc:AlternateContent>
      <p:sp>
        <p:nvSpPr>
          <p:cNvPr id="2079" name="eq-note-1"/>
          <p:cNvSpPr txBox="1"/>
          <p:nvPr/>
        </p:nvSpPr>
        <p:spPr>
          <a:xfrm>
            <a:off x="6217920" y="4946904"/>
            <a:ext cx="5212080" cy="43891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Its two limits (left): it follows M near zero, and the logarithm of |M| far from it.</a:t>
            </a:r>
          </a:p>
        </p:txBody>
      </p:sp>
      <p:sp>
        <p:nvSpPr>
          <p:cNvPr id="2080" name="eq-card-2"/>
          <p:cNvSpPr/>
          <p:nvPr/>
        </p:nvSpPr>
        <p:spPr>
          <a:xfrm>
            <a:off x="548640" y="5486400"/>
            <a:ext cx="11064240" cy="54864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81" name="latex-asinh_err"/>
              <p:cNvSpPr txBox="1"/>
              <p:nvPr/>
            </p:nvSpPr>
            <p:spPr>
              <a:xfrm>
                <a:off x="777240" y="5625084"/>
                <a:ext cx="4059936" cy="271272"/>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a:rPr lang="en-US" sz="1400" i="1" dirty="0">
                          <a:solidFill>
                            <a:schemeClr val="tx1"/>
                          </a:solidFill>
                          <a:latin typeface="Cambria Math" panose="02040503050406030204" pitchFamily="18" charset="0"/>
                        </a:rPr>
                        <m:t>δ</m:t>
                      </m:r>
                      <m:r>
                        <a:rPr lang="en-US" sz="1400" i="1" dirty="0">
                          <a:solidFill>
                            <a:schemeClr val="tx1"/>
                          </a:solidFill>
                          <a:latin typeface="Cambria Math" panose="02040503050406030204" pitchFamily="18" charset="0"/>
                        </a:rPr>
                        <m:t>M</m:t>
                      </m:r>
                      <m:r>
                        <m:rPr>
                          <m:sty m:val="p"/>
                        </m:rPr>
                        <a:rPr lang="en-US" sz="1400" i="0" dirty="0">
                          <a:solidFill>
                            <a:schemeClr val="tx1"/>
                          </a:solidFill>
                          <a:latin typeface="Cambria Math" panose="02040503050406030204" pitchFamily="18" charset="0"/>
                        </a:rPr>
                        <m:t>≈</m:t>
                      </m:r>
                      <m:rad>
                        <m:radPr>
                          <m:degHide m:val="on"/>
                        </m:radPr>
                        <m:deg/>
                        <m:e>
                          <m:r>
                            <a:rPr lang="en-US" sz="1400" i="1" dirty="0">
                              <a:solidFill>
                                <a:schemeClr val="tx1"/>
                              </a:solidFill>
                              <a:latin typeface="Cambria Math" panose="02040503050406030204" pitchFamily="18" charset="0"/>
                            </a:rPr>
                            <m:t>1</m:t>
                          </m:r>
                          <m:r>
                            <m:rPr>
                              <m:sty m:val="p"/>
                            </m:rPr>
                            <a:rPr lang="en-US" sz="1400" i="0" dirty="0">
                              <a:solidFill>
                                <a:schemeClr val="tx1"/>
                              </a:solidFill>
                              <a:latin typeface="Cambria Math" panose="02040503050406030204" pitchFamily="18" charset="0"/>
                            </a:rPr>
                            <m:t>+</m:t>
                          </m:r>
                          <m:sSup>
                            <m:e>
                              <m:r>
                                <a:rPr lang="en-US" sz="1400" i="1" dirty="0">
                                  <a:solidFill>
                                    <a:schemeClr val="tx1"/>
                                  </a:solidFill>
                                  <a:latin typeface="Cambria Math" panose="02040503050406030204" pitchFamily="18" charset="0"/>
                                </a:rPr>
                                <m:t>M</m:t>
                              </m:r>
                            </m:e>
                            <m:sup>
                              <m:r>
                                <a:rPr lang="en-US" sz="1400" i="1" dirty="0">
                                  <a:solidFill>
                                    <a:schemeClr val="tx1"/>
                                  </a:solidFill>
                                  <a:latin typeface="Cambria Math" panose="02040503050406030204" pitchFamily="18" charset="0"/>
                                </a:rPr>
                                <m:t>2</m:t>
                              </m:r>
                            </m:sup>
                          </m:sSup>
                        </m:e>
                      </m:rad>
                      <m:r>
                        <a:rPr lang="en-US" sz="1400" i="1" dirty="0">
                          <a:solidFill>
                            <a:schemeClr val="tx1"/>
                          </a:solidFill>
                          <a:latin typeface="Cambria Math" panose="02040503050406030204" pitchFamily="18" charset="0"/>
                        </a:rPr>
                        <m:t> </m:t>
                      </m:r>
                      <m:r>
                        <a:rPr lang="en-US" sz="1400" i="1" dirty="0">
                          <a:solidFill>
                            <a:schemeClr val="tx1"/>
                          </a:solidFill>
                          <a:latin typeface="Cambria Math" panose="02040503050406030204" pitchFamily="18" charset="0"/>
                        </a:rPr>
                        <m:t>δ</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asinh</m:t>
                      </m:r>
                      <m:r>
                        <a:rPr lang="en-US" sz="1400" i="1" dirty="0">
                          <a:solidFill>
                            <a:schemeClr val="tx1"/>
                          </a:solidFill>
                          <a:latin typeface="Cambria Math" panose="02040503050406030204" pitchFamily="18" charset="0"/>
                        </a:rPr>
                        <m:t>M</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  </m:t>
                      </m:r>
                      <m:r>
                        <m:rPr>
                          <m:sty m:val="p"/>
                        </m:rPr>
                        <a:rPr lang="en-US" sz="1400" i="0" dirty="0">
                          <a:solidFill>
                            <a:schemeClr val="tx1"/>
                          </a:solidFill>
                          <a:latin typeface="Cambria Math" panose="02040503050406030204" pitchFamily="18" charset="0"/>
                        </a:rPr>
                        <m:t>asinh</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M</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asinh</m:t>
                      </m:r>
                      <m:r>
                        <a:rPr lang="en-US" sz="1400" i="1" dirty="0">
                          <a:solidFill>
                            <a:schemeClr val="tx1"/>
                          </a:solidFill>
                          <a:latin typeface="Cambria Math" panose="02040503050406030204" pitchFamily="18" charset="0"/>
                        </a:rPr>
                        <m:t>M</m:t>
                      </m:r>
                    </m:oMath>
                  </m:oMathPara>
                </a14:m>
              </a:p>
            </p:txBody>
          </p:sp>
        </mc:Choice>
        <mc:Fallback xmlns="">
          <p:sp>
            <p:nvSpPr>
              <p:cNvPr id="2081" name="latex-asinh_err"/>
              <p:cNvSpPr txBox="1">
                <a:spLocks noRot="1" noChangeAspect="1" noMove="1" noResize="1" noEditPoints="1" noAdjustHandles="1" noChangeArrowheads="1" noChangeShapeType="1" noTextEdit="1"/>
              </p:cNvSpPr>
              <p:nvPr/>
            </p:nvSpPr>
            <p:spPr>
              <a:xfrm>
                <a:off x="777240" y="5625084"/>
                <a:ext cx="4059936" cy="271272"/>
              </a:xfrm>
              <a:prstGeom prst="rect">
                <a:avLst/>
              </a:prstGeom>
              <a:blipFill>
                <a:blip r:embed="rId12"/>
                <a:stretch>
                  <a:fillRect/>
                </a:stretch>
              </a:blipFill>
            </p:spPr>
            <p:txBody>
              <a:bodyPr/>
              <a:lstStyle/>
              <a:p>
                <a:r>
                  <a:rPr lang="en-US">
                    <a:noFill/>
                  </a:rPr>
                  <a:t> </a:t>
                </a:r>
              </a:p>
            </p:txBody>
          </p:sp>
        </mc:Fallback>
      </mc:AlternateContent>
      <p:sp>
        <p:nvSpPr>
          <p:cNvPr id="2082" name="eq-note-2"/>
          <p:cNvSpPr txBox="1"/>
          <p:nvPr/>
        </p:nvSpPr>
        <p:spPr>
          <a:xfrm>
            <a:off x="6217920" y="5541264"/>
            <a:ext cx="5212080" cy="43891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So a fixed miss is an absolute error below |M| = 1 and a relative one above (right). And it is odd: bent down, which mirrors M to −M, stays a mirror.</a:t>
            </a:r>
          </a:p>
        </p:txBody>
      </p:sp>
      <p:sp>
        <p:nvSpPr>
          <p:cNvPr id="208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04"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What exactly does the fit minimise?</a:t>
            </a:r>
          </a:p>
        </p:txBody>
      </p:sp>
      <p:sp>
        <p:nvSpPr>
          <p:cNvPr id="2105"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One number, the loss: the average squared mismatch with the solver, summed over five terms. Fitting lowers it, batch after batch.</a:t>
            </a:r>
          </a:p>
        </p:txBody>
      </p:sp>
      <p:sp>
        <p:nvSpPr>
          <p:cNvPr id="2086" name="eq-card-0"/>
          <p:cNvSpPr/>
          <p:nvPr/>
        </p:nvSpPr>
        <p:spPr>
          <a:xfrm>
            <a:off x="548640" y="1691640"/>
            <a:ext cx="11064240" cy="64008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87" name="latex-loss_u"/>
              <p:cNvSpPr txBox="1"/>
              <p:nvPr/>
            </p:nvSpPr>
            <p:spPr>
              <a:xfrm>
                <a:off x="777240" y="1892808"/>
                <a:ext cx="1697736" cy="237744"/>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sSub>
                        <m:e>
                          <m:r>
                            <m:rPr>
                              <m:scr m:val="script"/>
                              <m:sty m:val="p"/>
                            </m:rPr>
                            <a:rPr lang="en-US" sz="1400" i="0" dirty="0">
                              <a:solidFill>
                                <a:schemeClr val="tx1"/>
                              </a:solidFill>
                              <a:latin typeface="Cambria Math" panose="02040503050406030204" pitchFamily="18" charset="0"/>
                            </a:rPr>
                            <m:t>L</m:t>
                          </m:r>
                        </m:e>
                        <m:sub>
                          <m:r>
                            <a:rPr lang="en-US" sz="1400" i="1" dirty="0">
                              <a:solidFill>
                                <a:schemeClr val="tx1"/>
                              </a:solidFill>
                              <a:latin typeface="Cambria Math" panose="02040503050406030204" pitchFamily="18" charset="0"/>
                            </a:rPr>
                            <m:t>U</m:t>
                          </m:r>
                        </m:sub>
                      </m:sSub>
                      <m:r>
                        <m:rPr>
                          <m:sty m:val="p"/>
                        </m:rPr>
                        <a:rPr lang="en-US" sz="1400" i="0" dirty="0">
                          <a:solidFill>
                            <a:schemeClr val="tx1"/>
                          </a:solidFill>
                          <a:latin typeface="Cambria Math" panose="02040503050406030204" pitchFamily="18" charset="0"/>
                        </a:rPr>
                        <m:t>=</m:t>
                      </m:r>
                      <m:d>
                        <m:dPr>
                          <m:begChr m:val="⟨"/>
                          <m:sepChr m:val=""/>
                          <m:endChr m:val="⟩"/>
                          <m:grow/>
                        </m:dPr>
                        <m:e>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ln</m:t>
                          </m:r>
                          <m:r>
                            <a:rPr lang="en-US" sz="1400" i="1" dirty="0">
                              <a:solidFill>
                                <a:schemeClr val="tx1"/>
                              </a:solidFill>
                              <a:latin typeface="Cambria Math" panose="02040503050406030204" pitchFamily="18" charset="0"/>
                            </a:rPr>
                            <m:t>U</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ln</m:t>
                          </m:r>
                          <m:sSup>
                            <m:e>
                              <m:r>
                                <a:rPr lang="en-US" sz="1400" i="1" dirty="0">
                                  <a:solidFill>
                                    <a:schemeClr val="tx1"/>
                                  </a:solidFill>
                                  <a:latin typeface="Cambria Math" panose="02040503050406030204" pitchFamily="18" charset="0"/>
                                </a:rPr>
                                <m:t>U</m:t>
                              </m:r>
                            </m:e>
                            <m:sup>
                              <m:r>
                                <m:rPr>
                                  <m:sty m:val="p"/>
                                </m:rPr>
                                <a:rPr lang="en-US" sz="1400" i="0" dirty="0">
                                  <a:solidFill>
                                    <a:schemeClr val="tx1"/>
                                  </a:solidFill>
                                  <a:latin typeface="Cambria Math" panose="02040503050406030204" pitchFamily="18" charset="0"/>
                                </a:rPr>
                                <m:t>*</m:t>
                              </m:r>
                            </m:sup>
                          </m:sSup>
                          <m:sSup>
                            <m:e>
                              <m:r>
                                <m:rPr>
                                  <m:sty m:val="p"/>
                                </m:rPr>
                                <a:rPr lang="en-US" sz="1400" i="0" dirty="0">
                                  <a:solidFill>
                                    <a:schemeClr val="tx1"/>
                                  </a:solidFill>
                                  <a:latin typeface="Cambria Math" panose="02040503050406030204" pitchFamily="18" charset="0"/>
                                </a:rPr>
                                <m:t>)</m:t>
                              </m:r>
                            </m:e>
                            <m:sup>
                              <m:r>
                                <a:rPr lang="en-US" sz="1400" i="1" dirty="0">
                                  <a:solidFill>
                                    <a:schemeClr val="tx1"/>
                                  </a:solidFill>
                                  <a:latin typeface="Cambria Math" panose="02040503050406030204" pitchFamily="18" charset="0"/>
                                </a:rPr>
                                <m:t>2</m:t>
                              </m:r>
                            </m:sup>
                          </m:sSup>
                        </m:e>
                      </m:d>
                    </m:oMath>
                  </m:oMathPara>
                </a14:m>
              </a:p>
            </p:txBody>
          </p:sp>
        </mc:Choice>
        <mc:Fallback xmlns="">
          <p:sp>
            <p:nvSpPr>
              <p:cNvPr id="2087" name="latex-loss_u"/>
              <p:cNvSpPr txBox="1">
                <a:spLocks noRot="1" noChangeAspect="1" noMove="1" noResize="1" noEditPoints="1" noAdjustHandles="1" noChangeArrowheads="1" noChangeShapeType="1" noTextEdit="1"/>
              </p:cNvSpPr>
              <p:nvPr/>
            </p:nvSpPr>
            <p:spPr>
              <a:xfrm>
                <a:off x="777240" y="1892808"/>
                <a:ext cx="1697736" cy="237744"/>
              </a:xfrm>
              <a:prstGeom prst="rect">
                <a:avLst/>
              </a:prstGeom>
              <a:blipFill>
                <a:blip r:embed="rId10"/>
                <a:stretch>
                  <a:fillRect/>
                </a:stretch>
              </a:blipFill>
            </p:spPr>
            <p:txBody>
              <a:bodyPr/>
              <a:lstStyle/>
              <a:p>
                <a:r>
                  <a:rPr lang="en-US">
                    <a:noFill/>
                  </a:rPr>
                  <a:t> </a:t>
                </a:r>
              </a:p>
            </p:txBody>
          </p:sp>
        </mc:Fallback>
      </mc:AlternateContent>
      <p:sp>
        <p:nvSpPr>
          <p:cNvPr id="2088" name="eq-note-0"/>
          <p:cNvSpPr txBox="1"/>
          <p:nvPr/>
        </p:nvSpPr>
        <p:spPr>
          <a:xfrm>
            <a:off x="6217920" y="1746504"/>
            <a:ext cx="5212080" cy="53035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Energy: ln U of the network against ln U* of the solver. ⟨ ⟩ is the average over the states in a batch; * marks the solver’s value.</a:t>
            </a:r>
          </a:p>
        </p:txBody>
      </p:sp>
      <p:sp>
        <p:nvSpPr>
          <p:cNvPr id="2089" name="eq-card-1"/>
          <p:cNvSpPr/>
          <p:nvPr/>
        </p:nvSpPr>
        <p:spPr>
          <a:xfrm>
            <a:off x="548640" y="2377440"/>
            <a:ext cx="11064240" cy="64008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90" name="latex-loss_m"/>
              <p:cNvSpPr txBox="1"/>
              <p:nvPr/>
            </p:nvSpPr>
            <p:spPr>
              <a:xfrm>
                <a:off x="777240" y="2508504"/>
                <a:ext cx="2670048" cy="377952"/>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sSub>
                        <m:e>
                          <m:r>
                            <m:rPr>
                              <m:scr m:val="script"/>
                              <m:sty m:val="p"/>
                            </m:rPr>
                            <a:rPr lang="en-US" sz="1400" i="0" dirty="0">
                              <a:solidFill>
                                <a:schemeClr val="tx1"/>
                              </a:solidFill>
                              <a:latin typeface="Cambria Math" panose="02040503050406030204" pitchFamily="18" charset="0"/>
                            </a:rPr>
                            <m:t>L</m:t>
                          </m:r>
                        </m:e>
                        <m:sub>
                          <m:r>
                            <a:rPr lang="en-US" sz="1400" i="1" dirty="0">
                              <a:solidFill>
                                <a:schemeClr val="tx1"/>
                              </a:solidFill>
                              <a:latin typeface="Cambria Math" panose="02040503050406030204" pitchFamily="18" charset="0"/>
                            </a:rPr>
                            <m:t>M</m:t>
                          </m:r>
                        </m:sub>
                      </m:sSub>
                      <m:r>
                        <m:rPr>
                          <m:sty m:val="p"/>
                        </m:rPr>
                        <a:rPr lang="en-US" sz="1400" i="0" dirty="0">
                          <a:solidFill>
                            <a:schemeClr val="tx1"/>
                          </a:solidFill>
                          <a:latin typeface="Cambria Math" panose="02040503050406030204" pitchFamily="18" charset="0"/>
                        </a:rPr>
                        <m:t>=</m:t>
                      </m:r>
                      <m:d>
                        <m:dPr>
                          <m:begChr m:val="⟨"/>
                          <m:sepChr m:val=""/>
                          <m:endChr m:val="⟩"/>
                          <m:grow/>
                        </m:dPr>
                        <m:e>
                          <m:nary>
                            <m:naryPr>
                              <m:chr m:val="∑"/>
                              <m:limLoc m:val="undOvr"/>
                              <m:subHide m:val="off"/>
                              <m:supHide m:val="on"/>
                            </m:naryPr>
                            <m:sub>
                              <m:r>
                                <a:rPr lang="en-US" sz="1400" i="1" dirty="0">
                                  <a:solidFill>
                                    <a:schemeClr val="tx1"/>
                                  </a:solidFill>
                                  <a:latin typeface="Cambria Math" panose="02040503050406030204" pitchFamily="18" charset="0"/>
                                </a:rPr>
                                <m:t>i</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1</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2</m:t>
                              </m:r>
                            </m:sub>
                            <m:sup>
                              <m:r>
                                <a:rPr lang="en-US" sz="1400" i="1" dirty="0">
                                  <a:solidFill>
                                    <a:schemeClr val="tx1"/>
                                  </a:solidFill>
                                  <a:latin typeface="Cambria Math" panose="02040503050406030204" pitchFamily="18" charset="0"/>
                                </a:rPr>
                                <m:t>​</m:t>
                              </m:r>
                            </m:sup>
                            <m:e>
                              <m:r>
                                <m:rPr>
                                  <m:sty m:val="p"/>
                                </m:rPr>
                                <a:rPr lang="en-US" sz="1400" i="0" dirty="0">
                                  <a:solidFill>
                                    <a:schemeClr val="tx1"/>
                                  </a:solidFill>
                                  <a:latin typeface="Cambria Math" panose="02040503050406030204" pitchFamily="18" charset="0"/>
                                </a:rPr>
                                <m:t>(</m:t>
                              </m:r>
                            </m:e>
                          </m:nary>
                          <m:r>
                            <m:rPr>
                              <m:sty m:val="p"/>
                            </m:rPr>
                            <a:rPr lang="en-US" sz="1400" i="0" dirty="0">
                              <a:solidFill>
                                <a:schemeClr val="tx1"/>
                              </a:solidFill>
                              <a:latin typeface="Cambria Math" panose="02040503050406030204" pitchFamily="18" charset="0"/>
                            </a:rPr>
                            <m:t>asinh</m:t>
                          </m:r>
                          <m:sSub>
                            <m:e>
                              <m:r>
                                <a:rPr lang="en-US" sz="1400" i="1" dirty="0">
                                  <a:solidFill>
                                    <a:schemeClr val="tx1"/>
                                  </a:solidFill>
                                  <a:latin typeface="Cambria Math" panose="02040503050406030204" pitchFamily="18" charset="0"/>
                                </a:rPr>
                                <m:t>M</m:t>
                              </m:r>
                            </m:e>
                            <m:sub>
                              <m:r>
                                <a:rPr lang="en-US" sz="1400" i="1" dirty="0">
                                  <a:solidFill>
                                    <a:schemeClr val="tx1"/>
                                  </a:solidFill>
                                  <a:latin typeface="Cambria Math" panose="02040503050406030204" pitchFamily="18" charset="0"/>
                                </a:rPr>
                                <m:t>i</m:t>
                              </m:r>
                            </m:sub>
                          </m:sSub>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asinh</m:t>
                          </m:r>
                          <m:sSubSup>
                            <m:e>
                              <m:r>
                                <a:rPr lang="en-US" sz="1400" i="1" dirty="0">
                                  <a:solidFill>
                                    <a:schemeClr val="tx1"/>
                                  </a:solidFill>
                                  <a:latin typeface="Cambria Math" panose="02040503050406030204" pitchFamily="18" charset="0"/>
                                </a:rPr>
                                <m:t>M</m:t>
                              </m:r>
                            </m:e>
                            <m:sub>
                              <m:r>
                                <a:rPr lang="en-US" sz="1400" i="1" dirty="0">
                                  <a:solidFill>
                                    <a:schemeClr val="tx1"/>
                                  </a:solidFill>
                                  <a:latin typeface="Cambria Math" panose="02040503050406030204" pitchFamily="18" charset="0"/>
                                </a:rPr>
                                <m:t>i</m:t>
                              </m:r>
                            </m:sub>
                            <m:sup>
                              <m:r>
                                <m:rPr>
                                  <m:sty m:val="p"/>
                                </m:rPr>
                                <a:rPr lang="en-US" sz="1400" i="0" dirty="0">
                                  <a:solidFill>
                                    <a:schemeClr val="tx1"/>
                                  </a:solidFill>
                                  <a:latin typeface="Cambria Math" panose="02040503050406030204" pitchFamily="18" charset="0"/>
                                </a:rPr>
                                <m:t>*</m:t>
                              </m:r>
                            </m:sup>
                          </m:sSubSup>
                          <m:sSup>
                            <m:e>
                              <m:r>
                                <m:rPr>
                                  <m:sty m:val="p"/>
                                </m:rPr>
                                <a:rPr lang="en-US" sz="1400" i="0" dirty="0">
                                  <a:solidFill>
                                    <a:schemeClr val="tx1"/>
                                  </a:solidFill>
                                  <a:latin typeface="Cambria Math" panose="02040503050406030204" pitchFamily="18" charset="0"/>
                                </a:rPr>
                                <m:t>)</m:t>
                              </m:r>
                            </m:e>
                            <m:sup>
                              <m:r>
                                <a:rPr lang="en-US" sz="1400" i="1" dirty="0">
                                  <a:solidFill>
                                    <a:schemeClr val="tx1"/>
                                  </a:solidFill>
                                  <a:latin typeface="Cambria Math" panose="02040503050406030204" pitchFamily="18" charset="0"/>
                                </a:rPr>
                                <m:t>2</m:t>
                              </m:r>
                            </m:sup>
                          </m:sSup>
                        </m:e>
                      </m:d>
                    </m:oMath>
                  </m:oMathPara>
                </a14:m>
              </a:p>
            </p:txBody>
          </p:sp>
        </mc:Choice>
        <mc:Fallback xmlns="">
          <p:sp>
            <p:nvSpPr>
              <p:cNvPr id="2090" name="latex-loss_m"/>
              <p:cNvSpPr txBox="1">
                <a:spLocks noRot="1" noChangeAspect="1" noMove="1" noResize="1" noEditPoints="1" noAdjustHandles="1" noChangeArrowheads="1" noChangeShapeType="1" noTextEdit="1"/>
              </p:cNvSpPr>
              <p:nvPr/>
            </p:nvSpPr>
            <p:spPr>
              <a:xfrm>
                <a:off x="777240" y="2508504"/>
                <a:ext cx="2670048" cy="377952"/>
              </a:xfrm>
              <a:prstGeom prst="rect">
                <a:avLst/>
              </a:prstGeom>
              <a:blipFill>
                <a:blip r:embed="rId11"/>
                <a:stretch>
                  <a:fillRect/>
                </a:stretch>
              </a:blipFill>
            </p:spPr>
            <p:txBody>
              <a:bodyPr/>
              <a:lstStyle/>
              <a:p>
                <a:r>
                  <a:rPr lang="en-US">
                    <a:noFill/>
                  </a:rPr>
                  <a:t> </a:t>
                </a:r>
              </a:p>
            </p:txBody>
          </p:sp>
        </mc:Fallback>
      </mc:AlternateContent>
      <p:sp>
        <p:nvSpPr>
          <p:cNvPr id="2091" name="eq-note-1"/>
          <p:cNvSpPr txBox="1"/>
          <p:nvPr/>
        </p:nvSpPr>
        <p:spPr>
          <a:xfrm>
            <a:off x="6217920" y="2432304"/>
            <a:ext cx="5212080" cy="53035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Moments, on the asinh scale of slide 58.</a:t>
            </a:r>
          </a:p>
        </p:txBody>
      </p:sp>
      <p:sp>
        <p:nvSpPr>
          <p:cNvPr id="2092" name="eq-card-2"/>
          <p:cNvSpPr/>
          <p:nvPr/>
        </p:nvSpPr>
        <p:spPr>
          <a:xfrm>
            <a:off x="548640" y="3063240"/>
            <a:ext cx="11064240" cy="64008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93" name="latex-loss_slope"/>
              <p:cNvSpPr txBox="1"/>
              <p:nvPr/>
            </p:nvSpPr>
            <p:spPr>
              <a:xfrm>
                <a:off x="777240" y="3133344"/>
                <a:ext cx="4669536" cy="499872"/>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sSub>
                        <m:e>
                          <m:r>
                            <m:rPr>
                              <m:scr m:val="script"/>
                              <m:sty m:val="p"/>
                            </m:rPr>
                            <a:rPr lang="en-US" sz="1400" i="0" dirty="0">
                              <a:solidFill>
                                <a:schemeClr val="tx1"/>
                              </a:solidFill>
                              <a:latin typeface="Cambria Math" panose="02040503050406030204" pitchFamily="18" charset="0"/>
                            </a:rPr>
                            <m:t>L</m:t>
                          </m:r>
                        </m:e>
                        <m:sub>
                          <m:r>
                            <m:rPr>
                              <m:sty m:val="p"/>
                            </m:rPr>
                            <a:rPr lang="en-US" sz="1400" i="0" dirty="0">
                              <a:solidFill>
                                <a:schemeClr val="tx1"/>
                              </a:solidFill>
                              <a:latin typeface="Cambria Math" panose="02040503050406030204" pitchFamily="18" charset="0"/>
                            </a:rPr>
                            <m:t>∂</m:t>
                          </m:r>
                        </m:sub>
                      </m:sSub>
                      <m:r>
                        <m:rPr>
                          <m:sty m:val="p"/>
                        </m:rPr>
                        <a:rPr lang="en-US" sz="1400" i="0" dirty="0">
                          <a:solidFill>
                            <a:schemeClr val="tx1"/>
                          </a:solidFill>
                          <a:latin typeface="Cambria Math" panose="02040503050406030204" pitchFamily="18" charset="0"/>
                        </a:rPr>
                        <m:t>=</m:t>
                      </m:r>
                      <m:d>
                        <m:dPr>
                          <m:begChr m:val="⟨"/>
                          <m:sepChr m:val=""/>
                          <m:endChr m:val="⟩"/>
                          <m:grow/>
                        </m:dPr>
                        <m:e>
                          <m:sSup>
                            <m:e>
                              <m:d>
                                <m:dPr>
                                  <m:begChr m:val="("/>
                                  <m:sepChr m:val=""/>
                                  <m:endChr m:val=")"/>
                                  <m:grow/>
                                </m:dPr>
                                <m:e>
                                  <m:r>
                                    <m:rPr>
                                      <m:sty m:val="p"/>
                                    </m:rPr>
                                    <a:rPr lang="en-US" sz="1400" i="0" dirty="0">
                                      <a:solidFill>
                                        <a:schemeClr val="tx1"/>
                                      </a:solidFill>
                                      <a:latin typeface="Cambria Math" panose="02040503050406030204" pitchFamily="18" charset="0"/>
                                    </a:rPr>
                                    <m:t>asinh</m:t>
                                  </m:r>
                                  <m:f>
                                    <m:fPr>
                                      <m:type m:val="bar"/>
                                    </m:fPr>
                                    <m:num>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U</m:t>
                                      </m:r>
                                    </m:num>
                                    <m:den>
                                      <m:r>
                                        <m:rPr>
                                          <m:sty m:val="p"/>
                                        </m:rPr>
                                        <a:rPr lang="en-US" sz="1400" i="0" dirty="0">
                                          <a:solidFill>
                                            <a:schemeClr val="tx1"/>
                                          </a:solidFill>
                                          <a:latin typeface="Cambria Math" panose="02040503050406030204" pitchFamily="18" charset="0"/>
                                        </a:rPr>
                                        <m:t>∂</m:t>
                                      </m:r>
                                      <m:sSub>
                                        <m:e>
                                          <m:r>
                                            <a:rPr lang="en-US" sz="1400" i="1" dirty="0">
                                              <a:solidFill>
                                                <a:schemeClr val="tx1"/>
                                              </a:solidFill>
                                              <a:latin typeface="Cambria Math" panose="02040503050406030204" pitchFamily="18" charset="0"/>
                                            </a:rPr>
                                            <m:t>φ</m:t>
                                          </m:r>
                                        </m:e>
                                        <m:sub>
                                          <m:r>
                                            <a:rPr lang="en-US" sz="1400" i="1" dirty="0">
                                              <a:solidFill>
                                                <a:schemeClr val="tx1"/>
                                              </a:solidFill>
                                              <a:latin typeface="Cambria Math" panose="02040503050406030204" pitchFamily="18" charset="0"/>
                                            </a:rPr>
                                            <m:t>1</m:t>
                                          </m:r>
                                        </m:sub>
                                      </m:sSub>
                                    </m:den>
                                  </m:f>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asinh</m:t>
                                  </m:r>
                                  <m:sSubSup>
                                    <m:e>
                                      <m:r>
                                        <a:rPr lang="en-US" sz="1400" i="1" dirty="0">
                                          <a:solidFill>
                                            <a:schemeClr val="tx1"/>
                                          </a:solidFill>
                                          <a:latin typeface="Cambria Math" panose="02040503050406030204" pitchFamily="18" charset="0"/>
                                        </a:rPr>
                                        <m:t>M</m:t>
                                      </m:r>
                                    </m:e>
                                    <m:sub>
                                      <m:r>
                                        <a:rPr lang="en-US" sz="1400" i="1" dirty="0">
                                          <a:solidFill>
                                            <a:schemeClr val="tx1"/>
                                          </a:solidFill>
                                          <a:latin typeface="Cambria Math" panose="02040503050406030204" pitchFamily="18" charset="0"/>
                                        </a:rPr>
                                        <m:t>1</m:t>
                                      </m:r>
                                    </m:sub>
                                    <m:sup>
                                      <m:r>
                                        <m:rPr>
                                          <m:sty m:val="p"/>
                                        </m:rPr>
                                        <a:rPr lang="en-US" sz="1400" i="0" dirty="0">
                                          <a:solidFill>
                                            <a:schemeClr val="tx1"/>
                                          </a:solidFill>
                                          <a:latin typeface="Cambria Math" panose="02040503050406030204" pitchFamily="18" charset="0"/>
                                        </a:rPr>
                                        <m:t>*</m:t>
                                      </m:r>
                                    </m:sup>
                                  </m:sSubSup>
                                </m:e>
                              </m:d>
                            </m:e>
                            <m:sup>
                              <m:r>
                                <a:rPr lang="en-US" sz="1400" i="1" dirty="0">
                                  <a:solidFill>
                                    <a:schemeClr val="tx1"/>
                                  </a:solidFill>
                                  <a:latin typeface="Cambria Math" panose="02040503050406030204" pitchFamily="18" charset="0"/>
                                </a:rPr>
                                <m:t>2</m:t>
                              </m:r>
                            </m:sup>
                          </m:sSup>
                          <m:r>
                            <m:rPr>
                              <m:sty m:val="p"/>
                            </m:rPr>
                            <a:rPr lang="en-US" sz="1400" i="0" dirty="0">
                              <a:solidFill>
                                <a:schemeClr val="tx1"/>
                              </a:solidFill>
                              <a:latin typeface="Cambria Math" panose="02040503050406030204" pitchFamily="18" charset="0"/>
                            </a:rPr>
                            <m:t>+</m:t>
                          </m:r>
                          <m:sSup>
                            <m:e>
                              <m:d>
                                <m:dPr>
                                  <m:begChr m:val="("/>
                                  <m:sepChr m:val=""/>
                                  <m:endChr m:val=")"/>
                                  <m:grow/>
                                </m:dPr>
                                <m:e>
                                  <m:r>
                                    <m:rPr>
                                      <m:sty m:val="p"/>
                                    </m:rPr>
                                    <a:rPr lang="en-US" sz="1400" i="0" dirty="0">
                                      <a:solidFill>
                                        <a:schemeClr val="tx1"/>
                                      </a:solidFill>
                                      <a:latin typeface="Cambria Math" panose="02040503050406030204" pitchFamily="18" charset="0"/>
                                    </a:rPr>
                                    <m:t>asinh</m:t>
                                  </m:r>
                                  <m:f>
                                    <m:fPr>
                                      <m:type m:val="bar"/>
                                    </m:fPr>
                                    <m:num>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U</m:t>
                                      </m:r>
                                    </m:num>
                                    <m:den>
                                      <m:r>
                                        <m:rPr>
                                          <m:sty m:val="p"/>
                                        </m:rPr>
                                        <a:rPr lang="en-US" sz="1400" i="0" dirty="0">
                                          <a:solidFill>
                                            <a:schemeClr val="tx1"/>
                                          </a:solidFill>
                                          <a:latin typeface="Cambria Math" panose="02040503050406030204" pitchFamily="18" charset="0"/>
                                        </a:rPr>
                                        <m:t>∂</m:t>
                                      </m:r>
                                      <m:sSub>
                                        <m:e>
                                          <m:r>
                                            <a:rPr lang="en-US" sz="1400" i="1" dirty="0">
                                              <a:solidFill>
                                                <a:schemeClr val="tx1"/>
                                              </a:solidFill>
                                              <a:latin typeface="Cambria Math" panose="02040503050406030204" pitchFamily="18" charset="0"/>
                                            </a:rPr>
                                            <m:t>φ</m:t>
                                          </m:r>
                                        </m:e>
                                        <m:sub>
                                          <m:r>
                                            <a:rPr lang="en-US" sz="1400" i="1" dirty="0">
                                              <a:solidFill>
                                                <a:schemeClr val="tx1"/>
                                              </a:solidFill>
                                              <a:latin typeface="Cambria Math" panose="02040503050406030204" pitchFamily="18" charset="0"/>
                                            </a:rPr>
                                            <m:t>2</m:t>
                                          </m:r>
                                        </m:sub>
                                      </m:sSub>
                                    </m:den>
                                  </m:f>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asinh</m:t>
                                  </m:r>
                                  <m:sSubSup>
                                    <m:e>
                                      <m:r>
                                        <a:rPr lang="en-US" sz="1400" i="1" dirty="0">
                                          <a:solidFill>
                                            <a:schemeClr val="tx1"/>
                                          </a:solidFill>
                                          <a:latin typeface="Cambria Math" panose="02040503050406030204" pitchFamily="18" charset="0"/>
                                        </a:rPr>
                                        <m:t>M</m:t>
                                      </m:r>
                                    </m:e>
                                    <m:sub>
                                      <m:r>
                                        <a:rPr lang="en-US" sz="1400" i="1" dirty="0">
                                          <a:solidFill>
                                            <a:schemeClr val="tx1"/>
                                          </a:solidFill>
                                          <a:latin typeface="Cambria Math" panose="02040503050406030204" pitchFamily="18" charset="0"/>
                                        </a:rPr>
                                        <m:t>2</m:t>
                                      </m:r>
                                    </m:sub>
                                    <m:sup>
                                      <m:r>
                                        <m:rPr>
                                          <m:sty m:val="p"/>
                                        </m:rPr>
                                        <a:rPr lang="en-US" sz="1400" i="0" dirty="0">
                                          <a:solidFill>
                                            <a:schemeClr val="tx1"/>
                                          </a:solidFill>
                                          <a:latin typeface="Cambria Math" panose="02040503050406030204" pitchFamily="18" charset="0"/>
                                        </a:rPr>
                                        <m:t>*</m:t>
                                      </m:r>
                                    </m:sup>
                                  </m:sSubSup>
                                </m:e>
                              </m:d>
                            </m:e>
                            <m:sup>
                              <m:r>
                                <a:rPr lang="en-US" sz="1400" i="1" dirty="0">
                                  <a:solidFill>
                                    <a:schemeClr val="tx1"/>
                                  </a:solidFill>
                                  <a:latin typeface="Cambria Math" panose="02040503050406030204" pitchFamily="18" charset="0"/>
                                </a:rPr>
                                <m:t>2</m:t>
                              </m:r>
                            </m:sup>
                          </m:sSup>
                        </m:e>
                      </m:d>
                    </m:oMath>
                  </m:oMathPara>
                </a14:m>
              </a:p>
            </p:txBody>
          </p:sp>
        </mc:Choice>
        <mc:Fallback xmlns="">
          <p:sp>
            <p:nvSpPr>
              <p:cNvPr id="2093" name="latex-loss_slope"/>
              <p:cNvSpPr txBox="1">
                <a:spLocks noRot="1" noChangeAspect="1" noMove="1" noResize="1" noEditPoints="1" noAdjustHandles="1" noChangeArrowheads="1" noChangeShapeType="1" noTextEdit="1"/>
              </p:cNvSpPr>
              <p:nvPr/>
            </p:nvSpPr>
            <p:spPr>
              <a:xfrm>
                <a:off x="777240" y="3133344"/>
                <a:ext cx="4669536" cy="499872"/>
              </a:xfrm>
              <a:prstGeom prst="rect">
                <a:avLst/>
              </a:prstGeom>
              <a:blipFill>
                <a:blip r:embed="rId12"/>
                <a:stretch>
                  <a:fillRect/>
                </a:stretch>
              </a:blipFill>
            </p:spPr>
            <p:txBody>
              <a:bodyPr/>
              <a:lstStyle/>
              <a:p>
                <a:r>
                  <a:rPr lang="en-US">
                    <a:noFill/>
                  </a:rPr>
                  <a:t> </a:t>
                </a:r>
              </a:p>
            </p:txBody>
          </p:sp>
        </mc:Fallback>
      </mc:AlternateContent>
      <p:sp>
        <p:nvSpPr>
          <p:cNvPr id="2094" name="eq-note-2"/>
          <p:cNvSpPr txBox="1"/>
          <p:nvPr/>
        </p:nvSpPr>
        <p:spPr>
          <a:xfrm>
            <a:off x="6217920" y="3118104"/>
            <a:ext cx="5212080" cy="53035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The network’s slopes of U against the solver’s moments: makes the energy and the moments agree (slide 55).</a:t>
            </a:r>
          </a:p>
        </p:txBody>
      </p:sp>
      <p:sp>
        <p:nvSpPr>
          <p:cNvPr id="2095" name="eq-card-3"/>
          <p:cNvSpPr/>
          <p:nvPr/>
        </p:nvSpPr>
        <p:spPr>
          <a:xfrm>
            <a:off x="548640" y="3749040"/>
            <a:ext cx="11064240" cy="64008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96" name="latex-loss_f"/>
              <p:cNvSpPr txBox="1"/>
              <p:nvPr/>
            </p:nvSpPr>
            <p:spPr>
              <a:xfrm>
                <a:off x="777240" y="3796284"/>
                <a:ext cx="3508248" cy="545592"/>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sSub>
                        <m:e>
                          <m:r>
                            <m:rPr>
                              <m:scr m:val="script"/>
                              <m:sty m:val="p"/>
                            </m:rPr>
                            <a:rPr lang="en-US" sz="1400" i="0" dirty="0">
                              <a:solidFill>
                                <a:schemeClr val="tx1"/>
                              </a:solidFill>
                              <a:latin typeface="Cambria Math" panose="02040503050406030204" pitchFamily="18" charset="0"/>
                            </a:rPr>
                            <m:t>L</m:t>
                          </m:r>
                        </m:e>
                        <m:sub>
                          <m:r>
                            <a:rPr lang="en-US" sz="1400" i="1" dirty="0">
                              <a:solidFill>
                                <a:schemeClr val="tx1"/>
                              </a:solidFill>
                              <a:latin typeface="Cambria Math" panose="02040503050406030204" pitchFamily="18" charset="0"/>
                            </a:rPr>
                            <m:t>f</m:t>
                          </m:r>
                        </m:sub>
                      </m:sSub>
                      <m:r>
                        <m:rPr>
                          <m:sty m:val="p"/>
                        </m:rPr>
                        <a:rPr lang="en-US" sz="1400" i="0" dirty="0">
                          <a:solidFill>
                            <a:schemeClr val="tx1"/>
                          </a:solidFill>
                          <a:latin typeface="Cambria Math" panose="02040503050406030204" pitchFamily="18" charset="0"/>
                        </a:rPr>
                        <m:t>=</m:t>
                      </m:r>
                      <m:d>
                        <m:dPr>
                          <m:begChr m:val="⟨"/>
                          <m:sepChr m:val=""/>
                          <m:endChr m:val="⟩"/>
                          <m:grow/>
                        </m:dPr>
                        <m:e>
                          <m:sSup>
                            <m:e>
                              <m:d>
                                <m:dPr>
                                  <m:begChr m:val="("/>
                                  <m:sepChr m:val=""/>
                                  <m:endChr m:val=")"/>
                                  <m:grow/>
                                </m:dPr>
                                <m:e>
                                  <m:r>
                                    <m:rPr>
                                      <m:sty m:val="p"/>
                                    </m:rPr>
                                    <a:rPr lang="en-US" sz="1400" i="0" dirty="0">
                                      <a:solidFill>
                                        <a:schemeClr val="tx1"/>
                                      </a:solidFill>
                                      <a:latin typeface="Cambria Math" panose="02040503050406030204" pitchFamily="18" charset="0"/>
                                    </a:rPr>
                                    <m:t>asinh</m:t>
                                  </m:r>
                                  <m:f>
                                    <m:fPr>
                                      <m:type m:val="bar"/>
                                    </m:fPr>
                                    <m:num>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U</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d</m:t>
                                      </m:r>
                                    </m:num>
                                    <m:den>
                                      <m:sSub>
                                        <m:e>
                                          <m:r>
                                            <a:rPr lang="en-US" sz="1400" i="1" dirty="0">
                                              <a:solidFill>
                                                <a:schemeClr val="tx1"/>
                                              </a:solidFill>
                                              <a:latin typeface="Cambria Math" panose="02040503050406030204" pitchFamily="18" charset="0"/>
                                            </a:rPr>
                                            <m:t>f</m:t>
                                          </m:r>
                                        </m:e>
                                        <m:sub>
                                          <m:r>
                                            <a:rPr lang="en-US" sz="1400" i="1" dirty="0">
                                              <a:solidFill>
                                                <a:schemeClr val="tx1"/>
                                              </a:solidFill>
                                              <a:latin typeface="Cambria Math" panose="02040503050406030204" pitchFamily="18" charset="0"/>
                                            </a:rPr>
                                            <m:t>0</m:t>
                                          </m:r>
                                        </m:sub>
                                      </m:sSub>
                                    </m:den>
                                  </m:f>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asinh</m:t>
                                  </m:r>
                                  <m:f>
                                    <m:fPr>
                                      <m:type m:val="bar"/>
                                    </m:fPr>
                                    <m:num>
                                      <m:sSubSup>
                                        <m:e>
                                          <m:r>
                                            <a:rPr lang="en-US" sz="1400" i="1" dirty="0">
                                              <a:solidFill>
                                                <a:schemeClr val="tx1"/>
                                              </a:solidFill>
                                              <a:latin typeface="Cambria Math" panose="02040503050406030204" pitchFamily="18" charset="0"/>
                                            </a:rPr>
                                            <m:t>f</m:t>
                                          </m:r>
                                        </m:e>
                                        <m:sub>
                                          <m:r>
                                            <a:rPr lang="en-US" sz="1400" i="1" dirty="0">
                                              <a:solidFill>
                                                <a:schemeClr val="tx1"/>
                                              </a:solidFill>
                                              <a:latin typeface="Cambria Math" panose="02040503050406030204" pitchFamily="18" charset="0"/>
                                            </a:rPr>
                                            <m:t>x</m:t>
                                          </m:r>
                                        </m:sub>
                                        <m:sup>
                                          <m:r>
                                            <m:rPr>
                                              <m:sty m:val="p"/>
                                            </m:rPr>
                                            <a:rPr lang="en-US" sz="1400" i="0" dirty="0">
                                              <a:solidFill>
                                                <a:schemeClr val="tx1"/>
                                              </a:solidFill>
                                              <a:latin typeface="Cambria Math" panose="02040503050406030204" pitchFamily="18" charset="0"/>
                                            </a:rPr>
                                            <m:t>*</m:t>
                                          </m:r>
                                        </m:sup>
                                      </m:sSubSup>
                                    </m:num>
                                    <m:den>
                                      <m:sSub>
                                        <m:e>
                                          <m:r>
                                            <a:rPr lang="en-US" sz="1400" i="1" dirty="0">
                                              <a:solidFill>
                                                <a:schemeClr val="tx1"/>
                                              </a:solidFill>
                                              <a:latin typeface="Cambria Math" panose="02040503050406030204" pitchFamily="18" charset="0"/>
                                            </a:rPr>
                                            <m:t>f</m:t>
                                          </m:r>
                                        </m:e>
                                        <m:sub>
                                          <m:r>
                                            <a:rPr lang="en-US" sz="1400" i="1" dirty="0">
                                              <a:solidFill>
                                                <a:schemeClr val="tx1"/>
                                              </a:solidFill>
                                              <a:latin typeface="Cambria Math" panose="02040503050406030204" pitchFamily="18" charset="0"/>
                                            </a:rPr>
                                            <m:t>0</m:t>
                                          </m:r>
                                        </m:sub>
                                      </m:sSub>
                                    </m:den>
                                  </m:f>
                                </m:e>
                              </m:d>
                            </m:e>
                            <m:sup>
                              <m:r>
                                <a:rPr lang="en-US" sz="1400" i="1" dirty="0">
                                  <a:solidFill>
                                    <a:schemeClr val="tx1"/>
                                  </a:solidFill>
                                  <a:latin typeface="Cambria Math" panose="02040503050406030204" pitchFamily="18" charset="0"/>
                                </a:rPr>
                                <m:t>2</m:t>
                              </m:r>
                            </m:sup>
                          </m:sSup>
                        </m:e>
                      </m:d>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 </m:t>
                      </m:r>
                      <m:sSub>
                        <m:e>
                          <m:r>
                            <a:rPr lang="en-US" sz="1400" i="1" dirty="0">
                              <a:solidFill>
                                <a:schemeClr val="tx1"/>
                              </a:solidFill>
                              <a:latin typeface="Cambria Math" panose="02040503050406030204" pitchFamily="18" charset="0"/>
                            </a:rPr>
                            <m:t>f</m:t>
                          </m:r>
                        </m:e>
                        <m:sub>
                          <m:r>
                            <a:rPr lang="en-US" sz="1400" i="1" dirty="0">
                              <a:solidFill>
                                <a:schemeClr val="tx1"/>
                              </a:solidFill>
                              <a:latin typeface="Cambria Math" panose="02040503050406030204" pitchFamily="18" charset="0"/>
                            </a:rPr>
                            <m:t>0</m:t>
                          </m:r>
                        </m:sub>
                      </m:sSub>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10</m:t>
                      </m:r>
                    </m:oMath>
                  </m:oMathPara>
                </a14:m>
              </a:p>
            </p:txBody>
          </p:sp>
        </mc:Choice>
        <mc:Fallback xmlns="">
          <p:sp>
            <p:nvSpPr>
              <p:cNvPr id="2096" name="latex-loss_f"/>
              <p:cNvSpPr txBox="1">
                <a:spLocks noRot="1" noChangeAspect="1" noMove="1" noResize="1" noEditPoints="1" noAdjustHandles="1" noChangeArrowheads="1" noChangeShapeType="1" noTextEdit="1"/>
              </p:cNvSpPr>
              <p:nvPr/>
            </p:nvSpPr>
            <p:spPr>
              <a:xfrm>
                <a:off x="777240" y="3796284"/>
                <a:ext cx="3508248" cy="545592"/>
              </a:xfrm>
              <a:prstGeom prst="rect">
                <a:avLst/>
              </a:prstGeom>
              <a:blipFill>
                <a:blip r:embed="rId13"/>
                <a:stretch>
                  <a:fillRect/>
                </a:stretch>
              </a:blipFill>
            </p:spPr>
            <p:txBody>
              <a:bodyPr/>
              <a:lstStyle/>
              <a:p>
                <a:r>
                  <a:rPr lang="en-US">
                    <a:noFill/>
                  </a:rPr>
                  <a:t> </a:t>
                </a:r>
              </a:p>
            </p:txBody>
          </p:sp>
        </mc:Fallback>
      </mc:AlternateContent>
      <p:sp>
        <p:nvSpPr>
          <p:cNvPr id="2097" name="eq-note-3"/>
          <p:cNvSpPr txBox="1"/>
          <p:nvPr/>
        </p:nvSpPr>
        <p:spPr>
          <a:xfrm>
            <a:off x="6217920" y="3803904"/>
            <a:ext cx="5212080" cy="53035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The network’s slope along d against the solver’s force (slide 65). f₀ = 10 sets where asinh turns from linear to logarithmic.</a:t>
            </a:r>
          </a:p>
        </p:txBody>
      </p:sp>
      <p:sp>
        <p:nvSpPr>
          <p:cNvPr id="2098" name="eq-card-4"/>
          <p:cNvSpPr/>
          <p:nvPr/>
        </p:nvSpPr>
        <p:spPr>
          <a:xfrm>
            <a:off x="548640" y="4434840"/>
            <a:ext cx="11064240" cy="64008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099" name="latex-loss_e"/>
              <p:cNvSpPr txBox="1"/>
              <p:nvPr/>
            </p:nvSpPr>
            <p:spPr>
              <a:xfrm>
                <a:off x="777240" y="4648200"/>
                <a:ext cx="2374392" cy="213360"/>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sSub>
                        <m:e>
                          <m:r>
                            <m:rPr>
                              <m:scr m:val="script"/>
                              <m:sty m:val="p"/>
                            </m:rPr>
                            <a:rPr lang="en-US" sz="1400" i="0" dirty="0">
                              <a:solidFill>
                                <a:schemeClr val="tx1"/>
                              </a:solidFill>
                              <a:latin typeface="Cambria Math" panose="02040503050406030204" pitchFamily="18" charset="0"/>
                            </a:rPr>
                            <m:t>L</m:t>
                          </m:r>
                        </m:e>
                        <m:sub>
                          <m:r>
                            <m:rPr>
                              <m:sty m:val="p"/>
                            </m:rPr>
                            <a:rPr lang="en-US" sz="1400" i="0" dirty="0">
                              <a:solidFill>
                                <a:schemeClr val="tx1"/>
                              </a:solidFill>
                              <a:latin typeface="Cambria Math" panose="02040503050406030204" pitchFamily="18" charset="0"/>
                            </a:rPr>
                            <m:t>∃</m:t>
                          </m:r>
                        </m:sub>
                      </m:sSub>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d>
                        <m:dPr>
                          <m:begChr m:val="⟨"/>
                          <m:sepChr m:val=""/>
                          <m:endChr m:val="⟩"/>
                          <m:grow/>
                        </m:dPr>
                        <m:e>
                          <m:r>
                            <a:rPr lang="en-US" sz="1400" i="1" dirty="0">
                              <a:solidFill>
                                <a:schemeClr val="tx1"/>
                              </a:solidFill>
                              <a:latin typeface="Cambria Math" panose="02040503050406030204" pitchFamily="18" charset="0"/>
                            </a:rPr>
                            <m:t>e</m:t>
                          </m:r>
                          <m:r>
                            <m:rPr>
                              <m:sty m:val="p"/>
                            </m:rPr>
                            <a:rPr lang="en-US" sz="1400" i="0" dirty="0">
                              <a:solidFill>
                                <a:schemeClr val="tx1"/>
                              </a:solidFill>
                              <a:latin typeface="Cambria Math" panose="02040503050406030204" pitchFamily="18" charset="0"/>
                            </a:rPr>
                            <m:t>ln</m:t>
                          </m:r>
                          <m:r>
                            <a:rPr lang="en-US" sz="1400" i="1" dirty="0">
                              <a:solidFill>
                                <a:schemeClr val="tx1"/>
                              </a:solidFill>
                              <a:latin typeface="Cambria Math" panose="02040503050406030204" pitchFamily="18" charset="0"/>
                            </a:rPr>
                            <m:t>P</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1</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e</m:t>
                          </m:r>
                          <m:r>
                            <m:rPr>
                              <m:sty m:val="p"/>
                            </m:rPr>
                            <a:rPr lang="en-US" sz="1400" i="0" dirty="0">
                              <a:solidFill>
                                <a:schemeClr val="tx1"/>
                              </a:solidFill>
                              <a:latin typeface="Cambria Math" panose="02040503050406030204" pitchFamily="18" charset="0"/>
                            </a:rPr>
                            <m:t>)</m:t>
                          </m:r>
                          <m:r>
                            <m:rPr>
                              <m:sty m:val="p"/>
                            </m:rPr>
                            <a:rPr lang="en-US" sz="1400" i="0" dirty="0">
                              <a:solidFill>
                                <a:schemeClr val="tx1"/>
                              </a:solidFill>
                              <a:latin typeface="Cambria Math" panose="02040503050406030204" pitchFamily="18" charset="0"/>
                            </a:rPr>
                            <m:t>ln</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1</m:t>
                          </m:r>
                          <m:r>
                            <m:rPr>
                              <m:sty m:val="p"/>
                            </m:rPr>
                            <a:rPr lang="en-US" sz="1400" i="0"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P</m:t>
                          </m:r>
                          <m:r>
                            <m:rPr>
                              <m:sty m:val="p"/>
                            </m:rPr>
                            <a:rPr lang="en-US" sz="1400" i="0" dirty="0">
                              <a:solidFill>
                                <a:schemeClr val="tx1"/>
                              </a:solidFill>
                              <a:latin typeface="Cambria Math" panose="02040503050406030204" pitchFamily="18" charset="0"/>
                            </a:rPr>
                            <m:t>)</m:t>
                          </m:r>
                        </m:e>
                      </m:d>
                    </m:oMath>
                  </m:oMathPara>
                </a14:m>
              </a:p>
            </p:txBody>
          </p:sp>
        </mc:Choice>
        <mc:Fallback xmlns="">
          <p:sp>
            <p:nvSpPr>
              <p:cNvPr id="2099" name="latex-loss_e"/>
              <p:cNvSpPr txBox="1">
                <a:spLocks noRot="1" noChangeAspect="1" noMove="1" noResize="1" noEditPoints="1" noAdjustHandles="1" noChangeArrowheads="1" noChangeShapeType="1" noTextEdit="1"/>
              </p:cNvSpPr>
              <p:nvPr/>
            </p:nvSpPr>
            <p:spPr>
              <a:xfrm>
                <a:off x="777240" y="4648200"/>
                <a:ext cx="2374392" cy="213360"/>
              </a:xfrm>
              <a:prstGeom prst="rect">
                <a:avLst/>
              </a:prstGeom>
              <a:blipFill>
                <a:blip r:embed="rId14"/>
                <a:stretch>
                  <a:fillRect/>
                </a:stretch>
              </a:blipFill>
            </p:spPr>
            <p:txBody>
              <a:bodyPr/>
              <a:lstStyle/>
              <a:p>
                <a:r>
                  <a:rPr lang="en-US">
                    <a:noFill/>
                  </a:rPr>
                  <a:t> </a:t>
                </a:r>
              </a:p>
            </p:txBody>
          </p:sp>
        </mc:Fallback>
      </mc:AlternateContent>
      <p:sp>
        <p:nvSpPr>
          <p:cNvPr id="2100" name="eq-note-4"/>
          <p:cNvSpPr txBox="1"/>
          <p:nvPr/>
        </p:nvSpPr>
        <p:spPr>
          <a:xfrm>
            <a:off x="6217920" y="4489704"/>
            <a:ext cx="5212080" cy="53035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Existence: e = 1 where the shape exists, else 0. The penalty grows without bound for a confident wrong answer.</a:t>
            </a:r>
          </a:p>
        </p:txBody>
      </p:sp>
      <p:sp>
        <p:nvSpPr>
          <p:cNvPr id="2101" name="eq-card-5"/>
          <p:cNvSpPr/>
          <p:nvPr/>
        </p:nvSpPr>
        <p:spPr>
          <a:xfrm>
            <a:off x="548640" y="5120640"/>
            <a:ext cx="11064240" cy="640080"/>
          </a:xfrm>
          <a:prstGeom prst="roundRect">
            <a:avLst>
              <a:gd name="adj" fmla="val 6000"/>
            </a:avLst>
          </a:prstGeom>
          <a:solidFill>
            <a:schemeClr val="bg2"/>
          </a:solidFill>
          <a:ln>
            <a:noFill/>
          </a:ln>
        </p:spPr>
        <p:txBody>
          <a:bodyPr/>
          <a:lstStyle/>
          <a:p>
            <a:endParaRPr lang="en-US"/>
          </a:p>
        </p:txBody>
      </p:sp>
      <mc:AlternateContent xmlns:mc="http://schemas.openxmlformats.org/markup-compatibility/2006" xmlns:a14="http://schemas.microsoft.com/office/drawing/2010/main">
        <mc:Choice Requires="a14">
          <p:sp>
            <p:nvSpPr>
              <p:cNvPr id="2102" name="latex-loss"/>
              <p:cNvSpPr txBox="1"/>
              <p:nvPr/>
            </p:nvSpPr>
            <p:spPr>
              <a:xfrm>
                <a:off x="777240" y="5327904"/>
                <a:ext cx="2151888" cy="225552"/>
              </a:xfrm>
              <a:prstGeom prst="rect">
                <a:avLst/>
              </a:prstGeom>
              <a:noFill/>
            </p:spPr>
            <p:txBody>
              <a:bodyPr wrap="none" lIns="0" tIns="0" rIns="0" bIns="0" rtlCol="0" anchor="ctr">
                <a:noAutofit/>
              </a:bodyPr>
              <a:lstStyle/>
              <a:p>
                <a:pPr marL="0" indent="0">
                  <a:buNone/>
                </a:pPr>
                <a14:m>
                  <m:oMathPara xmlns:m="http://schemas.openxmlformats.org/officeDocument/2006/math">
                    <m:oMathParaPr>
                      <m:jc m:val="left"/>
                    </m:oMathParaPr>
                    <m:oMath>
                      <m:r>
                        <m:rPr>
                          <m:scr m:val="script"/>
                          <m:sty m:val="p"/>
                        </m:rPr>
                        <a:rPr lang="en-US" sz="1400" i="0" dirty="0">
                          <a:solidFill>
                            <a:schemeClr val="tx1"/>
                          </a:solidFill>
                          <a:latin typeface="Cambria Math" panose="02040503050406030204" pitchFamily="18" charset="0"/>
                        </a:rPr>
                        <m:t>L</m:t>
                      </m:r>
                      <m:r>
                        <m:rPr>
                          <m:sty m:val="p"/>
                        </m:rPr>
                        <a:rPr lang="en-US" sz="1400" i="0" dirty="0">
                          <a:solidFill>
                            <a:schemeClr val="tx1"/>
                          </a:solidFill>
                          <a:latin typeface="Cambria Math" panose="02040503050406030204" pitchFamily="18" charset="0"/>
                        </a:rPr>
                        <m:t>=</m:t>
                      </m:r>
                      <m:sSub>
                        <m:e>
                          <m:r>
                            <m:rPr>
                              <m:scr m:val="script"/>
                              <m:sty m:val="p"/>
                            </m:rPr>
                            <a:rPr lang="en-US" sz="1400" i="0" dirty="0">
                              <a:solidFill>
                                <a:schemeClr val="tx1"/>
                              </a:solidFill>
                              <a:latin typeface="Cambria Math" panose="02040503050406030204" pitchFamily="18" charset="0"/>
                            </a:rPr>
                            <m:t>L</m:t>
                          </m:r>
                        </m:e>
                        <m:sub>
                          <m:r>
                            <a:rPr lang="en-US" sz="1400" i="1" dirty="0">
                              <a:solidFill>
                                <a:schemeClr val="tx1"/>
                              </a:solidFill>
                              <a:latin typeface="Cambria Math" panose="02040503050406030204" pitchFamily="18" charset="0"/>
                            </a:rPr>
                            <m:t>U</m:t>
                          </m:r>
                        </m:sub>
                      </m:sSub>
                      <m:r>
                        <m:rPr>
                          <m:sty m:val="p"/>
                        </m:rPr>
                        <a:rPr lang="en-US" sz="1400" i="0" dirty="0">
                          <a:solidFill>
                            <a:schemeClr val="tx1"/>
                          </a:solidFill>
                          <a:latin typeface="Cambria Math" panose="02040503050406030204" pitchFamily="18" charset="0"/>
                        </a:rPr>
                        <m:t>+</m:t>
                      </m:r>
                      <m:sSub>
                        <m:e>
                          <m:r>
                            <m:rPr>
                              <m:scr m:val="script"/>
                              <m:sty m:val="p"/>
                            </m:rPr>
                            <a:rPr lang="en-US" sz="1400" i="0" dirty="0">
                              <a:solidFill>
                                <a:schemeClr val="tx1"/>
                              </a:solidFill>
                              <a:latin typeface="Cambria Math" panose="02040503050406030204" pitchFamily="18" charset="0"/>
                            </a:rPr>
                            <m:t>L</m:t>
                          </m:r>
                        </m:e>
                        <m:sub>
                          <m:r>
                            <a:rPr lang="en-US" sz="1400" i="1" dirty="0">
                              <a:solidFill>
                                <a:schemeClr val="tx1"/>
                              </a:solidFill>
                              <a:latin typeface="Cambria Math" panose="02040503050406030204" pitchFamily="18" charset="0"/>
                            </a:rPr>
                            <m:t>M</m:t>
                          </m:r>
                        </m:sub>
                      </m:sSub>
                      <m:r>
                        <m:rPr>
                          <m:sty m:val="p"/>
                        </m:rPr>
                        <a:rPr lang="en-US" sz="1400" i="0" dirty="0">
                          <a:solidFill>
                            <a:schemeClr val="tx1"/>
                          </a:solidFill>
                          <a:latin typeface="Cambria Math" panose="02040503050406030204" pitchFamily="18" charset="0"/>
                        </a:rPr>
                        <m:t>+</m:t>
                      </m:r>
                      <m:sSub>
                        <m:e>
                          <m:r>
                            <m:rPr>
                              <m:scr m:val="script"/>
                              <m:sty m:val="p"/>
                            </m:rPr>
                            <a:rPr lang="en-US" sz="1400" i="0" dirty="0">
                              <a:solidFill>
                                <a:schemeClr val="tx1"/>
                              </a:solidFill>
                              <a:latin typeface="Cambria Math" panose="02040503050406030204" pitchFamily="18" charset="0"/>
                            </a:rPr>
                            <m:t>L</m:t>
                          </m:r>
                        </m:e>
                        <m:sub>
                          <m:r>
                            <m:rPr>
                              <m:sty m:val="p"/>
                            </m:rPr>
                            <a:rPr lang="en-US" sz="1400" i="0" dirty="0">
                              <a:solidFill>
                                <a:schemeClr val="tx1"/>
                              </a:solidFill>
                              <a:latin typeface="Cambria Math" panose="02040503050406030204" pitchFamily="18" charset="0"/>
                            </a:rPr>
                            <m:t>∂</m:t>
                          </m:r>
                        </m:sub>
                      </m:sSub>
                      <m:r>
                        <m:rPr>
                          <m:sty m:val="p"/>
                        </m:rPr>
                        <a:rPr lang="en-US" sz="1400" i="0" dirty="0">
                          <a:solidFill>
                            <a:schemeClr val="tx1"/>
                          </a:solidFill>
                          <a:latin typeface="Cambria Math" panose="02040503050406030204" pitchFamily="18" charset="0"/>
                        </a:rPr>
                        <m:t>+</m:t>
                      </m:r>
                      <m:sSub>
                        <m:e>
                          <m:r>
                            <m:rPr>
                              <m:scr m:val="script"/>
                              <m:sty m:val="p"/>
                            </m:rPr>
                            <a:rPr lang="en-US" sz="1400" i="0" dirty="0">
                              <a:solidFill>
                                <a:schemeClr val="tx1"/>
                              </a:solidFill>
                              <a:latin typeface="Cambria Math" panose="02040503050406030204" pitchFamily="18" charset="0"/>
                            </a:rPr>
                            <m:t>L</m:t>
                          </m:r>
                        </m:e>
                        <m:sub>
                          <m:r>
                            <a:rPr lang="en-US" sz="1400" i="1" dirty="0">
                              <a:solidFill>
                                <a:schemeClr val="tx1"/>
                              </a:solidFill>
                              <a:latin typeface="Cambria Math" panose="02040503050406030204" pitchFamily="18" charset="0"/>
                            </a:rPr>
                            <m:t>f</m:t>
                          </m:r>
                        </m:sub>
                      </m:sSub>
                      <m:r>
                        <m:rPr>
                          <m:sty m:val="p"/>
                        </m:rPr>
                        <a:rPr lang="en-US" sz="1400" i="0" dirty="0">
                          <a:solidFill>
                            <a:schemeClr val="tx1"/>
                          </a:solidFill>
                          <a:latin typeface="Cambria Math" panose="02040503050406030204" pitchFamily="18" charset="0"/>
                        </a:rPr>
                        <m:t>+</m:t>
                      </m:r>
                      <m:sSub>
                        <m:e>
                          <m:r>
                            <m:rPr>
                              <m:scr m:val="script"/>
                              <m:sty m:val="p"/>
                            </m:rPr>
                            <a:rPr lang="en-US" sz="1400" i="0" dirty="0">
                              <a:solidFill>
                                <a:schemeClr val="tx1"/>
                              </a:solidFill>
                              <a:latin typeface="Cambria Math" panose="02040503050406030204" pitchFamily="18" charset="0"/>
                            </a:rPr>
                            <m:t>L</m:t>
                          </m:r>
                        </m:e>
                        <m:sub>
                          <m:r>
                            <m:rPr>
                              <m:sty m:val="p"/>
                            </m:rPr>
                            <a:rPr lang="en-US" sz="1400" i="0" dirty="0">
                              <a:solidFill>
                                <a:schemeClr val="tx1"/>
                              </a:solidFill>
                              <a:latin typeface="Cambria Math" panose="02040503050406030204" pitchFamily="18" charset="0"/>
                            </a:rPr>
                            <m:t>∃</m:t>
                          </m:r>
                        </m:sub>
                      </m:sSub>
                    </m:oMath>
                  </m:oMathPara>
                </a14:m>
              </a:p>
            </p:txBody>
          </p:sp>
        </mc:Choice>
        <mc:Fallback xmlns="">
          <p:sp>
            <p:nvSpPr>
              <p:cNvPr id="2102" name="latex-loss"/>
              <p:cNvSpPr txBox="1">
                <a:spLocks noRot="1" noChangeAspect="1" noMove="1" noResize="1" noEditPoints="1" noAdjustHandles="1" noChangeArrowheads="1" noChangeShapeType="1" noTextEdit="1"/>
              </p:cNvSpPr>
              <p:nvPr/>
            </p:nvSpPr>
            <p:spPr>
              <a:xfrm>
                <a:off x="777240" y="5327904"/>
                <a:ext cx="2151888" cy="225552"/>
              </a:xfrm>
              <a:prstGeom prst="rect">
                <a:avLst/>
              </a:prstGeom>
              <a:blipFill>
                <a:blip r:embed="rId15"/>
                <a:stretch>
                  <a:fillRect/>
                </a:stretch>
              </a:blipFill>
            </p:spPr>
            <p:txBody>
              <a:bodyPr/>
              <a:lstStyle/>
              <a:p>
                <a:r>
                  <a:rPr lang="en-US">
                    <a:noFill/>
                  </a:rPr>
                  <a:t> </a:t>
                </a:r>
              </a:p>
            </p:txBody>
          </p:sp>
        </mc:Fallback>
      </mc:AlternateContent>
      <p:sp>
        <p:nvSpPr>
          <p:cNvPr id="2103" name="eq-note-5"/>
          <p:cNvSpPr txBox="1"/>
          <p:nvPr/>
        </p:nvSpPr>
        <p:spPr>
          <a:xfrm>
            <a:off x="6217920" y="5175504"/>
            <a:ext cx="5212080" cy="530352"/>
          </a:xfrm>
          <a:prstGeom prst="rect">
            <a:avLst/>
          </a:prstGeom>
          <a:noFill/>
          <a:ln/>
        </p:spPr>
        <p:txBody>
          <a:bodyPr wrap="square" lIns="0" tIns="0" rIns="0" bIns="0" rtlCol="0" anchor="ctr">
            <a:normAutofit/>
          </a:bodyPr>
          <a:lstStyle/>
          <a:p>
            <a:pPr marL="0" indent="0" algn="l">
              <a:spcAft>
                <a:spcPts val="0"/>
              </a:spcAft>
              <a:buNone/>
            </a:pPr>
            <a:r>
              <a:rPr lang="en-US" sz="1150" dirty="0">
                <a:solidFill>
                  <a:schemeClr val="accent5"/>
                </a:solidFill>
              </a:rPr>
              <a:t xml:space="preserve">Each term weighted 1. The energy network sees only states that exist; the existence network sees every point.</a:t>
            </a:r>
          </a:p>
        </p:txBody>
      </p:sp>
      <p:sp>
        <p:nvSpPr>
          <p:cNvPr id="210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08"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Does the fit converge without memorising?</a:t>
            </a:r>
          </a:p>
        </p:txBody>
      </p:sp>
      <p:sp>
        <p:nvSpPr>
          <p:cNvPr id="2109"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Over 200 passes through the data every term falls by 2½ to 6 decades, and states the fit never saw come out as well as the ones it did.</a:t>
            </a:r>
          </a:p>
        </p:txBody>
      </p:sp>
      <p:pic>
        <p:nvPicPr>
          <p:cNvPr id="2107" name="Picture nn_training.png" descr="nn_training.png"/>
          <p:cNvPicPr>
            <a:picLocks noChangeAspect="1"/>
          </p:cNvPicPr>
          <p:nvPr/>
        </p:nvPicPr>
        <p:blipFill>
          <a:blip r:embed="rId2"/>
          <a:stretch>
            <a:fillRect/>
          </a:stretch>
        </p:blipFill>
        <p:spPr>
          <a:xfrm>
            <a:off x="548640" y="1691640"/>
            <a:ext cx="5852160" cy="4114800"/>
          </a:xfrm>
          <a:prstGeom prst="rect">
            <a:avLst/>
          </a:prstGeom>
        </p:spPr>
      </p:pic>
      <p:sp>
        <p:nvSpPr>
          <p:cNvPr id="2110" name="badge-1"/>
          <p:cNvSpPr/>
          <p:nvPr/>
        </p:nvSpPr>
        <p:spPr>
          <a:xfrm>
            <a:off x="6675120" y="1719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1</a:t>
            </a:r>
          </a:p>
        </p:txBody>
      </p:sp>
      <p:sp>
        <p:nvSpPr>
          <p:cNvPr id="2111" name="step-1"/>
          <p:cNvSpPr txBox="1"/>
          <p:nvPr/>
        </p:nvSpPr>
        <p:spPr>
          <a:xfrm>
            <a:off x="7132320" y="1691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A pass</a:t>
            </a:r>
          </a:p>
          <a:p>
            <a:pPr marL="0" indent="0" algn="l">
              <a:spcAft>
                <a:spcPts val="200"/>
              </a:spcAft>
              <a:buNone/>
            </a:pPr>
            <a:r>
              <a:rPr lang="en-US" sz="1250" dirty="0">
                <a:solidFill>
                  <a:schemeClr val="tx1"/>
                </a:solidFill>
              </a:rPr>
              <a:t xml:space="preserve">Every training state used once, in batches of 8192; each batch gives one small correction to all the weights: 1,113 corrections per pass.</a:t>
            </a:r>
          </a:p>
        </p:txBody>
      </p:sp>
      <p:sp>
        <p:nvSpPr>
          <p:cNvPr id="2112" name="badge-2"/>
          <p:cNvSpPr/>
          <p:nvPr/>
        </p:nvSpPr>
        <p:spPr>
          <a:xfrm>
            <a:off x="6675120" y="2862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2</a:t>
            </a:r>
          </a:p>
        </p:txBody>
      </p:sp>
      <p:sp>
        <p:nvSpPr>
          <p:cNvPr id="2113" name="step-2"/>
          <p:cNvSpPr txBox="1"/>
          <p:nvPr/>
        </p:nvSpPr>
        <p:spPr>
          <a:xfrm>
            <a:off x="7132320" y="2834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Measured on held-back rows</a:t>
            </a:r>
          </a:p>
          <a:p>
            <a:pPr marL="0" indent="0" algn="l">
              <a:spcAft>
                <a:spcPts val="200"/>
              </a:spcAft>
              <a:buNone/>
            </a:pPr>
            <a:r>
              <a:rPr lang="en-US" sz="1250" dirty="0">
                <a:solidFill>
                  <a:schemeClr val="tx1"/>
                </a:solidFill>
              </a:rPr>
              <a:t xml:space="preserve">The curves are the loss terms on rows the fit never uses, every 5 passes. The early jumps come from large steps, which shrink towards the end.</a:t>
            </a:r>
          </a:p>
        </p:txBody>
      </p:sp>
      <p:sp>
        <p:nvSpPr>
          <p:cNvPr id="2114" name="badge-3"/>
          <p:cNvSpPr/>
          <p:nvPr/>
        </p:nvSpPr>
        <p:spPr>
          <a:xfrm>
            <a:off x="6675120" y="4005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3</a:t>
            </a:r>
          </a:p>
        </p:txBody>
      </p:sp>
      <p:sp>
        <p:nvSpPr>
          <p:cNvPr id="2115" name="step-3"/>
          <p:cNvSpPr txBox="1"/>
          <p:nvPr/>
        </p:nvSpPr>
        <p:spPr>
          <a:xfrm>
            <a:off x="7132320" y="3977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No memorising</a:t>
            </a:r>
          </a:p>
          <a:p>
            <a:pPr marL="0" indent="0" algn="l">
              <a:spcAft>
                <a:spcPts val="200"/>
              </a:spcAft>
              <a:buNone/>
            </a:pPr>
            <a:r>
              <a:rPr lang="en-US" sz="1250" dirty="0">
                <a:solidFill>
                  <a:schemeClr val="tx1"/>
                </a:solidFill>
              </a:rPr>
              <a:t xml:space="preserve">Median errors on fitted and on held-back states agree to two digits in every energy band (slide 66): the fit has not just stored its data.</a:t>
            </a:r>
          </a:p>
        </p:txBody>
      </p:sp>
      <p:sp>
        <p:nvSpPr>
          <p:cNvPr id="2116" name="badge-4"/>
          <p:cNvSpPr/>
          <p:nvPr/>
        </p:nvSpPr>
        <p:spPr>
          <a:xfrm>
            <a:off x="6675120" y="5148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4</a:t>
            </a:r>
          </a:p>
        </p:txBody>
      </p:sp>
      <p:sp>
        <p:nvSpPr>
          <p:cNvPr id="2117" name="step-4"/>
          <p:cNvSpPr txBox="1"/>
          <p:nvPr/>
        </p:nvSpPr>
        <p:spPr>
          <a:xfrm>
            <a:off x="7132320" y="5120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Cost</a:t>
            </a:r>
          </a:p>
          <a:p>
            <a:pPr marL="0" indent="0" algn="l">
              <a:spcAft>
                <a:spcPts val="200"/>
              </a:spcAft>
              <a:buNone/>
            </a:pPr>
            <a:r>
              <a:rPr lang="en-US" sz="1250" dirty="0">
                <a:solidFill>
                  <a:schemeClr val="tx1"/>
                </a:solidFill>
              </a:rPr>
              <a:t xml:space="preserve">86 minutes on one RTX A6000 graphics card, for 662 thousand weights and 11.4 million rows.</a:t>
            </a:r>
          </a:p>
        </p:txBody>
      </p:sp>
      <p:sp>
        <p:nvSpPr>
          <p:cNvPr id="211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20"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How close is it on states it never saw?</a:t>
            </a:r>
          </a:p>
        </p:txBody>
      </p:sp>
      <p:sp>
        <p:nvSpPr>
          <p:cNvPr id="2121"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Half of the held-back states are within 0.0012 % in U and 0.04 % in the moments and forces.</a:t>
            </a:r>
          </a:p>
        </p:txBody>
      </p:sp>
      <p:pic>
        <p:nvPicPr>
          <p:cNvPr id="2119" name="Picture nn_rel.png" descr="nn_rel.png"/>
          <p:cNvPicPr>
            <a:picLocks noChangeAspect="1"/>
          </p:cNvPicPr>
          <p:nvPr/>
        </p:nvPicPr>
        <p:blipFill>
          <a:blip r:embed="rId2"/>
          <a:stretch>
            <a:fillRect/>
          </a:stretch>
        </p:blipFill>
        <p:spPr>
          <a:xfrm>
            <a:off x="1051560" y="1691640"/>
            <a:ext cx="10058400" cy="3017520"/>
          </a:xfrm>
          <a:prstGeom prst="rect">
            <a:avLst/>
          </a:prstGeom>
        </p:spPr>
      </p:pic>
      <p:sp>
        <p:nvSpPr>
          <p:cNvPr id="2122" name="text-103"/>
          <p:cNvSpPr txBox="1"/>
          <p:nvPr/>
        </p:nvSpPr>
        <p:spPr>
          <a:xfrm>
            <a:off x="548640" y="4754880"/>
            <a:ext cx="11064240" cy="411480"/>
          </a:xfrm>
          <a:prstGeom prst="rect">
            <a:avLst/>
          </a:prstGeom>
          <a:noFill/>
          <a:ln/>
        </p:spPr>
        <p:txBody>
          <a:bodyPr wrap="square" lIns="0" tIns="0" rIns="0" bIns="0" rtlCol="0" anchor="t"/>
          <a:lstStyle/>
          <a:p>
            <a:pPr marL="0" indent="0">
              <a:buNone/>
            </a:pPr>
            <a:r>
              <a:rPr lang="en-US" sz="1100" i="1" dirty="0">
                <a:solidFill>
                  <a:schemeClr val="accent5"/>
                </a:solidFill>
              </a:rPr>
              <a:t>Relative error = |network − solver| / |solver|, with a floor of 1 % of the typical size where a quantity passes through zero (the moments, fy); 1.8 million held-back states of both shapes, in 35 bins of energy. fy’s 99th percentile is high only where fy itself is close to zero.</a:t>
            </a:r>
          </a:p>
        </p:txBody>
      </p:sp>
      <p:sp>
        <p:nvSpPr>
          <p:cNvPr id="2123" name="card-0"/>
          <p:cNvSpPr/>
          <p:nvPr/>
        </p:nvSpPr>
        <p:spPr>
          <a:xfrm>
            <a:off x="548640" y="5166360"/>
            <a:ext cx="2594610" cy="1143000"/>
          </a:xfrm>
          <a:prstGeom prst="roundRect">
            <a:avLst>
              <a:gd name="adj" fmla="val 6000"/>
            </a:avLst>
          </a:prstGeom>
          <a:solidFill>
            <a:schemeClr val="bg2"/>
          </a:solidFill>
          <a:ln>
            <a:noFill/>
          </a:ln>
        </p:spPr>
        <p:txBody>
          <a:bodyPr/>
          <a:lstStyle/>
          <a:p>
            <a:endParaRPr lang="en-US"/>
          </a:p>
        </p:txBody>
      </p:sp>
      <p:sp>
        <p:nvSpPr>
          <p:cNvPr id="2124" name="tile-big-0"/>
          <p:cNvSpPr txBox="1"/>
          <p:nvPr/>
        </p:nvSpPr>
        <p:spPr>
          <a:xfrm>
            <a:off x="731520" y="5221224"/>
            <a:ext cx="2228850" cy="548640"/>
          </a:xfrm>
          <a:prstGeom prst="rect">
            <a:avLst/>
          </a:prstGeom>
          <a:noFill/>
          <a:ln/>
        </p:spPr>
        <p:txBody>
          <a:bodyPr wrap="square" lIns="0" tIns="0" rIns="0" bIns="0" rtlCol="0" anchor="ctr">
            <a:normAutofit/>
          </a:bodyPr>
          <a:lstStyle/>
          <a:p>
            <a:pPr marL="0" indent="0" algn="l">
              <a:spcAft>
                <a:spcPts val="0"/>
              </a:spcAft>
              <a:buNone/>
            </a:pPr>
            <a:r>
              <a:rPr lang="en-US" sz="2600" b="1" dirty="0">
                <a:solidFill>
                  <a:schemeClr val="accent1"/>
                </a:solidFill>
              </a:rPr>
              <a:t xml:space="preserve">0.0012 %</a:t>
            </a:r>
          </a:p>
        </p:txBody>
      </p:sp>
      <p:sp>
        <p:nvSpPr>
          <p:cNvPr id="2125" name="tile-label-0"/>
          <p:cNvSpPr txBox="1"/>
          <p:nvPr/>
        </p:nvSpPr>
        <p:spPr>
          <a:xfrm>
            <a:off x="731520" y="5769864"/>
            <a:ext cx="222885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 xml:space="preserve">energy U</a:t>
            </a:r>
          </a:p>
        </p:txBody>
      </p:sp>
      <p:sp>
        <p:nvSpPr>
          <p:cNvPr id="2126" name="tile-sub-0"/>
          <p:cNvSpPr txBox="1"/>
          <p:nvPr/>
        </p:nvSpPr>
        <p:spPr>
          <a:xfrm>
            <a:off x="731520" y="6062472"/>
            <a:ext cx="222885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 xml:space="preserve">median; 99 % within 0.011 %</a:t>
            </a:r>
          </a:p>
        </p:txBody>
      </p:sp>
      <p:sp>
        <p:nvSpPr>
          <p:cNvPr id="2127" name="card-1"/>
          <p:cNvSpPr/>
          <p:nvPr/>
        </p:nvSpPr>
        <p:spPr>
          <a:xfrm>
            <a:off x="3371850" y="5166360"/>
            <a:ext cx="2594610" cy="1143000"/>
          </a:xfrm>
          <a:prstGeom prst="roundRect">
            <a:avLst>
              <a:gd name="adj" fmla="val 6000"/>
            </a:avLst>
          </a:prstGeom>
          <a:solidFill>
            <a:schemeClr val="bg2"/>
          </a:solidFill>
          <a:ln>
            <a:noFill/>
          </a:ln>
        </p:spPr>
        <p:txBody>
          <a:bodyPr/>
          <a:lstStyle/>
          <a:p>
            <a:endParaRPr lang="en-US"/>
          </a:p>
        </p:txBody>
      </p:sp>
      <p:sp>
        <p:nvSpPr>
          <p:cNvPr id="2128" name="tile-big-1"/>
          <p:cNvSpPr txBox="1"/>
          <p:nvPr/>
        </p:nvSpPr>
        <p:spPr>
          <a:xfrm>
            <a:off x="3554730" y="5221224"/>
            <a:ext cx="2228850" cy="548640"/>
          </a:xfrm>
          <a:prstGeom prst="rect">
            <a:avLst/>
          </a:prstGeom>
          <a:noFill/>
          <a:ln/>
        </p:spPr>
        <p:txBody>
          <a:bodyPr wrap="square" lIns="0" tIns="0" rIns="0" bIns="0" rtlCol="0" anchor="ctr">
            <a:normAutofit/>
          </a:bodyPr>
          <a:lstStyle/>
          <a:p>
            <a:pPr marL="0" indent="0" algn="l">
              <a:spcAft>
                <a:spcPts val="0"/>
              </a:spcAft>
              <a:buNone/>
            </a:pPr>
            <a:r>
              <a:rPr lang="en-US" sz="2600" b="1" dirty="0">
                <a:solidFill>
                  <a:schemeClr val="accent1"/>
                </a:solidFill>
              </a:rPr>
              <a:t xml:space="preserve">0.036 %</a:t>
            </a:r>
          </a:p>
        </p:txBody>
      </p:sp>
      <p:sp>
        <p:nvSpPr>
          <p:cNvPr id="2129" name="tile-label-1"/>
          <p:cNvSpPr txBox="1"/>
          <p:nvPr/>
        </p:nvSpPr>
        <p:spPr>
          <a:xfrm>
            <a:off x="3554730" y="5769864"/>
            <a:ext cx="222885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 xml:space="preserve">moment M₁</a:t>
            </a:r>
          </a:p>
        </p:txBody>
      </p:sp>
      <p:sp>
        <p:nvSpPr>
          <p:cNvPr id="2130" name="tile-sub-1"/>
          <p:cNvSpPr txBox="1"/>
          <p:nvPr/>
        </p:nvSpPr>
        <p:spPr>
          <a:xfrm>
            <a:off x="3554730" y="6062472"/>
            <a:ext cx="222885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 xml:space="preserve">median; 99 % within 0.61 %</a:t>
            </a:r>
          </a:p>
        </p:txBody>
      </p:sp>
      <p:sp>
        <p:nvSpPr>
          <p:cNvPr id="2131" name="card-2"/>
          <p:cNvSpPr/>
          <p:nvPr/>
        </p:nvSpPr>
        <p:spPr>
          <a:xfrm>
            <a:off x="6195060" y="5166360"/>
            <a:ext cx="2594610" cy="1143000"/>
          </a:xfrm>
          <a:prstGeom prst="roundRect">
            <a:avLst>
              <a:gd name="adj" fmla="val 6000"/>
            </a:avLst>
          </a:prstGeom>
          <a:solidFill>
            <a:schemeClr val="bg2"/>
          </a:solidFill>
          <a:ln>
            <a:noFill/>
          </a:ln>
        </p:spPr>
        <p:txBody>
          <a:bodyPr/>
          <a:lstStyle/>
          <a:p>
            <a:endParaRPr lang="en-US"/>
          </a:p>
        </p:txBody>
      </p:sp>
      <p:sp>
        <p:nvSpPr>
          <p:cNvPr id="2132" name="tile-big-2"/>
          <p:cNvSpPr txBox="1"/>
          <p:nvPr/>
        </p:nvSpPr>
        <p:spPr>
          <a:xfrm>
            <a:off x="6377940" y="5221224"/>
            <a:ext cx="2228850" cy="548640"/>
          </a:xfrm>
          <a:prstGeom prst="rect">
            <a:avLst/>
          </a:prstGeom>
          <a:noFill/>
          <a:ln/>
        </p:spPr>
        <p:txBody>
          <a:bodyPr wrap="square" lIns="0" tIns="0" rIns="0" bIns="0" rtlCol="0" anchor="ctr">
            <a:normAutofit/>
          </a:bodyPr>
          <a:lstStyle/>
          <a:p>
            <a:pPr marL="0" indent="0" algn="l">
              <a:spcAft>
                <a:spcPts val="0"/>
              </a:spcAft>
              <a:buNone/>
            </a:pPr>
            <a:r>
              <a:rPr lang="en-US" sz="2600" b="1" dirty="0">
                <a:solidFill>
                  <a:schemeClr val="accent1"/>
                </a:solidFill>
              </a:rPr>
              <a:t xml:space="preserve">0.013 %</a:t>
            </a:r>
          </a:p>
        </p:txBody>
      </p:sp>
      <p:sp>
        <p:nvSpPr>
          <p:cNvPr id="2133" name="tile-label-2"/>
          <p:cNvSpPr txBox="1"/>
          <p:nvPr/>
        </p:nvSpPr>
        <p:spPr>
          <a:xfrm>
            <a:off x="6377940" y="5769864"/>
            <a:ext cx="222885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 xml:space="preserve">force fx</a:t>
            </a:r>
          </a:p>
        </p:txBody>
      </p:sp>
      <p:sp>
        <p:nvSpPr>
          <p:cNvPr id="2134" name="tile-sub-2"/>
          <p:cNvSpPr txBox="1"/>
          <p:nvPr/>
        </p:nvSpPr>
        <p:spPr>
          <a:xfrm>
            <a:off x="6377940" y="6062472"/>
            <a:ext cx="222885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 xml:space="preserve">median; 99 % within 0.16 %</a:t>
            </a:r>
          </a:p>
        </p:txBody>
      </p:sp>
      <p:sp>
        <p:nvSpPr>
          <p:cNvPr id="2135" name="card-3"/>
          <p:cNvSpPr/>
          <p:nvPr/>
        </p:nvSpPr>
        <p:spPr>
          <a:xfrm>
            <a:off x="9018270" y="5166360"/>
            <a:ext cx="2594610" cy="1143000"/>
          </a:xfrm>
          <a:prstGeom prst="roundRect">
            <a:avLst>
              <a:gd name="adj" fmla="val 6000"/>
            </a:avLst>
          </a:prstGeom>
          <a:solidFill>
            <a:schemeClr val="bg2"/>
          </a:solidFill>
          <a:ln>
            <a:noFill/>
          </a:ln>
        </p:spPr>
        <p:txBody>
          <a:bodyPr/>
          <a:lstStyle/>
          <a:p>
            <a:endParaRPr lang="en-US"/>
          </a:p>
        </p:txBody>
      </p:sp>
      <p:sp>
        <p:nvSpPr>
          <p:cNvPr id="2136" name="tile-big-3"/>
          <p:cNvSpPr txBox="1"/>
          <p:nvPr/>
        </p:nvSpPr>
        <p:spPr>
          <a:xfrm>
            <a:off x="9201150" y="5221224"/>
            <a:ext cx="2228850" cy="548640"/>
          </a:xfrm>
          <a:prstGeom prst="rect">
            <a:avLst/>
          </a:prstGeom>
          <a:noFill/>
          <a:ln/>
        </p:spPr>
        <p:txBody>
          <a:bodyPr wrap="square" lIns="0" tIns="0" rIns="0" bIns="0" rtlCol="0" anchor="ctr">
            <a:normAutofit/>
          </a:bodyPr>
          <a:lstStyle/>
          <a:p>
            <a:pPr marL="0" indent="0" algn="l">
              <a:spcAft>
                <a:spcPts val="0"/>
              </a:spcAft>
              <a:buNone/>
            </a:pPr>
            <a:r>
              <a:rPr lang="en-US" sz="2600" b="1" dirty="0">
                <a:solidFill>
                  <a:schemeClr val="accent1"/>
                </a:solidFill>
              </a:rPr>
              <a:t xml:space="preserve">0.027 %</a:t>
            </a:r>
          </a:p>
        </p:txBody>
      </p:sp>
      <p:sp>
        <p:nvSpPr>
          <p:cNvPr id="2137" name="tile-label-3"/>
          <p:cNvSpPr txBox="1"/>
          <p:nvPr/>
        </p:nvSpPr>
        <p:spPr>
          <a:xfrm>
            <a:off x="9201150" y="5769864"/>
            <a:ext cx="222885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 xml:space="preserve">force fy</a:t>
            </a:r>
          </a:p>
        </p:txBody>
      </p:sp>
      <p:sp>
        <p:nvSpPr>
          <p:cNvPr id="2138" name="tile-sub-3"/>
          <p:cNvSpPr txBox="1"/>
          <p:nvPr/>
        </p:nvSpPr>
        <p:spPr>
          <a:xfrm>
            <a:off x="9201150" y="6062472"/>
            <a:ext cx="222885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 xml:space="preserve">median; 99 % within 2 %</a:t>
            </a:r>
          </a:p>
        </p:txBody>
      </p:sp>
      <p:sp>
        <p:nvSpPr>
          <p:cNvPr id="213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4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How big are the errors in the problem’s units?</a:t>
            </a:r>
          </a:p>
        </p:txBody>
      </p:sp>
      <p:sp>
        <p:nvSpPr>
          <p:cNvPr id="2142"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They grow with U about as fast as the quantities themselves, and stay a median 3½ to 5 decades below them.</a:t>
            </a:r>
          </a:p>
        </p:txBody>
      </p:sp>
      <p:pic>
        <p:nvPicPr>
          <p:cNvPr id="2140" name="Picture nn_abs.png" descr="nn_abs.png"/>
          <p:cNvPicPr>
            <a:picLocks noChangeAspect="1"/>
          </p:cNvPicPr>
          <p:nvPr/>
        </p:nvPicPr>
        <p:blipFill>
          <a:blip r:embed="rId2"/>
          <a:stretch>
            <a:fillRect/>
          </a:stretch>
        </p:blipFill>
        <p:spPr>
          <a:xfrm>
            <a:off x="1051560" y="1691640"/>
            <a:ext cx="10058400" cy="3017520"/>
          </a:xfrm>
          <a:prstGeom prst="rect">
            <a:avLst/>
          </a:prstGeom>
        </p:spPr>
      </p:pic>
      <p:sp>
        <p:nvSpPr>
          <p:cNvPr id="2143" name="text-103"/>
          <p:cNvSpPr txBox="1"/>
          <p:nvPr/>
        </p:nvSpPr>
        <p:spPr>
          <a:xfrm>
            <a:off x="548640" y="4800600"/>
            <a:ext cx="11064240" cy="640080"/>
          </a:xfrm>
          <a:prstGeom prst="rect">
            <a:avLst/>
          </a:prstGeom>
          <a:noFill/>
          <a:ln/>
        </p:spPr>
        <p:txBody>
          <a:bodyPr wrap="square" lIns="0" tIns="0" rIns="0" bIns="0" rtlCol="0" anchor="t"/>
          <a:lstStyle/>
          <a:p>
            <a:pPr marL="0" indent="0">
              <a:buNone/>
            </a:pPr>
            <a:r>
              <a:rPr lang="en-US" sz="1100" i="1" dirty="0">
                <a:solidFill>
                  <a:schemeClr val="accent5"/>
                </a:solidFill>
              </a:rPr>
              <a:t>EI = L = 1. Dotted: the typical size of the quantity at that energy; shaded: the error from its median to its 99th percentile, on the held-back states. U is off by 3 × 10⁻⁶ below U = 1 and by 2.6 × 10⁻⁴ above U = 10; the moments and fy by 1.5 × 10⁻⁴ to 5 × 10⁻³; fx by 1.4 × 10⁻³ to 1.2 × 10⁻². Above U = 30, where |fx| reaches 1.4 × 10⁴, fx is off by a median of 1.8.</a:t>
            </a:r>
          </a:p>
        </p:txBody>
      </p:sp>
      <p:sp>
        <p:nvSpPr>
          <p:cNvPr id="214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46"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Where are the errors largest?</a:t>
            </a:r>
          </a:p>
        </p:txBody>
      </p:sp>
      <p:sp>
        <p:nvSpPr>
          <p:cNvPr id="2147"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Along the fold, where a shape is about to snap: there the errors are 5 to 11 times those inside. The corners of the box come next.</a:t>
            </a:r>
          </a:p>
        </p:txBody>
      </p:sp>
      <p:pic>
        <p:nvPicPr>
          <p:cNvPr id="2145" name="Picture nn_map.png" descr="nn_map.png"/>
          <p:cNvPicPr>
            <a:picLocks noChangeAspect="1"/>
          </p:cNvPicPr>
          <p:nvPr/>
        </p:nvPicPr>
        <p:blipFill>
          <a:blip r:embed="rId2"/>
          <a:stretch>
            <a:fillRect/>
          </a:stretch>
        </p:blipFill>
        <p:spPr>
          <a:xfrm>
            <a:off x="1051560" y="1691640"/>
            <a:ext cx="10058400" cy="3108960"/>
          </a:xfrm>
          <a:prstGeom prst="rect">
            <a:avLst/>
          </a:prstGeom>
        </p:spPr>
      </p:pic>
      <p:sp>
        <p:nvSpPr>
          <p:cNvPr id="2148" name="text-103"/>
          <p:cNvSpPr txBox="1"/>
          <p:nvPr/>
        </p:nvSpPr>
        <p:spPr>
          <a:xfrm>
            <a:off x="548640" y="4892040"/>
            <a:ext cx="11064240" cy="640080"/>
          </a:xfrm>
          <a:prstGeom prst="rect">
            <a:avLst/>
          </a:prstGeom>
          <a:noFill/>
          <a:ln/>
        </p:spPr>
        <p:txBody>
          <a:bodyPr wrap="square" lIns="0" tIns="0" rIns="0" bIns="0" rtlCol="0" anchor="t"/>
          <a:lstStyle/>
          <a:p>
            <a:pPr marL="0" indent="0">
              <a:buNone/>
            </a:pPr>
            <a:r>
              <a:rPr lang="en-US" sz="1100" i="1" dirty="0">
                <a:solidFill>
                  <a:schemeClr val="accent5"/>
                </a:solidFill>
              </a:rPr>
              <a:t>Median |network − solver| per hexagon, over the 15,773 held-back bent-up states with |d − 0.90| &lt; 0.0025; grey line: where the bent-up shape ends. Within 0.06 of the fold the median error is 1.5 × 10⁻⁴ in U against 2.3 × 10⁻⁵ inside, 6.5 × 10⁻³ against 6.0 × 10⁻⁴ in M₁, 1.3 × 10⁻² against 2.4 × 10⁻³ in fx. The relative error is also 2 to 4 times higher there for M₁ and fx: near a fold the state changes fastest with the clamps.</a:t>
            </a:r>
          </a:p>
        </p:txBody>
      </p:sp>
      <p:sp>
        <p:nvSpPr>
          <p:cNvPr id="214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51"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Does it know where each shape exists?</a:t>
            </a:r>
          </a:p>
        </p:txBody>
      </p:sp>
      <p:sp>
        <p:nvSpPr>
          <p:cNvPr id="2152"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Yes: 99.994 % of the held-back points are classified right, and the mistakes sit on the edges, within a grid step of where a shape ends.</a:t>
            </a:r>
          </a:p>
        </p:txBody>
      </p:sp>
      <p:pic>
        <p:nvPicPr>
          <p:cNvPr id="2150" name="Picture nn_exist.png" descr="nn_exist.png"/>
          <p:cNvPicPr>
            <a:picLocks noChangeAspect="1"/>
          </p:cNvPicPr>
          <p:nvPr/>
        </p:nvPicPr>
        <p:blipFill>
          <a:blip r:embed="rId2"/>
          <a:stretch>
            <a:fillRect/>
          </a:stretch>
        </p:blipFill>
        <p:spPr>
          <a:xfrm>
            <a:off x="1737360" y="1691640"/>
            <a:ext cx="8686800" cy="2842953"/>
          </a:xfrm>
          <a:prstGeom prst="rect">
            <a:avLst/>
          </a:prstGeom>
        </p:spPr>
      </p:pic>
      <p:sp>
        <p:nvSpPr>
          <p:cNvPr id="2153" name="text-103"/>
          <p:cNvSpPr txBox="1"/>
          <p:nvPr/>
        </p:nvSpPr>
        <p:spPr>
          <a:xfrm>
            <a:off x="548640" y="4580313"/>
            <a:ext cx="11064240" cy="365760"/>
          </a:xfrm>
          <a:prstGeom prst="rect">
            <a:avLst/>
          </a:prstGeom>
          <a:noFill/>
          <a:ln/>
        </p:spPr>
        <p:txBody>
          <a:bodyPr wrap="square" lIns="0" tIns="0" rIns="0" bIns="0" rtlCol="0" anchor="t"/>
          <a:lstStyle/>
          <a:p>
            <a:pPr marL="0" indent="0">
              <a:buNone/>
            </a:pPr>
            <a:r>
              <a:rPr lang="en-US" sz="1100" i="1" dirty="0">
                <a:solidFill>
                  <a:schemeClr val="accent5"/>
                </a:solidFill>
              </a:rPr>
              <a:t>d = 0.90, on the solver’s grid. The edges are the folds, where a shape ends and the rod snaps, and the line φ₁ = φ₂, where the one state there turns from bent up to bent down.</a:t>
            </a:r>
          </a:p>
        </p:txBody>
      </p:sp>
      <p:sp>
        <p:nvSpPr>
          <p:cNvPr id="2154" name="card-0"/>
          <p:cNvSpPr/>
          <p:nvPr/>
        </p:nvSpPr>
        <p:spPr>
          <a:xfrm>
            <a:off x="548640" y="4991793"/>
            <a:ext cx="2594610" cy="1188720"/>
          </a:xfrm>
          <a:prstGeom prst="roundRect">
            <a:avLst>
              <a:gd name="adj" fmla="val 6000"/>
            </a:avLst>
          </a:prstGeom>
          <a:solidFill>
            <a:schemeClr val="bg2"/>
          </a:solidFill>
          <a:ln>
            <a:noFill/>
          </a:ln>
        </p:spPr>
        <p:txBody>
          <a:bodyPr/>
          <a:lstStyle/>
          <a:p>
            <a:endParaRPr lang="en-US"/>
          </a:p>
        </p:txBody>
      </p:sp>
      <p:sp>
        <p:nvSpPr>
          <p:cNvPr id="2155" name="tile-big-0"/>
          <p:cNvSpPr txBox="1"/>
          <p:nvPr/>
        </p:nvSpPr>
        <p:spPr>
          <a:xfrm>
            <a:off x="731520" y="5046657"/>
            <a:ext cx="2228850" cy="548640"/>
          </a:xfrm>
          <a:prstGeom prst="rect">
            <a:avLst/>
          </a:prstGeom>
          <a:noFill/>
          <a:ln/>
        </p:spPr>
        <p:txBody>
          <a:bodyPr wrap="square" lIns="0" tIns="0" rIns="0" bIns="0" rtlCol="0" anchor="ctr">
            <a:normAutofit/>
          </a:bodyPr>
          <a:lstStyle/>
          <a:p>
            <a:pPr marL="0" indent="0" algn="l">
              <a:spcAft>
                <a:spcPts val="0"/>
              </a:spcAft>
              <a:buNone/>
            </a:pPr>
            <a:r>
              <a:rPr lang="en-US" sz="2600" b="1" dirty="0">
                <a:solidFill>
                  <a:schemeClr val="accent1"/>
                </a:solidFill>
              </a:rPr>
              <a:t xml:space="preserve">99.994 %</a:t>
            </a:r>
          </a:p>
        </p:txBody>
      </p:sp>
      <p:sp>
        <p:nvSpPr>
          <p:cNvPr id="2156" name="tile-label-0"/>
          <p:cNvSpPr txBox="1"/>
          <p:nvPr/>
        </p:nvSpPr>
        <p:spPr>
          <a:xfrm>
            <a:off x="731520" y="5595297"/>
            <a:ext cx="222885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 xml:space="preserve">held-back points right</a:t>
            </a:r>
          </a:p>
        </p:txBody>
      </p:sp>
      <p:sp>
        <p:nvSpPr>
          <p:cNvPr id="2157" name="tile-sub-0"/>
          <p:cNvSpPr txBox="1"/>
          <p:nvPr/>
        </p:nvSpPr>
        <p:spPr>
          <a:xfrm>
            <a:off x="731520" y="5887905"/>
            <a:ext cx="222885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 xml:space="preserve">2.27 M points, both shapes</a:t>
            </a:r>
          </a:p>
        </p:txBody>
      </p:sp>
      <p:sp>
        <p:nvSpPr>
          <p:cNvPr id="2158" name="card-1"/>
          <p:cNvSpPr/>
          <p:nvPr/>
        </p:nvSpPr>
        <p:spPr>
          <a:xfrm>
            <a:off x="3371850" y="4991793"/>
            <a:ext cx="2594610" cy="1188720"/>
          </a:xfrm>
          <a:prstGeom prst="roundRect">
            <a:avLst>
              <a:gd name="adj" fmla="val 6000"/>
            </a:avLst>
          </a:prstGeom>
          <a:solidFill>
            <a:schemeClr val="bg2"/>
          </a:solidFill>
          <a:ln>
            <a:noFill/>
          </a:ln>
        </p:spPr>
        <p:txBody>
          <a:bodyPr/>
          <a:lstStyle/>
          <a:p>
            <a:endParaRPr lang="en-US"/>
          </a:p>
        </p:txBody>
      </p:sp>
      <p:sp>
        <p:nvSpPr>
          <p:cNvPr id="2159" name="tile-big-1"/>
          <p:cNvSpPr txBox="1"/>
          <p:nvPr/>
        </p:nvSpPr>
        <p:spPr>
          <a:xfrm>
            <a:off x="3554730" y="5046657"/>
            <a:ext cx="2228850" cy="548640"/>
          </a:xfrm>
          <a:prstGeom prst="rect">
            <a:avLst/>
          </a:prstGeom>
          <a:noFill/>
          <a:ln/>
        </p:spPr>
        <p:txBody>
          <a:bodyPr wrap="square" lIns="0" tIns="0" rIns="0" bIns="0" rtlCol="0" anchor="ctr">
            <a:normAutofit/>
          </a:bodyPr>
          <a:lstStyle/>
          <a:p>
            <a:pPr marL="0" indent="0" algn="l">
              <a:spcAft>
                <a:spcPts val="0"/>
              </a:spcAft>
              <a:buNone/>
            </a:pPr>
            <a:r>
              <a:rPr lang="en-US" sz="2600" b="1" dirty="0">
                <a:solidFill>
                  <a:schemeClr val="accent1"/>
                </a:solidFill>
              </a:rPr>
              <a:t xml:space="preserve">99.3 %</a:t>
            </a:r>
          </a:p>
        </p:txBody>
      </p:sp>
      <p:sp>
        <p:nvSpPr>
          <p:cNvPr id="2160" name="tile-label-1"/>
          <p:cNvSpPr txBox="1"/>
          <p:nvPr/>
        </p:nvSpPr>
        <p:spPr>
          <a:xfrm>
            <a:off x="3554730" y="5595297"/>
            <a:ext cx="222885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 xml:space="preserve">right in fold cells</a:t>
            </a:r>
          </a:p>
        </p:txBody>
      </p:sp>
      <p:sp>
        <p:nvSpPr>
          <p:cNvPr id="2161" name="tile-sub-1"/>
          <p:cNvSpPr txBox="1"/>
          <p:nvPr/>
        </p:nvSpPr>
        <p:spPr>
          <a:xfrm>
            <a:off x="3554730" y="5887905"/>
            <a:ext cx="222885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 xml:space="preserve">16,572 points at an edge</a:t>
            </a:r>
          </a:p>
        </p:txBody>
      </p:sp>
      <p:sp>
        <p:nvSpPr>
          <p:cNvPr id="2162" name="card-2"/>
          <p:cNvSpPr/>
          <p:nvPr/>
        </p:nvSpPr>
        <p:spPr>
          <a:xfrm>
            <a:off x="6195060" y="4991793"/>
            <a:ext cx="2594610" cy="1188720"/>
          </a:xfrm>
          <a:prstGeom prst="roundRect">
            <a:avLst>
              <a:gd name="adj" fmla="val 6000"/>
            </a:avLst>
          </a:prstGeom>
          <a:solidFill>
            <a:schemeClr val="bg2"/>
          </a:solidFill>
          <a:ln>
            <a:noFill/>
          </a:ln>
        </p:spPr>
        <p:txBody>
          <a:bodyPr/>
          <a:lstStyle/>
          <a:p>
            <a:endParaRPr lang="en-US"/>
          </a:p>
        </p:txBody>
      </p:sp>
      <p:sp>
        <p:nvSpPr>
          <p:cNvPr id="2163" name="tile-big-2"/>
          <p:cNvSpPr txBox="1"/>
          <p:nvPr/>
        </p:nvSpPr>
        <p:spPr>
          <a:xfrm>
            <a:off x="6377940" y="5046657"/>
            <a:ext cx="2228850" cy="548640"/>
          </a:xfrm>
          <a:prstGeom prst="rect">
            <a:avLst/>
          </a:prstGeom>
          <a:noFill/>
          <a:ln/>
        </p:spPr>
        <p:txBody>
          <a:bodyPr wrap="square" lIns="0" tIns="0" rIns="0" bIns="0" rtlCol="0" anchor="ctr">
            <a:normAutofit/>
          </a:bodyPr>
          <a:lstStyle/>
          <a:p>
            <a:pPr marL="0" indent="0" algn="l">
              <a:spcAft>
                <a:spcPts val="0"/>
              </a:spcAft>
              <a:buNone/>
            </a:pPr>
            <a:r>
              <a:rPr lang="en-US" sz="2600" b="1" dirty="0">
                <a:solidFill>
                  <a:schemeClr val="accent1"/>
                </a:solidFill>
              </a:rPr>
              <a:t xml:space="preserve">0.004 %</a:t>
            </a:r>
          </a:p>
        </p:txBody>
      </p:sp>
      <p:sp>
        <p:nvSpPr>
          <p:cNvPr id="2164" name="tile-label-2"/>
          <p:cNvSpPr txBox="1"/>
          <p:nvPr/>
        </p:nvSpPr>
        <p:spPr>
          <a:xfrm>
            <a:off x="6377940" y="5595297"/>
            <a:ext cx="222885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 xml:space="preserve">shapes missed</a:t>
            </a:r>
          </a:p>
        </p:txBody>
      </p:sp>
      <p:sp>
        <p:nvSpPr>
          <p:cNvPr id="2165" name="tile-sub-2"/>
          <p:cNvSpPr txBox="1"/>
          <p:nvPr/>
        </p:nvSpPr>
        <p:spPr>
          <a:xfrm>
            <a:off x="6377940" y="5887905"/>
            <a:ext cx="222885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 xml:space="preserve">exists, predicted absent</a:t>
            </a:r>
          </a:p>
        </p:txBody>
      </p:sp>
      <p:sp>
        <p:nvSpPr>
          <p:cNvPr id="2166" name="card-3"/>
          <p:cNvSpPr/>
          <p:nvPr/>
        </p:nvSpPr>
        <p:spPr>
          <a:xfrm>
            <a:off x="9018270" y="4991793"/>
            <a:ext cx="2594610" cy="1188720"/>
          </a:xfrm>
          <a:prstGeom prst="roundRect">
            <a:avLst>
              <a:gd name="adj" fmla="val 6000"/>
            </a:avLst>
          </a:prstGeom>
          <a:solidFill>
            <a:schemeClr val="bg2"/>
          </a:solidFill>
          <a:ln>
            <a:noFill/>
          </a:ln>
        </p:spPr>
        <p:txBody>
          <a:bodyPr/>
          <a:lstStyle/>
          <a:p>
            <a:endParaRPr lang="en-US"/>
          </a:p>
        </p:txBody>
      </p:sp>
      <p:sp>
        <p:nvSpPr>
          <p:cNvPr id="2167" name="tile-big-3"/>
          <p:cNvSpPr txBox="1"/>
          <p:nvPr/>
        </p:nvSpPr>
        <p:spPr>
          <a:xfrm>
            <a:off x="9201150" y="5046657"/>
            <a:ext cx="2228850" cy="548640"/>
          </a:xfrm>
          <a:prstGeom prst="rect">
            <a:avLst/>
          </a:prstGeom>
          <a:noFill/>
          <a:ln/>
        </p:spPr>
        <p:txBody>
          <a:bodyPr wrap="square" lIns="0" tIns="0" rIns="0" bIns="0" rtlCol="0" anchor="ctr">
            <a:normAutofit/>
          </a:bodyPr>
          <a:lstStyle/>
          <a:p>
            <a:pPr marL="0" indent="0" algn="l">
              <a:spcAft>
                <a:spcPts val="0"/>
              </a:spcAft>
              <a:buNone/>
            </a:pPr>
            <a:r>
              <a:rPr lang="en-US" sz="2600" b="1" dirty="0">
                <a:solidFill>
                  <a:schemeClr val="accent1"/>
                </a:solidFill>
              </a:rPr>
              <a:t xml:space="preserve">0.014 %</a:t>
            </a:r>
          </a:p>
        </p:txBody>
      </p:sp>
      <p:sp>
        <p:nvSpPr>
          <p:cNvPr id="2168" name="tile-label-3"/>
          <p:cNvSpPr txBox="1"/>
          <p:nvPr/>
        </p:nvSpPr>
        <p:spPr>
          <a:xfrm>
            <a:off x="9201150" y="5595297"/>
            <a:ext cx="2228850" cy="292608"/>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tx1"/>
                </a:solidFill>
              </a:rPr>
              <a:t xml:space="preserve">false shapes</a:t>
            </a:r>
          </a:p>
        </p:txBody>
      </p:sp>
      <p:sp>
        <p:nvSpPr>
          <p:cNvPr id="2169" name="tile-sub-3"/>
          <p:cNvSpPr txBox="1"/>
          <p:nvPr/>
        </p:nvSpPr>
        <p:spPr>
          <a:xfrm>
            <a:off x="9201150" y="5887905"/>
            <a:ext cx="2228850" cy="292608"/>
          </a:xfrm>
          <a:prstGeom prst="rect">
            <a:avLst/>
          </a:prstGeom>
          <a:noFill/>
          <a:ln/>
        </p:spPr>
        <p:txBody>
          <a:bodyPr wrap="square" lIns="0" tIns="0" rIns="0" bIns="0" rtlCol="0" anchor="t">
            <a:normAutofit/>
          </a:bodyPr>
          <a:lstStyle/>
          <a:p>
            <a:pPr marL="0" indent="0" algn="l">
              <a:spcAft>
                <a:spcPts val="0"/>
              </a:spcAft>
              <a:buNone/>
            </a:pPr>
            <a:r>
              <a:rPr lang="en-US" sz="1150" dirty="0">
                <a:solidFill>
                  <a:schemeClr val="accent5"/>
                </a:solidFill>
              </a:rPr>
              <a:t xml:space="preserve">absent, predicted to exist</a:t>
            </a:r>
          </a:p>
        </p:txBody>
      </p:sp>
      <p:sp>
        <p:nvSpPr>
          <p:cNvPr id="217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7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Why does the fit use the solver’s forces too?</a:t>
            </a:r>
          </a:p>
        </p:txBody>
      </p:sp>
      <p:sp>
        <p:nvSpPr>
          <p:cNvPr id="2173"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Fitted on U and the moments alone, ∂U/∂d is off by up to 2 % at high tension; fitting the force too holds fx to 0.01–0.1 %.</a:t>
            </a:r>
          </a:p>
        </p:txBody>
      </p:sp>
      <p:pic>
        <p:nvPicPr>
          <p:cNvPr id="2171" name="Picture nn_force.png" descr="nn_force.png"/>
          <p:cNvPicPr>
            <a:picLocks noChangeAspect="1"/>
          </p:cNvPicPr>
          <p:nvPr/>
        </p:nvPicPr>
        <p:blipFill>
          <a:blip r:embed="rId2"/>
          <a:stretch>
            <a:fillRect/>
          </a:stretch>
        </p:blipFill>
        <p:spPr>
          <a:xfrm>
            <a:off x="548640" y="1691640"/>
            <a:ext cx="5852160" cy="4114800"/>
          </a:xfrm>
          <a:prstGeom prst="rect">
            <a:avLst/>
          </a:prstGeom>
        </p:spPr>
      </p:pic>
      <p:sp>
        <p:nvSpPr>
          <p:cNvPr id="2174" name="badge-1"/>
          <p:cNvSpPr/>
          <p:nvPr/>
        </p:nvSpPr>
        <p:spPr>
          <a:xfrm>
            <a:off x="6675120" y="1719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1</a:t>
            </a:r>
          </a:p>
        </p:txBody>
      </p:sp>
      <p:sp>
        <p:nvSpPr>
          <p:cNvPr id="2175" name="step-1"/>
          <p:cNvSpPr txBox="1"/>
          <p:nvPr/>
        </p:nvSpPr>
        <p:spPr>
          <a:xfrm>
            <a:off x="7132320" y="1691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The tension grows steeply</a:t>
            </a:r>
          </a:p>
          <a:p>
            <a:pPr marL="0" indent="0" algn="l">
              <a:spcAft>
                <a:spcPts val="200"/>
              </a:spcAft>
              <a:buNone/>
            </a:pPr>
            <a:r>
              <a:rPr lang="en-US" sz="1250" dirty="0">
                <a:solidFill>
                  <a:schemeClr val="tx1"/>
                </a:solidFill>
              </a:rPr>
              <a:t xml:space="preserve">Above U ≈ 20, near d = 0.99 with large clamp angles, |fx| rises to 10⁴ (top): there U changes very fast with d.</a:t>
            </a:r>
          </a:p>
        </p:txBody>
      </p:sp>
      <p:sp>
        <p:nvSpPr>
          <p:cNvPr id="2176" name="badge-2"/>
          <p:cNvSpPr/>
          <p:nvPr/>
        </p:nvSpPr>
        <p:spPr>
          <a:xfrm>
            <a:off x="6675120" y="2862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2</a:t>
            </a:r>
          </a:p>
        </p:txBody>
      </p:sp>
      <p:sp>
        <p:nvSpPr>
          <p:cNvPr id="2177" name="step-2"/>
          <p:cNvSpPr txBox="1"/>
          <p:nvPr/>
        </p:nvSpPr>
        <p:spPr>
          <a:xfrm>
            <a:off x="7132320" y="2834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A small slope error, a large force error</a:t>
            </a:r>
          </a:p>
          <a:p>
            <a:pPr marL="0" indent="0" algn="l">
              <a:spcAft>
                <a:spcPts val="200"/>
              </a:spcAft>
              <a:buNone/>
            </a:pPr>
            <a:r>
              <a:rPr lang="en-US" sz="1250" dirty="0">
                <a:solidFill>
                  <a:schemeClr val="tx1"/>
                </a:solidFill>
              </a:rPr>
              <a:t xml:space="preserve">A tiny error in the shape of U along d then becomes a large error in its slope, fx = −∂U/∂d (bottom, grey).</a:t>
            </a:r>
          </a:p>
        </p:txBody>
      </p:sp>
      <p:sp>
        <p:nvSpPr>
          <p:cNvPr id="2178" name="badge-3"/>
          <p:cNvSpPr/>
          <p:nvPr/>
        </p:nvSpPr>
        <p:spPr>
          <a:xfrm>
            <a:off x="6675120" y="4005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3</a:t>
            </a:r>
          </a:p>
        </p:txBody>
      </p:sp>
      <p:sp>
        <p:nvSpPr>
          <p:cNvPr id="2179" name="step-3"/>
          <p:cNvSpPr txBox="1"/>
          <p:nvPr/>
        </p:nvSpPr>
        <p:spPr>
          <a:xfrm>
            <a:off x="7132320" y="3977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Not a lack of data</a:t>
            </a:r>
          </a:p>
          <a:p>
            <a:pPr marL="0" indent="0" algn="l">
              <a:spcAft>
                <a:spcPts val="200"/>
              </a:spcAft>
              <a:buNone/>
            </a:pPr>
            <a:r>
              <a:rPr lang="en-US" sz="1250" dirty="0">
                <a:solidFill>
                  <a:schemeClr val="tx1"/>
                </a:solidFill>
              </a:rPr>
              <a:t xml:space="preserve">That fit is as wrong on the states it was fitted to as on new ones: the fit itself falls short, not the number of states.</a:t>
            </a:r>
          </a:p>
        </p:txBody>
      </p:sp>
      <p:sp>
        <p:nvSpPr>
          <p:cNvPr id="2180" name="badge-4"/>
          <p:cNvSpPr/>
          <p:nvPr/>
        </p:nvSpPr>
        <p:spPr>
          <a:xfrm>
            <a:off x="6675120" y="514807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4</a:t>
            </a:r>
          </a:p>
        </p:txBody>
      </p:sp>
      <p:sp>
        <p:nvSpPr>
          <p:cNvPr id="2181" name="step-4"/>
          <p:cNvSpPr txBox="1"/>
          <p:nvPr/>
        </p:nvSpPr>
        <p:spPr>
          <a:xfrm>
            <a:off x="7132320" y="5120640"/>
            <a:ext cx="4480560" cy="105156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Fitting the force too</a:t>
            </a:r>
          </a:p>
          <a:p>
            <a:pPr marL="0" indent="0" algn="l">
              <a:spcAft>
                <a:spcPts val="200"/>
              </a:spcAft>
              <a:buNone/>
            </a:pPr>
            <a:r>
              <a:rPr lang="en-US" sz="1250" dirty="0">
                <a:solidFill>
                  <a:schemeClr val="tx1"/>
                </a:solidFill>
              </a:rPr>
              <a:t xml:space="preserve">The force term (slide 59) makes the slope match the solver’s force: fx within 0.01–0.1 % at every energy, and U improves as well.</a:t>
            </a:r>
          </a:p>
        </p:txBody>
      </p:sp>
      <p:sp>
        <p:nvSpPr>
          <p:cNvPr id="218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84"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000" dirty="0">
                <a:solidFill>
                  <a:schemeClr val="tx1"/>
                </a:solidFill>
              </a:rPr>
              <a:t>Is it good enough, and where does it stop?</a:t>
            </a:r>
          </a:p>
        </p:txBody>
      </p:sp>
      <p:sp>
        <p:nvSpPr>
          <p:cNvPr id="2185" name="answer"/>
          <p:cNvSpPr txBox="1"/>
          <p:nvPr/>
        </p:nvSpPr>
        <p:spPr>
          <a:xfrm>
            <a:off x="548640" y="1143000"/>
            <a:ext cx="11064240" cy="457200"/>
          </a:xfrm>
          <a:prstGeom prst="rect">
            <a:avLst/>
          </a:prstGeom>
          <a:noFill/>
          <a:ln/>
        </p:spPr>
        <p:txBody>
          <a:bodyPr wrap="square" lIns="0" tIns="0" rIns="0" bIns="0" rtlCol="0" anchor="t">
            <a:normAutofit/>
          </a:bodyPr>
          <a:lstStyle/>
          <a:p>
            <a:pPr marL="0" indent="0" algn="l">
              <a:spcAft>
                <a:spcPts val="0"/>
              </a:spcAft>
              <a:buNone/>
            </a:pPr>
            <a:r>
              <a:rPr lang="en-US" sz="1500" dirty="0">
                <a:solidFill>
                  <a:schemeClr val="tx2"/>
                </a:solidFill>
              </a:rPr>
              <a:t xml:space="preserve">Its errors are about the size of the solver’s own, 1.2 × 10⁻⁴ against an independent solver: to do better, the solver has to improve first.</a:t>
            </a:r>
          </a:p>
        </p:txBody>
      </p:sp>
      <p:pic>
        <p:nvPicPr>
          <p:cNvPr id="2183" name="Picture nn_verdict.png" descr="nn_verdict.png"/>
          <p:cNvPicPr>
            <a:picLocks noChangeAspect="1"/>
          </p:cNvPicPr>
          <p:nvPr/>
        </p:nvPicPr>
        <p:blipFill>
          <a:blip r:embed="rId2"/>
          <a:stretch>
            <a:fillRect/>
          </a:stretch>
        </p:blipFill>
        <p:spPr>
          <a:xfrm>
            <a:off x="1051560" y="1691640"/>
            <a:ext cx="10058400" cy="2651760"/>
          </a:xfrm>
          <a:prstGeom prst="rect">
            <a:avLst/>
          </a:prstGeom>
        </p:spPr>
      </p:pic>
      <p:sp>
        <p:nvSpPr>
          <p:cNvPr id="2186" name="badge-1"/>
          <p:cNvSpPr/>
          <p:nvPr/>
        </p:nvSpPr>
        <p:spPr>
          <a:xfrm>
            <a:off x="548640" y="450799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1</a:t>
            </a:r>
          </a:p>
        </p:txBody>
      </p:sp>
      <p:sp>
        <p:nvSpPr>
          <p:cNvPr id="2187" name="step-1"/>
          <p:cNvSpPr txBox="1"/>
          <p:nvPr/>
        </p:nvSpPr>
        <p:spPr>
          <a:xfrm>
            <a:off x="1005840" y="4480560"/>
            <a:ext cx="4892040" cy="86868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As accurate as its data</a:t>
            </a:r>
          </a:p>
          <a:p>
            <a:pPr marL="0" indent="0" algn="l">
              <a:spcAft>
                <a:spcPts val="200"/>
              </a:spcAft>
              <a:buNone/>
            </a:pPr>
            <a:r>
              <a:rPr lang="en-US" sz="1250" dirty="0">
                <a:solidFill>
                  <a:schemeClr val="tx1"/>
                </a:solidFill>
              </a:rPr>
              <a:t xml:space="preserve">The solver agrees with an independent boundary-value solver to 1.2 × 10⁻⁴ (median); the network’s moment and force errors are of that size (shaded band).</a:t>
            </a:r>
          </a:p>
        </p:txBody>
      </p:sp>
      <p:sp>
        <p:nvSpPr>
          <p:cNvPr id="2188" name="badge-2"/>
          <p:cNvSpPr/>
          <p:nvPr/>
        </p:nvSpPr>
        <p:spPr>
          <a:xfrm>
            <a:off x="6080760" y="450799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2</a:t>
            </a:r>
          </a:p>
        </p:txBody>
      </p:sp>
      <p:sp>
        <p:nvSpPr>
          <p:cNvPr id="2189" name="step-2"/>
          <p:cNvSpPr txBox="1"/>
          <p:nvPr/>
        </p:nvSpPr>
        <p:spPr>
          <a:xfrm>
            <a:off x="6537960" y="4480560"/>
            <a:ext cx="4892040" cy="86868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More data would not help</a:t>
            </a:r>
          </a:p>
          <a:p>
            <a:pPr marL="0" indent="0" algn="l">
              <a:spcAft>
                <a:spcPts val="200"/>
              </a:spcAft>
              <a:buNone/>
            </a:pPr>
            <a:r>
              <a:rPr lang="en-US" sz="1250" dirty="0">
                <a:solidFill>
                  <a:schemeClr val="tx1"/>
                </a:solidFill>
              </a:rPr>
              <a:t xml:space="preserve">The errors on fitted states (rings) and on held-back ones (dots) are the same: the network is not short of data.</a:t>
            </a:r>
          </a:p>
        </p:txBody>
      </p:sp>
      <p:sp>
        <p:nvSpPr>
          <p:cNvPr id="2190" name="badge-3"/>
          <p:cNvSpPr/>
          <p:nvPr/>
        </p:nvSpPr>
        <p:spPr>
          <a:xfrm>
            <a:off x="548640" y="542239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3</a:t>
            </a:r>
          </a:p>
        </p:txBody>
      </p:sp>
      <p:sp>
        <p:nvSpPr>
          <p:cNvPr id="2191" name="step-3"/>
          <p:cNvSpPr txBox="1"/>
          <p:nvPr/>
        </p:nvSpPr>
        <p:spPr>
          <a:xfrm>
            <a:off x="1005840" y="5394960"/>
            <a:ext cx="4892040" cy="86868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Where it holds</a:t>
            </a:r>
          </a:p>
          <a:p>
            <a:pPr marL="0" indent="0" algn="l">
              <a:spcAft>
                <a:spcPts val="200"/>
              </a:spcAft>
              <a:buNone/>
            </a:pPr>
            <a:r>
              <a:rPr lang="en-US" sz="1250" dirty="0">
                <a:solidFill>
                  <a:schemeClr val="tx1"/>
                </a:solidFill>
              </a:rPr>
              <a:t xml:space="preserve">d from 0.70 to 0.99, φ₁ and φ₂ within ±π/2, and only where the existence probability is above 0.5; least accurate along the folds.</a:t>
            </a:r>
          </a:p>
        </p:txBody>
      </p:sp>
      <p:sp>
        <p:nvSpPr>
          <p:cNvPr id="2192" name="badge-4"/>
          <p:cNvSpPr/>
          <p:nvPr/>
        </p:nvSpPr>
        <p:spPr>
          <a:xfrm>
            <a:off x="6080760" y="5422392"/>
            <a:ext cx="384048" cy="384048"/>
          </a:xfrm>
          <a:prstGeom prst="ellipse">
            <a:avLst/>
          </a:prstGeom>
          <a:solidFill>
            <a:schemeClr val="accent1"/>
          </a:solidFill>
          <a:ln/>
        </p:spPr>
        <p:txBody>
          <a:bodyPr wrap="none" lIns="0" tIns="0" rIns="0" bIns="0" anchor="ctr"/>
          <a:lstStyle/>
          <a:p>
            <a:pPr algn="ctr"/>
            <a:r>
              <a:rPr lang="en-US" sz="1400" b="1" dirty="0">
                <a:solidFill>
                  <a:schemeClr val="bg1"/>
                </a:solidFill>
              </a:rPr>
              <a:t xml:space="preserve">4</a:t>
            </a:r>
          </a:p>
        </p:txBody>
      </p:sp>
      <p:sp>
        <p:nvSpPr>
          <p:cNvPr id="2193" name="step-4"/>
          <p:cNvSpPr txBox="1"/>
          <p:nvPr/>
        </p:nvSpPr>
        <p:spPr>
          <a:xfrm>
            <a:off x="6537960" y="5394960"/>
            <a:ext cx="4892040" cy="868680"/>
          </a:xfrm>
          <a:prstGeom prst="rect">
            <a:avLst/>
          </a:prstGeom>
          <a:noFill/>
          <a:ln/>
        </p:spPr>
        <p:txBody>
          <a:bodyPr wrap="square" lIns="0" tIns="0" rIns="0" bIns="0" rtlCol="0" anchor="t">
            <a:normAutofit/>
          </a:bodyPr>
          <a:lstStyle/>
          <a:p>
            <a:pPr marL="0" indent="0" algn="l">
              <a:spcAft>
                <a:spcPts val="200"/>
              </a:spcAft>
              <a:buNone/>
            </a:pPr>
            <a:r>
              <a:rPr lang="en-US" sz="1300" b="1" dirty="0">
                <a:solidFill>
                  <a:schemeClr val="tx1"/>
                </a:solidFill>
              </a:rPr>
              <a:t xml:space="preserve">To go further</a:t>
            </a:r>
          </a:p>
          <a:p>
            <a:pPr marL="0" indent="0" algn="l">
              <a:spcAft>
                <a:spcPts val="200"/>
              </a:spcAft>
              <a:buNone/>
            </a:pPr>
            <a:r>
              <a:rPr lang="en-US" sz="1250" dirty="0">
                <a:solidFill>
                  <a:schemeClr val="tx1"/>
                </a:solidFill>
              </a:rPr>
              <a:t xml:space="preserve">A finer beam mesh near the clamps at high tension, then a larger network; more points near the folds for the existence network.</a:t>
            </a:r>
          </a:p>
        </p:txBody>
      </p:sp>
      <p:sp>
        <p:nvSpPr>
          <p:cNvPr id="219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Elastica">
  <a:themeElements>
    <a:clrScheme name="Elastica">
      <a:dk1>
        <a:srgbClr val="16222E"/>
      </a:dk1>
      <a:lt1>
        <a:srgbClr val="FFFFFF"/>
      </a:lt1>
      <a:dk2>
        <a:srgbClr val="2E4A5C"/>
      </a:dk2>
      <a:lt2>
        <a:srgbClr val="EEF2F4"/>
      </a:lt2>
      <a:accent1>
        <a:srgbClr val="D9822B"/>
      </a:accent1>
      <a:accent2>
        <a:srgbClr val="2A9D8F"/>
      </a:accent2>
      <a:accent3>
        <a:srgbClr val="C8553D"/>
      </a:accent3>
      <a:accent4>
        <a:srgbClr val="E9C46A"/>
      </a:accent4>
      <a:accent5>
        <a:srgbClr val="5C6B7A"/>
      </a:accent5>
      <a:accent6>
        <a:srgbClr val="8A96A3"/>
      </a:accent6>
      <a:hlink>
        <a:srgbClr val="2A9D8F"/>
      </a:hlink>
      <a:folHlink>
        <a:srgbClr val="5C6B7A"/>
      </a:folHlink>
    </a:clrScheme>
    <a:fontScheme name="Elastic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4545</Words>
  <Application>Microsoft Office PowerPoint</Application>
  <PresentationFormat>Widescreen</PresentationFormat>
  <Paragraphs>356</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Cambria Math</vt:lpstr>
      <vt:lpstr>Elastica</vt:lpstr>
      <vt:lpstr>Mapping the clamped elastica across its snap surface</vt:lpstr>
      <vt:lpstr>One rod, three parameters, a map of equilibria</vt:lpstr>
      <vt:lpstr>Equilibria are stationary points of the bending energy</vt:lpstr>
      <vt:lpstr>Stationarity gives the elastica equation and a mixed weak form</vt:lpstr>
      <vt:lpstr>Each parameter point is one Newton solve on 203 unknowns</vt:lpstr>
      <vt:lpstr>The snap surface</vt:lpstr>
      <vt:lpstr>Two equilibria 0.01 rad apart: the rod has snapped</vt:lpstr>
      <vt:lpstr>Bent up or bent down: the first buckling mode decides</vt:lpstr>
      <vt:lpstr>A snap is a sign change of p with a jump</vt:lpstr>
      <vt:lpstr>Smooth fields, then a jump across an L-shaped surface</vt:lpstr>
      <vt:lpstr>The sign of p traces the snap surface</vt:lpstr>
      <vt:lpstr>The snap surface in 3D</vt:lpstr>
      <vt:lpstr>The sheet rises from the step in axial force</vt:lpstr>
      <vt:lpstr>Continuation strategy</vt:lpstr>
      <vt:lpstr>Traverse the grid; reject jumps and unstable results</vt:lpstr>
      <vt:lpstr>Going around a fold: defer, never jump</vt:lpstr>
      <vt:lpstr>A stability test catches what the jump test misses</vt:lpstr>
      <vt:lpstr>Deriving the exact first mode used for the cold start</vt:lpstr>
      <vt:lpstr>Exact first-mode cold start, then continue the clamp angles</vt:lpstr>
      <vt:lpstr>Mirror symmetry halves the number of solves</vt:lpstr>
      <vt:lpstr>Final run</vt:lpstr>
      <vt:lpstr>2.98 M equilibria, every one checked</vt:lpstr>
      <vt:lpstr>Constant-energy surfaces: shells around the straight rod</vt:lpstr>
      <vt:lpstr>Constant axial force fx: bounded in compression</vt:lpstr>
      <vt:lpstr>Constant transverse force fy: mirror-image pairs</vt:lpstr>
      <vt:lpstr>Constant clamp moment M₁; M₂ is its mirror image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Mapping the clamped elastica across its snap surface</dc:title>
  <dc:subject>PptxGenJS Presentation</dc:subject>
  <dc:creator>PptxGenJS</dc:creator>
  <cp:lastModifiedBy>Bendale Goraksh Manish</cp:lastModifiedBy>
  <cp:revision>13</cp:revision>
  <dcterms:created xsi:type="dcterms:W3CDTF">2026-10-09T14:15:45Z</dcterms:created>
  <dcterms:modified xsi:type="dcterms:W3CDTF">2026-10-13T04:23:01Z</dcterms:modified>
</cp:coreProperties>
</file>