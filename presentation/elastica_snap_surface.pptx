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  <p:sldId id="265" r:id="rId11"/>
    <p:sldId id="276" r:id="rId12"/>
    <p:sldId id="277" r:id="rId13"/>
    <p:sldId id="278" r:id="rId14"/>
    <p:sldId id="279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75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 and governing math" id="{C37E3601-C24F-C817-9963-7F95C32A3C61}">
          <p14:sldIdLst>
            <p14:sldId id="256"/>
            <p14:sldId id="257"/>
            <p14:sldId id="258"/>
            <p14:sldId id="259"/>
            <p14:sldId id="260"/>
          </p14:sldIdLst>
        </p14:section>
        <p14:section name="The snap surface" id="{8EC7598D-7973-6D1C-AB16-2878DA9877AD}">
          <p14:sldIdLst>
            <p14:sldId id="261"/>
            <p14:sldId id="263"/>
            <p14:sldId id="264"/>
            <p14:sldId id="262"/>
            <p14:sldId id="265"/>
          </p14:sldIdLst>
        </p14:section>
        <p14:section name="The snap surface in 3D" id="{E1662D2F-7D64-49F1-BBD5-1793E541FB15}">
          <p14:sldIdLst>
            <p14:sldId id="276"/>
            <p14:sldId id="277"/>
            <p14:sldId id="278"/>
            <p14:sldId id="279"/>
          </p14:sldIdLst>
        </p14:section>
        <p14:section name="Continuation strategies" id="{95CDCF11-1B6B-B936-99DA-258805DCA0FC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Towards a data-driven controller" id="{F71EED39-2D3A-4D66-90B3-D4C2929FC475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485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8927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walks through the two elastica solvers in CURRENTv3 and CURRENTv4: the governing math, how a single equilibrium is computed, and especially how each code behaves near the snap surface where the equilibrium jumps from one branch to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rod has unit length and is clamped at both ends. d is the horizontal distance between the clamps; phi1 and phi2 are the clamp angles. Ranges are the ones in each version's config.json. The results shown later come from the CURRENTv3/sol4 run (d 0.90 to 0.95, phi in [-0.8, 0.8], step 0.01).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Arc-length parametrisation makes inextensibility automatic: x' = cos(theta), y' = sin(theta). The end-position constraints become two integral constraints, handled with scalar multipliers f_x and f_y.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 is the weak form of the elastica ODE; F1 and F2 tested against constants enforce the integral constraints. The three blocks are passed to dolfinx NonlinearProblem as a block system [theta, fx, fy].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ElasticaSolver object is built once and reused for every parameter point: only the constants d, phi1, phi2 and the initial guess change between solves.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S-shaped (green) and the reversed-hump (orange) configurations are both legitimate equilibria. A Newton solve that converges is not enough: you need to check the shape against where you came from. That is the job of the MAC.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 is borrowed from modal analysis: the squared cosine of the angle between two discrete theta vectors. Along a line cut through the snap it stays at 1 everywhere except the single grid interval that crosses the surface, where it collapses to 0.087.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field (U, fx, fy, M0) shows the same L-shaped discontinuity. Inside it the rod sits on one branch; outside, on another. The rest of the deck is about how the code handles this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Computed directly from the stored theta fields: for each grid point, the minimum MAC to its four neighbours. The 0.90 contour is the snap surface. Its two arms are mirror images under (phi1, phi2) -&gt; (-phi2, -phi1).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indicator is computed from the theta field stored in solution_space_results.vtu of the CURRENTv4 0.02 run (make_mac_vtu.py); ParaView does the contouring, smoothing and rendering (render_snap.py, state saved as snap_surface.pvsm). Why MAC and not energy: a relative energy-jump indicator on the denser 0.01 run also picked up steep but smooth regions near d -&gt; 1 and produced a false sheet at the top of the box. 1 - MAC has a clear gap between smooth edges (below 0.03) and jump edges (above 0.3).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down the d axis turns the sheet back into the family of L-shaped curves from the 2D slides. The v4 run (irregular tet mesh, distance-ordered traversal) and the v3 run (structured grid, adaptive MAC continuation) put the jump in the same place at d = 0.90, which is a useful independent check on both codes.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Cut-away at d = 0.90: the plane is the volume data sliced at d = 0.90 and coloured by f_x on a fixed 0-70 scale; the MAC isosurface is clipped to d &gt;= 0.90 and drawn translucent, so its base line and the f_x step can be compared directly. The values on the right are the largest f_x step along phi2 = 0 at three d levels.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CURRENTv4 uses MAC as a gate: one warm-started attempt, then a MAC comparison against the warm-start field. Below 0.85 the solution is treated as a branch switch and the node is re-solved from the first-mode cold start, which by construction lands on the fundamental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versions share this initial guess. CURRENTv3's solver also carries six alternative modes (sign-flipped, half-amplitude, second harmonic), but the study only ever calls mode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solve_with_adaptive_mac in CURRENTv3/script/main.py. Away from the snap the full step passes first time (r = 0). Near it, refinement shrinks the step until each sub-step stays on one branch. If the MAC still fails at a 1/32 step, the discontinuity is real, and the candidate is accepted with the refinement count recorded.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ordering is what makes MAC meaningful: the reference shape is always a near neighbour, so a low MAC really means a branch switch and not just a long continuation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gradient_refinement_points in CURRENTv3/script/main.py. Because theta changes fastest across the snap, the refinement automatically spends new solves there and not in the smooth interior.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versions use this. The mirrored theta is obtained by reversing and negating the stored nodal values, so no extra solves are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file timestamps the CURRENTv3 scripts (Sep 25 to 26) are newer than CURRENTv4's (Sep 23 to 25), so CURRENTv3 is the more developed algorithm despite the folder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v3 sign issue is in build_result_arrays: base_moment for mirror nodes is set to -slopes[..., -1]. CURRENTv4 main.py uses right_moment without the minus sign, which matches the derivation. The continuation_candidates config key in v3 is also currently unused: only the last accepted solution is tried as a warm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Whatever the network is, the data has to say which equilibrium each sample sits on. Across the fold the forward map from actuation to state is multi-valued: f_x roughly doubles across the snap surface, so averaging the two branches is meaningless. The choice between surrogate, inverse model and policy is the main decision that shapes the 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is what the existing code already does, scaled up. B and E change what is recorded, C changes the numerics, D changes where the solves go. They combine: the recommended plan later in this section uses B, E and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 A cost: 60 d-layers × 145 × 145 phi values ≈ 1.26 M stored points. Measured throughput from file timestamps: v3 sol4 stored 155,526 points in 44 min (0.017 s/point); the v4 runs stored about 13 points per second (0.076 s/point). Stability in B: the smallest eigenvalue of the Hessian of the Lagrangian restricted to the tangent space of the two constraints; negative means the equilibrium is unstable.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 is the most rigorous view of the snap but the most code. D needs a first network to exist, so it is a second stage. E is the closest match to how a controller is actually used: it sees the rod's history and the snaps along realistic actuation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Throughput: v3 sol4 stored 155,526 points in 44 min; v4 sol1 stored 740,741 in 15.6 h and v4 sol2 98,120 in 2.1 h. These are wall-clock times per stored point including I/O and refinement, so treat them as a range. Option B multiplies the work by 2–4 and E adds whatever path budget is chosen; both parallelise the same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Storing one record per equilibrium (not per parameter point) is what makes the dataset branch-aware: a point inside the hysteresis zone gets two records with different branch_id. M_L is the clamp moment at s = L, which v4 already computes as right_moment.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0 removes known errors before spending compute: the v3 mirrored-moment sign and the large f_x values near d → 1 in the v4 data. Phases 1 and 2 can run in parallel once the driver supports multiple seeds.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554480"/>
            <a:ext cx="74980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94760"/>
            <a:ext cx="74980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Elastica snap-surface study · CURRENTv3 &amp; CURRENTv4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720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55448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Mapping the clamped elastica across its snap surface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9476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</a:rPr>
              <a:t>Continuation with MAC-guided step control in FEniCSx / PETSc — CURRENTv3 and CURRENTv4</a:t>
            </a:r>
            <a:endParaRPr lang="en-US" sz="1800" dirty="0"/>
          </a:p>
        </p:txBody>
      </p:sp>
      <p:pic>
        <p:nvPicPr>
          <p:cNvPr id="4" name="figure-1" descr="/tmp/claude-1000/-home-goraksh/bd4a8aa0-f932-4355-8328-b02b4cf010d1/scratchpad/deck/fig/family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892040"/>
            <a:ext cx="4480560" cy="12517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One rod, three parameters, a map of equilibria</a:t>
            </a:r>
            <a:endParaRPr lang="en-US" sz="3000" dirty="0"/>
          </a:p>
        </p:txBody>
      </p:sp>
      <p:pic>
        <p:nvPicPr>
          <p:cNvPr id="3" name="figure-2" descr="/tmp/claude-1000/-home-goraksh/bd4a8aa0-f932-4355-8328-b02b4cf010d1/scratchpad/deck/fig/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217920" cy="346477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548640" y="506497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For every point (d, φ₁, φ₂) solve for the tangent angle θ(s) and the end forces f</a:t>
            </a:r>
            <a:r>
              <a:rPr lang="en-US" sz="1600" baseline="-40000" dirty="0">
                <a:solidFill>
                  <a:schemeClr val="tx1"/>
                </a:solidFill>
              </a:rPr>
              <a:t>x</a:t>
            </a:r>
            <a:r>
              <a:rPr lang="en-US" sz="1600" dirty="0">
                <a:solidFill>
                  <a:schemeClr val="tx1"/>
                </a:solidFill>
              </a:rPr>
              <a:t>, f</a:t>
            </a:r>
            <a:r>
              <a:rPr lang="en-US" sz="1600" baseline="-40000" dirty="0">
                <a:solidFill>
                  <a:schemeClr val="tx1"/>
                </a:solidFill>
              </a:rPr>
              <a:t>y</a:t>
            </a:r>
            <a:r>
              <a:rPr lang="en-US" sz="1600" dirty="0">
                <a:solidFill>
                  <a:schemeClr val="tx1"/>
                </a:solidFill>
              </a:rPr>
              <a:t>; record the clamp moment M₀ and the bending energy U.</a:t>
            </a:r>
            <a:endParaRPr lang="en-US" sz="1600" dirty="0"/>
          </a:p>
        </p:txBody>
      </p:sp>
      <p:sp>
        <p:nvSpPr>
          <p:cNvPr id="5" name="card-4"/>
          <p:cNvSpPr/>
          <p:nvPr/>
        </p:nvSpPr>
        <p:spPr>
          <a:xfrm>
            <a:off x="6949440" y="14630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badge-5"/>
          <p:cNvSpPr/>
          <p:nvPr/>
        </p:nvSpPr>
        <p:spPr>
          <a:xfrm>
            <a:off x="7178040" y="18288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6"/>
          <p:cNvSpPr txBox="1"/>
          <p:nvPr/>
        </p:nvSpPr>
        <p:spPr>
          <a:xfrm>
            <a:off x="71780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d</a:t>
            </a:r>
            <a:endParaRPr lang="en-US" sz="1800" dirty="0"/>
          </a:p>
        </p:txBody>
      </p:sp>
      <p:sp>
        <p:nvSpPr>
          <p:cNvPr id="8" name="text-7"/>
          <p:cNvSpPr txBox="1"/>
          <p:nvPr/>
        </p:nvSpPr>
        <p:spPr>
          <a:xfrm>
            <a:off x="8046720" y="1691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End-to-end distance (L = 1)</a:t>
            </a:r>
            <a:endParaRPr lang="en-US" sz="1700" dirty="0"/>
          </a:p>
        </p:txBody>
      </p:sp>
      <p:sp>
        <p:nvSpPr>
          <p:cNvPr id="9" name="text-8"/>
          <p:cNvSpPr txBox="1"/>
          <p:nvPr/>
        </p:nvSpPr>
        <p:spPr>
          <a:xfrm>
            <a:off x="8046720" y="21031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0.70 – 0.9999;  Δd = 0.005 (v3), 0.01 (v4)</a:t>
            </a:r>
            <a:endParaRPr lang="en-US" sz="1400" dirty="0"/>
          </a:p>
        </p:txBody>
      </p:sp>
      <p:sp>
        <p:nvSpPr>
          <p:cNvPr id="10" name="card-9"/>
          <p:cNvSpPr/>
          <p:nvPr/>
        </p:nvSpPr>
        <p:spPr>
          <a:xfrm>
            <a:off x="6949440" y="30632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badge-10"/>
          <p:cNvSpPr/>
          <p:nvPr/>
        </p:nvSpPr>
        <p:spPr>
          <a:xfrm>
            <a:off x="7178040" y="34290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11"/>
          <p:cNvSpPr txBox="1"/>
          <p:nvPr/>
        </p:nvSpPr>
        <p:spPr>
          <a:xfrm>
            <a:off x="717804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φ₁</a:t>
            </a:r>
            <a:endParaRPr lang="en-US" sz="1800" dirty="0"/>
          </a:p>
        </p:txBody>
      </p:sp>
      <p:sp>
        <p:nvSpPr>
          <p:cNvPr id="13" name="text-12"/>
          <p:cNvSpPr txBox="1"/>
          <p:nvPr/>
        </p:nvSpPr>
        <p:spPr>
          <a:xfrm>
            <a:off x="8046720" y="3291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Clamp angle at s = 0</a:t>
            </a:r>
            <a:endParaRPr lang="en-US" sz="1700" dirty="0"/>
          </a:p>
        </p:txBody>
      </p:sp>
      <p:sp>
        <p:nvSpPr>
          <p:cNvPr id="14" name="text-13"/>
          <p:cNvSpPr txBox="1"/>
          <p:nvPr/>
        </p:nvSpPr>
        <p:spPr>
          <a:xfrm>
            <a:off x="8046720" y="3703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v3: ±π/2, Δφ = π/144  ·  v4: ±2, Δφ = 0.01</a:t>
            </a:r>
            <a:endParaRPr lang="en-US" sz="1400" dirty="0"/>
          </a:p>
        </p:txBody>
      </p:sp>
      <p:sp>
        <p:nvSpPr>
          <p:cNvPr id="15" name="card-14"/>
          <p:cNvSpPr/>
          <p:nvPr/>
        </p:nvSpPr>
        <p:spPr>
          <a:xfrm>
            <a:off x="6949440" y="46634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badge-15"/>
          <p:cNvSpPr/>
          <p:nvPr/>
        </p:nvSpPr>
        <p:spPr>
          <a:xfrm>
            <a:off x="7178040" y="5029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badge-label-16"/>
          <p:cNvSpPr txBox="1"/>
          <p:nvPr/>
        </p:nvSpPr>
        <p:spPr>
          <a:xfrm>
            <a:off x="7178040" y="5029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φ₂</a:t>
            </a:r>
            <a:endParaRPr lang="en-US" sz="1800" dirty="0"/>
          </a:p>
        </p:txBody>
      </p:sp>
      <p:sp>
        <p:nvSpPr>
          <p:cNvPr id="18" name="text-17"/>
          <p:cNvSpPr txBox="1"/>
          <p:nvPr/>
        </p:nvSpPr>
        <p:spPr>
          <a:xfrm>
            <a:off x="8046720" y="4892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Clamp angle at s = L</a:t>
            </a:r>
            <a:endParaRPr lang="en-US" sz="1700" dirty="0"/>
          </a:p>
        </p:txBody>
      </p:sp>
      <p:sp>
        <p:nvSpPr>
          <p:cNvPr id="19" name="text-18"/>
          <p:cNvSpPr txBox="1"/>
          <p:nvPr/>
        </p:nvSpPr>
        <p:spPr>
          <a:xfrm>
            <a:off x="8046720" y="53035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Same range as φ₁ — the box is symmetric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Equilibria are stationary points of the bending energy</a:t>
            </a:r>
            <a:endParaRPr lang="en-US" sz="3000" dirty="0"/>
          </a:p>
        </p:txBody>
      </p:sp>
      <p:sp>
        <p:nvSpPr>
          <p:cNvPr id="3" name="card-19"/>
          <p:cNvSpPr/>
          <p:nvPr/>
        </p:nvSpPr>
        <p:spPr>
          <a:xfrm>
            <a:off x="548640" y="141732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20"/>
          <p:cNvSpPr txBox="1"/>
          <p:nvPr/>
        </p:nvSpPr>
        <p:spPr>
          <a:xfrm>
            <a:off x="77724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Bending energy</a:t>
            </a:r>
            <a:endParaRPr lang="en-US" sz="1800" dirty="0"/>
          </a:p>
        </p:txBody>
      </p:sp>
      <p:sp>
        <p:nvSpPr>
          <p:cNvPr id="5" name="text-21"/>
          <p:cNvSpPr txBox="1"/>
          <p:nvPr/>
        </p:nvSpPr>
        <p:spPr>
          <a:xfrm>
            <a:off x="777240" y="2057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Inextensible Euler–Bernoulli rod, EI = 1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latex-energy"/>
              <p:cNvSpPr txBox="1"/>
              <p:nvPr/>
            </p:nvSpPr>
            <p:spPr>
              <a:xfrm>
                <a:off x="3200400" y="159928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6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sSup>
                        <m:s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  <m:sup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latex-energy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1599286"/>
                <a:ext cx="8229600" cy="7790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rd-23"/>
          <p:cNvSpPr/>
          <p:nvPr/>
        </p:nvSpPr>
        <p:spPr>
          <a:xfrm>
            <a:off x="548640" y="274320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-24"/>
          <p:cNvSpPr txBox="1"/>
          <p:nvPr/>
        </p:nvSpPr>
        <p:spPr>
          <a:xfrm>
            <a:off x="77724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Constraints</a:t>
            </a:r>
            <a:endParaRPr lang="en-US" sz="1800" dirty="0"/>
          </a:p>
        </p:txBody>
      </p:sp>
      <p:sp>
        <p:nvSpPr>
          <p:cNvPr id="9" name="text-25"/>
          <p:cNvSpPr txBox="1"/>
          <p:nvPr/>
        </p:nvSpPr>
        <p:spPr>
          <a:xfrm>
            <a:off x="777240" y="3383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End position fixed, both ends clamped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atex-constraints"/>
              <p:cNvSpPr txBox="1"/>
              <p:nvPr/>
            </p:nvSpPr>
            <p:spPr>
              <a:xfrm>
                <a:off x="3200400" y="292516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nary>
                        <m:naryPr>
                          <m:limLoc m:val="subSup"/>
                          <m:ctrlP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latex-constraint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2925166"/>
                <a:ext cx="8229600" cy="7790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ard-27"/>
          <p:cNvSpPr/>
          <p:nvPr/>
        </p:nvSpPr>
        <p:spPr>
          <a:xfrm>
            <a:off x="548640" y="406908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-28"/>
          <p:cNvSpPr txBox="1"/>
          <p:nvPr/>
        </p:nvSpPr>
        <p:spPr>
          <a:xfrm>
            <a:off x="77724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Lagrangian</a:t>
            </a:r>
            <a:endParaRPr lang="en-US" sz="1800" dirty="0"/>
          </a:p>
        </p:txBody>
      </p:sp>
      <p:sp>
        <p:nvSpPr>
          <p:cNvPr id="13" name="text-29"/>
          <p:cNvSpPr txBox="1"/>
          <p:nvPr/>
        </p:nvSpPr>
        <p:spPr>
          <a:xfrm>
            <a:off x="777240" y="4709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f</a:t>
            </a:r>
            <a:r>
              <a:rPr lang="en-US" sz="1100" baseline="-40000" dirty="0">
                <a:solidFill>
                  <a:schemeClr val="accent5"/>
                </a:solidFill>
              </a:rPr>
              <a:t>x</a:t>
            </a:r>
            <a:r>
              <a:rPr lang="en-US" sz="1100" dirty="0">
                <a:solidFill>
                  <a:schemeClr val="accent5"/>
                </a:solidFill>
              </a:rPr>
              <a:t>, f</a:t>
            </a:r>
            <a:r>
              <a:rPr lang="en-US" sz="1100" baseline="-40000" dirty="0">
                <a:solidFill>
                  <a:schemeClr val="accent5"/>
                </a:solidFill>
              </a:rPr>
              <a:t>y</a:t>
            </a:r>
            <a:r>
              <a:rPr lang="en-US" sz="1100" dirty="0">
                <a:solidFill>
                  <a:schemeClr val="accent5"/>
                </a:solidFill>
              </a:rPr>
              <a:t> enforce the two end-position integrals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latex-lagrangian"/>
              <p:cNvSpPr txBox="1"/>
              <p:nvPr/>
            </p:nvSpPr>
            <p:spPr>
              <a:xfrm>
                <a:off x="3200400" y="425104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  <m:sSup>
                        <m:sSup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subSup"/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p>
                            <m:e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nary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𝑑𝑠</m:t>
                          </m:r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4" name="latex-lagrangia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4251046"/>
                <a:ext cx="8229600" cy="7790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-31"/>
          <p:cNvSpPr txBox="1"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f</a:t>
            </a:r>
            <a:r>
              <a:rPr lang="en-US" sz="1500" baseline="-40000" dirty="0">
                <a:solidFill>
                  <a:schemeClr val="tx2"/>
                </a:solidFill>
              </a:rPr>
              <a:t>x</a:t>
            </a:r>
            <a:r>
              <a:rPr lang="en-US" sz="1500" dirty="0">
                <a:solidFill>
                  <a:schemeClr val="tx2"/>
                </a:solidFill>
              </a:rPr>
              <a:t> and f</a:t>
            </a:r>
            <a:r>
              <a:rPr lang="en-US" sz="1500" baseline="-40000" dirty="0">
                <a:solidFill>
                  <a:schemeClr val="tx2"/>
                </a:solidFill>
              </a:rPr>
              <a:t>y</a:t>
            </a:r>
            <a:r>
              <a:rPr lang="en-US" sz="1500" dirty="0">
                <a:solidFill>
                  <a:schemeClr val="tx2"/>
                </a:solidFill>
              </a:rPr>
              <a:t> are the Lagrange multipliers of the end-position constraints — physically, the reaction forces at the right clamp. The study maps every stationary point of ℒ the continuation reaches over the (d, φ₁, φ₂) box.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Stationarity gives the elastica equation and a mixed weak form</a:t>
            </a:r>
            <a:endParaRPr lang="en-US" sz="3000" dirty="0"/>
          </a:p>
        </p:txBody>
      </p:sp>
      <p:sp>
        <p:nvSpPr>
          <p:cNvPr id="3" name="card-32"/>
          <p:cNvSpPr/>
          <p:nvPr/>
        </p:nvSpPr>
        <p:spPr>
          <a:xfrm>
            <a:off x="548640" y="1417320"/>
            <a:ext cx="4206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33"/>
          <p:cNvSpPr txBox="1"/>
          <p:nvPr/>
        </p:nvSpPr>
        <p:spPr>
          <a:xfrm>
            <a:off x="77724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Euler–Lagrange equation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latex-strong"/>
              <p:cNvSpPr txBox="1"/>
              <p:nvPr/>
            </p:nvSpPr>
            <p:spPr>
              <a:xfrm>
                <a:off x="777240" y="2103120"/>
                <a:ext cx="37947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′′+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" name="latex-strong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2103120"/>
                <a:ext cx="3794760" cy="411480"/>
              </a:xfrm>
              <a:prstGeom prst="rect">
                <a:avLst/>
              </a:prstGeom>
              <a:blipFill>
                <a:blip r:embed="rId3"/>
                <a:stretch>
                  <a:fillRect l="-1929"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-35"/>
          <p:cNvSpPr txBox="1"/>
          <p:nvPr/>
        </p:nvSpPr>
        <p:spPr>
          <a:xfrm>
            <a:off x="777240" y="2606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θ(0) = φ₁,  θ(L) = φ₂</a:t>
            </a:r>
            <a:endParaRPr lang="en-US" sz="1500" dirty="0"/>
          </a:p>
        </p:txBody>
      </p:sp>
      <p:sp>
        <p:nvSpPr>
          <p:cNvPr id="7" name="card-36"/>
          <p:cNvSpPr/>
          <p:nvPr/>
        </p:nvSpPr>
        <p:spPr>
          <a:xfrm>
            <a:off x="5029200" y="1417320"/>
            <a:ext cx="6583680" cy="356616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-37"/>
          <p:cNvSpPr txBox="1"/>
          <p:nvPr/>
        </p:nvSpPr>
        <p:spPr>
          <a:xfrm>
            <a:off x="5257800" y="155448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Residuals assembled by FEniCSx (solver.py)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latex-w0"/>
              <p:cNvSpPr txBox="1"/>
              <p:nvPr/>
            </p:nvSpPr>
            <p:spPr>
              <a:xfrm>
                <a:off x="5257800" y="205740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′−</m:t>
                              </m:r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</m:nary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=0 ∀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9" name="latex-w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2057400"/>
                <a:ext cx="6172200" cy="75959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atex-w1"/>
              <p:cNvSpPr txBox="1"/>
              <p:nvPr/>
            </p:nvSpPr>
            <p:spPr>
              <a:xfrm>
                <a:off x="5257800" y="292608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</m:e>
                      </m:nary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latex-w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2926080"/>
                <a:ext cx="6172200" cy="75959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latex-w2"/>
              <p:cNvSpPr txBox="1"/>
              <p:nvPr/>
            </p:nvSpPr>
            <p:spPr>
              <a:xfrm>
                <a:off x="5257800" y="379476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1" name="latex-w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3794760"/>
                <a:ext cx="6172200" cy="75959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badge-41"/>
          <p:cNvSpPr/>
          <p:nvPr/>
        </p:nvSpPr>
        <p:spPr>
          <a:xfrm>
            <a:off x="548640" y="3429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42"/>
          <p:cNvSpPr txBox="1"/>
          <p:nvPr/>
        </p:nvSpPr>
        <p:spPr>
          <a:xfrm>
            <a:off x="54864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4" name="text-43"/>
          <p:cNvSpPr txBox="1"/>
          <p:nvPr/>
        </p:nvSpPr>
        <p:spPr>
          <a:xfrm>
            <a:off x="1097280" y="340156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θ ∈ P1 Lagrange on 100 interval elements</a:t>
            </a:r>
            <a:endParaRPr lang="en-US" sz="1400" dirty="0"/>
          </a:p>
        </p:txBody>
      </p:sp>
      <p:sp>
        <p:nvSpPr>
          <p:cNvPr id="15" name="badge-44"/>
          <p:cNvSpPr/>
          <p:nvPr/>
        </p:nvSpPr>
        <p:spPr>
          <a:xfrm>
            <a:off x="548640" y="39593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badge-label-45"/>
          <p:cNvSpPr txBox="1"/>
          <p:nvPr/>
        </p:nvSpPr>
        <p:spPr>
          <a:xfrm>
            <a:off x="5486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-46"/>
          <p:cNvSpPr txBox="1"/>
          <p:nvPr/>
        </p:nvSpPr>
        <p:spPr>
          <a:xfrm>
            <a:off x="1097280" y="393192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∈ “Real” space: one global DOF each</a:t>
            </a:r>
            <a:endParaRPr lang="en-US" sz="1400" dirty="0"/>
          </a:p>
        </p:txBody>
      </p:sp>
      <p:sp>
        <p:nvSpPr>
          <p:cNvPr id="18" name="badge-47"/>
          <p:cNvSpPr/>
          <p:nvPr/>
        </p:nvSpPr>
        <p:spPr>
          <a:xfrm>
            <a:off x="548640" y="448970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badge-label-48"/>
          <p:cNvSpPr txBox="1"/>
          <p:nvPr/>
        </p:nvSpPr>
        <p:spPr>
          <a:xfrm>
            <a:off x="54864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-49"/>
          <p:cNvSpPr txBox="1"/>
          <p:nvPr/>
        </p:nvSpPr>
        <p:spPr>
          <a:xfrm>
            <a:off x="1097280" y="4462272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Clamp angles imposed as Dirichlet BCs on θ</a:t>
            </a:r>
            <a:endParaRPr lang="en-US" sz="1400" dirty="0"/>
          </a:p>
        </p:txBody>
      </p:sp>
      <p:sp>
        <p:nvSpPr>
          <p:cNvPr id="21" name="card-50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-51"/>
          <p:cNvSpPr txBox="1"/>
          <p:nvPr/>
        </p:nvSpPr>
        <p:spPr>
          <a:xfrm>
            <a:off x="777240" y="5440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Post-processed per point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latex-outputs"/>
              <p:cNvSpPr txBox="1"/>
              <p:nvPr/>
            </p:nvSpPr>
            <p:spPr>
              <a:xfrm>
                <a:off x="3657600" y="5364419"/>
                <a:ext cx="7772400" cy="70116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ℎ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  <m:sSup>
                        <m:sSup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3" name="latex-output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5364419"/>
                <a:ext cx="7772400" cy="70116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Each parameter point is one Newton solve on 103 unknowns</a:t>
            </a:r>
            <a:endParaRPr lang="en-US" sz="3000" dirty="0"/>
          </a:p>
        </p:txBody>
      </p:sp>
      <p:sp>
        <p:nvSpPr>
          <p:cNvPr id="3" name="card-53"/>
          <p:cNvSpPr/>
          <p:nvPr/>
        </p:nvSpPr>
        <p:spPr>
          <a:xfrm>
            <a:off x="548640" y="141732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latex-newton"/>
              <p:cNvSpPr txBox="1"/>
              <p:nvPr/>
            </p:nvSpPr>
            <p:spPr>
              <a:xfrm>
                <a:off x="822960" y="1508760"/>
                <a:ext cx="5440680" cy="8229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6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p>
                              <m:r>
                                <a:rPr lang="en-US" sz="16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𝐮</m:t>
                      </m:r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𝐅</m:t>
                      </m:r>
                      <m:d>
                        <m:dPr>
                          <m:ctrlPr>
                            <a:rPr lang="en-US" sz="16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p>
                              <m:r>
                                <a:rPr lang="en-US" sz="16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sSup>
                        <m:sSupPr>
                          <m:ctrlP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p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p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𝐮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latex-newt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1508760"/>
                <a:ext cx="5440680" cy="8229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-55"/>
          <p:cNvSpPr txBox="1"/>
          <p:nvPr/>
        </p:nvSpPr>
        <p:spPr>
          <a:xfrm>
            <a:off x="6400800" y="1691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u = (θ₀ … θ₁₀₀, f</a:t>
            </a:r>
            <a:r>
              <a:rPr lang="en-US" sz="1500" baseline="-40000" dirty="0">
                <a:solidFill>
                  <a:schemeClr val="tx2"/>
                </a:solidFill>
              </a:rPr>
              <a:t>x</a:t>
            </a:r>
            <a:r>
              <a:rPr lang="en-US" sz="1500" dirty="0">
                <a:solidFill>
                  <a:schemeClr val="tx2"/>
                </a:solidFill>
              </a:rPr>
              <a:t>, f</a:t>
            </a:r>
            <a:r>
              <a:rPr lang="en-US" sz="1500" baseline="-40000" dirty="0">
                <a:solidFill>
                  <a:schemeClr val="tx2"/>
                </a:solidFill>
              </a:rPr>
              <a:t>y</a:t>
            </a:r>
            <a:r>
              <a:rPr lang="en-US" sz="1500" dirty="0">
                <a:solidFill>
                  <a:schemeClr val="tx2"/>
                </a:solidFill>
              </a:rPr>
              <a:t>);  α</a:t>
            </a:r>
            <a:r>
              <a:rPr lang="en-US" sz="1500" baseline="-40000" dirty="0">
                <a:solidFill>
                  <a:schemeClr val="tx2"/>
                </a:solidFill>
              </a:rPr>
              <a:t>k</a:t>
            </a:r>
            <a:r>
              <a:rPr lang="en-US" sz="1500" dirty="0">
                <a:solidFill>
                  <a:schemeClr val="tx2"/>
                </a:solidFill>
              </a:rPr>
              <a:t> from cubic backtracking line search</a:t>
            </a:r>
            <a:endParaRPr lang="en-US" sz="1500" dirty="0"/>
          </a:p>
        </p:txBody>
      </p:sp>
      <p:sp>
        <p:nvSpPr>
          <p:cNvPr id="6" name="card-56"/>
          <p:cNvSpPr/>
          <p:nvPr/>
        </p:nvSpPr>
        <p:spPr>
          <a:xfrm>
            <a:off x="54864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-57"/>
          <p:cNvSpPr txBox="1"/>
          <p:nvPr/>
        </p:nvSpPr>
        <p:spPr>
          <a:xfrm>
            <a:off x="77724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3600" dirty="0"/>
          </a:p>
        </p:txBody>
      </p:sp>
      <p:sp>
        <p:nvSpPr>
          <p:cNvPr id="8" name="text-58"/>
          <p:cNvSpPr txBox="1"/>
          <p:nvPr/>
        </p:nvSpPr>
        <p:spPr>
          <a:xfrm>
            <a:off x="77724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unknowns per point</a:t>
            </a:r>
            <a:endParaRPr lang="en-US" sz="1500" dirty="0"/>
          </a:p>
        </p:txBody>
      </p:sp>
      <p:sp>
        <p:nvSpPr>
          <p:cNvPr id="9" name="text-59"/>
          <p:cNvSpPr txBox="1"/>
          <p:nvPr/>
        </p:nvSpPr>
        <p:spPr>
          <a:xfrm>
            <a:off x="77724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101 nodal angles + 2 multipliers</a:t>
            </a:r>
            <a:endParaRPr lang="en-US" sz="1200" dirty="0"/>
          </a:p>
        </p:txBody>
      </p:sp>
      <p:sp>
        <p:nvSpPr>
          <p:cNvPr id="10" name="card-60"/>
          <p:cNvSpPr/>
          <p:nvPr/>
        </p:nvSpPr>
        <p:spPr>
          <a:xfrm>
            <a:off x="338328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-61"/>
          <p:cNvSpPr txBox="1"/>
          <p:nvPr/>
        </p:nvSpPr>
        <p:spPr>
          <a:xfrm>
            <a:off x="361188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</a:t>
            </a:r>
            <a:endParaRPr lang="en-US" sz="3600" dirty="0"/>
          </a:p>
        </p:txBody>
      </p:sp>
      <p:sp>
        <p:nvSpPr>
          <p:cNvPr id="12" name="text-62"/>
          <p:cNvSpPr txBox="1"/>
          <p:nvPr/>
        </p:nvSpPr>
        <p:spPr>
          <a:xfrm>
            <a:off x="361188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MUMPS direct solve</a:t>
            </a:r>
            <a:endParaRPr lang="en-US" sz="1500" dirty="0"/>
          </a:p>
        </p:txBody>
      </p:sp>
      <p:sp>
        <p:nvSpPr>
          <p:cNvPr id="13" name="text-63"/>
          <p:cNvSpPr txBox="1"/>
          <p:nvPr/>
        </p:nvSpPr>
        <p:spPr>
          <a:xfrm>
            <a:off x="361188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KSP preonly: exact linear steps</a:t>
            </a:r>
            <a:endParaRPr lang="en-US" sz="1200" dirty="0"/>
          </a:p>
        </p:txBody>
      </p:sp>
      <p:sp>
        <p:nvSpPr>
          <p:cNvPr id="14" name="card-64"/>
          <p:cNvSpPr/>
          <p:nvPr/>
        </p:nvSpPr>
        <p:spPr>
          <a:xfrm>
            <a:off x="621792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-65"/>
          <p:cNvSpPr txBox="1"/>
          <p:nvPr/>
        </p:nvSpPr>
        <p:spPr>
          <a:xfrm>
            <a:off x="644652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10⁻¹⁰</a:t>
            </a:r>
            <a:endParaRPr lang="en-US" sz="3600" dirty="0"/>
          </a:p>
        </p:txBody>
      </p:sp>
      <p:sp>
        <p:nvSpPr>
          <p:cNvPr id="16" name="text-66"/>
          <p:cNvSpPr txBox="1"/>
          <p:nvPr/>
        </p:nvSpPr>
        <p:spPr>
          <a:xfrm>
            <a:off x="644652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relative tolerance</a:t>
            </a:r>
            <a:endParaRPr lang="en-US" sz="1500" dirty="0"/>
          </a:p>
        </p:txBody>
      </p:sp>
      <p:sp>
        <p:nvSpPr>
          <p:cNvPr id="17" name="text-67"/>
          <p:cNvSpPr txBox="1"/>
          <p:nvPr/>
        </p:nvSpPr>
        <p:spPr>
          <a:xfrm>
            <a:off x="644652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absolute 10⁻¹²</a:t>
            </a:r>
            <a:endParaRPr lang="en-US" sz="1200" dirty="0"/>
          </a:p>
        </p:txBody>
      </p:sp>
      <p:sp>
        <p:nvSpPr>
          <p:cNvPr id="18" name="card-68"/>
          <p:cNvSpPr/>
          <p:nvPr/>
        </p:nvSpPr>
        <p:spPr>
          <a:xfrm>
            <a:off x="905256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-69"/>
          <p:cNvSpPr txBox="1"/>
          <p:nvPr/>
        </p:nvSpPr>
        <p:spPr>
          <a:xfrm>
            <a:off x="928116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 / 500</a:t>
            </a:r>
            <a:endParaRPr lang="en-US" sz="3600" dirty="0"/>
          </a:p>
        </p:txBody>
      </p:sp>
      <p:sp>
        <p:nvSpPr>
          <p:cNvPr id="20" name="text-70"/>
          <p:cNvSpPr txBox="1"/>
          <p:nvPr/>
        </p:nvSpPr>
        <p:spPr>
          <a:xfrm>
            <a:off x="928116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max Newton its</a:t>
            </a:r>
            <a:endParaRPr lang="en-US" sz="1500" dirty="0"/>
          </a:p>
        </p:txBody>
      </p:sp>
      <p:sp>
        <p:nvSpPr>
          <p:cNvPr id="21" name="text-71"/>
          <p:cNvSpPr txBox="1"/>
          <p:nvPr/>
        </p:nvSpPr>
        <p:spPr>
          <a:xfrm>
            <a:off x="928116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CURRENTv3 / CURRENTv4</a:t>
            </a:r>
            <a:endParaRPr lang="en-US" sz="1200" dirty="0"/>
          </a:p>
        </p:txBody>
      </p:sp>
      <p:sp>
        <p:nvSpPr>
          <p:cNvPr id="22" name="text-72"/>
          <p:cNvSpPr txBox="1"/>
          <p:nvPr/>
        </p:nvSpPr>
        <p:spPr>
          <a:xfrm>
            <a:off x="548640" y="489204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The Jacobian borders the θ-block with the constraint rows. At a fold of the solution branch it becomes singular — so the snap surface is exactly where Newton loses its footing, and where the continuation logic has to take over.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The snap surface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Where the equilibrium jumps from one branch to another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Two equilibria 0.01 rad apart: the rod has snapped</a:t>
            </a:r>
            <a:endParaRPr lang="en-US" sz="3000" dirty="0"/>
          </a:p>
        </p:txBody>
      </p:sp>
      <p:pic>
        <p:nvPicPr>
          <p:cNvPr id="3" name="figure-84" descr="/tmp/claude-1000/-home-goraksh/bd4a8aa0-f932-4355-8328-b02b4cf010d1/scratchpad/deck/fig/sha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6035040" cy="3945988"/>
          </a:xfrm>
          <a:prstGeom prst="rect">
            <a:avLst/>
          </a:prstGeom>
        </p:spPr>
      </p:pic>
      <p:sp>
        <p:nvSpPr>
          <p:cNvPr id="4" name="text-85"/>
          <p:cNvSpPr txBox="1"/>
          <p:nvPr/>
        </p:nvSpPr>
        <p:spPr>
          <a:xfrm>
            <a:off x="548640" y="53949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 = 0.90, φ₂ = 0. Converged solutions on either side of the jump.</a:t>
            </a:r>
            <a:endParaRPr lang="en-US" sz="1100" dirty="0"/>
          </a:p>
        </p:txBody>
      </p:sp>
      <p:sp>
        <p:nvSpPr>
          <p:cNvPr id="5" name="text-86"/>
          <p:cNvSpPr txBox="1"/>
          <p:nvPr/>
        </p:nvSpPr>
        <p:spPr>
          <a:xfrm>
            <a:off x="6766560" y="1463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Why Newton struggles here</a:t>
            </a:r>
            <a:endParaRPr lang="en-US" sz="1900" dirty="0"/>
          </a:p>
        </p:txBody>
      </p:sp>
      <p:sp>
        <p:nvSpPr>
          <p:cNvPr id="6" name="badge-87"/>
          <p:cNvSpPr/>
          <p:nvPr/>
        </p:nvSpPr>
        <p:spPr>
          <a:xfrm>
            <a:off x="6766560" y="2148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88"/>
          <p:cNvSpPr txBox="1"/>
          <p:nvPr/>
        </p:nvSpPr>
        <p:spPr>
          <a:xfrm>
            <a:off x="67665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tep-89"/>
          <p:cNvSpPr txBox="1"/>
          <p:nvPr/>
        </p:nvSpPr>
        <p:spPr>
          <a:xfrm>
            <a:off x="7315200" y="212140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Fold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The branch ends; the Jacobian goes singular and Newton steps blow up.</a:t>
            </a:r>
            <a:endParaRPr lang="en-US" sz="1500" dirty="0"/>
          </a:p>
        </p:txBody>
      </p:sp>
      <p:sp>
        <p:nvSpPr>
          <p:cNvPr id="9" name="badge-90"/>
          <p:cNvSpPr/>
          <p:nvPr/>
        </p:nvSpPr>
        <p:spPr>
          <a:xfrm>
            <a:off x="6766560" y="33832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badge-label-91"/>
          <p:cNvSpPr txBox="1"/>
          <p:nvPr/>
        </p:nvSpPr>
        <p:spPr>
          <a:xfrm>
            <a:off x="676656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-92"/>
          <p:cNvSpPr txBox="1"/>
          <p:nvPr/>
        </p:nvSpPr>
        <p:spPr>
          <a:xfrm>
            <a:off x="7315200" y="335584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Silent branch switch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 warm start from one side converges, but to the other branch.</a:t>
            </a:r>
            <a:endParaRPr lang="en-US" sz="1500" dirty="0"/>
          </a:p>
        </p:txBody>
      </p:sp>
      <p:sp>
        <p:nvSpPr>
          <p:cNvPr id="12" name="badge-93"/>
          <p:cNvSpPr/>
          <p:nvPr/>
        </p:nvSpPr>
        <p:spPr>
          <a:xfrm>
            <a:off x="6766560" y="46177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94"/>
          <p:cNvSpPr txBox="1"/>
          <p:nvPr/>
        </p:nvSpPr>
        <p:spPr>
          <a:xfrm>
            <a:off x="676656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-95"/>
          <p:cNvSpPr txBox="1"/>
          <p:nvPr/>
        </p:nvSpPr>
        <p:spPr>
          <a:xfrm>
            <a:off x="7315200" y="459028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Residual can't tell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Both sides meet 10⁻¹⁰, so convergence alone says nothing about which branch you are 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MAC: a shape-similarity test that flags a branch switch</a:t>
            </a:r>
            <a:endParaRPr lang="en-US" sz="3000" dirty="0"/>
          </a:p>
        </p:txBody>
      </p:sp>
      <p:sp>
        <p:nvSpPr>
          <p:cNvPr id="3" name="card-96"/>
          <p:cNvSpPr/>
          <p:nvPr/>
        </p:nvSpPr>
        <p:spPr>
          <a:xfrm>
            <a:off x="548640" y="1417320"/>
            <a:ext cx="5760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latex-mac"/>
              <p:cNvSpPr txBox="1"/>
              <p:nvPr/>
            </p:nvSpPr>
            <p:spPr>
              <a:xfrm>
                <a:off x="777240" y="1700784"/>
                <a:ext cx="5349240" cy="6217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16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m:rPr>
                          <m:sty m:val="p"/>
                        </m:rP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AC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  <m:sup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bSup>
                                  <m:sSub>
                                    <m:sSubPr>
                                      <m:ctrlP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  <m:sup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  <m:sup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latex-mac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1700784"/>
                <a:ext cx="5349240" cy="6217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mac-table-9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5760720" cy="20574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θ pair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MAC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Identical shape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Smooth grid neighbours (Δφ = 0.01)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≈ 0.9999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Across the snap (d = 0.90, φ₂ = 0)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0.087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Threshold: CURRENTv3 / CURRENTv4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0.90 / 0.85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-99"/>
          <p:cNvSpPr txBox="1"/>
          <p:nvPr/>
        </p:nvSpPr>
        <p:spPr>
          <a:xfrm>
            <a:off x="548640" y="507492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Scale-invariant: it compares shape, not amplitude, which is exactly what changes when the rod jumps branch.</a:t>
            </a:r>
            <a:endParaRPr lang="en-US" sz="1500" dirty="0"/>
          </a:p>
        </p:txBody>
      </p:sp>
      <p:pic>
        <p:nvPicPr>
          <p:cNvPr id="7" name="figure-100" descr="/tmp/claude-1000/-home-goraksh/bd4a8aa0-f932-4355-8328-b02b4cf010d1/scratchpad/deck/fig/linec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5029200" cy="408622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Smooth fields, then a jump across an L-shaped surface</a:t>
            </a:r>
            <a:endParaRPr lang="en-US" sz="3000" dirty="0"/>
          </a:p>
        </p:txBody>
      </p:sp>
      <p:pic>
        <p:nvPicPr>
          <p:cNvPr id="3" name="figure-73" descr="/tmp/claude-1000/-home-goraksh/bd4a8aa0-f932-4355-8328-b02b4cf010d1/scratchpad/deck/fig/fiel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412480" cy="3670900"/>
          </a:xfrm>
          <a:prstGeom prst="rect">
            <a:avLst/>
          </a:prstGeom>
        </p:spPr>
      </p:pic>
      <p:sp>
        <p:nvSpPr>
          <p:cNvPr id="4" name="text-74"/>
          <p:cNvSpPr txBox="1"/>
          <p:nvPr/>
        </p:nvSpPr>
        <p:spPr>
          <a:xfrm>
            <a:off x="548640" y="5166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CURRENTv3/sol4 run: d ∈ [0.90, 0.95], φ ∈ [−0.8, 0.8], Δφ = 0.01, 155,526 solved points. Slice at d = 0.90.</a:t>
            </a:r>
            <a:endParaRPr lang="en-US" sz="1100" dirty="0"/>
          </a:p>
        </p:txBody>
      </p:sp>
      <p:sp>
        <p:nvSpPr>
          <p:cNvPr id="5" name="card-75"/>
          <p:cNvSpPr/>
          <p:nvPr/>
        </p:nvSpPr>
        <p:spPr>
          <a:xfrm>
            <a:off x="9098280" y="146304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-76"/>
          <p:cNvSpPr txBox="1"/>
          <p:nvPr/>
        </p:nvSpPr>
        <p:spPr>
          <a:xfrm>
            <a:off x="928116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Smooth interior</a:t>
            </a:r>
            <a:endParaRPr lang="en-US" sz="1500" dirty="0"/>
          </a:p>
        </p:txBody>
      </p:sp>
      <p:sp>
        <p:nvSpPr>
          <p:cNvPr id="7" name="text-77"/>
          <p:cNvSpPr txBox="1"/>
          <p:nvPr/>
        </p:nvSpPr>
        <p:spPr>
          <a:xfrm>
            <a:off x="928116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Grid neighbours differ by 1 − MAC ≈ 10⁻⁴</a:t>
            </a:r>
            <a:endParaRPr lang="en-US" sz="1300" dirty="0"/>
          </a:p>
        </p:txBody>
      </p:sp>
      <p:sp>
        <p:nvSpPr>
          <p:cNvPr id="8" name="card-78"/>
          <p:cNvSpPr/>
          <p:nvPr/>
        </p:nvSpPr>
        <p:spPr>
          <a:xfrm>
            <a:off x="9098280" y="278892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-79"/>
          <p:cNvSpPr txBox="1"/>
          <p:nvPr/>
        </p:nvSpPr>
        <p:spPr>
          <a:xfrm>
            <a:off x="928116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Sharp edge</a:t>
            </a:r>
            <a:endParaRPr lang="en-US" sz="1500" dirty="0"/>
          </a:p>
        </p:txBody>
      </p:sp>
      <p:sp>
        <p:nvSpPr>
          <p:cNvPr id="10" name="text-80"/>
          <p:cNvSpPr txBox="1"/>
          <p:nvPr/>
        </p:nvSpPr>
        <p:spPr>
          <a:xfrm>
            <a:off x="9281160" y="32461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Jump at φ₁ ≈ −0.57 and, by symmetry, φ₂ ≈ +0.57</a:t>
            </a:r>
            <a:endParaRPr lang="en-US" sz="1300" dirty="0"/>
          </a:p>
        </p:txBody>
      </p:sp>
      <p:sp>
        <p:nvSpPr>
          <p:cNvPr id="11" name="card-81"/>
          <p:cNvSpPr/>
          <p:nvPr/>
        </p:nvSpPr>
        <p:spPr>
          <a:xfrm>
            <a:off x="9098280" y="411480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-82"/>
          <p:cNvSpPr txBox="1"/>
          <p:nvPr/>
        </p:nvSpPr>
        <p:spPr>
          <a:xfrm>
            <a:off x="9281160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Large jump</a:t>
            </a:r>
            <a:endParaRPr lang="en-US" sz="1500" dirty="0"/>
          </a:p>
        </p:txBody>
      </p:sp>
      <p:sp>
        <p:nvSpPr>
          <p:cNvPr id="13" name="text-83"/>
          <p:cNvSpPr txBox="1"/>
          <p:nvPr/>
        </p:nvSpPr>
        <p:spPr>
          <a:xfrm>
            <a:off x="9281160" y="4572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U goes 2.27 → 6.11 in a single 0.01 step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The neighbour-MAC map alone traces the snap surface</a:t>
            </a:r>
            <a:endParaRPr lang="en-US" sz="3000" dirty="0"/>
          </a:p>
        </p:txBody>
      </p:sp>
      <p:pic>
        <p:nvPicPr>
          <p:cNvPr id="3" name="figure-101" descr="/tmp/claude-1000/-home-goraksh/bd4a8aa0-f932-4355-8328-b02b4cf010d1/scratchpad/deck/fig/mac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5120640" cy="4389120"/>
          </a:xfrm>
          <a:prstGeom prst="rect">
            <a:avLst/>
          </a:prstGeom>
        </p:spPr>
      </p:pic>
      <p:pic>
        <p:nvPicPr>
          <p:cNvPr id="4" name="figure-102" descr="/tmp/claude-1000/-home-goraksh/bd4a8aa0-f932-4355-8328-b02b4cf010d1/scratchpad/deck/fig/snap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325880"/>
            <a:ext cx="5120640" cy="4389120"/>
          </a:xfrm>
          <a:prstGeom prst="rect">
            <a:avLst/>
          </a:prstGeom>
        </p:spPr>
      </p:pic>
      <p:sp>
        <p:nvSpPr>
          <p:cNvPr id="5" name="text-103"/>
          <p:cNvSpPr txBox="1"/>
          <p:nvPr/>
        </p:nvSpPr>
        <p:spPr>
          <a:xfrm>
            <a:off x="548640" y="5760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Red contour: MAC &lt; 0.90 between adjacent grid points. Nothing else in the slice gets close.</a:t>
            </a:r>
            <a:endParaRPr lang="en-US" sz="1100" dirty="0"/>
          </a:p>
        </p:txBody>
      </p:sp>
      <p:sp>
        <p:nvSpPr>
          <p:cNvPr id="6" name="text-104"/>
          <p:cNvSpPr txBox="1"/>
          <p:nvPr/>
        </p:nvSpPr>
        <p:spPr>
          <a:xfrm>
            <a:off x="6492240" y="5760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As d → 1 the surface moves inward: at φ₂ = 0 it sits at φ₁ ≈ −0.57 (d = 0.90) and −0.40 (d = 0.95).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The snap surface in 3D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The MAC indicator as an isosurface over (d, φ₁, φ₂), extracted and rendered in ParaView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Extracting the snap surface: a MAC isosurface</a:t>
            </a:r>
            <a:endParaRPr lang="en-US" sz="3000" dirty="0"/>
          </a:p>
        </p:txBody>
      </p:sp>
      <p:pic>
        <p:nvPicPr>
          <p:cNvPr id="101" name="figure-101" descr="ParaView isosurface of the neighbour-MAC indicator over (phi1, phi2, d), coloured by 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5590608" cy="4526280"/>
          </a:xfrm>
          <a:prstGeom prst="rect">
            <a:avLst/>
          </a:prstGeom>
        </p:spPr>
      </p:pic>
      <p:sp>
        <p:nvSpPr>
          <p:cNvPr id="102" name="caption-102"/>
          <p:cNvSpPr txBox="1"/>
          <p:nvPr/>
        </p:nvSpPr>
        <p:spPr>
          <a:xfrm>
            <a:off x="548640" y="5943600"/>
            <a:ext cx="5499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5"/>
                </a:solidFill>
              </a:rPr>
              <a:t>CURRENTv4 Δ = 0.02 run. d axis stretched ×8; colour = d. The surface is a shell about one mesh cell thick around the jump.</a:t>
            </a:r>
            <a:endParaRPr lang="en-US" sz="1100" dirty="0"/>
          </a:p>
        </p:txBody>
      </p:sp>
      <p:sp>
        <p:nvSpPr>
          <p:cNvPr id="103" name="badge-103"/>
          <p:cNvSpPr/>
          <p:nvPr/>
        </p:nvSpPr>
        <p:spPr>
          <a:xfrm>
            <a:off x="6459288" y="146304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4" name="badge-label-104"/>
          <p:cNvSpPr txBox="1"/>
          <p:nvPr/>
        </p:nvSpPr>
        <p:spPr>
          <a:xfrm>
            <a:off x="6459288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5" name="step-105"/>
          <p:cNvSpPr txBox="1"/>
          <p:nvPr/>
        </p:nvSpPr>
        <p:spPr>
          <a:xfrm>
            <a:off x="7007928" y="1435608"/>
            <a:ext cx="46506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Read θ from the VTU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98,120 points and 559,751 tets, with θ stored at 51 beam nodes per point.</a:t>
            </a:r>
            <a:endParaRPr lang="en-US" sz="1400" dirty="0"/>
          </a:p>
        </p:txBody>
      </p:sp>
      <p:sp>
        <p:nvSpPr>
          <p:cNvPr id="106" name="badge-106"/>
          <p:cNvSpPr/>
          <p:nvPr/>
        </p:nvSpPr>
        <p:spPr>
          <a:xfrm>
            <a:off x="6459288" y="260604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7" name="badge-label-107"/>
          <p:cNvSpPr txBox="1"/>
          <p:nvPr/>
        </p:nvSpPr>
        <p:spPr>
          <a:xfrm>
            <a:off x="6459288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8" name="step-108"/>
          <p:cNvSpPr txBox="1"/>
          <p:nvPr/>
        </p:nvSpPr>
        <p:spPr>
          <a:xfrm>
            <a:off x="7007928" y="2578608"/>
            <a:ext cx="46506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MAC on every tet edge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675,318 edges; each node keeps the largest 1 − MAC among its edges.</a:t>
            </a:r>
            <a:endParaRPr lang="en-US" sz="1400" dirty="0"/>
          </a:p>
        </p:txBody>
      </p:sp>
      <p:sp>
        <p:nvSpPr>
          <p:cNvPr id="109" name="badge-109"/>
          <p:cNvSpPr/>
          <p:nvPr/>
        </p:nvSpPr>
        <p:spPr>
          <a:xfrm>
            <a:off x="6459288" y="3749039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0" name="badge-label-110"/>
          <p:cNvSpPr txBox="1"/>
          <p:nvPr/>
        </p:nvSpPr>
        <p:spPr>
          <a:xfrm>
            <a:off x="6459288" y="37490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1" name="step-111"/>
          <p:cNvSpPr txBox="1"/>
          <p:nvPr/>
        </p:nvSpPr>
        <p:spPr>
          <a:xfrm>
            <a:off x="7007928" y="3721607"/>
            <a:ext cx="46506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Contour in ParaView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Isosurface at 1 − MAC = 0.1, i.e. the deck's MAC = 0.90 threshold; then Smooth and Surface Normals.</a:t>
            </a:r>
            <a:endParaRPr lang="en-US" sz="1400" dirty="0"/>
          </a:p>
        </p:txBody>
      </p:sp>
      <p:sp>
        <p:nvSpPr>
          <p:cNvPr id="112" name="badge-112"/>
          <p:cNvSpPr/>
          <p:nvPr/>
        </p:nvSpPr>
        <p:spPr>
          <a:xfrm>
            <a:off x="6459288" y="489204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3" name="badge-label-113"/>
          <p:cNvSpPr txBox="1"/>
          <p:nvPr/>
        </p:nvSpPr>
        <p:spPr>
          <a:xfrm>
            <a:off x="6459288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14" name="step-114"/>
          <p:cNvSpPr txBox="1"/>
          <p:nvPr/>
        </p:nvSpPr>
        <p:spPr>
          <a:xfrm>
            <a:off x="7007928" y="4864607"/>
            <a:ext cx="46506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Cross-check with energy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88 % of edges with MAC &lt; 0.90 also jump in U by more than 0.5.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Seen down the d axis, the L-shaped locus closes in</a:t>
            </a:r>
            <a:endParaRPr lang="en-US" sz="3000" dirty="0"/>
          </a:p>
        </p:txBody>
      </p:sp>
      <p:pic>
        <p:nvPicPr>
          <p:cNvPr id="115" name="figure-115" descr="Snap surface seen down the d axis, coloured by 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5824257" cy="4526280"/>
          </a:xfrm>
          <a:prstGeom prst="rect">
            <a:avLst/>
          </a:prstGeom>
        </p:spPr>
      </p:pic>
      <p:sp>
        <p:nvSpPr>
          <p:cNvPr id="116" name="caption-116"/>
          <p:cNvSpPr txBox="1"/>
          <p:nvPr/>
        </p:nvSpPr>
        <p:spPr>
          <a:xfrm>
            <a:off x="548640" y="5943600"/>
            <a:ext cx="5732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5"/>
                </a:solidFill>
              </a:rPr>
              <a:t>Same surface, looking straight down the d axis (parallel projection).</a:t>
            </a:r>
            <a:endParaRPr lang="en-US" sz="1100" dirty="0"/>
          </a:p>
        </p:txBody>
      </p:sp>
      <p:sp>
        <p:nvSpPr>
          <p:cNvPr id="117" name="card-117"/>
          <p:cNvSpPr/>
          <p:nvPr/>
        </p:nvSpPr>
        <p:spPr>
          <a:xfrm>
            <a:off x="6738657" y="1463040"/>
            <a:ext cx="4919942" cy="13258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8" name="card-head-118"/>
          <p:cNvSpPr txBox="1"/>
          <p:nvPr/>
        </p:nvSpPr>
        <p:spPr>
          <a:xfrm>
            <a:off x="6967257" y="1627632"/>
            <a:ext cx="4462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 2D L-shape, stacked</a:t>
            </a:r>
            <a:endParaRPr lang="en-US" sz="1600" dirty="0"/>
          </a:p>
        </p:txBody>
      </p:sp>
      <p:sp>
        <p:nvSpPr>
          <p:cNvPr id="119" name="card-body-119"/>
          <p:cNvSpPr txBox="1"/>
          <p:nvPr/>
        </p:nvSpPr>
        <p:spPr>
          <a:xfrm>
            <a:off x="6967257" y="2011680"/>
            <a:ext cx="44627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d-level of the sheet is the L-shaped locus from the 2D MAC map, coloured by d.</a:t>
            </a:r>
            <a:endParaRPr lang="en-US" sz="1400" dirty="0"/>
          </a:p>
        </p:txBody>
      </p:sp>
      <p:sp>
        <p:nvSpPr>
          <p:cNvPr id="120" name="card-120"/>
          <p:cNvSpPr/>
          <p:nvPr/>
        </p:nvSpPr>
        <p:spPr>
          <a:xfrm>
            <a:off x="6738657" y="2971800"/>
            <a:ext cx="4919942" cy="13258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21" name="card-head-121"/>
          <p:cNvSpPr txBox="1"/>
          <p:nvPr/>
        </p:nvSpPr>
        <p:spPr>
          <a:xfrm>
            <a:off x="6967257" y="3136392"/>
            <a:ext cx="4462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Two codes agree</a:t>
            </a:r>
            <a:endParaRPr lang="en-US" sz="1600" dirty="0"/>
          </a:p>
        </p:txBody>
      </p:sp>
      <p:sp>
        <p:nvSpPr>
          <p:cNvPr id="122" name="card-body-122"/>
          <p:cNvSpPr txBox="1"/>
          <p:nvPr/>
        </p:nvSpPr>
        <p:spPr>
          <a:xfrm>
            <a:off x="6967257" y="3520440"/>
            <a:ext cx="44627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At d = 0.90, φ₂ = 0 the jump sits at φ₁ ≈ −0.55 in the v4 data and at −0.565 in the v3 run.</a:t>
            </a:r>
            <a:endParaRPr lang="en-US" sz="1400" dirty="0"/>
          </a:p>
        </p:txBody>
      </p:sp>
      <p:sp>
        <p:nvSpPr>
          <p:cNvPr id="123" name="card-123"/>
          <p:cNvSpPr/>
          <p:nvPr/>
        </p:nvSpPr>
        <p:spPr>
          <a:xfrm>
            <a:off x="6738657" y="4480560"/>
            <a:ext cx="4919942" cy="13258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24" name="card-head-124"/>
          <p:cNvSpPr txBox="1"/>
          <p:nvPr/>
        </p:nvSpPr>
        <p:spPr>
          <a:xfrm>
            <a:off x="6967257" y="4645152"/>
            <a:ext cx="4462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Closing in as d → 1</a:t>
            </a:r>
            <a:endParaRPr lang="en-US" sz="1600" dirty="0"/>
          </a:p>
        </p:txBody>
      </p:sp>
      <p:sp>
        <p:nvSpPr>
          <p:cNvPr id="125" name="card-body-125"/>
          <p:cNvSpPr txBox="1"/>
          <p:nvPr/>
        </p:nvSpPr>
        <p:spPr>
          <a:xfrm>
            <a:off x="6967257" y="5029200"/>
            <a:ext cx="44627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Dark (d = 0.80) hugs the box edge; by d = 0.97 the jump at φ₂ = 0 has moved to φ₁ ≈ −0.31.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The sheet rises from the step in axial force</a:t>
            </a:r>
            <a:endParaRPr lang="en-US" sz="3000" dirty="0"/>
          </a:p>
        </p:txBody>
      </p:sp>
      <p:pic>
        <p:nvPicPr>
          <p:cNvPr id="126" name="figure-126" descr="Snap surface clipped at d = 0.90 above a slice coloured by the axial force f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5101502" cy="4526280"/>
          </a:xfrm>
          <a:prstGeom prst="rect">
            <a:avLst/>
          </a:prstGeom>
        </p:spPr>
      </p:pic>
      <p:sp>
        <p:nvSpPr>
          <p:cNvPr id="127" name="caption-127"/>
          <p:cNvSpPr txBox="1"/>
          <p:nvPr/>
        </p:nvSpPr>
        <p:spPr>
          <a:xfrm>
            <a:off x="548640" y="5943600"/>
            <a:ext cx="50100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5"/>
                </a:solidFill>
              </a:rPr>
              <a:t>Plane at d = 0.90 coloured by f</a:t>
            </a:r>
            <a:r>
              <a:rPr lang="en-US" sz="1100" i="1" baseline="-25000" dirty="0">
                <a:solidFill>
                  <a:schemeClr val="accent5"/>
                </a:solidFill>
              </a:rPr>
              <a:t>x</a:t>
            </a:r>
            <a:r>
              <a:rPr lang="en-US" sz="1100" i="1" dirty="0">
                <a:solidFill>
                  <a:schemeClr val="accent5"/>
                </a:solidFill>
              </a:rPr>
              <a:t>; the sheet above it is translucent.</a:t>
            </a:r>
            <a:endParaRPr lang="en-US" sz="1100" dirty="0"/>
          </a:p>
        </p:txBody>
      </p:sp>
      <p:sp>
        <p:nvSpPr>
          <p:cNvPr id="128" name="lead-128"/>
          <p:cNvSpPr txBox="1"/>
          <p:nvPr/>
        </p:nvSpPr>
        <p:spPr>
          <a:xfrm>
            <a:off x="6015902" y="1463040"/>
            <a:ext cx="56426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Across the line, f</a:t>
            </a:r>
            <a:r>
              <a:rPr lang="en-US" sz="1500" baseline="-25000" dirty="0">
                <a:solidFill>
                  <a:schemeClr val="tx2"/>
                </a:solidFill>
              </a:rPr>
              <a:t>x</a:t>
            </a:r>
            <a:r>
              <a:rPr lang="en-US" sz="1500" dirty="0">
                <a:solidFill>
                  <a:schemeClr val="tx2"/>
                </a:solidFill>
              </a:rPr>
              <a:t> roughly doubles at every d (φ₂ = 0):</a:t>
            </a:r>
            <a:endParaRPr lang="en-US" sz="1500" dirty="0"/>
          </a:p>
        </p:txBody>
      </p:sp>
      <p:sp>
        <p:nvSpPr>
          <p:cNvPr id="129" name="card-129"/>
          <p:cNvSpPr/>
          <p:nvPr/>
        </p:nvSpPr>
        <p:spPr>
          <a:xfrm>
            <a:off x="6015902" y="2057400"/>
            <a:ext cx="5642697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30" name="stat-130"/>
          <p:cNvSpPr txBox="1"/>
          <p:nvPr/>
        </p:nvSpPr>
        <p:spPr>
          <a:xfrm>
            <a:off x="6244502" y="21671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28.9 → 58.0</a:t>
            </a:r>
            <a:endParaRPr lang="en-US" sz="2600" dirty="0"/>
          </a:p>
        </p:txBody>
      </p:sp>
      <p:sp>
        <p:nvSpPr>
          <p:cNvPr id="131" name="stat-label-131"/>
          <p:cNvSpPr txBox="1"/>
          <p:nvPr/>
        </p:nvSpPr>
        <p:spPr>
          <a:xfrm>
            <a:off x="8713382" y="2167128"/>
            <a:ext cx="27623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d = 0.86, jump at φ₁ ≈ −0.67</a:t>
            </a:r>
            <a:endParaRPr lang="en-US" sz="1300" dirty="0"/>
          </a:p>
        </p:txBody>
      </p:sp>
      <p:sp>
        <p:nvSpPr>
          <p:cNvPr id="132" name="card-132"/>
          <p:cNvSpPr/>
          <p:nvPr/>
        </p:nvSpPr>
        <p:spPr>
          <a:xfrm>
            <a:off x="6015902" y="3154680"/>
            <a:ext cx="5642697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33" name="stat-133"/>
          <p:cNvSpPr txBox="1"/>
          <p:nvPr/>
        </p:nvSpPr>
        <p:spPr>
          <a:xfrm>
            <a:off x="6244502" y="326440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27.3 → 57.0</a:t>
            </a:r>
            <a:endParaRPr lang="en-US" sz="2600" dirty="0"/>
          </a:p>
        </p:txBody>
      </p:sp>
      <p:sp>
        <p:nvSpPr>
          <p:cNvPr id="134" name="stat-label-134"/>
          <p:cNvSpPr txBox="1"/>
          <p:nvPr/>
        </p:nvSpPr>
        <p:spPr>
          <a:xfrm>
            <a:off x="8713382" y="3264408"/>
            <a:ext cx="27623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d = 0.92, jump at φ₁ ≈ −0.52</a:t>
            </a:r>
            <a:endParaRPr lang="en-US" sz="1300" dirty="0"/>
          </a:p>
        </p:txBody>
      </p:sp>
      <p:sp>
        <p:nvSpPr>
          <p:cNvPr id="135" name="card-135"/>
          <p:cNvSpPr/>
          <p:nvPr/>
        </p:nvSpPr>
        <p:spPr>
          <a:xfrm>
            <a:off x="6015902" y="4251960"/>
            <a:ext cx="5642697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36" name="stat-136"/>
          <p:cNvSpPr txBox="1"/>
          <p:nvPr/>
        </p:nvSpPr>
        <p:spPr>
          <a:xfrm>
            <a:off x="6244502" y="43616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26.6 → 53.7</a:t>
            </a:r>
            <a:endParaRPr lang="en-US" sz="2600" dirty="0"/>
          </a:p>
        </p:txBody>
      </p:sp>
      <p:sp>
        <p:nvSpPr>
          <p:cNvPr id="137" name="stat-label-137"/>
          <p:cNvSpPr txBox="1"/>
          <p:nvPr/>
        </p:nvSpPr>
        <p:spPr>
          <a:xfrm>
            <a:off x="8713382" y="4361688"/>
            <a:ext cx="27623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d = 0.97, jump at φ₁ ≈ −0.31</a:t>
            </a:r>
            <a:endParaRPr lang="en-US" sz="1300" dirty="0"/>
          </a:p>
        </p:txBody>
      </p:sp>
      <p:sp>
        <p:nvSpPr>
          <p:cNvPr id="138" name="takeaway-138"/>
          <p:cNvSpPr txBox="1"/>
          <p:nvPr/>
        </p:nvSpPr>
        <p:spPr>
          <a:xfrm>
            <a:off x="6015902" y="5257800"/>
            <a:ext cx="564269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Built from θ alone, the surface still lands on the step the forces see, to within about one mesh cell.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Continuation strategies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How each code walks the parameter space and guards against branch switches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CURRENTv4: traverse the grid, accept or reject by MAC</a:t>
            </a:r>
            <a:endParaRPr lang="en-US" sz="3000" dirty="0"/>
          </a:p>
        </p:txBody>
      </p:sp>
      <p:sp>
        <p:nvSpPr>
          <p:cNvPr id="3" name="flow-box-105"/>
          <p:cNvSpPr/>
          <p:nvPr/>
        </p:nvSpPr>
        <p:spPr>
          <a:xfrm>
            <a:off x="548640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106"/>
          <p:cNvSpPr txBox="1"/>
          <p:nvPr/>
        </p:nvSpPr>
        <p:spPr>
          <a:xfrm>
            <a:off x="685800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Order nodes by distance from the cold-start node (0.9, 0.4, −0.4)</a:t>
            </a:r>
            <a:endParaRPr lang="en-US" sz="1400" dirty="0"/>
          </a:p>
        </p:txBody>
      </p:sp>
      <p:sp>
        <p:nvSpPr>
          <p:cNvPr id="5" name="flow-arrow-107"/>
          <p:cNvSpPr/>
          <p:nvPr/>
        </p:nvSpPr>
        <p:spPr>
          <a:xfrm>
            <a:off x="2542032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6" name="flow-box-108"/>
          <p:cNvSpPr/>
          <p:nvPr/>
        </p:nvSpPr>
        <p:spPr>
          <a:xfrm>
            <a:off x="2825496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-109"/>
          <p:cNvSpPr txBox="1"/>
          <p:nvPr/>
        </p:nvSpPr>
        <p:spPr>
          <a:xfrm>
            <a:off x="2962656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Warm-start θ, 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from the previously solved node</a:t>
            </a:r>
            <a:endParaRPr lang="en-US" sz="1400" dirty="0"/>
          </a:p>
        </p:txBody>
      </p:sp>
      <p:sp>
        <p:nvSpPr>
          <p:cNvPr id="8" name="flow-arrow-110"/>
          <p:cNvSpPr/>
          <p:nvPr/>
        </p:nvSpPr>
        <p:spPr>
          <a:xfrm>
            <a:off x="4818888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9" name="flow-box-111"/>
          <p:cNvSpPr/>
          <p:nvPr/>
        </p:nvSpPr>
        <p:spPr>
          <a:xfrm>
            <a:off x="5102352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-112"/>
          <p:cNvSpPr txBox="1"/>
          <p:nvPr/>
        </p:nvSpPr>
        <p:spPr>
          <a:xfrm>
            <a:off x="5239512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Newton solve (SNES, up to 500 iterations)</a:t>
            </a:r>
            <a:endParaRPr lang="en-US" sz="1400" dirty="0"/>
          </a:p>
        </p:txBody>
      </p:sp>
      <p:sp>
        <p:nvSpPr>
          <p:cNvPr id="11" name="flow-arrow-113"/>
          <p:cNvSpPr/>
          <p:nvPr/>
        </p:nvSpPr>
        <p:spPr>
          <a:xfrm>
            <a:off x="7095744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2" name="flow-box-114"/>
          <p:cNvSpPr/>
          <p:nvPr/>
        </p:nvSpPr>
        <p:spPr>
          <a:xfrm>
            <a:off x="7379208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-115"/>
          <p:cNvSpPr txBox="1"/>
          <p:nvPr/>
        </p:nvSpPr>
        <p:spPr>
          <a:xfrm>
            <a:off x="7516368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MAC(θ</a:t>
            </a:r>
            <a:r>
              <a:rPr lang="en-US" sz="1400" b="1" baseline="-40000" dirty="0">
                <a:solidFill>
                  <a:schemeClr val="bg1"/>
                </a:solidFill>
              </a:rPr>
              <a:t>new</a:t>
            </a:r>
            <a:r>
              <a:rPr lang="en-US" sz="1400" b="1" dirty="0">
                <a:solidFill>
                  <a:schemeClr val="bg1"/>
                </a:solidFill>
              </a:rPr>
              <a:t>, θ</a:t>
            </a:r>
            <a:r>
              <a:rPr lang="en-US" sz="1400" b="1" baseline="-40000" dirty="0">
                <a:solidFill>
                  <a:schemeClr val="bg1"/>
                </a:solidFill>
              </a:rPr>
              <a:t>warm</a:t>
            </a:r>
            <a:r>
              <a:rPr lang="en-US" sz="1400" b="1" dirty="0">
                <a:solidFill>
                  <a:schemeClr val="bg1"/>
                </a:solidFill>
              </a:rPr>
              <a:t>) ≥ 0.85 ?</a:t>
            </a:r>
            <a:endParaRPr lang="en-US" sz="1400" dirty="0"/>
          </a:p>
        </p:txBody>
      </p:sp>
      <p:sp>
        <p:nvSpPr>
          <p:cNvPr id="14" name="flow-arrow-116"/>
          <p:cNvSpPr/>
          <p:nvPr/>
        </p:nvSpPr>
        <p:spPr>
          <a:xfrm>
            <a:off x="9372600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5" name="flow-box-117"/>
          <p:cNvSpPr/>
          <p:nvPr/>
        </p:nvSpPr>
        <p:spPr>
          <a:xfrm>
            <a:off x="9656064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-118"/>
          <p:cNvSpPr txBox="1"/>
          <p:nvPr/>
        </p:nvSpPr>
        <p:spPr>
          <a:xfrm>
            <a:off x="9793224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Accept, store, and write the mirror point</a:t>
            </a:r>
            <a:endParaRPr lang="en-US" sz="1400" dirty="0"/>
          </a:p>
        </p:txBody>
      </p:sp>
      <p:sp>
        <p:nvSpPr>
          <p:cNvPr id="17" name="text-119"/>
          <p:cNvSpPr txBox="1"/>
          <p:nvPr/>
        </p:nvSpPr>
        <p:spPr>
          <a:xfrm>
            <a:off x="9345168" y="180594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/>
                </a:solidFill>
              </a:rPr>
              <a:t>yes</a:t>
            </a:r>
            <a:endParaRPr lang="en-US" sz="1200" dirty="0"/>
          </a:p>
        </p:txBody>
      </p:sp>
      <p:sp>
        <p:nvSpPr>
          <p:cNvPr id="18" name="flow-arrow-120"/>
          <p:cNvSpPr/>
          <p:nvPr/>
        </p:nvSpPr>
        <p:spPr>
          <a:xfrm>
            <a:off x="8362188" y="2862072"/>
            <a:ext cx="0" cy="54864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-121"/>
          <p:cNvSpPr txBox="1"/>
          <p:nvPr/>
        </p:nvSpPr>
        <p:spPr>
          <a:xfrm>
            <a:off x="8453628" y="29443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</a:t>
            </a:r>
            <a:endParaRPr lang="en-US" sz="1200" dirty="0"/>
          </a:p>
        </p:txBody>
      </p:sp>
      <p:sp>
        <p:nvSpPr>
          <p:cNvPr id="20" name="flow-box-122"/>
          <p:cNvSpPr/>
          <p:nvPr/>
        </p:nvSpPr>
        <p:spPr>
          <a:xfrm>
            <a:off x="5618988" y="3429000"/>
            <a:ext cx="420624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-123"/>
          <p:cNvSpPr txBox="1"/>
          <p:nvPr/>
        </p:nvSpPr>
        <p:spPr>
          <a:xfrm>
            <a:off x="5756148" y="34747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Reject. Cold restart from the first-mode guess with no MAC check; if that fails too, the node stays unsolved.</a:t>
            </a:r>
            <a:endParaRPr lang="en-US" sz="1400" dirty="0"/>
          </a:p>
        </p:txBody>
      </p:sp>
      <p:sp>
        <p:nvSpPr>
          <p:cNvPr id="22" name="card-124"/>
          <p:cNvSpPr/>
          <p:nvPr/>
        </p:nvSpPr>
        <p:spPr>
          <a:xfrm>
            <a:off x="548640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-125"/>
          <p:cNvSpPr txBox="1"/>
          <p:nvPr/>
        </p:nvSpPr>
        <p:spPr>
          <a:xfrm>
            <a:off x="731520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Grid</a:t>
            </a:r>
            <a:endParaRPr lang="en-US" sz="1500" dirty="0"/>
          </a:p>
        </p:txBody>
      </p:sp>
      <p:sp>
        <p:nvSpPr>
          <p:cNvPr id="24" name="text-126"/>
          <p:cNvSpPr txBox="1"/>
          <p:nvPr/>
        </p:nvSpPr>
        <p:spPr>
          <a:xfrm>
            <a:off x="731520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Rectilinear (d, φ₁, φ₂) grid split into 6 tetrahedra per cell; parameters scaled to the unit cube</a:t>
            </a:r>
            <a:endParaRPr lang="en-US" sz="1300" dirty="0"/>
          </a:p>
        </p:txBody>
      </p:sp>
      <p:sp>
        <p:nvSpPr>
          <p:cNvPr id="25" name="card-127"/>
          <p:cNvSpPr/>
          <p:nvPr/>
        </p:nvSpPr>
        <p:spPr>
          <a:xfrm>
            <a:off x="4334256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-128"/>
          <p:cNvSpPr txBox="1"/>
          <p:nvPr/>
        </p:nvSpPr>
        <p:spPr>
          <a:xfrm>
            <a:off x="4517136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Restartable</a:t>
            </a:r>
            <a:endParaRPr lang="en-US" sz="1500" dirty="0"/>
          </a:p>
        </p:txBody>
      </p:sp>
      <p:sp>
        <p:nvSpPr>
          <p:cNvPr id="27" name="text-129"/>
          <p:cNvSpPr txBox="1"/>
          <p:nvPr/>
        </p:nvSpPr>
        <p:spPr>
          <a:xfrm>
            <a:off x="4517136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Live NPZ + VTU checkpoints; a resume reloads every stored θ field as a warm-start source</a:t>
            </a:r>
            <a:endParaRPr lang="en-US" sz="1300" dirty="0"/>
          </a:p>
        </p:txBody>
      </p:sp>
      <p:sp>
        <p:nvSpPr>
          <p:cNvPr id="28" name="card-130"/>
          <p:cNvSpPr/>
          <p:nvPr/>
        </p:nvSpPr>
        <p:spPr>
          <a:xfrm>
            <a:off x="8119872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-131"/>
          <p:cNvSpPr txBox="1"/>
          <p:nvPr/>
        </p:nvSpPr>
        <p:spPr>
          <a:xfrm>
            <a:off x="8302752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Half domain</a:t>
            </a:r>
            <a:endParaRPr lang="en-US" sz="1500" dirty="0"/>
          </a:p>
        </p:txBody>
      </p:sp>
      <p:sp>
        <p:nvSpPr>
          <p:cNvPr id="30" name="text-132"/>
          <p:cNvSpPr txBox="1"/>
          <p:nvPr/>
        </p:nvSpPr>
        <p:spPr>
          <a:xfrm>
            <a:off x="8302752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Only φ₁ + φ₂ ≥ 0 is solved; a precomputed mirror index fills the other half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First-mode cold start keeps Newton on the fundamental branch</a:t>
            </a:r>
            <a:endParaRPr lang="en-US" sz="3000" dirty="0"/>
          </a:p>
        </p:txBody>
      </p:sp>
      <p:sp>
        <p:nvSpPr>
          <p:cNvPr id="3" name="card-133"/>
          <p:cNvSpPr/>
          <p:nvPr/>
        </p:nvSpPr>
        <p:spPr>
          <a:xfrm>
            <a:off x="548640" y="141732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latex-cold"/>
              <p:cNvSpPr txBox="1"/>
              <p:nvPr/>
            </p:nvSpPr>
            <p:spPr>
              <a:xfrm>
                <a:off x="822960" y="1656984"/>
                <a:ext cx="10607040" cy="43507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ad>
                        <m:radPr>
                          <m:degHide m:val="on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0, 1−</m:t>
                                  </m:r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</m:func>
                        </m:e>
                      </m:rad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latex-cold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1656984"/>
                <a:ext cx="10607040" cy="435072"/>
              </a:xfrm>
              <a:prstGeom prst="rect">
                <a:avLst/>
              </a:prstGeom>
              <a:blipFill>
                <a:blip r:embed="rId3"/>
                <a:stretch>
                  <a:fillRect b="-14085"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figure-135" descr="/tmp/claude-1000/-home-goraksh/bd4a8aa0-f932-4355-8328-b02b4cf010d1/scratchpad/deck/fig/coldst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60320"/>
            <a:ext cx="5394960" cy="3596640"/>
          </a:xfrm>
          <a:prstGeom prst="rect">
            <a:avLst/>
          </a:prstGeom>
        </p:spPr>
      </p:pic>
      <p:sp>
        <p:nvSpPr>
          <p:cNvPr id="6" name="text-136"/>
          <p:cNvSpPr txBox="1"/>
          <p:nvPr/>
        </p:nvSpPr>
        <p:spPr>
          <a:xfrm>
            <a:off x="6217920" y="2606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Amplitude from the small-angle constraint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latex-amp"/>
              <p:cNvSpPr txBox="1"/>
              <p:nvPr/>
            </p:nvSpPr>
            <p:spPr>
              <a:xfrm>
                <a:off x="6217920" y="3017520"/>
                <a:ext cx="5425135" cy="6622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d>
                            <m:d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p>
                                      <m:r>
                                        <a:rPr lang="en-US" sz="1600" i="0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 ⇒ 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≈1−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7" name="latex-amp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7920" y="3017520"/>
                <a:ext cx="5425135" cy="6622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badge-138"/>
          <p:cNvSpPr/>
          <p:nvPr/>
        </p:nvSpPr>
        <p:spPr>
          <a:xfrm>
            <a:off x="6217920" y="38862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badge-label-139"/>
          <p:cNvSpPr txBox="1"/>
          <p:nvPr/>
        </p:nvSpPr>
        <p:spPr>
          <a:xfrm>
            <a:off x="621792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-140"/>
          <p:cNvSpPr txBox="1"/>
          <p:nvPr/>
        </p:nvSpPr>
        <p:spPr>
          <a:xfrm>
            <a:off x="6766560" y="385876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sin(πs/L) is the n = 1 buckling shape: one hump, zero at both clamps, so the BCs hold exactly</a:t>
            </a:r>
            <a:endParaRPr lang="en-US" sz="1400" dirty="0"/>
          </a:p>
        </p:txBody>
      </p:sp>
      <p:sp>
        <p:nvSpPr>
          <p:cNvPr id="11" name="badge-141"/>
          <p:cNvSpPr/>
          <p:nvPr/>
        </p:nvSpPr>
        <p:spPr>
          <a:xfrm>
            <a:off x="6217920" y="46634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142"/>
          <p:cNvSpPr txBox="1"/>
          <p:nvPr/>
        </p:nvSpPr>
        <p:spPr>
          <a:xfrm>
            <a:off x="621792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-143"/>
          <p:cNvSpPr txBox="1"/>
          <p:nvPr/>
        </p:nvSpPr>
        <p:spPr>
          <a:xfrm>
            <a:off x="6766560" y="463600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The bow grows with compression and vanishes as d → L</a:t>
            </a:r>
            <a:endParaRPr lang="en-US" sz="1400" dirty="0"/>
          </a:p>
        </p:txBody>
      </p:sp>
      <p:sp>
        <p:nvSpPr>
          <p:cNvPr id="14" name="badge-144"/>
          <p:cNvSpPr/>
          <p:nvPr/>
        </p:nvSpPr>
        <p:spPr>
          <a:xfrm>
            <a:off x="6217920" y="5440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badge-label-145"/>
          <p:cNvSpPr txBox="1"/>
          <p:nvPr/>
        </p:nvSpPr>
        <p:spPr>
          <a:xfrm>
            <a:off x="6217920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-146"/>
          <p:cNvSpPr txBox="1"/>
          <p:nvPr/>
        </p:nvSpPr>
        <p:spPr>
          <a:xfrm>
            <a:off x="6766560" y="541324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 plain ramp is a circular arc, far from equilibrium once compressed; Newton then finds higher modes or diverges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CURRENTv3: MAC sets the step size of every move</a:t>
            </a:r>
            <a:endParaRPr lang="en-US" sz="3000" dirty="0"/>
          </a:p>
        </p:txBody>
      </p:sp>
      <p:sp>
        <p:nvSpPr>
          <p:cNvPr id="3" name="text-147"/>
          <p:cNvSpPr txBox="1"/>
          <p:nvPr/>
        </p:nvSpPr>
        <p:spPr>
          <a:xfrm>
            <a:off x="1828800" y="1417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p₀</a:t>
            </a:r>
            <a:endParaRPr lang="en-US" sz="1400" dirty="0"/>
          </a:p>
        </p:txBody>
      </p:sp>
      <p:sp>
        <p:nvSpPr>
          <p:cNvPr id="4" name="text-148"/>
          <p:cNvSpPr txBox="1"/>
          <p:nvPr/>
        </p:nvSpPr>
        <p:spPr>
          <a:xfrm>
            <a:off x="5897880" y="1417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</a:t>
            </a:r>
            <a:endParaRPr lang="en-US" sz="1400" dirty="0"/>
          </a:p>
        </p:txBody>
      </p:sp>
      <p:sp>
        <p:nvSpPr>
          <p:cNvPr id="5" name="text-149"/>
          <p:cNvSpPr txBox="1"/>
          <p:nvPr/>
        </p:nvSpPr>
        <p:spPr>
          <a:xfrm>
            <a:off x="548640" y="184708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 = 0</a:t>
            </a:r>
            <a:endParaRPr lang="en-US" sz="1500" dirty="0"/>
          </a:p>
        </p:txBody>
      </p:sp>
      <p:sp>
        <p:nvSpPr>
          <p:cNvPr id="6" name="text-150"/>
          <p:cNvSpPr txBox="1"/>
          <p:nvPr/>
        </p:nvSpPr>
        <p:spPr>
          <a:xfrm>
            <a:off x="1188720" y="1874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1 step</a:t>
            </a:r>
            <a:endParaRPr lang="en-US" sz="1200" dirty="0"/>
          </a:p>
        </p:txBody>
      </p:sp>
      <p:sp>
        <p:nvSpPr>
          <p:cNvPr id="7" name="substep-151"/>
          <p:cNvSpPr/>
          <p:nvPr/>
        </p:nvSpPr>
        <p:spPr>
          <a:xfrm>
            <a:off x="1965960" y="1828800"/>
            <a:ext cx="4078224" cy="38404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-152"/>
          <p:cNvSpPr txBox="1"/>
          <p:nvPr/>
        </p:nvSpPr>
        <p:spPr>
          <a:xfrm>
            <a:off x="548640" y="25968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 = 1</a:t>
            </a:r>
            <a:endParaRPr lang="en-US" sz="1500" dirty="0"/>
          </a:p>
        </p:txBody>
      </p:sp>
      <p:sp>
        <p:nvSpPr>
          <p:cNvPr id="9" name="text-153"/>
          <p:cNvSpPr txBox="1"/>
          <p:nvPr/>
        </p:nvSpPr>
        <p:spPr>
          <a:xfrm>
            <a:off x="1188720" y="262432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2 steps</a:t>
            </a:r>
            <a:endParaRPr lang="en-US" sz="1200" dirty="0"/>
          </a:p>
        </p:txBody>
      </p:sp>
      <p:sp>
        <p:nvSpPr>
          <p:cNvPr id="10" name="substep-154"/>
          <p:cNvSpPr/>
          <p:nvPr/>
        </p:nvSpPr>
        <p:spPr>
          <a:xfrm>
            <a:off x="1965960" y="2578608"/>
            <a:ext cx="202082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ubstep-155"/>
          <p:cNvSpPr/>
          <p:nvPr/>
        </p:nvSpPr>
        <p:spPr>
          <a:xfrm>
            <a:off x="4023360" y="2578608"/>
            <a:ext cx="2020824" cy="38404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-156"/>
          <p:cNvSpPr txBox="1"/>
          <p:nvPr/>
        </p:nvSpPr>
        <p:spPr>
          <a:xfrm>
            <a:off x="548640" y="334670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 = 2</a:t>
            </a:r>
            <a:endParaRPr lang="en-US" sz="1500" dirty="0"/>
          </a:p>
        </p:txBody>
      </p:sp>
      <p:sp>
        <p:nvSpPr>
          <p:cNvPr id="13" name="text-157"/>
          <p:cNvSpPr txBox="1"/>
          <p:nvPr/>
        </p:nvSpPr>
        <p:spPr>
          <a:xfrm>
            <a:off x="1188720" y="337413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4 steps</a:t>
            </a:r>
            <a:endParaRPr lang="en-US" sz="1200" dirty="0"/>
          </a:p>
        </p:txBody>
      </p:sp>
      <p:sp>
        <p:nvSpPr>
          <p:cNvPr id="14" name="substep-158"/>
          <p:cNvSpPr/>
          <p:nvPr/>
        </p:nvSpPr>
        <p:spPr>
          <a:xfrm>
            <a:off x="1965960" y="3328416"/>
            <a:ext cx="99212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ubstep-159"/>
          <p:cNvSpPr/>
          <p:nvPr/>
        </p:nvSpPr>
        <p:spPr>
          <a:xfrm>
            <a:off x="2994660" y="3328416"/>
            <a:ext cx="99212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ubstep-160"/>
          <p:cNvSpPr/>
          <p:nvPr/>
        </p:nvSpPr>
        <p:spPr>
          <a:xfrm>
            <a:off x="4023360" y="3328416"/>
            <a:ext cx="992124" cy="38404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ubstep-161"/>
          <p:cNvSpPr/>
          <p:nvPr/>
        </p:nvSpPr>
        <p:spPr>
          <a:xfrm>
            <a:off x="5052060" y="3328416"/>
            <a:ext cx="992124" cy="384048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-162"/>
          <p:cNvSpPr txBox="1"/>
          <p:nvPr/>
        </p:nvSpPr>
        <p:spPr>
          <a:xfrm>
            <a:off x="548640" y="40965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 = 3</a:t>
            </a:r>
            <a:endParaRPr lang="en-US" sz="1500" dirty="0"/>
          </a:p>
        </p:txBody>
      </p:sp>
      <p:sp>
        <p:nvSpPr>
          <p:cNvPr id="19" name="text-163"/>
          <p:cNvSpPr txBox="1"/>
          <p:nvPr/>
        </p:nvSpPr>
        <p:spPr>
          <a:xfrm>
            <a:off x="1188720" y="412394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8 steps</a:t>
            </a:r>
            <a:endParaRPr lang="en-US" sz="1200" dirty="0"/>
          </a:p>
        </p:txBody>
      </p:sp>
      <p:sp>
        <p:nvSpPr>
          <p:cNvPr id="20" name="substep-164"/>
          <p:cNvSpPr/>
          <p:nvPr/>
        </p:nvSpPr>
        <p:spPr>
          <a:xfrm>
            <a:off x="196596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ubstep-165"/>
          <p:cNvSpPr/>
          <p:nvPr/>
        </p:nvSpPr>
        <p:spPr>
          <a:xfrm>
            <a:off x="248031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ubstep-166"/>
          <p:cNvSpPr/>
          <p:nvPr/>
        </p:nvSpPr>
        <p:spPr>
          <a:xfrm>
            <a:off x="299466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ubstep-167"/>
          <p:cNvSpPr/>
          <p:nvPr/>
        </p:nvSpPr>
        <p:spPr>
          <a:xfrm>
            <a:off x="350901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ubstep-168"/>
          <p:cNvSpPr/>
          <p:nvPr/>
        </p:nvSpPr>
        <p:spPr>
          <a:xfrm>
            <a:off x="402336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ubstep-169"/>
          <p:cNvSpPr/>
          <p:nvPr/>
        </p:nvSpPr>
        <p:spPr>
          <a:xfrm>
            <a:off x="453771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ubstep-170"/>
          <p:cNvSpPr/>
          <p:nvPr/>
        </p:nvSpPr>
        <p:spPr>
          <a:xfrm>
            <a:off x="505206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ubstep-171"/>
          <p:cNvSpPr/>
          <p:nvPr/>
        </p:nvSpPr>
        <p:spPr>
          <a:xfrm>
            <a:off x="556641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-172"/>
          <p:cNvSpPr txBox="1"/>
          <p:nvPr/>
        </p:nvSpPr>
        <p:spPr>
          <a:xfrm>
            <a:off x="548640" y="4846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… up to r = 5 (32 sub-steps) per axis</a:t>
            </a:r>
            <a:endParaRPr lang="en-US" sz="1400" dirty="0"/>
          </a:p>
        </p:txBody>
      </p:sp>
      <p:sp>
        <p:nvSpPr>
          <p:cNvPr id="29" name="legend-173"/>
          <p:cNvSpPr/>
          <p:nvPr/>
        </p:nvSpPr>
        <p:spPr>
          <a:xfrm>
            <a:off x="548640" y="5358384"/>
            <a:ext cx="274320" cy="182880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-174"/>
          <p:cNvSpPr txBox="1"/>
          <p:nvPr/>
        </p:nvSpPr>
        <p:spPr>
          <a:xfrm>
            <a:off x="960120" y="53035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converged and MAC ≥ 0.90</a:t>
            </a:r>
            <a:endParaRPr lang="en-US" sz="1200" dirty="0"/>
          </a:p>
        </p:txBody>
      </p:sp>
      <p:sp>
        <p:nvSpPr>
          <p:cNvPr id="31" name="legend-175"/>
          <p:cNvSpPr/>
          <p:nvPr/>
        </p:nvSpPr>
        <p:spPr>
          <a:xfrm>
            <a:off x="548640" y="5687568"/>
            <a:ext cx="274320" cy="182880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-176"/>
          <p:cNvSpPr txBox="1"/>
          <p:nvPr/>
        </p:nvSpPr>
        <p:spPr>
          <a:xfrm>
            <a:off x="960120" y="563270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SNES failed or MAC &lt; 0.90</a:t>
            </a:r>
            <a:endParaRPr lang="en-US" sz="1200" dirty="0"/>
          </a:p>
        </p:txBody>
      </p:sp>
      <p:sp>
        <p:nvSpPr>
          <p:cNvPr id="33" name="legend-177"/>
          <p:cNvSpPr/>
          <p:nvPr/>
        </p:nvSpPr>
        <p:spPr>
          <a:xfrm>
            <a:off x="548640" y="6016752"/>
            <a:ext cx="274320" cy="18288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-178"/>
          <p:cNvSpPr txBox="1"/>
          <p:nvPr/>
        </p:nvSpPr>
        <p:spPr>
          <a:xfrm>
            <a:off x="960120" y="59618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not attempted</a:t>
            </a:r>
            <a:endParaRPr lang="en-US" sz="1200" dirty="0"/>
          </a:p>
        </p:txBody>
      </p:sp>
      <p:sp>
        <p:nvSpPr>
          <p:cNvPr id="35" name="card-179"/>
          <p:cNvSpPr/>
          <p:nvPr/>
        </p:nvSpPr>
        <p:spPr>
          <a:xfrm>
            <a:off x="6492240" y="1417320"/>
            <a:ext cx="5120640" cy="8686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latex-substep"/>
              <p:cNvSpPr txBox="1"/>
              <p:nvPr/>
            </p:nvSpPr>
            <p:spPr>
              <a:xfrm>
                <a:off x="6675120" y="1490472"/>
                <a:ext cx="4754880" cy="7223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1400" b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𝐩</m:t>
                          </m:r>
                        </m:e>
                        <m:sup>
                          <m:d>
                            <m:dPr>
                              <m:ctrlPr>
                                <a:rPr lang="en-US" sz="14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sup>
                      </m:sSup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𝐩</m:t>
                          </m:r>
                        </m:e>
                        <m:sub>
                          <m:r>
                            <a:rPr lang="en-US" sz="14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sSup>
                            <m:sSupPr>
                              <m:ctrlPr>
                                <a:rPr lang="en-US" sz="1400" b="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14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p>
                        </m:den>
                      </m:f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m:rPr>
                          <m:sty m:val="p"/>
                        </m:rP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en-US" sz="14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𝐞</m:t>
                          </m:r>
                        </m:e>
                        <m:sub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4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sSup>
                        <m:sSupPr>
                          <m:ctrlPr>
                            <a:rPr lang="en-US" sz="14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4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=0,1,…,5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6" name="latex-substep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0" y="1490472"/>
                <a:ext cx="4754880" cy="7223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badge-181"/>
          <p:cNvSpPr/>
          <p:nvPr/>
        </p:nvSpPr>
        <p:spPr>
          <a:xfrm>
            <a:off x="6492240" y="24231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badge-label-182"/>
          <p:cNvSpPr txBox="1"/>
          <p:nvPr/>
        </p:nvSpPr>
        <p:spPr>
          <a:xfrm>
            <a:off x="649224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39" name="step-183"/>
          <p:cNvSpPr txBox="1"/>
          <p:nvPr/>
        </p:nvSpPr>
        <p:spPr>
          <a:xfrm>
            <a:off x="7040880" y="239572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Split by axis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Move the largest |Δpᵢ| first; each axis is its own sub-path.</a:t>
            </a:r>
            <a:endParaRPr lang="en-US" sz="1400" dirty="0"/>
          </a:p>
        </p:txBody>
      </p:sp>
      <p:sp>
        <p:nvSpPr>
          <p:cNvPr id="40" name="badge-184"/>
          <p:cNvSpPr/>
          <p:nvPr/>
        </p:nvSpPr>
        <p:spPr>
          <a:xfrm>
            <a:off x="6492240" y="33832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badge-label-185"/>
          <p:cNvSpPr txBox="1"/>
          <p:nvPr/>
        </p:nvSpPr>
        <p:spPr>
          <a:xfrm>
            <a:off x="649224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42" name="step-186"/>
          <p:cNvSpPr txBox="1"/>
          <p:nvPr/>
        </p:nvSpPr>
        <p:spPr>
          <a:xfrm>
            <a:off x="7040880" y="335584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Chain warm starts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Each sub-step starts from the last accepted θ, 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43" name="badge-187"/>
          <p:cNvSpPr/>
          <p:nvPr/>
        </p:nvSpPr>
        <p:spPr>
          <a:xfrm>
            <a:off x="6492240" y="43434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badge-label-188"/>
          <p:cNvSpPr txBox="1"/>
          <p:nvPr/>
        </p:nvSpPr>
        <p:spPr>
          <a:xfrm>
            <a:off x="649224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45" name="step-189"/>
          <p:cNvSpPr txBox="1"/>
          <p:nvPr/>
        </p:nvSpPr>
        <p:spPr>
          <a:xfrm>
            <a:off x="7040880" y="431596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Halve on failure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Double the sub-steps and redo the axis from its start.</a:t>
            </a:r>
            <a:endParaRPr lang="en-US" sz="1400" dirty="0"/>
          </a:p>
        </p:txBody>
      </p:sp>
      <p:sp>
        <p:nvSpPr>
          <p:cNvPr id="46" name="badge-190"/>
          <p:cNvSpPr/>
          <p:nvPr/>
        </p:nvSpPr>
        <p:spPr>
          <a:xfrm>
            <a:off x="6492240" y="53035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badge-label-191"/>
          <p:cNvSpPr txBox="1"/>
          <p:nvPr/>
        </p:nvSpPr>
        <p:spPr>
          <a:xfrm>
            <a:off x="6492240" y="5303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8" name="step-192"/>
          <p:cNvSpPr txBox="1"/>
          <p:nvPr/>
        </p:nvSpPr>
        <p:spPr>
          <a:xfrm>
            <a:off x="7040880" y="527608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Accept a real jump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After 5 halvings a converged candidate is kept anyway: the jump survives refinement, so it is physical.</a:t>
            </a:r>
            <a:endParaRPr lang="en-US" sz="14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CURRENTv3 sweeps d layer by layer with one cold start</a:t>
            </a:r>
            <a:endParaRPr lang="en-US" sz="3000" dirty="0"/>
          </a:p>
        </p:txBody>
      </p:sp>
      <p:pic>
        <p:nvPicPr>
          <p:cNvPr id="3" name="figure-193" descr="/tmp/claude-1000/-home-goraksh/bd4a8aa0-f932-4355-8328-b02b4cf010d1/scratchpad/deck/fig/wa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4434840" cy="4434840"/>
          </a:xfrm>
          <a:prstGeom prst="rect">
            <a:avLst/>
          </a:prstGeom>
        </p:spPr>
      </p:pic>
      <p:sp>
        <p:nvSpPr>
          <p:cNvPr id="4" name="text-194"/>
          <p:cNvSpPr txBox="1"/>
          <p:nvPr/>
        </p:nvSpPr>
        <p:spPr>
          <a:xfrm>
            <a:off x="548640" y="58064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Toy 13 × 13 half grid. Dashed red: jumps where the walk's 32-neighbour pool is exhausted (8 of 90 moves).</a:t>
            </a:r>
            <a:endParaRPr lang="en-US" sz="1100" dirty="0"/>
          </a:p>
        </p:txBody>
      </p:sp>
      <p:sp>
        <p:nvSpPr>
          <p:cNvPr id="5" name="badge-195"/>
          <p:cNvSpPr/>
          <p:nvPr/>
        </p:nvSpPr>
        <p:spPr>
          <a:xfrm>
            <a:off x="5440680" y="1463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badge-label-196"/>
          <p:cNvSpPr txBox="1"/>
          <p:nvPr/>
        </p:nvSpPr>
        <p:spPr>
          <a:xfrm>
            <a:off x="54406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197"/>
          <p:cNvSpPr txBox="1"/>
          <p:nvPr/>
        </p:nvSpPr>
        <p:spPr>
          <a:xfrm>
            <a:off x="5989320" y="1435608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Single cold start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At (d, φ₁, φ₂) = (0.70, −0.70, 0.70), the first point of the study.</a:t>
            </a:r>
            <a:endParaRPr lang="en-US" sz="1500" dirty="0"/>
          </a:p>
        </p:txBody>
      </p:sp>
      <p:sp>
        <p:nvSpPr>
          <p:cNvPr id="8" name="badge-198"/>
          <p:cNvSpPr/>
          <p:nvPr/>
        </p:nvSpPr>
        <p:spPr>
          <a:xfrm>
            <a:off x="5440680" y="2606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badge-label-199"/>
          <p:cNvSpPr txBox="1"/>
          <p:nvPr/>
        </p:nvSpPr>
        <p:spPr>
          <a:xfrm>
            <a:off x="544068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-200"/>
          <p:cNvSpPr txBox="1"/>
          <p:nvPr/>
        </p:nvSpPr>
        <p:spPr>
          <a:xfrm>
            <a:off x="5989320" y="2578608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Nearest-neighbour walk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Within a d layer, a greedy KD-tree walk over the φ₁ + φ₂ ≥ 0 half keeps every warm start one grid step away.</a:t>
            </a:r>
            <a:endParaRPr lang="en-US" sz="1500" dirty="0"/>
          </a:p>
        </p:txBody>
      </p:sp>
      <p:sp>
        <p:nvSpPr>
          <p:cNvPr id="11" name="badge-201"/>
          <p:cNvSpPr/>
          <p:nvPr/>
        </p:nvSpPr>
        <p:spPr>
          <a:xfrm>
            <a:off x="5440680" y="3749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202"/>
          <p:cNvSpPr txBox="1"/>
          <p:nvPr/>
        </p:nvSpPr>
        <p:spPr>
          <a:xfrm>
            <a:off x="544068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-203"/>
          <p:cNvSpPr txBox="1"/>
          <p:nvPr/>
        </p:nvSpPr>
        <p:spPr>
          <a:xfrm>
            <a:off x="5989320" y="3721608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Layer-to-layer seeding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Each new d layer starts from the last solution of the previous one.</a:t>
            </a:r>
            <a:endParaRPr lang="en-US" sz="1500" dirty="0"/>
          </a:p>
        </p:txBody>
      </p:sp>
      <p:sp>
        <p:nvSpPr>
          <p:cNvPr id="14" name="badge-204"/>
          <p:cNvSpPr/>
          <p:nvPr/>
        </p:nvSpPr>
        <p:spPr>
          <a:xfrm>
            <a:off x="5440680" y="4892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badge-label-205"/>
          <p:cNvSpPr txBox="1"/>
          <p:nvPr/>
        </p:nvSpPr>
        <p:spPr>
          <a:xfrm>
            <a:off x="5440680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step-206"/>
          <p:cNvSpPr txBox="1"/>
          <p:nvPr/>
        </p:nvSpPr>
        <p:spPr>
          <a:xfrm>
            <a:off x="5989320" y="4864608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Fail loudly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No second cold start: a failed warm start stops the run and reports the point, instead of silently changing branch.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Gradient refinement packs points onto the snap surface</a:t>
            </a:r>
            <a:endParaRPr lang="en-US" sz="3000" dirty="0"/>
          </a:p>
        </p:txBody>
      </p:sp>
      <p:pic>
        <p:nvPicPr>
          <p:cNvPr id="3" name="figure-207" descr="/tmp/claude-1000/-home-goraksh/bd4a8aa0-f932-4355-8328-b02b4cf010d1/scratchpad/deck/fig/grads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5029200" cy="4310743"/>
          </a:xfrm>
          <a:prstGeom prst="rect">
            <a:avLst/>
          </a:prstGeom>
        </p:spPr>
      </p:pic>
      <p:sp>
        <p:nvSpPr>
          <p:cNvPr id="4" name="text-208"/>
          <p:cNvSpPr txBox="1"/>
          <p:nvPr/>
        </p:nvSpPr>
        <p:spPr>
          <a:xfrm>
            <a:off x="548640" y="57150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Grid finite-difference estimate from the sol4 data. White contour: top 10 % of scores.</a:t>
            </a:r>
            <a:endParaRPr lang="en-US" sz="1100" dirty="0"/>
          </a:p>
        </p:txBody>
      </p:sp>
      <p:sp>
        <p:nvSpPr>
          <p:cNvPr id="5" name="card-209"/>
          <p:cNvSpPr/>
          <p:nvPr/>
        </p:nvSpPr>
        <p:spPr>
          <a:xfrm>
            <a:off x="5852160" y="1417320"/>
            <a:ext cx="5760720" cy="96012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latex-grad"/>
              <p:cNvSpPr txBox="1"/>
              <p:nvPr/>
            </p:nvSpPr>
            <p:spPr>
              <a:xfrm>
                <a:off x="5943600" y="1490472"/>
                <a:ext cx="5577840" cy="8138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4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p>
                        <m:sSupPr>
                          <m:ctrl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p>
                          <m: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m:rPr>
                          <m:sty m:val="p"/>
                        </m:rP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ΔΘ</m:t>
                      </m:r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m:rPr>
                          <m:sty m:val="p"/>
                        </m:rP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ΔΦ</m:t>
                      </m:r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2×2</m:t>
                          </m:r>
                        </m:sup>
                      </m:sSup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score</m:t>
                          </m:r>
                        </m:e>
                        <m:sub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mean</m:t>
                              </m:r>
                            </m:e>
                            <m:sub>
                              <m: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sSub>
                            <m:sSubPr>
                              <m:ctrlP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latex-grad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0" y="1490472"/>
                <a:ext cx="5577840" cy="81381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badge-211"/>
          <p:cNvSpPr/>
          <p:nvPr/>
        </p:nvSpPr>
        <p:spPr>
          <a:xfrm>
            <a:off x="5852160" y="2468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badge-label-212"/>
          <p:cNvSpPr txBox="1"/>
          <p:nvPr/>
        </p:nvSpPr>
        <p:spPr>
          <a:xfrm>
            <a:off x="585216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-213"/>
          <p:cNvSpPr txBox="1"/>
          <p:nvPr/>
        </p:nvSpPr>
        <p:spPr>
          <a:xfrm>
            <a:off x="6400800" y="244144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Estimate ∂θ/∂φ at each point from the best-conditioned pair of its 7 nearest neighbours</a:t>
            </a:r>
            <a:endParaRPr lang="en-US" sz="1500" dirty="0"/>
          </a:p>
        </p:txBody>
      </p:sp>
      <p:sp>
        <p:nvSpPr>
          <p:cNvPr id="10" name="badge-214"/>
          <p:cNvSpPr/>
          <p:nvPr/>
        </p:nvSpPr>
        <p:spPr>
          <a:xfrm>
            <a:off x="5852160" y="3337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badge-label-215"/>
          <p:cNvSpPr txBox="1"/>
          <p:nvPr/>
        </p:nvSpPr>
        <p:spPr>
          <a:xfrm>
            <a:off x="585216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-216"/>
          <p:cNvSpPr txBox="1"/>
          <p:nvPr/>
        </p:nvSpPr>
        <p:spPr>
          <a:xfrm>
            <a:off x="6400800" y="331012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Propose midpoints of φ₁- and φ₂-aligned edges, scored by RMS gradient</a:t>
            </a:r>
            <a:endParaRPr lang="en-US" sz="1500" dirty="0"/>
          </a:p>
        </p:txBody>
      </p:sp>
      <p:sp>
        <p:nvSpPr>
          <p:cNvPr id="13" name="badge-217"/>
          <p:cNvSpPr/>
          <p:nvPr/>
        </p:nvSpPr>
        <p:spPr>
          <a:xfrm>
            <a:off x="5852160" y="42062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badge-label-218"/>
          <p:cNvSpPr txBox="1"/>
          <p:nvPr/>
        </p:nvSpPr>
        <p:spPr>
          <a:xfrm>
            <a:off x="585216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-219"/>
          <p:cNvSpPr txBox="1"/>
          <p:nvPr/>
        </p:nvSpPr>
        <p:spPr>
          <a:xfrm>
            <a:off x="6400800" y="417880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Keep the top 10 % (≤ 256 per axis) above a minimum spacing that grows each level</a:t>
            </a:r>
            <a:endParaRPr lang="en-US" sz="1500" dirty="0"/>
          </a:p>
        </p:txBody>
      </p:sp>
      <p:sp>
        <p:nvSpPr>
          <p:cNvPr id="16" name="badge-220"/>
          <p:cNvSpPr/>
          <p:nvPr/>
        </p:nvSpPr>
        <p:spPr>
          <a:xfrm>
            <a:off x="5852160" y="50749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badge-label-221"/>
          <p:cNvSpPr txBox="1"/>
          <p:nvPr/>
        </p:nvSpPr>
        <p:spPr>
          <a:xfrm>
            <a:off x="5852160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-222"/>
          <p:cNvSpPr txBox="1"/>
          <p:nvPr/>
        </p:nvSpPr>
        <p:spPr>
          <a:xfrm>
            <a:off x="6400800" y="504748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Solve them with the same MAC-guarded continuation; repeat for 3 levels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Optimization: Mirror symmetry halves the number of solves</a:t>
            </a:r>
            <a:endParaRPr lang="en-US" sz="3000" dirty="0"/>
          </a:p>
        </p:txBody>
      </p:sp>
      <p:sp>
        <p:nvSpPr>
          <p:cNvPr id="3" name="card-223"/>
          <p:cNvSpPr/>
          <p:nvPr/>
        </p:nvSpPr>
        <p:spPr>
          <a:xfrm>
            <a:off x="548640" y="1417320"/>
            <a:ext cx="110642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latex-sym"/>
              <p:cNvSpPr txBox="1"/>
              <p:nvPr/>
            </p:nvSpPr>
            <p:spPr>
              <a:xfrm>
                <a:off x="777240" y="1602943"/>
                <a:ext cx="106527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: </m:t>
                      </m:r>
                      <m:acc>
                        <m:accPr>
                          <m:chr m:val="˜"/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˜"/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˜"/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˜"/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</m:acc>
                        </m:e>
                        <m:sub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latex-sym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1602943"/>
                <a:ext cx="10652760" cy="411480"/>
              </a:xfrm>
              <a:prstGeom prst="rect">
                <a:avLst/>
              </a:prstGeom>
              <a:blipFill>
                <a:blip r:embed="rId3"/>
                <a:stretch>
                  <a:fillRect t="-2985" b="-19403"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figure-225" descr="/tmp/claude-1000/-home-goraksh/bd4a8aa0-f932-4355-8328-b02b4cf010d1/scratchpad/deck/fig/symmet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423160"/>
            <a:ext cx="7680960" cy="3226003"/>
          </a:xfrm>
          <a:prstGeom prst="rect">
            <a:avLst/>
          </a:prstGeom>
        </p:spPr>
      </p:pic>
      <p:sp>
        <p:nvSpPr>
          <p:cNvPr id="6" name="badge-226"/>
          <p:cNvSpPr/>
          <p:nvPr/>
        </p:nvSpPr>
        <p:spPr>
          <a:xfrm>
            <a:off x="8412480" y="2606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227"/>
          <p:cNvSpPr txBox="1"/>
          <p:nvPr/>
        </p:nvSpPr>
        <p:spPr>
          <a:xfrm>
            <a:off x="841248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-228"/>
          <p:cNvSpPr txBox="1"/>
          <p:nvPr/>
        </p:nvSpPr>
        <p:spPr>
          <a:xfrm>
            <a:off x="8961120" y="257860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Reflecting the rod about mid-span maps (φ₁, φ₂) to (−φ₂, −φ₁)</a:t>
            </a:r>
            <a:endParaRPr lang="en-US" sz="1400" dirty="0"/>
          </a:p>
        </p:txBody>
      </p:sp>
      <p:sp>
        <p:nvSpPr>
          <p:cNvPr id="9" name="badge-229"/>
          <p:cNvSpPr/>
          <p:nvPr/>
        </p:nvSpPr>
        <p:spPr>
          <a:xfrm>
            <a:off x="8412480" y="37033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badge-label-230"/>
          <p:cNvSpPr txBox="1"/>
          <p:nvPr/>
        </p:nvSpPr>
        <p:spPr>
          <a:xfrm>
            <a:off x="841248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-231"/>
          <p:cNvSpPr txBox="1"/>
          <p:nvPr/>
        </p:nvSpPr>
        <p:spPr>
          <a:xfrm>
            <a:off x="8961120" y="367588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Only φ₁ + φ₂ ≥ 0 is solved; points on the anti-diagonal are solved once</a:t>
            </a:r>
            <a:endParaRPr lang="en-US" sz="1400" dirty="0"/>
          </a:p>
        </p:txBody>
      </p:sp>
      <p:sp>
        <p:nvSpPr>
          <p:cNvPr id="12" name="badge-232"/>
          <p:cNvSpPr/>
          <p:nvPr/>
        </p:nvSpPr>
        <p:spPr>
          <a:xfrm>
            <a:off x="8412480" y="4800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233"/>
          <p:cNvSpPr txBox="1"/>
          <p:nvPr/>
        </p:nvSpPr>
        <p:spPr>
          <a:xfrm>
            <a:off x="841248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-234"/>
          <p:cNvSpPr txBox="1"/>
          <p:nvPr/>
        </p:nvSpPr>
        <p:spPr>
          <a:xfrm>
            <a:off x="8961120" y="477316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 and U carry over,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flips sign, and the new left moment is θ′(L)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Side by side: CURRENTv4 and CURRENTv3</a:t>
            </a:r>
            <a:endParaRPr lang="en-US" sz="3000" dirty="0"/>
          </a:p>
        </p:txBody>
      </p:sp>
      <p:graphicFrame>
        <p:nvGraphicFramePr>
          <p:cNvPr id="19" name="comparison-table-2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4608576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CURRENTv4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CURRENTv3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Parameter grid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Rectilinear, 6 tets per cell, Δ = 0.01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Uniform grid plus adaptive midpoints, Δφ = π/144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Visit order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Sorted by distance from the cold-start node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 layers; nearest-neighbour walk in (φ₁, φ₂)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Warm start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Previously solved node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Last accepted sub-step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Role of MAC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Accept/reject gate, threshold 0.85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Step-size control, threshold 0.90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On rejection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Cold restart from first-mode guess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Halve step, up to 5 times (32 sub-steps)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Cold starts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Any node that fails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Exactly one, at the start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Snap resolution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Fixed by grid spacing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 levels of θ-gradient refinement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Outputs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NPZ + VTU for ParaView; checkpoint and resume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NPZ with refinement counts; live checkpoints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Open issues worth checking</a:t>
            </a:r>
            <a:endParaRPr lang="en-US" sz="3000" dirty="0"/>
          </a:p>
        </p:txBody>
      </p:sp>
      <p:sp>
        <p:nvSpPr>
          <p:cNvPr id="3" name="card-236"/>
          <p:cNvSpPr/>
          <p:nvPr/>
        </p:nvSpPr>
        <p:spPr>
          <a:xfrm>
            <a:off x="548640" y="1417320"/>
            <a:ext cx="53949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badge-237"/>
          <p:cNvSpPr/>
          <p:nvPr/>
        </p:nvSpPr>
        <p:spPr>
          <a:xfrm>
            <a:off x="777240" y="1645920"/>
            <a:ext cx="411480" cy="41148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badge-label-238"/>
          <p:cNvSpPr txBox="1"/>
          <p:nvPr/>
        </p:nvSpPr>
        <p:spPr>
          <a:xfrm>
            <a:off x="77724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-239"/>
          <p:cNvSpPr txBox="1"/>
          <p:nvPr/>
        </p:nvSpPr>
        <p:spPr>
          <a:xfrm>
            <a:off x="1325880" y="16733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Mirrored moment sign (v3)</a:t>
            </a:r>
            <a:endParaRPr lang="en-US" sz="1700" dirty="0"/>
          </a:p>
        </p:txBody>
      </p:sp>
      <p:sp>
        <p:nvSpPr>
          <p:cNvPr id="7" name="text-240"/>
          <p:cNvSpPr txBox="1"/>
          <p:nvPr/>
        </p:nvSpPr>
        <p:spPr>
          <a:xfrm>
            <a:off x="777240" y="21945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build_result_arrays stores −θ′(L) for mirrored points. Differentiating θ̃(s) = −θ(L − s) gives θ̃′(0) = +θ′(L), which is what v4 stores.</a:t>
            </a:r>
            <a:endParaRPr lang="en-US" sz="1500" dirty="0"/>
          </a:p>
        </p:txBody>
      </p:sp>
      <p:sp>
        <p:nvSpPr>
          <p:cNvPr id="8" name="card-241"/>
          <p:cNvSpPr/>
          <p:nvPr/>
        </p:nvSpPr>
        <p:spPr>
          <a:xfrm>
            <a:off x="6217920" y="1417320"/>
            <a:ext cx="53949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badge-242"/>
          <p:cNvSpPr/>
          <p:nvPr/>
        </p:nvSpPr>
        <p:spPr>
          <a:xfrm>
            <a:off x="6446520" y="164592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badge-label-243"/>
          <p:cNvSpPr txBox="1"/>
          <p:nvPr/>
        </p:nvSpPr>
        <p:spPr>
          <a:xfrm>
            <a:off x="644652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-244"/>
          <p:cNvSpPr txBox="1"/>
          <p:nvPr/>
        </p:nvSpPr>
        <p:spPr>
          <a:xfrm>
            <a:off x="6995160" y="16733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Visit order (v4)</a:t>
            </a:r>
            <a:endParaRPr lang="en-US" sz="1700" dirty="0"/>
          </a:p>
        </p:txBody>
      </p:sp>
      <p:sp>
        <p:nvSpPr>
          <p:cNvPr id="12" name="text-245"/>
          <p:cNvSpPr txBox="1"/>
          <p:nvPr/>
        </p:nvSpPr>
        <p:spPr>
          <a:xfrm>
            <a:off x="6446520" y="21945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Nodes sorted by distance from the start sit on shells, so consecutive nodes can be far apart. The previous node is then a poor warm start, and the MAC gate fires more than it needs to.</a:t>
            </a:r>
            <a:endParaRPr lang="en-US" sz="1500" dirty="0"/>
          </a:p>
        </p:txBody>
      </p:sp>
      <p:sp>
        <p:nvSpPr>
          <p:cNvPr id="13" name="card-246"/>
          <p:cNvSpPr/>
          <p:nvPr/>
        </p:nvSpPr>
        <p:spPr>
          <a:xfrm>
            <a:off x="548640" y="3886200"/>
            <a:ext cx="53949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badge-247"/>
          <p:cNvSpPr/>
          <p:nvPr/>
        </p:nvSpPr>
        <p:spPr>
          <a:xfrm>
            <a:off x="777240" y="41148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badge-label-248"/>
          <p:cNvSpPr txBox="1"/>
          <p:nvPr/>
        </p:nvSpPr>
        <p:spPr>
          <a:xfrm>
            <a:off x="77724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6" name="text-249"/>
          <p:cNvSpPr txBox="1"/>
          <p:nvPr/>
        </p:nvSpPr>
        <p:spPr>
          <a:xfrm>
            <a:off x="1325880" y="4142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Near-straight limit d → 1</a:t>
            </a:r>
            <a:endParaRPr lang="en-US" sz="1700" dirty="0"/>
          </a:p>
        </p:txBody>
      </p:sp>
      <p:sp>
        <p:nvSpPr>
          <p:cNvPr id="17" name="text-250"/>
          <p:cNvSpPr txBox="1"/>
          <p:nvPr/>
        </p:nvSpPr>
        <p:spPr>
          <a:xfrm>
            <a:off x="777240" y="4663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In the v4 Δ = 0.02 run, 4,597 of 21,829 points with d ≥ 0.95 have f</a:t>
            </a:r>
            <a:r>
              <a:rPr lang="en-US" sz="1500" baseline="-40000" dirty="0">
                <a:solidFill>
                  <a:schemeClr val="tx1"/>
                </a:solidFill>
              </a:rPr>
              <a:t>x</a:t>
            </a:r>
            <a:r>
              <a:rPr lang="en-US" sz="1500" dirty="0">
                <a:solidFill>
                  <a:schemeClr val="tx1"/>
                </a:solidFill>
              </a:rPr>
              <a:t> &lt; −50 (min −1,100), against a minimum of −35 below. Likely tension boundary layers at the clamps; check mesh convergence (that run used 50 elements).</a:t>
            </a:r>
            <a:endParaRPr lang="en-US" sz="1500" dirty="0"/>
          </a:p>
        </p:txBody>
      </p:sp>
      <p:sp>
        <p:nvSpPr>
          <p:cNvPr id="18" name="card-251"/>
          <p:cNvSpPr/>
          <p:nvPr/>
        </p:nvSpPr>
        <p:spPr>
          <a:xfrm>
            <a:off x="6217920" y="3886200"/>
            <a:ext cx="53949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badge-252"/>
          <p:cNvSpPr/>
          <p:nvPr/>
        </p:nvSpPr>
        <p:spPr>
          <a:xfrm>
            <a:off x="6446520" y="41148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badge-label-253"/>
          <p:cNvSpPr txBox="1"/>
          <p:nvPr/>
        </p:nvSpPr>
        <p:spPr>
          <a:xfrm>
            <a:off x="644652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1" name="text-254"/>
          <p:cNvSpPr txBox="1"/>
          <p:nvPr/>
        </p:nvSpPr>
        <p:spPr>
          <a:xfrm>
            <a:off x="6995160" y="4142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MAC on raw θ</a:t>
            </a:r>
            <a:endParaRPr lang="en-US" sz="1700" dirty="0"/>
          </a:p>
        </p:txBody>
      </p:sp>
      <p:sp>
        <p:nvSpPr>
          <p:cNvPr id="22" name="text-255"/>
          <p:cNvSpPr txBox="1"/>
          <p:nvPr/>
        </p:nvSpPr>
        <p:spPr>
          <a:xfrm>
            <a:off x="6446520" y="4663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θ includes the φ₁ → φ₂ ramp, which can dominate the shape term, and MAC is noisy near θ ≈ 0. A mean-removed or curvature-based MAC would be sharper. Limit-accepted jumps are only visible via refinement_count.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Towards a data-driven controller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How to run the production simulation that trains it, and the options for doing so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A controller needs branch-aware data</a:t>
            </a:r>
            <a:endParaRPr lang="en-US" sz="3000" dirty="0"/>
          </a:p>
        </p:txBody>
      </p:sp>
      <p:sp>
        <p:nvSpPr>
          <p:cNvPr id="201" name="card-201"/>
          <p:cNvSpPr/>
          <p:nvPr/>
        </p:nvSpPr>
        <p:spPr>
          <a:xfrm>
            <a:off x="548640" y="1417320"/>
            <a:ext cx="2514600" cy="105156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02" name="flow-202"/>
          <p:cNvSpPr txBox="1"/>
          <p:nvPr/>
        </p:nvSpPr>
        <p:spPr>
          <a:xfrm>
            <a:off x="685800" y="1481328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Actuation</a:t>
            </a:r>
            <a:endParaRPr lang="en-US" sz="1600" dirty="0"/>
          </a:p>
          <a:p>
            <a:pPr marL="0" indent="0" algn="ctr">
              <a:spcAft>
                <a:spcPts val="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d, φ₁, φ₂</a:t>
            </a:r>
            <a:endParaRPr lang="en-US" sz="1200" dirty="0"/>
          </a:p>
        </p:txBody>
      </p:sp>
      <p:sp>
        <p:nvSpPr>
          <p:cNvPr id="203" name="flow-arrow-203"/>
          <p:cNvSpPr/>
          <p:nvPr/>
        </p:nvSpPr>
        <p:spPr>
          <a:xfrm>
            <a:off x="3090672" y="1943100"/>
            <a:ext cx="283464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04" name="card-204"/>
          <p:cNvSpPr/>
          <p:nvPr/>
        </p:nvSpPr>
        <p:spPr>
          <a:xfrm>
            <a:off x="3401568" y="1417320"/>
            <a:ext cx="2514600" cy="105156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05" name="flow-205"/>
          <p:cNvSpPr txBox="1"/>
          <p:nvPr/>
        </p:nvSpPr>
        <p:spPr>
          <a:xfrm>
            <a:off x="3538728" y="1481328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+ branch / history</a:t>
            </a:r>
            <a:endParaRPr lang="en-US" sz="1600" dirty="0"/>
          </a:p>
          <a:p>
            <a:pPr marL="0" indent="0" algn="ctr">
              <a:spcAft>
                <a:spcPts val="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which equilibrium the rod is on</a:t>
            </a:r>
            <a:endParaRPr lang="en-US" sz="1200" dirty="0"/>
          </a:p>
        </p:txBody>
      </p:sp>
      <p:sp>
        <p:nvSpPr>
          <p:cNvPr id="206" name="flow-arrow-206"/>
          <p:cNvSpPr/>
          <p:nvPr/>
        </p:nvSpPr>
        <p:spPr>
          <a:xfrm>
            <a:off x="5943600" y="1943100"/>
            <a:ext cx="283464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07" name="card-207"/>
          <p:cNvSpPr/>
          <p:nvPr/>
        </p:nvSpPr>
        <p:spPr>
          <a:xfrm>
            <a:off x="6254496" y="1417320"/>
            <a:ext cx="2514600" cy="105156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08" name="flow-208"/>
          <p:cNvSpPr txBox="1"/>
          <p:nvPr/>
        </p:nvSpPr>
        <p:spPr>
          <a:xfrm>
            <a:off x="6391656" y="1481328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Neural network</a:t>
            </a:r>
            <a:endParaRPr lang="en-US" sz="1600" dirty="0"/>
          </a:p>
          <a:p>
            <a:pPr marL="0" indent="0" algn="ctr"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surrogate, inverse model or policy</a:t>
            </a:r>
            <a:endParaRPr lang="en-US" sz="1200" dirty="0"/>
          </a:p>
        </p:txBody>
      </p:sp>
      <p:sp>
        <p:nvSpPr>
          <p:cNvPr id="209" name="flow-arrow-209"/>
          <p:cNvSpPr/>
          <p:nvPr/>
        </p:nvSpPr>
        <p:spPr>
          <a:xfrm>
            <a:off x="8796528" y="1943100"/>
            <a:ext cx="283464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10" name="card-210"/>
          <p:cNvSpPr/>
          <p:nvPr/>
        </p:nvSpPr>
        <p:spPr>
          <a:xfrm>
            <a:off x="9107424" y="1417320"/>
            <a:ext cx="2514600" cy="105156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11" name="flow-211"/>
          <p:cNvSpPr txBox="1"/>
          <p:nvPr/>
        </p:nvSpPr>
        <p:spPr>
          <a:xfrm>
            <a:off x="9244584" y="1481328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Predicted state</a:t>
            </a:r>
            <a:endParaRPr lang="en-US" sz="1600" dirty="0"/>
          </a:p>
          <a:p>
            <a:pPr marL="0" indent="0" algn="ctr">
              <a:spcAft>
                <a:spcPts val="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θ(s), f</a:t>
            </a:r>
            <a:r>
              <a:rPr lang="en-US" sz="1200" baseline="-25000" dirty="0">
                <a:solidFill>
                  <a:schemeClr val="accent5"/>
                </a:solidFill>
              </a:rPr>
              <a:t>x</a:t>
            </a:r>
            <a:r>
              <a:rPr lang="en-US" sz="1200" dirty="0">
                <a:solidFill>
                  <a:schemeClr val="accent5"/>
                </a:solidFill>
              </a:rPr>
              <a:t>, f</a:t>
            </a:r>
            <a:r>
              <a:rPr lang="en-US" sz="1200" baseline="-25000" dirty="0">
                <a:solidFill>
                  <a:schemeClr val="accent5"/>
                </a:solidFill>
              </a:rPr>
              <a:t>y</a:t>
            </a:r>
            <a:r>
              <a:rPr lang="en-US" sz="1200" dirty="0">
                <a:solidFill>
                  <a:schemeClr val="accent5"/>
                </a:solidFill>
              </a:rPr>
              <a:t>, M₀, snap risk</a:t>
            </a:r>
            <a:endParaRPr lang="en-US" sz="1200" dirty="0"/>
          </a:p>
        </p:txBody>
      </p:sp>
      <p:sp>
        <p:nvSpPr>
          <p:cNvPr id="212" name="card-212"/>
          <p:cNvSpPr/>
          <p:nvPr/>
        </p:nvSpPr>
        <p:spPr>
          <a:xfrm>
            <a:off x="548640" y="2743200"/>
            <a:ext cx="3502152" cy="21488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13" name="card-head-213"/>
          <p:cNvSpPr txBox="1"/>
          <p:nvPr/>
        </p:nvSpPr>
        <p:spPr>
          <a:xfrm>
            <a:off x="749808" y="29077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Forward surrogate (MPC)</a:t>
            </a:r>
            <a:endParaRPr lang="en-US" sz="1650" dirty="0"/>
          </a:p>
        </p:txBody>
      </p:sp>
      <p:sp>
        <p:nvSpPr>
          <p:cNvPr id="214" name="card-body-214"/>
          <p:cNvSpPr txBox="1"/>
          <p:nvPr/>
        </p:nvSpPr>
        <p:spPr>
          <a:xfrm>
            <a:off x="749808" y="3310128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Learns (d, φ₁, φ₂, branch) → shape and forces. An optimiser searches actuations online, with the network standing in for the FE solve.</a:t>
            </a:r>
            <a:endParaRPr lang="en-US" sz="1350" dirty="0"/>
          </a:p>
        </p:txBody>
      </p:sp>
      <p:sp>
        <p:nvSpPr>
          <p:cNvPr id="215" name="card-215"/>
          <p:cNvSpPr/>
          <p:nvPr/>
        </p:nvSpPr>
        <p:spPr>
          <a:xfrm>
            <a:off x="4334255" y="2743200"/>
            <a:ext cx="3502152" cy="21488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16" name="card-head-216"/>
          <p:cNvSpPr txBox="1"/>
          <p:nvPr/>
        </p:nvSpPr>
        <p:spPr>
          <a:xfrm>
            <a:off x="4535423" y="29077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Inverse model</a:t>
            </a:r>
            <a:endParaRPr lang="en-US" sz="1650" dirty="0"/>
          </a:p>
        </p:txBody>
      </p:sp>
      <p:sp>
        <p:nvSpPr>
          <p:cNvPr id="217" name="card-body-217"/>
          <p:cNvSpPr txBox="1"/>
          <p:nvPr/>
        </p:nvSpPr>
        <p:spPr>
          <a:xfrm>
            <a:off x="4535423" y="3310128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Learns target shape or force → actuation. Ill-posed where two branches overlap, so the branch has to be an input.</a:t>
            </a:r>
            <a:endParaRPr lang="en-US" sz="1350" dirty="0"/>
          </a:p>
        </p:txBody>
      </p:sp>
      <p:sp>
        <p:nvSpPr>
          <p:cNvPr id="218" name="card-218"/>
          <p:cNvSpPr/>
          <p:nvPr/>
        </p:nvSpPr>
        <p:spPr>
          <a:xfrm>
            <a:off x="8119871" y="2743200"/>
            <a:ext cx="3502152" cy="21488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19" name="card-head-219"/>
          <p:cNvSpPr txBox="1"/>
          <p:nvPr/>
        </p:nvSpPr>
        <p:spPr>
          <a:xfrm>
            <a:off x="8321040" y="29077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Policy (RL or imitation)</a:t>
            </a:r>
            <a:endParaRPr lang="en-US" sz="1650" dirty="0"/>
          </a:p>
        </p:txBody>
      </p:sp>
      <p:sp>
        <p:nvSpPr>
          <p:cNvPr id="220" name="card-body-220"/>
          <p:cNvSpPr txBox="1"/>
          <p:nvPr/>
        </p:nvSpPr>
        <p:spPr>
          <a:xfrm>
            <a:off x="8321040" y="3310128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Learns state → next actuation inside a surrogate environment. Needs transitions, including the snaps.</a:t>
            </a:r>
            <a:endParaRPr lang="en-US" sz="1350" dirty="0"/>
          </a:p>
        </p:txBody>
      </p:sp>
      <p:sp>
        <p:nvSpPr>
          <p:cNvPr id="221" name="card-221"/>
          <p:cNvSpPr/>
          <p:nvPr/>
        </p:nvSpPr>
        <p:spPr>
          <a:xfrm>
            <a:off x="548640" y="5120640"/>
            <a:ext cx="11064240" cy="109728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9050">
            <a:solidFill>
              <a:schemeClr val="accent3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222" name="badge-222"/>
          <p:cNvSpPr/>
          <p:nvPr/>
        </p:nvSpPr>
        <p:spPr>
          <a:xfrm>
            <a:off x="777240" y="5458968"/>
            <a:ext cx="411480" cy="41148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23" name="badge-label-223"/>
          <p:cNvSpPr txBox="1"/>
          <p:nvPr/>
        </p:nvSpPr>
        <p:spPr>
          <a:xfrm>
            <a:off x="777240" y="54589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!</a:t>
            </a:r>
            <a:endParaRPr lang="en-US" sz="1500" dirty="0"/>
          </a:p>
        </p:txBody>
      </p:sp>
      <p:sp>
        <p:nvSpPr>
          <p:cNvPr id="224" name="callout-224"/>
          <p:cNvSpPr txBox="1"/>
          <p:nvPr/>
        </p:nvSpPr>
        <p:spPr>
          <a:xfrm>
            <a:off x="1417320" y="5212080"/>
            <a:ext cx="10012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Inside the hysteresis zone one actuation has two equilibria. The current studies keep whichever branch the continuation reached first, so a dataset built the same way would teach the network a path-dependent artefact.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Five ways to run the production campaign</a:t>
            </a:r>
            <a:endParaRPr lang="en-US" sz="3000" dirty="0"/>
          </a:p>
        </p:txBody>
      </p:sp>
      <p:graphicFrame>
        <p:nvGraphicFramePr>
          <p:cNvPr id="225" name="table-225"/>
          <p:cNvGraphicFramePr>
            <a:graphicFrameLocks noGrp="1"/>
          </p:cNvGraphicFramePr>
          <p:nvPr/>
        </p:nvGraphicFramePr>
        <p:xfrm>
          <a:off x="548640" y="1371600"/>
          <a:ext cx="11064240" cy="4572000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0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Option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How it runs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What it adds for the controller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Cost and new code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A  Scaled-up grid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The v3 driver at production resolution over the full box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One equilibrium per point; the snap surface located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1× (7–28 h on one core); no new code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B  Branch-aware sweeps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Sweep compression and release from several seeds; keep every distinct equilibrium; add a stability eigenvalue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Both branches in the hysteresis zone, labelled stable or unstable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2–4×; multi-seed driver and a small eigen-solve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C  Fold tracking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Pseudo-arclength continuation through the folds; solve for the fold surface directly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The exact snap boundary and the unstable branch between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≈ A per point; substantial new code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D  Active learning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Train an ensemble on a coarse set; solve next where the ensemble disagrees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Samples where the network needs them, mostly near the snap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Fewest solves; needs the ML loop in place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E  Actuation paths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March random quasi-static actuation paths with MAC-guided continuation; log every snap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Sequences with history: (state, action) → next state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Scales with number × length of paths; one path per core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Options A and B: grid sweeps</a:t>
            </a:r>
            <a:endParaRPr lang="en-US" sz="3000" dirty="0"/>
          </a:p>
        </p:txBody>
      </p:sp>
      <p:sp>
        <p:nvSpPr>
          <p:cNvPr id="226" name="card-226"/>
          <p:cNvSpPr/>
          <p:nvPr/>
        </p:nvSpPr>
        <p:spPr>
          <a:xfrm>
            <a:off x="548640" y="1371600"/>
            <a:ext cx="5394960" cy="48463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27" name="badge-227"/>
          <p:cNvSpPr/>
          <p:nvPr/>
        </p:nvSpPr>
        <p:spPr>
          <a:xfrm>
            <a:off x="777240" y="153619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28" name="badge-label-228"/>
          <p:cNvSpPr txBox="1"/>
          <p:nvPr/>
        </p:nvSpPr>
        <p:spPr>
          <a:xfrm>
            <a:off x="777240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A</a:t>
            </a:r>
            <a:endParaRPr lang="en-US" sz="1700" dirty="0"/>
          </a:p>
        </p:txBody>
      </p:sp>
      <p:sp>
        <p:nvSpPr>
          <p:cNvPr id="229" name="detail-head-229"/>
          <p:cNvSpPr txBox="1"/>
          <p:nvPr/>
        </p:nvSpPr>
        <p:spPr>
          <a:xfrm>
            <a:off x="1371600" y="15727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Scaled-up grid sweep</a:t>
            </a:r>
            <a:endParaRPr lang="en-US" sz="1800" dirty="0"/>
          </a:p>
        </p:txBody>
      </p:sp>
      <p:sp>
        <p:nvSpPr>
          <p:cNvPr id="230" name="detail-label-230"/>
          <p:cNvSpPr txBox="1"/>
          <p:nvPr/>
        </p:nvSpPr>
        <p:spPr>
          <a:xfrm>
            <a:off x="777240" y="219456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How</a:t>
            </a:r>
            <a:endParaRPr lang="en-US" sz="1300" dirty="0"/>
          </a:p>
        </p:txBody>
      </p:sp>
      <p:sp>
        <p:nvSpPr>
          <p:cNvPr id="231" name="detail-text-231"/>
          <p:cNvSpPr txBox="1"/>
          <p:nvPr/>
        </p:nvSpPr>
        <p:spPr>
          <a:xfrm>
            <a:off x="1920240" y="219456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The v3 driver on its config grid: d 0.70–0.9999 (Δ 0.005), φ ±π/2 (Δ π/144). About 1.26 M points, half solved via symmetry, plus gradient refinement.</a:t>
            </a:r>
            <a:endParaRPr lang="en-US" sz="1300" dirty="0"/>
          </a:p>
        </p:txBody>
      </p:sp>
      <p:sp>
        <p:nvSpPr>
          <p:cNvPr id="232" name="detail-label-232"/>
          <p:cNvSpPr txBox="1"/>
          <p:nvPr/>
        </p:nvSpPr>
        <p:spPr>
          <a:xfrm>
            <a:off x="777240" y="32004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Gives</a:t>
            </a:r>
            <a:endParaRPr lang="en-US" sz="1300" dirty="0"/>
          </a:p>
        </p:txBody>
      </p:sp>
      <p:sp>
        <p:nvSpPr>
          <p:cNvPr id="233" name="detail-text-233"/>
          <p:cNvSpPr txBox="1"/>
          <p:nvPr/>
        </p:nvSpPr>
        <p:spPr>
          <a:xfrm>
            <a:off x="1920240" y="320040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One equilibrium with all outputs per point; the snap surface falls out of the MAC jumps.</a:t>
            </a:r>
            <a:endParaRPr lang="en-US" sz="1300" dirty="0"/>
          </a:p>
        </p:txBody>
      </p:sp>
      <p:sp>
        <p:nvSpPr>
          <p:cNvPr id="234" name="detail-label-234"/>
          <p:cNvSpPr txBox="1"/>
          <p:nvPr/>
        </p:nvSpPr>
        <p:spPr>
          <a:xfrm>
            <a:off x="777240" y="42062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Cost</a:t>
            </a:r>
            <a:endParaRPr lang="en-US" sz="1300" dirty="0"/>
          </a:p>
        </p:txBody>
      </p:sp>
      <p:sp>
        <p:nvSpPr>
          <p:cNvPr id="235" name="detail-text-235"/>
          <p:cNvSpPr txBox="1"/>
          <p:nvPr/>
        </p:nvSpPr>
        <p:spPr>
          <a:xfrm>
            <a:off x="1920240" y="420624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7–28 h on one core at the measured 0.02–0.08 s per point; about 0.6 GB of float32 data.</a:t>
            </a:r>
            <a:endParaRPr lang="en-US" sz="1300" dirty="0"/>
          </a:p>
        </p:txBody>
      </p:sp>
      <p:sp>
        <p:nvSpPr>
          <p:cNvPr id="236" name="detail-label-236"/>
          <p:cNvSpPr txBox="1"/>
          <p:nvPr/>
        </p:nvSpPr>
        <p:spPr>
          <a:xfrm>
            <a:off x="777240" y="52120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Watch out</a:t>
            </a:r>
            <a:endParaRPr lang="en-US" sz="1300" dirty="0"/>
          </a:p>
        </p:txBody>
      </p:sp>
      <p:sp>
        <p:nvSpPr>
          <p:cNvPr id="237" name="detail-text-237"/>
          <p:cNvSpPr txBox="1"/>
          <p:nvPr/>
        </p:nvSpPr>
        <p:spPr>
          <a:xfrm>
            <a:off x="1920240" y="52120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In the hysteresis zone the stored branch depends on the sweep path.</a:t>
            </a:r>
            <a:endParaRPr lang="en-US" sz="1300" dirty="0"/>
          </a:p>
        </p:txBody>
      </p:sp>
      <p:sp>
        <p:nvSpPr>
          <p:cNvPr id="238" name="card-238"/>
          <p:cNvSpPr/>
          <p:nvPr/>
        </p:nvSpPr>
        <p:spPr>
          <a:xfrm>
            <a:off x="6217920" y="1371600"/>
            <a:ext cx="5394960" cy="48463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39" name="badge-239"/>
          <p:cNvSpPr/>
          <p:nvPr/>
        </p:nvSpPr>
        <p:spPr>
          <a:xfrm>
            <a:off x="6446520" y="153619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40" name="badge-label-240"/>
          <p:cNvSpPr txBox="1"/>
          <p:nvPr/>
        </p:nvSpPr>
        <p:spPr>
          <a:xfrm>
            <a:off x="6446520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B</a:t>
            </a:r>
            <a:endParaRPr lang="en-US" sz="1700" dirty="0"/>
          </a:p>
        </p:txBody>
      </p:sp>
      <p:sp>
        <p:nvSpPr>
          <p:cNvPr id="241" name="detail-head-241"/>
          <p:cNvSpPr txBox="1"/>
          <p:nvPr/>
        </p:nvSpPr>
        <p:spPr>
          <a:xfrm>
            <a:off x="7040880" y="15727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Branch-aware sweeps</a:t>
            </a:r>
            <a:endParaRPr lang="en-US" sz="1800" dirty="0"/>
          </a:p>
        </p:txBody>
      </p:sp>
      <p:sp>
        <p:nvSpPr>
          <p:cNvPr id="242" name="detail-label-242"/>
          <p:cNvSpPr txBox="1"/>
          <p:nvPr/>
        </p:nvSpPr>
        <p:spPr>
          <a:xfrm>
            <a:off x="6446520" y="219456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How</a:t>
            </a:r>
            <a:endParaRPr lang="en-US" sz="1300" dirty="0"/>
          </a:p>
        </p:txBody>
      </p:sp>
      <p:sp>
        <p:nvSpPr>
          <p:cNvPr id="243" name="detail-text-243"/>
          <p:cNvSpPr txBox="1"/>
          <p:nvPr/>
        </p:nvSpPr>
        <p:spPr>
          <a:xfrm>
            <a:off x="7589520" y="219456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Repeat the sweep with d rising and falling, from 2–4 seeds across (φ₁, φ₂). Merge the results: MAC &gt; 0.99 means the same equilibrium.</a:t>
            </a:r>
            <a:endParaRPr lang="en-US" sz="1300" dirty="0"/>
          </a:p>
        </p:txBody>
      </p:sp>
      <p:sp>
        <p:nvSpPr>
          <p:cNvPr id="244" name="detail-label-244"/>
          <p:cNvSpPr txBox="1"/>
          <p:nvPr/>
        </p:nvSpPr>
        <p:spPr>
          <a:xfrm>
            <a:off x="6446520" y="32004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Gives</a:t>
            </a:r>
            <a:endParaRPr lang="en-US" sz="1300" dirty="0"/>
          </a:p>
        </p:txBody>
      </p:sp>
      <p:sp>
        <p:nvSpPr>
          <p:cNvPr id="245" name="detail-text-245"/>
          <p:cNvSpPr txBox="1"/>
          <p:nvPr/>
        </p:nvSpPr>
        <p:spPr>
          <a:xfrm>
            <a:off x="7589520" y="320040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Every equilibrium continuation reaches, a branch id, and λ</a:t>
            </a:r>
            <a:r>
              <a:rPr lang="en-US" sz="1300" baseline="-25000" dirty="0">
                <a:solidFill>
                  <a:schemeClr val="tx1"/>
                </a:solidFill>
              </a:rPr>
              <a:t>min</a:t>
            </a:r>
            <a:r>
              <a:rPr lang="en-US" sz="1300" dirty="0">
                <a:solidFill>
                  <a:schemeClr val="tx1"/>
                </a:solidFill>
              </a:rPr>
              <a:t> of the constrained Hessian (stable or not).</a:t>
            </a:r>
            <a:endParaRPr lang="en-US" sz="1300" dirty="0"/>
          </a:p>
        </p:txBody>
      </p:sp>
      <p:sp>
        <p:nvSpPr>
          <p:cNvPr id="246" name="detail-label-246"/>
          <p:cNvSpPr txBox="1"/>
          <p:nvPr/>
        </p:nvSpPr>
        <p:spPr>
          <a:xfrm>
            <a:off x="6446520" y="42062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Cost</a:t>
            </a:r>
            <a:endParaRPr lang="en-US" sz="1300" dirty="0"/>
          </a:p>
        </p:txBody>
      </p:sp>
      <p:sp>
        <p:nvSpPr>
          <p:cNvPr id="247" name="detail-text-247"/>
          <p:cNvSpPr txBox="1"/>
          <p:nvPr/>
        </p:nvSpPr>
        <p:spPr>
          <a:xfrm>
            <a:off x="7589520" y="420624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2–4× option A. The ~100 × 100 dense eigen-solve per point is small next to the Newton solve.</a:t>
            </a:r>
            <a:endParaRPr lang="en-US" sz="1300" dirty="0"/>
          </a:p>
        </p:txBody>
      </p:sp>
      <p:sp>
        <p:nvSpPr>
          <p:cNvPr id="248" name="detail-label-248"/>
          <p:cNvSpPr txBox="1"/>
          <p:nvPr/>
        </p:nvSpPr>
        <p:spPr>
          <a:xfrm>
            <a:off x="6446520" y="52120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Watch out</a:t>
            </a:r>
            <a:endParaRPr lang="en-US" sz="1300" dirty="0"/>
          </a:p>
        </p:txBody>
      </p:sp>
      <p:sp>
        <p:nvSpPr>
          <p:cNvPr id="249" name="detail-text-249"/>
          <p:cNvSpPr txBox="1"/>
          <p:nvPr/>
        </p:nvSpPr>
        <p:spPr>
          <a:xfrm>
            <a:off x="7589520" y="52120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Keeping branch labels consistent across the box, and choosing the merge threshold.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Options C–E: change the numerics, sampling or data</a:t>
            </a:r>
            <a:endParaRPr lang="en-US" sz="3000" dirty="0"/>
          </a:p>
        </p:txBody>
      </p:sp>
      <p:sp>
        <p:nvSpPr>
          <p:cNvPr id="250" name="card-250"/>
          <p:cNvSpPr/>
          <p:nvPr/>
        </p:nvSpPr>
        <p:spPr>
          <a:xfrm>
            <a:off x="548640" y="1371600"/>
            <a:ext cx="3502152" cy="48463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51" name="badge-251"/>
          <p:cNvSpPr/>
          <p:nvPr/>
        </p:nvSpPr>
        <p:spPr>
          <a:xfrm>
            <a:off x="749808" y="151790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52" name="badge-label-252"/>
          <p:cNvSpPr txBox="1"/>
          <p:nvPr/>
        </p:nvSpPr>
        <p:spPr>
          <a:xfrm>
            <a:off x="749808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C</a:t>
            </a:r>
            <a:endParaRPr lang="en-US" sz="1700" dirty="0"/>
          </a:p>
        </p:txBody>
      </p:sp>
      <p:sp>
        <p:nvSpPr>
          <p:cNvPr id="253" name="detail-head-253"/>
          <p:cNvSpPr txBox="1"/>
          <p:nvPr/>
        </p:nvSpPr>
        <p:spPr>
          <a:xfrm>
            <a:off x="1325880" y="1554480"/>
            <a:ext cx="2587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Fold tracking</a:t>
            </a:r>
            <a:endParaRPr lang="en-US" sz="1700" dirty="0"/>
          </a:p>
        </p:txBody>
      </p:sp>
      <p:sp>
        <p:nvSpPr>
          <p:cNvPr id="254" name="detail-text-254"/>
          <p:cNvSpPr txBox="1"/>
          <p:nvPr/>
        </p:nvSpPr>
        <p:spPr>
          <a:xfrm>
            <a:off x="749808" y="214884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How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Pseudo-arclength continuation that passes through folds; a bordered system pins the fold where J is singular.</a:t>
            </a:r>
            <a:endParaRPr lang="en-US" sz="1250" dirty="0"/>
          </a:p>
        </p:txBody>
      </p:sp>
      <p:sp>
        <p:nvSpPr>
          <p:cNvPr id="255" name="detail-text-255"/>
          <p:cNvSpPr txBox="1"/>
          <p:nvPr/>
        </p:nvSpPr>
        <p:spPr>
          <a:xfrm>
            <a:off x="749808" y="315468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Gives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The fold surface itself, plus the unstable branch linking the two stable ones.</a:t>
            </a:r>
            <a:endParaRPr lang="en-US" sz="1250" dirty="0"/>
          </a:p>
        </p:txBody>
      </p:sp>
      <p:sp>
        <p:nvSpPr>
          <p:cNvPr id="256" name="detail-text-256"/>
          <p:cNvSpPr txBox="1"/>
          <p:nvPr/>
        </p:nvSpPr>
        <p:spPr>
          <a:xfrm>
            <a:off x="749808" y="41605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Cost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Similar per point, but significant development.</a:t>
            </a:r>
            <a:endParaRPr lang="en-US" sz="1250" dirty="0"/>
          </a:p>
        </p:txBody>
      </p:sp>
      <p:sp>
        <p:nvSpPr>
          <p:cNvPr id="257" name="detail-text-257"/>
          <p:cNvSpPr txBox="1"/>
          <p:nvPr/>
        </p:nvSpPr>
        <p:spPr>
          <a:xfrm>
            <a:off x="749808" y="516636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Watch out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Two-parameter fold continuation is research-grade code.</a:t>
            </a:r>
            <a:endParaRPr lang="en-US" sz="1250" dirty="0"/>
          </a:p>
        </p:txBody>
      </p:sp>
      <p:sp>
        <p:nvSpPr>
          <p:cNvPr id="258" name="card-258"/>
          <p:cNvSpPr/>
          <p:nvPr/>
        </p:nvSpPr>
        <p:spPr>
          <a:xfrm>
            <a:off x="4334255" y="1371600"/>
            <a:ext cx="3502152" cy="48463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59" name="badge-259"/>
          <p:cNvSpPr/>
          <p:nvPr/>
        </p:nvSpPr>
        <p:spPr>
          <a:xfrm>
            <a:off x="4535423" y="151790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60" name="badge-label-260"/>
          <p:cNvSpPr txBox="1"/>
          <p:nvPr/>
        </p:nvSpPr>
        <p:spPr>
          <a:xfrm>
            <a:off x="4535423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D</a:t>
            </a:r>
            <a:endParaRPr lang="en-US" sz="1700" dirty="0"/>
          </a:p>
        </p:txBody>
      </p:sp>
      <p:sp>
        <p:nvSpPr>
          <p:cNvPr id="261" name="detail-head-261"/>
          <p:cNvSpPr txBox="1"/>
          <p:nvPr/>
        </p:nvSpPr>
        <p:spPr>
          <a:xfrm>
            <a:off x="5111495" y="1554480"/>
            <a:ext cx="2587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Active learning</a:t>
            </a:r>
            <a:endParaRPr lang="en-US" sz="1700" dirty="0"/>
          </a:p>
        </p:txBody>
      </p:sp>
      <p:sp>
        <p:nvSpPr>
          <p:cNvPr id="262" name="detail-text-262"/>
          <p:cNvSpPr txBox="1"/>
          <p:nvPr/>
        </p:nvSpPr>
        <p:spPr>
          <a:xfrm>
            <a:off x="4535423" y="214884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How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Train an ensemble on a coarse option-A grid; solve next where the ensemble disagrees most.</a:t>
            </a:r>
            <a:endParaRPr lang="en-US" sz="1250" dirty="0"/>
          </a:p>
        </p:txBody>
      </p:sp>
      <p:sp>
        <p:nvSpPr>
          <p:cNvPr id="263" name="detail-text-263"/>
          <p:cNvSpPr txBox="1"/>
          <p:nvPr/>
        </p:nvSpPr>
        <p:spPr>
          <a:xfrm>
            <a:off x="4535423" y="315468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Gives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Samples concentrated near the snap surface, where the network errs.</a:t>
            </a:r>
            <a:endParaRPr lang="en-US" sz="1250" dirty="0"/>
          </a:p>
        </p:txBody>
      </p:sp>
      <p:sp>
        <p:nvSpPr>
          <p:cNvPr id="264" name="detail-text-264"/>
          <p:cNvSpPr txBox="1"/>
          <p:nvPr/>
        </p:nvSpPr>
        <p:spPr>
          <a:xfrm>
            <a:off x="4535423" y="41605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Cost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Fewest solves for a target accuracy; training runs between batches.</a:t>
            </a:r>
            <a:endParaRPr lang="en-US" sz="1250" dirty="0"/>
          </a:p>
        </p:txBody>
      </p:sp>
      <p:sp>
        <p:nvSpPr>
          <p:cNvPr id="265" name="detail-text-265"/>
          <p:cNvSpPr txBox="1"/>
          <p:nvPr/>
        </p:nvSpPr>
        <p:spPr>
          <a:xfrm>
            <a:off x="4535423" y="516636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Watch out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Needs the network design fixed first; keep an untouched test set.</a:t>
            </a:r>
            <a:endParaRPr lang="en-US" sz="1250" dirty="0"/>
          </a:p>
        </p:txBody>
      </p:sp>
      <p:sp>
        <p:nvSpPr>
          <p:cNvPr id="266" name="card-266"/>
          <p:cNvSpPr/>
          <p:nvPr/>
        </p:nvSpPr>
        <p:spPr>
          <a:xfrm>
            <a:off x="8119871" y="1371600"/>
            <a:ext cx="3502152" cy="48463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67" name="badge-267"/>
          <p:cNvSpPr/>
          <p:nvPr/>
        </p:nvSpPr>
        <p:spPr>
          <a:xfrm>
            <a:off x="8321040" y="151790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68" name="badge-label-268"/>
          <p:cNvSpPr txBox="1"/>
          <p:nvPr/>
        </p:nvSpPr>
        <p:spPr>
          <a:xfrm>
            <a:off x="8321040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E</a:t>
            </a:r>
            <a:endParaRPr lang="en-US" sz="1700" dirty="0"/>
          </a:p>
        </p:txBody>
      </p:sp>
      <p:sp>
        <p:nvSpPr>
          <p:cNvPr id="269" name="detail-head-269"/>
          <p:cNvSpPr txBox="1"/>
          <p:nvPr/>
        </p:nvSpPr>
        <p:spPr>
          <a:xfrm>
            <a:off x="8897111" y="1554480"/>
            <a:ext cx="2587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Actuation paths</a:t>
            </a:r>
            <a:endParaRPr lang="en-US" sz="1700" dirty="0"/>
          </a:p>
        </p:txBody>
      </p:sp>
      <p:sp>
        <p:nvSpPr>
          <p:cNvPr id="270" name="detail-text-270"/>
          <p:cNvSpPr txBox="1"/>
          <p:nvPr/>
        </p:nvSpPr>
        <p:spPr>
          <a:xfrm>
            <a:off x="8321040" y="214884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How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Draw smooth random paths in (d, φ₁, φ₂) and march along each with MAC-guided continuation.</a:t>
            </a:r>
            <a:endParaRPr lang="en-US" sz="1250" dirty="0"/>
          </a:p>
        </p:txBody>
      </p:sp>
      <p:sp>
        <p:nvSpPr>
          <p:cNvPr id="271" name="detail-text-271"/>
          <p:cNvSpPr txBox="1"/>
          <p:nvPr/>
        </p:nvSpPr>
        <p:spPr>
          <a:xfrm>
            <a:off x="8321040" y="315468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Gives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(state, action) → next state, snaps included: direct data for a policy or MPC.</a:t>
            </a:r>
            <a:endParaRPr lang="en-US" sz="1250" dirty="0"/>
          </a:p>
        </p:txBody>
      </p:sp>
      <p:sp>
        <p:nvSpPr>
          <p:cNvPr id="272" name="detail-text-272"/>
          <p:cNvSpPr txBox="1"/>
          <p:nvPr/>
        </p:nvSpPr>
        <p:spPr>
          <a:xfrm>
            <a:off x="8321040" y="41605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Cost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Proportional to number × length of paths; one path per core.</a:t>
            </a:r>
            <a:endParaRPr lang="en-US" sz="1250" dirty="0"/>
          </a:p>
        </p:txBody>
      </p:sp>
      <p:sp>
        <p:nvSpPr>
          <p:cNvPr id="273" name="detail-text-273"/>
          <p:cNvSpPr txBox="1"/>
          <p:nvPr/>
        </p:nvSpPr>
        <p:spPr>
          <a:xfrm>
            <a:off x="8321040" y="516636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Watch out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Coverage needs many paths; quasi-static only, no snap dynamics.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Scale: a day on one core, hours on a workstation</a:t>
            </a:r>
            <a:endParaRPr lang="en-US" sz="3000" dirty="0"/>
          </a:p>
        </p:txBody>
      </p:sp>
      <p:sp>
        <p:nvSpPr>
          <p:cNvPr id="274" name="card-274"/>
          <p:cNvSpPr/>
          <p:nvPr/>
        </p:nvSpPr>
        <p:spPr>
          <a:xfrm>
            <a:off x="54864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75" name="tile-big-275"/>
          <p:cNvSpPr txBox="1"/>
          <p:nvPr/>
        </p:nvSpPr>
        <p:spPr>
          <a:xfrm>
            <a:off x="74980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1.26 M</a:t>
            </a:r>
            <a:endParaRPr lang="en-US" sz="3000" dirty="0"/>
          </a:p>
        </p:txBody>
      </p:sp>
      <p:sp>
        <p:nvSpPr>
          <p:cNvPr id="276" name="tile-label-276"/>
          <p:cNvSpPr txBox="1"/>
          <p:nvPr/>
        </p:nvSpPr>
        <p:spPr>
          <a:xfrm>
            <a:off x="74980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grid points</a:t>
            </a:r>
            <a:endParaRPr lang="en-US" sz="1400" dirty="0"/>
          </a:p>
        </p:txBody>
      </p:sp>
      <p:sp>
        <p:nvSpPr>
          <p:cNvPr id="277" name="tile-sub-277"/>
          <p:cNvSpPr txBox="1"/>
          <p:nvPr/>
        </p:nvSpPr>
        <p:spPr>
          <a:xfrm>
            <a:off x="74980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v3 config: 60 × 145 × 145</a:t>
            </a:r>
            <a:endParaRPr lang="en-US" sz="1150" dirty="0"/>
          </a:p>
        </p:txBody>
      </p:sp>
      <p:sp>
        <p:nvSpPr>
          <p:cNvPr id="278" name="card-278"/>
          <p:cNvSpPr/>
          <p:nvPr/>
        </p:nvSpPr>
        <p:spPr>
          <a:xfrm>
            <a:off x="338328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79" name="tile-big-279"/>
          <p:cNvSpPr txBox="1"/>
          <p:nvPr/>
        </p:nvSpPr>
        <p:spPr>
          <a:xfrm>
            <a:off x="358444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0.02–0.08 s</a:t>
            </a:r>
            <a:endParaRPr lang="en-US" sz="3000" dirty="0"/>
          </a:p>
        </p:txBody>
      </p:sp>
      <p:sp>
        <p:nvSpPr>
          <p:cNvPr id="280" name="tile-label-280"/>
          <p:cNvSpPr txBox="1"/>
          <p:nvPr/>
        </p:nvSpPr>
        <p:spPr>
          <a:xfrm>
            <a:off x="358444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per point, one core</a:t>
            </a:r>
            <a:endParaRPr lang="en-US" sz="1400" dirty="0"/>
          </a:p>
        </p:txBody>
      </p:sp>
      <p:sp>
        <p:nvSpPr>
          <p:cNvPr id="281" name="tile-sub-281"/>
          <p:cNvSpPr txBox="1"/>
          <p:nvPr/>
        </p:nvSpPr>
        <p:spPr>
          <a:xfrm>
            <a:off x="358444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from v3 sol4 and v4 run timestamps</a:t>
            </a:r>
            <a:endParaRPr lang="en-US" sz="1150" dirty="0"/>
          </a:p>
        </p:txBody>
      </p:sp>
      <p:sp>
        <p:nvSpPr>
          <p:cNvPr id="282" name="card-282"/>
          <p:cNvSpPr/>
          <p:nvPr/>
        </p:nvSpPr>
        <p:spPr>
          <a:xfrm>
            <a:off x="621792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83" name="tile-big-283"/>
          <p:cNvSpPr txBox="1"/>
          <p:nvPr/>
        </p:nvSpPr>
        <p:spPr>
          <a:xfrm>
            <a:off x="641908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7–28 h</a:t>
            </a:r>
            <a:endParaRPr lang="en-US" sz="3000" dirty="0"/>
          </a:p>
        </p:txBody>
      </p:sp>
      <p:sp>
        <p:nvSpPr>
          <p:cNvPr id="284" name="tile-label-284"/>
          <p:cNvSpPr txBox="1"/>
          <p:nvPr/>
        </p:nvSpPr>
        <p:spPr>
          <a:xfrm>
            <a:off x="641908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serial, option A</a:t>
            </a:r>
            <a:endParaRPr lang="en-US" sz="1400" dirty="0"/>
          </a:p>
        </p:txBody>
      </p:sp>
      <p:sp>
        <p:nvSpPr>
          <p:cNvPr id="285" name="tile-sub-285"/>
          <p:cNvSpPr txBox="1"/>
          <p:nvPr/>
        </p:nvSpPr>
        <p:spPr>
          <a:xfrm>
            <a:off x="641908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before any parallelism</a:t>
            </a:r>
            <a:endParaRPr lang="en-US" sz="1150" dirty="0"/>
          </a:p>
        </p:txBody>
      </p:sp>
      <p:sp>
        <p:nvSpPr>
          <p:cNvPr id="286" name="card-286"/>
          <p:cNvSpPr/>
          <p:nvPr/>
        </p:nvSpPr>
        <p:spPr>
          <a:xfrm>
            <a:off x="905256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87" name="tile-big-287"/>
          <p:cNvSpPr txBox="1"/>
          <p:nvPr/>
        </p:nvSpPr>
        <p:spPr>
          <a:xfrm>
            <a:off x="925372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0.6 GB</a:t>
            </a:r>
            <a:endParaRPr lang="en-US" sz="3000" dirty="0"/>
          </a:p>
        </p:txBody>
      </p:sp>
      <p:sp>
        <p:nvSpPr>
          <p:cNvPr id="288" name="tile-label-288"/>
          <p:cNvSpPr txBox="1"/>
          <p:nvPr/>
        </p:nvSpPr>
        <p:spPr>
          <a:xfrm>
            <a:off x="925372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per 1.26 M points</a:t>
            </a:r>
            <a:endParaRPr lang="en-US" sz="1400" dirty="0"/>
          </a:p>
        </p:txBody>
      </p:sp>
      <p:sp>
        <p:nvSpPr>
          <p:cNvPr id="289" name="tile-sub-289"/>
          <p:cNvSpPr txBox="1"/>
          <p:nvPr/>
        </p:nvSpPr>
        <p:spPr>
          <a:xfrm>
            <a:off x="925372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θ in float32 plus scalar outputs</a:t>
            </a:r>
            <a:endParaRPr lang="en-US" sz="1150" dirty="0"/>
          </a:p>
        </p:txBody>
      </p:sp>
      <p:sp>
        <p:nvSpPr>
          <p:cNvPr id="290" name="card-290"/>
          <p:cNvSpPr/>
          <p:nvPr/>
        </p:nvSpPr>
        <p:spPr>
          <a:xfrm>
            <a:off x="548640" y="3429000"/>
            <a:ext cx="35021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91" name="card-head-291"/>
          <p:cNvSpPr txBox="1"/>
          <p:nvPr/>
        </p:nvSpPr>
        <p:spPr>
          <a:xfrm>
            <a:off x="749808" y="35935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Seed, then fan out</a:t>
            </a:r>
            <a:endParaRPr lang="en-US" sz="1650" dirty="0"/>
          </a:p>
        </p:txBody>
      </p:sp>
      <p:sp>
        <p:nvSpPr>
          <p:cNvPr id="292" name="card-body-292"/>
          <p:cNvSpPr txBox="1"/>
          <p:nvPr/>
        </p:nvSpPr>
        <p:spPr>
          <a:xfrm>
            <a:off x="749808" y="399592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A coarse serial pass gives one converged solution per block of d-layers or per path; each block then continues on its own.</a:t>
            </a:r>
            <a:endParaRPr lang="en-US" sz="1350" dirty="0"/>
          </a:p>
        </p:txBody>
      </p:sp>
      <p:sp>
        <p:nvSpPr>
          <p:cNvPr id="293" name="card-293"/>
          <p:cNvSpPr/>
          <p:nvPr/>
        </p:nvSpPr>
        <p:spPr>
          <a:xfrm>
            <a:off x="4334255" y="3429000"/>
            <a:ext cx="35021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94" name="card-head-294"/>
          <p:cNvSpPr txBox="1"/>
          <p:nvPr/>
        </p:nvSpPr>
        <p:spPr>
          <a:xfrm>
            <a:off x="4535423" y="35935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One rank per block</a:t>
            </a:r>
            <a:endParaRPr lang="en-US" sz="1650" dirty="0"/>
          </a:p>
        </p:txBody>
      </p:sp>
      <p:sp>
        <p:nvSpPr>
          <p:cNvPr id="295" name="card-body-295"/>
          <p:cNvSpPr txBox="1"/>
          <p:nvPr/>
        </p:nvSpPr>
        <p:spPr>
          <a:xfrm>
            <a:off x="4535423" y="399592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Each MPI rank builds its own 100-element beam problem on COMM_SELF. The problem is tiny, so throughput scales with core count.</a:t>
            </a:r>
            <a:endParaRPr lang="en-US" sz="1350" dirty="0"/>
          </a:p>
        </p:txBody>
      </p:sp>
      <p:sp>
        <p:nvSpPr>
          <p:cNvPr id="296" name="card-296"/>
          <p:cNvSpPr/>
          <p:nvPr/>
        </p:nvSpPr>
        <p:spPr>
          <a:xfrm>
            <a:off x="8119871" y="3429000"/>
            <a:ext cx="35021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97" name="card-head-297"/>
          <p:cNvSpPr txBox="1"/>
          <p:nvPr/>
        </p:nvSpPr>
        <p:spPr>
          <a:xfrm>
            <a:off x="8321040" y="35935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Restart and audit</a:t>
            </a:r>
            <a:endParaRPr lang="en-US" sz="1650" dirty="0"/>
          </a:p>
        </p:txBody>
      </p:sp>
      <p:sp>
        <p:nvSpPr>
          <p:cNvPr id="298" name="card-body-298"/>
          <p:cNvSpPr txBox="1"/>
          <p:nvPr/>
        </p:nvSpPr>
        <p:spPr>
          <a:xfrm>
            <a:off x="8321040" y="399592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Checkpoint per block (v3 and v4 already do), keep solver metadata, and re-solve a random 1 % at 200 elements as a convergence audit.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One record per equilibrium: what to store</a:t>
            </a:r>
            <a:endParaRPr lang="en-US" sz="3000" dirty="0"/>
          </a:p>
        </p:txBody>
      </p:sp>
      <p:graphicFrame>
        <p:nvGraphicFramePr>
          <p:cNvPr id="299" name="table-299"/>
          <p:cNvGraphicFramePr>
            <a:graphicFrameLocks noGrp="1"/>
          </p:cNvGraphicFramePr>
          <p:nvPr/>
        </p:nvGraphicFramePr>
        <p:xfrm>
          <a:off x="548640" y="1371600"/>
          <a:ext cx="11064240" cy="4572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Field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Size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Why the controller needs it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d, φ₁, φ₂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Actuation: the network's inputs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branch_id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 (int)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Separates the two equilibria inside the hysteresis zone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θ(s)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101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Shape; compress with POD before training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f</a:t>
                      </a:r>
                      <a:r>
                        <a:rPr lang="en-US" sz="1300" b="1" baseline="-25000" dirty="0">
                          <a:solidFill>
                            <a:schemeClr val="accent1"/>
                          </a:solidFill>
                        </a:rPr>
                        <a:t>x</a:t>
                      </a: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, f</a:t>
                      </a:r>
                      <a:r>
                        <a:rPr lang="en-US" sz="1300" b="1" baseline="-25000" dirty="0">
                          <a:solidFill>
                            <a:schemeClr val="accent1"/>
                          </a:solidFill>
                        </a:rPr>
                        <a:t>y</a:t>
                      </a: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, M₀, M</a:t>
                      </a:r>
                      <a:r>
                        <a:rPr lang="en-US" sz="1300" b="1" baseline="-25000" dirty="0">
                          <a:solidFill>
                            <a:schemeClr val="accent1"/>
                          </a:solidFill>
                        </a:rPr>
                        <a:t>L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Forces and moments at both clamps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U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Energy; also a check on the branch label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λ</a:t>
                      </a:r>
                      <a:r>
                        <a:rPr lang="en-US" sz="1300" b="1" baseline="-25000" dirty="0">
                          <a:solidFill>
                            <a:schemeClr val="accent1"/>
                          </a:solidFill>
                        </a:rPr>
                        <a:t>min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Stability: negative means an unstable equilibrium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MAC to source, refinement count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Flags samples right next to a snap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path_id, step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Sequence context for option E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Newton iterations, residual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Data quality; filter suspicious solves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Recommended plan: fix, sweep both branches, then add paths</a:t>
            </a:r>
            <a:endParaRPr lang="en-US" sz="3000" dirty="0"/>
          </a:p>
        </p:txBody>
      </p:sp>
      <p:sp>
        <p:nvSpPr>
          <p:cNvPr id="300" name="card-300"/>
          <p:cNvSpPr/>
          <p:nvPr/>
        </p:nvSpPr>
        <p:spPr>
          <a:xfrm>
            <a:off x="548640" y="1417320"/>
            <a:ext cx="2514600" cy="2514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01" name="badge-301"/>
          <p:cNvSpPr/>
          <p:nvPr/>
        </p:nvSpPr>
        <p:spPr>
          <a:xfrm>
            <a:off x="749808" y="157276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02" name="badge-label-302"/>
          <p:cNvSpPr txBox="1"/>
          <p:nvPr/>
        </p:nvSpPr>
        <p:spPr>
          <a:xfrm>
            <a:off x="749808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0</a:t>
            </a:r>
            <a:endParaRPr lang="en-US" sz="1700" dirty="0"/>
          </a:p>
        </p:txBody>
      </p:sp>
      <p:sp>
        <p:nvSpPr>
          <p:cNvPr id="303" name="phase-head-303"/>
          <p:cNvSpPr txBox="1"/>
          <p:nvPr/>
        </p:nvSpPr>
        <p:spPr>
          <a:xfrm>
            <a:off x="749808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Fix and verify</a:t>
            </a:r>
            <a:endParaRPr lang="en-US" sz="1600" dirty="0"/>
          </a:p>
        </p:txBody>
      </p:sp>
      <p:sp>
        <p:nvSpPr>
          <p:cNvPr id="304" name="phase-body-304"/>
          <p:cNvSpPr txBox="1"/>
          <p:nvPr/>
        </p:nvSpPr>
        <p:spPr>
          <a:xfrm>
            <a:off x="749808" y="2651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Mirrored-moment sign; mesh convergence near d → 1; add the stability eigenvalue.</a:t>
            </a:r>
            <a:endParaRPr lang="en-US" sz="1350" dirty="0"/>
          </a:p>
        </p:txBody>
      </p:sp>
      <p:sp>
        <p:nvSpPr>
          <p:cNvPr id="305" name="flow-arrow-305"/>
          <p:cNvSpPr/>
          <p:nvPr/>
        </p:nvSpPr>
        <p:spPr>
          <a:xfrm>
            <a:off x="3090672" y="2674620"/>
            <a:ext cx="283464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06" name="card-306"/>
          <p:cNvSpPr/>
          <p:nvPr/>
        </p:nvSpPr>
        <p:spPr>
          <a:xfrm>
            <a:off x="3401568" y="1417320"/>
            <a:ext cx="2514600" cy="2514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07" name="badge-307"/>
          <p:cNvSpPr/>
          <p:nvPr/>
        </p:nvSpPr>
        <p:spPr>
          <a:xfrm>
            <a:off x="3602736" y="157276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08" name="badge-label-308"/>
          <p:cNvSpPr txBox="1"/>
          <p:nvPr/>
        </p:nvSpPr>
        <p:spPr>
          <a:xfrm>
            <a:off x="3602736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sp>
        <p:nvSpPr>
          <p:cNvPr id="309" name="phase-head-309"/>
          <p:cNvSpPr txBox="1"/>
          <p:nvPr/>
        </p:nvSpPr>
        <p:spPr>
          <a:xfrm>
            <a:off x="3602736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Branch-aware grid (B)</a:t>
            </a:r>
            <a:endParaRPr lang="en-US" sz="1600" dirty="0"/>
          </a:p>
        </p:txBody>
      </p:sp>
      <p:sp>
        <p:nvSpPr>
          <p:cNvPr id="310" name="phase-body-310"/>
          <p:cNvSpPr txBox="1"/>
          <p:nvPr/>
        </p:nvSpPr>
        <p:spPr>
          <a:xfrm>
            <a:off x="3602736" y="2651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Production run on the v3 driver: the main training set.</a:t>
            </a:r>
            <a:endParaRPr lang="en-US" sz="1350" dirty="0"/>
          </a:p>
        </p:txBody>
      </p:sp>
      <p:sp>
        <p:nvSpPr>
          <p:cNvPr id="311" name="flow-arrow-311"/>
          <p:cNvSpPr/>
          <p:nvPr/>
        </p:nvSpPr>
        <p:spPr>
          <a:xfrm>
            <a:off x="5943600" y="2674620"/>
            <a:ext cx="283464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12" name="card-312"/>
          <p:cNvSpPr/>
          <p:nvPr/>
        </p:nvSpPr>
        <p:spPr>
          <a:xfrm>
            <a:off x="6254496" y="1417320"/>
            <a:ext cx="2514600" cy="2514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13" name="badge-313"/>
          <p:cNvSpPr/>
          <p:nvPr/>
        </p:nvSpPr>
        <p:spPr>
          <a:xfrm>
            <a:off x="6455664" y="157276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14" name="badge-label-314"/>
          <p:cNvSpPr txBox="1"/>
          <p:nvPr/>
        </p:nvSpPr>
        <p:spPr>
          <a:xfrm>
            <a:off x="6455664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sp>
        <p:nvSpPr>
          <p:cNvPr id="315" name="phase-head-315"/>
          <p:cNvSpPr txBox="1"/>
          <p:nvPr/>
        </p:nvSpPr>
        <p:spPr>
          <a:xfrm>
            <a:off x="6455664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Actuation paths (E)</a:t>
            </a:r>
            <a:endParaRPr lang="en-US" sz="1600" dirty="0"/>
          </a:p>
        </p:txBody>
      </p:sp>
      <p:sp>
        <p:nvSpPr>
          <p:cNvPr id="316" name="phase-body-316"/>
          <p:cNvSpPr txBox="1"/>
          <p:nvPr/>
        </p:nvSpPr>
        <p:spPr>
          <a:xfrm>
            <a:off x="6455664" y="2651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Sequence data for a policy or MPC, plus an independent test set.</a:t>
            </a:r>
            <a:endParaRPr lang="en-US" sz="1350" dirty="0"/>
          </a:p>
        </p:txBody>
      </p:sp>
      <p:sp>
        <p:nvSpPr>
          <p:cNvPr id="317" name="flow-arrow-317"/>
          <p:cNvSpPr/>
          <p:nvPr/>
        </p:nvSpPr>
        <p:spPr>
          <a:xfrm>
            <a:off x="8796528" y="2674620"/>
            <a:ext cx="283464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18" name="card-318"/>
          <p:cNvSpPr/>
          <p:nvPr/>
        </p:nvSpPr>
        <p:spPr>
          <a:xfrm>
            <a:off x="9107424" y="1417320"/>
            <a:ext cx="2514600" cy="2514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19" name="badge-319"/>
          <p:cNvSpPr/>
          <p:nvPr/>
        </p:nvSpPr>
        <p:spPr>
          <a:xfrm>
            <a:off x="9308592" y="157276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20" name="badge-label-320"/>
          <p:cNvSpPr txBox="1"/>
          <p:nvPr/>
        </p:nvSpPr>
        <p:spPr>
          <a:xfrm>
            <a:off x="9308592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sp>
        <p:nvSpPr>
          <p:cNvPr id="321" name="phase-head-321"/>
          <p:cNvSpPr txBox="1"/>
          <p:nvPr/>
        </p:nvSpPr>
        <p:spPr>
          <a:xfrm>
            <a:off x="9308592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Active learning (D)</a:t>
            </a:r>
            <a:endParaRPr lang="en-US" sz="1600" dirty="0"/>
          </a:p>
        </p:txBody>
      </p:sp>
      <p:sp>
        <p:nvSpPr>
          <p:cNvPr id="322" name="phase-body-322"/>
          <p:cNvSpPr txBox="1"/>
          <p:nvPr/>
        </p:nvSpPr>
        <p:spPr>
          <a:xfrm>
            <a:off x="9308592" y="2651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Once a first network exists, top up where it is least certain.</a:t>
            </a:r>
            <a:endParaRPr lang="en-US" sz="1350" dirty="0"/>
          </a:p>
        </p:txBody>
      </p:sp>
      <p:sp>
        <p:nvSpPr>
          <p:cNvPr id="323" name="card-323"/>
          <p:cNvSpPr/>
          <p:nvPr/>
        </p:nvSpPr>
        <p:spPr>
          <a:xfrm>
            <a:off x="548640" y="4206240"/>
            <a:ext cx="6400800" cy="1371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24" name="card-head-324"/>
          <p:cNvSpPr txBox="1"/>
          <p:nvPr/>
        </p:nvSpPr>
        <p:spPr>
          <a:xfrm>
            <a:off x="749808" y="4370831"/>
            <a:ext cx="5998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Decision needed: which controller?</a:t>
            </a:r>
            <a:endParaRPr lang="en-US" sz="1700" dirty="0"/>
          </a:p>
        </p:txBody>
      </p:sp>
      <p:sp>
        <p:nvSpPr>
          <p:cNvPr id="325" name="card-body-325"/>
          <p:cNvSpPr txBox="1"/>
          <p:nvPr/>
        </p:nvSpPr>
        <p:spPr>
          <a:xfrm>
            <a:off x="749808" y="4773168"/>
            <a:ext cx="59984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forward surrogate for MPC leans the plan towards B. A learned policy leans it towards E. The choice sets how the budget is split between phases 1 and 2.</a:t>
            </a:r>
            <a:endParaRPr lang="en-US" sz="1400" dirty="0"/>
          </a:p>
        </p:txBody>
      </p:sp>
      <p:sp>
        <p:nvSpPr>
          <p:cNvPr id="326" name="card-326"/>
          <p:cNvSpPr/>
          <p:nvPr/>
        </p:nvSpPr>
        <p:spPr>
          <a:xfrm>
            <a:off x="7223760" y="4206240"/>
            <a:ext cx="4389120" cy="1371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27" name="card-head-327"/>
          <p:cNvSpPr txBox="1"/>
          <p:nvPr/>
        </p:nvSpPr>
        <p:spPr>
          <a:xfrm>
            <a:off x="7424928" y="4370831"/>
            <a:ext cx="39867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Where C fits</a:t>
            </a:r>
            <a:endParaRPr lang="en-US" sz="1700" dirty="0"/>
          </a:p>
        </p:txBody>
      </p:sp>
      <p:sp>
        <p:nvSpPr>
          <p:cNvPr id="328" name="card-body-328"/>
          <p:cNvSpPr txBox="1"/>
          <p:nvPr/>
        </p:nvSpPr>
        <p:spPr>
          <a:xfrm>
            <a:off x="7424928" y="4773168"/>
            <a:ext cx="398678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Only if the controller must work right at the fold boundary, where the exact snap surface matters.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72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Takeaways</a:t>
            </a:r>
            <a:endParaRPr lang="en-US" sz="3600" dirty="0"/>
          </a:p>
        </p:txBody>
      </p:sp>
      <p:sp>
        <p:nvSpPr>
          <p:cNvPr id="3" name="badge-256"/>
          <p:cNvSpPr/>
          <p:nvPr/>
        </p:nvSpPr>
        <p:spPr>
          <a:xfrm>
            <a:off x="548640" y="1737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badge-label-257"/>
          <p:cNvSpPr txBox="1"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-258"/>
          <p:cNvSpPr txBox="1"/>
          <p:nvPr/>
        </p:nvSpPr>
        <p:spPr>
          <a:xfrm>
            <a:off x="548640" y="2514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The snap is a fold</a:t>
            </a:r>
            <a:endParaRPr lang="en-US" sz="2000" dirty="0"/>
          </a:p>
        </p:txBody>
      </p:sp>
      <p:sp>
        <p:nvSpPr>
          <p:cNvPr id="6" name="text-259"/>
          <p:cNvSpPr txBox="1"/>
          <p:nvPr/>
        </p:nvSpPr>
        <p:spPr>
          <a:xfrm>
            <a:off x="548640" y="301752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Newton converges on both sides of it, so the jump has to be detected from the shape, not the residual.</a:t>
            </a:r>
            <a:endParaRPr lang="en-US" sz="1600" dirty="0"/>
          </a:p>
        </p:txBody>
      </p:sp>
      <p:sp>
        <p:nvSpPr>
          <p:cNvPr id="7" name="badge-260"/>
          <p:cNvSpPr/>
          <p:nvPr/>
        </p:nvSpPr>
        <p:spPr>
          <a:xfrm>
            <a:off x="4334256" y="1737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badge-label-261"/>
          <p:cNvSpPr txBox="1"/>
          <p:nvPr/>
        </p:nvSpPr>
        <p:spPr>
          <a:xfrm>
            <a:off x="4334256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-262"/>
          <p:cNvSpPr txBox="1"/>
          <p:nvPr/>
        </p:nvSpPr>
        <p:spPr>
          <a:xfrm>
            <a:off x="4334256" y="2514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MAC makes it cheap</a:t>
            </a:r>
            <a:endParaRPr lang="en-US" sz="2000" dirty="0"/>
          </a:p>
        </p:txBody>
      </p:sp>
      <p:sp>
        <p:nvSpPr>
          <p:cNvPr id="10" name="text-263"/>
          <p:cNvSpPr txBox="1"/>
          <p:nvPr/>
        </p:nvSpPr>
        <p:spPr>
          <a:xfrm>
            <a:off x="4334256" y="301752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≈ 0.9999 between smooth neighbours and below 0.1 across the jump: one dot product per solve.</a:t>
            </a:r>
            <a:endParaRPr lang="en-US" sz="1600" dirty="0"/>
          </a:p>
        </p:txBody>
      </p:sp>
      <p:sp>
        <p:nvSpPr>
          <p:cNvPr id="11" name="badge-264"/>
          <p:cNvSpPr/>
          <p:nvPr/>
        </p:nvSpPr>
        <p:spPr>
          <a:xfrm>
            <a:off x="8119872" y="1737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265"/>
          <p:cNvSpPr txBox="1"/>
          <p:nvPr/>
        </p:nvSpPr>
        <p:spPr>
          <a:xfrm>
            <a:off x="8119872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-266"/>
          <p:cNvSpPr txBox="1"/>
          <p:nvPr/>
        </p:nvSpPr>
        <p:spPr>
          <a:xfrm>
            <a:off x="8119872" y="2514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Two ways to use it</a:t>
            </a:r>
            <a:endParaRPr lang="en-US" sz="2000" dirty="0"/>
          </a:p>
        </p:txBody>
      </p:sp>
      <p:sp>
        <p:nvSpPr>
          <p:cNvPr id="14" name="text-267"/>
          <p:cNvSpPr txBox="1"/>
          <p:nvPr/>
        </p:nvSpPr>
        <p:spPr>
          <a:xfrm>
            <a:off x="8119872" y="301752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v4 gates a cold restart with it. v3 drives step halving with it and accepts a jump only once it survives 32 sub-steps.</a:t>
            </a:r>
            <a:endParaRPr lang="en-US" sz="1600" dirty="0"/>
          </a:p>
        </p:txBody>
      </p:sp>
      <p:sp>
        <p:nvSpPr>
          <p:cNvPr id="15" name="text-268"/>
          <p:cNvSpPr txBox="1"/>
          <p:nvPr/>
        </p:nvSpPr>
        <p:spPr>
          <a:xfrm>
            <a:off x="548640" y="5303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accent1"/>
                </a:solidFill>
              </a:rPr>
              <a:t>Next: fix the mirrored-moment sign · mesh-convergence check near d → 1 · branch-aware production run for the controller dataset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astica">
  <a:themeElements>
    <a:clrScheme name="Elastica">
      <a:dk1>
        <a:srgbClr val="16222E"/>
      </a:dk1>
      <a:lt1>
        <a:srgbClr val="FFFFFF"/>
      </a:lt1>
      <a:dk2>
        <a:srgbClr val="2E4A5C"/>
      </a:dk2>
      <a:lt2>
        <a:srgbClr val="EEF2F4"/>
      </a:lt2>
      <a:accent1>
        <a:srgbClr val="D9822B"/>
      </a:accent1>
      <a:accent2>
        <a:srgbClr val="2A9D8F"/>
      </a:accent2>
      <a:accent3>
        <a:srgbClr val="C8553D"/>
      </a:accent3>
      <a:accent4>
        <a:srgbClr val="E9C46A"/>
      </a:accent4>
      <a:accent5>
        <a:srgbClr val="5C6B7A"/>
      </a:accent5>
      <a:accent6>
        <a:srgbClr val="8A96A3"/>
      </a:accent6>
      <a:hlink>
        <a:srgbClr val="2A9D8F"/>
      </a:hlink>
      <a:folHlink>
        <a:srgbClr val="5C6B7A"/>
      </a:folHlink>
    </a:clrScheme>
    <a:fontScheme name="Elastic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5154</Words>
  <Application>Microsoft Office PowerPoint</Application>
  <PresentationFormat>Widescreen</PresentationFormat>
  <Paragraphs>513</Paragraphs>
  <Slides>32</Slides>
  <Notes>30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Cambria</vt:lpstr>
      <vt:lpstr>Cambria Math</vt:lpstr>
      <vt:lpstr>Elastica</vt:lpstr>
      <vt:lpstr>Mapping the clamped elastica across its snap surface</vt:lpstr>
      <vt:lpstr>One rod, three parameters, a map of equilibria</vt:lpstr>
      <vt:lpstr>Equilibria are stationary points of the bending energy</vt:lpstr>
      <vt:lpstr>Stationarity gives the elastica equation and a mixed weak form</vt:lpstr>
      <vt:lpstr>Each parameter point is one Newton solve on 103 unknowns</vt:lpstr>
      <vt:lpstr>The snap surface</vt:lpstr>
      <vt:lpstr>Two equilibria 0.01 rad apart: the rod has snapped</vt:lpstr>
      <vt:lpstr>MAC: a shape-similarity test that flags a branch switch</vt:lpstr>
      <vt:lpstr>Smooth fields, then a jump across an L-shaped surface</vt:lpstr>
      <vt:lpstr>The neighbour-MAC map alone traces the snap surface</vt:lpstr>
      <vt:lpstr>The snap surface in 3D</vt:lpstr>
      <vt:lpstr>Extracting the snap surface: a MAC isosurface</vt:lpstr>
      <vt:lpstr>Seen down the d axis, the L-shaped locus closes in</vt:lpstr>
      <vt:lpstr>The sheet rises from the step in axial force</vt:lpstr>
      <vt:lpstr>Continuation strategies</vt:lpstr>
      <vt:lpstr>CURRENTv4: traverse the grid, accept or reject by MAC</vt:lpstr>
      <vt:lpstr>First-mode cold start keeps Newton on the fundamental branch</vt:lpstr>
      <vt:lpstr>CURRENTv3: MAC sets the step size of every move</vt:lpstr>
      <vt:lpstr>CURRENTv3 sweeps d layer by layer with one cold start</vt:lpstr>
      <vt:lpstr>Gradient refinement packs points onto the snap surface</vt:lpstr>
      <vt:lpstr>Optimization: Mirror symmetry halves the number of solves</vt:lpstr>
      <vt:lpstr>Side by side: CURRENTv4 and CURRENTv3</vt:lpstr>
      <vt:lpstr>Open issues worth checking</vt:lpstr>
      <vt:lpstr>Towards a data-driven controller</vt:lpstr>
      <vt:lpstr>A controller needs branch-aware data</vt:lpstr>
      <vt:lpstr>Five ways to run the production campaign</vt:lpstr>
      <vt:lpstr>Options A and B: grid sweeps</vt:lpstr>
      <vt:lpstr>Options C–E: change the numerics, sampling or data</vt:lpstr>
      <vt:lpstr>Scale: a day on one core, hours on a workstation</vt:lpstr>
      <vt:lpstr>One record per equilibrium: what to store</vt:lpstr>
      <vt:lpstr>Recommended plan: fix, sweep both branches, then add paths</vt:lpstr>
      <vt:lpstr>Takeaways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Mapping the clamped elastica across its snap surface</dc:title>
  <dc:subject>PptxGenJS Presentation</dc:subject>
  <dc:creator>PptxGenJS</dc:creator>
  <cp:lastModifiedBy>Bendale Goraksh Manish</cp:lastModifiedBy>
  <cp:revision>4</cp:revision>
  <dcterms:created xsi:type="dcterms:W3CDTF">2026-10-09T14:15:45Z</dcterms:created>
  <dcterms:modified xsi:type="dcterms:W3CDTF">2026-10-09T15:29:04Z</dcterms:modified>
</cp:coreProperties>
</file>