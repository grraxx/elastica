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76" r:id="rId12"/>
    <p:sldId id="277" r:id="rId13"/>
    <p:sldId id="278" r:id="rId14"/>
    <p:sldId id="279" r:id="rId15"/>
    <p:sldId id="266" r:id="rId16"/>
    <p:sldId id="267" r:id="rId17"/>
    <p:sldId id="289" r:id="rId18"/>
    <p:sldId id="268" r:id="rId19"/>
    <p:sldId id="288" r:id="rId20"/>
    <p:sldId id="269" r:id="rId21"/>
    <p:sldId id="270" r:id="rId22"/>
    <p:sldId id="271" r:id="rId23"/>
    <p:sldId id="272" r:id="rId24"/>
    <p:sldId id="273" r:id="rId25"/>
    <p:sldId id="274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75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The snap surface" id="{8EC7598D-7973-6D1C-AB16-2878DA9877AD}">
          <p14:sldIdLst>
            <p14:sldId id="261"/>
            <p14:sldId id="263"/>
            <p14:sldId id="264"/>
            <p14:sldId id="262"/>
            <p14:sldId id="265"/>
          </p14:sldIdLst>
        </p14:section>
        <p14:section name="The snap surface in 3D" id="{E1662D2F-7D64-49F1-BBD5-1793E541FB15}">
          <p14:sldIdLst>
            <p14:sldId id="276"/>
            <p14:sldId id="277"/>
            <p14:sldId id="278"/>
            <p14:sldId id="279"/>
          </p14:sldIdLst>
        </p14:section>
        <p14:section name="Continuation strategies" id="{95CDCF11-1B6B-B936-99DA-258805DCA0FC}">
          <p14:sldIdLst>
            <p14:sldId id="266"/>
            <p14:sldId id="267"/>
            <p14:sldId id="289"/>
            <p14:sldId id="268"/>
            <p14:sldId id="28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owards a data-driven controller" id="{F71EED39-2D3A-4D66-90B3-D4C2929FC475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58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Today I'll walk through how we map every equilibrium of a clamped rod as we change its end distance and its two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hard part is the snap: at some settings the rod suddenly jumps to a different shape, and the solver has to notice that.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We'll go through the math, the snap surface itself, how the two solver versions cope with it, and what it means for training a controller.</a:t>
            </a:r>
          </a:p>
          <a:p>
            <a:endParaRPr lang="en-US" dirty="0"/>
          </a:p>
          <a:p>
            <a:r>
              <a:rPr lang="en-US" dirty="0"/>
              <a:t>This deck walks through the two elastica solvers in CURRENTv3 and CURRENTv4: the governing math, how a single equilibrium is computed, and especially how each code behaves near the snap surface where the equilibrium jumps from one branch to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Picture a thin rod of unit length, clamped at both ends.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control three things: how far apart the clamps are, d, and the angle of each clamp, φ₁ and φ₂.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For every combination we solve for the rod's shape and the end forces, then record the clamp moment and the bending energy.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the result is a 3D map with one equilibrium per point of the (d, φ₁, φ₂) box.</a:t>
            </a:r>
          </a:p>
          <a:p>
            <a:endParaRPr lang="en-US" dirty="0"/>
          </a:p>
          <a:p>
            <a:r>
              <a:rPr lang="en-US" dirty="0"/>
              <a:t>The rod has unit length and is clamped at both ends. d is the horizontal distance between the clamps; phi1 and phi2 are the clamp angles. Ranges are the ones in each version's config.json. The results shown later come from the CURRENTv3/sol4 run (d 0.90 to 0.95, phi in [-0.8, 0.8], step 0.01).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rod settles where its bending energy is stationary, with its ends held where we put them.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describe the shape by the tangent angle θ along the rod, which keeps the length fixed automatically.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positions come in through two Lagrange multipliers, fx and fy, and those turn out to be the reaction forces at the clamp.</a:t>
            </a:r>
          </a:p>
          <a:p>
            <a:endParaRPr lang="en-US" dirty="0"/>
          </a:p>
          <a:p>
            <a:r>
              <a:rPr lang="en-US" dirty="0"/>
              <a:t>Arc-length parametrisation makes inextensibility automatic: x' = cos(theta), y' = sin(theta). The end-position constraints become two integral constraints, handled with scalar multipliers f_x and f_y.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Setting the variation of the Lagrangian to zero gives the classic elastica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FEniCSx we solve it in weak form: θ on 100 linear elements, plus one global unknown each for fx and fy.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clamp angles are just fixed values of θ at the two ends.</a:t>
            </a:r>
          </a:p>
          <a:p>
            <a:endParaRPr lang="en-US" dirty="0"/>
          </a:p>
          <a:p>
            <a:r>
              <a:rPr lang="en-US" dirty="0"/>
              <a:t>F0 is the weak form of the elastica ODE; F1 and F2 tested against constants enforce the integral constraints. The three blocks are passed to dolfinx NonlinearProblem as a block system [theta, fx, 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Each point of the map is a single Newton solve on only 103 unknowns, so one solve is very cheap.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use a direct LU solve and a backtracking line search, with tight tolerances.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catch is the fold: there the Jacobian goes singular, which is exactly where the snap happens and where Newton needs help.</a:t>
            </a:r>
          </a:p>
          <a:p>
            <a:endParaRPr lang="en-US" dirty="0"/>
          </a:p>
          <a:p>
            <a:r>
              <a:rPr lang="en-US" dirty="0"/>
              <a:t>One ElasticaSolver object is built once and reused for every parameter point: only the constants d, phi1, phi2 and the initial guess change between 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 let's look at what the snap actually looks like in the data.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the feature that makes the whole problem interesting, and hard.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two converged shapes are only a hundredth of a radian apart in clamp angle, yet they look completely different.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branch the rod was on simply ends, so it jumps to another one.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solutions meet the tolerance, so convergence alone can't tell you that a jump happened.</a:t>
            </a:r>
          </a:p>
          <a:p>
            <a:endParaRPr lang="en-US" dirty="0"/>
          </a:p>
          <a:p>
            <a:r>
              <a:rPr lang="en-US" dirty="0"/>
              <a:t>The S-shaped (green) and the reversed-hump (orange) configurations are both legitimate equilibria. A Newton solve that converges is not enough: you need to check the shape against where you came from. That is the job of the MAC.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catch a jump we compare shapes, using the Modal Assurance Criterion from vibration analysis.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It's essentially the squared cosine between two θ vectors: 1 means the same shape, near 0 means unrelated shapes.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Neighbours on the same branch score about 0.9999; across the snap it drops to 0.087, so the signal is very clear.</a:t>
            </a:r>
          </a:p>
          <a:p>
            <a:endParaRPr lang="en-US" dirty="0"/>
          </a:p>
          <a:p>
            <a:r>
              <a:rPr lang="en-US" dirty="0"/>
              <a:t>MAC is borrowed from modal analysis: the squared cosine of the angle between two discrete theta vectors. Along a line cut through the snap it stays at 1 everywhere except the single grid interval that crosses the surface, where it collapses to 0.087.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are the solution fields on one slice, at d = 0.90.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smooth inside, then there's a sharp L-shaped edge where all the fields jump together.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energy, for example, more than doubles in a single grid step.</a:t>
            </a:r>
          </a:p>
          <a:p>
            <a:endParaRPr lang="en-US" dirty="0"/>
          </a:p>
          <a:p>
            <a:r>
              <a:rPr lang="en-US" dirty="0"/>
              <a:t>Every field (U, fx, fy, M0) shows the same L-shaped discontinuity. Inside it the rod sits on one branch; outside, on another. The rest of the deck is about how the code handles this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If we just compute MAC between neighbouring grid points, the snap surface pops right out.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red contour is where MAC drops below 0.9, and nothing else in the slice comes close to that.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As the rod gets closer to straight, d towards 1, the surface moves inward.</a:t>
            </a:r>
          </a:p>
          <a:p>
            <a:endParaRPr lang="en-US" dirty="0"/>
          </a:p>
          <a:p>
            <a:r>
              <a:rPr lang="en-US" dirty="0"/>
              <a:t>Computed directly from the stored theta fields: for each grid point, the minimum MAC to its four neighbours. The 0.90 contour is the snap surface. Its two arms are mirror images under (phi1, phi2) -&gt; (-phi2, -phi1).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build the surface we compute MAC along every edge of the tetrahedral mesh and keep the worst value at each node.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ParaView then draws the isosurface at MAC = 0.9 and smooths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As a sanity check, nearly 90 percent of the flagged edges also show a large jump in energy.</a:t>
            </a:r>
          </a:p>
          <a:p>
            <a:endParaRPr lang="en-US" dirty="0"/>
          </a:p>
          <a:p>
            <a:r>
              <a:rPr lang="en-US" dirty="0"/>
              <a:t>The indicator is computed from the theta field stored in solution_space_results.vtu of the CURRENTv4 0.02 run (make_mac_vtu.py); ParaView does the contouring, smoothing and rendering (render_snap.py, state saved as snap_surface.pvsm). Why MAC and not energy: a relative energy-jump indicator on the denser 0.01 run also picked up steep but smooth regions near d -&gt; 1 and produced a false sheet at the top of the box. 1 - MAC has a clear gap between smooth edges (below 0.03) and jump edges (above 0.3).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Looking straight down the d axis, every level of the sheet is the same L shape we saw in 2D.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Reassuringly, v3 and v4 put the jump in almost the same place, around φ₁ = −0.55 at d = 0.90.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And you can see the surface closing in as d approaches 1.</a:t>
            </a:r>
          </a:p>
          <a:p>
            <a:endParaRPr lang="en-US" dirty="0"/>
          </a:p>
          <a:p>
            <a:r>
              <a:rPr lang="en-US" dirty="0"/>
              <a:t>Looking down the d axis turns the sheet back into the family of L-shaped curves from the 2D slides. The v4 run (irregular tet mesh, distance-ordered traversal) and the v3 run (structured grid, adaptive MAC continuation) put the jump in the same place at d = 0.90, which is a useful independent check on both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 the floor is coloured by the axial force fx, and the sheet sits right on the step in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fx roughly doubles across the line at every d we checked.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a surface built purely from shape agrees with what the forces see, to within about one mesh cell.</a:t>
            </a:r>
          </a:p>
          <a:p>
            <a:endParaRPr lang="en-US" dirty="0"/>
          </a:p>
          <a:p>
            <a:r>
              <a:rPr lang="en-US" dirty="0"/>
              <a:t>Cut-away at d = 0.90: the plane is the volume data sliced at d = 0.90 and coloured by f_x on a fixed 0-70 scale; the MAC isosurface is clipped to d &gt;= 0.90 and drawn translucent, so its base line and the f_x step can be compared directly. The values on the right are the largest f_x step along phi2 = 0 at three d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Next: how each solver version walks through the parameter space without being fooled by the snap.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use MAC, but in quite different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v4 starts with a single cold start at zero clamp angles and the smallest d, where we know the answer exactly.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then works outward, warm-starting each node from a neighbour that's already solved.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Newton fails or the shape doesn't match by MAC, it simply tries the next neighbour.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if every neighbour fails does it cold-start again, and mirror symmetry means we solve only half the box.</a:t>
            </a:r>
          </a:p>
          <a:p>
            <a:endParaRPr lang="en-US" dirty="0"/>
          </a:p>
          <a:p>
            <a:r>
              <a:rPr lang="en-US" dirty="0"/>
              <a:t>CURRENTv4 uses MAC as a gate. The only planned cold start is at φ₁ = φ₂ = 0 at the smallest d. Every other node tries its solved grid neighbours, nearest first: a warm start capped at 50 Newton iterations, then a MAC comparison against that neighbour's field. Below 0.85, or if Newton fails, the next neighbour is tried. Only when all have failed is the node cold-started: continuation from the exact first clamped mode, from both hump directions, keeping the lower-energy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When we need a cold start at non-zero angles, we begin from that exact mode and gently turn the clamps to their targets.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Each step starts from the previous solution; if a step fails we halve it, and giving up means we've hit a fold.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do this for the hump-up and the hump-down shape and keep the lower-energy one; the dotted curve is the one we discard.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converges more often than the old sine guess: 296 of 300 random points against 285.</a:t>
            </a:r>
          </a:p>
          <a:p>
            <a:endParaRPr lang="en-US" dirty="0"/>
          </a:p>
          <a:p>
            <a:r>
              <a:rPr lang="en-US" dirty="0"/>
              <a:t>CURRENTv3 still uses the old guess, ramp + A sin(πs/L), which is not admissible: its integral of θ is 2AL/π, so the end starts off the axis. The exact mode is θ = 2 asin(√m sn(4Ks/L | m)) with d/L = 2E/K − 1 and fx = (4K/L)². The figure shows rod shapes, x = ∫cos θ ds and y = ∫sin θ ds, from the real cold start at d = 0.90, φ₁ = 0.60, φ₂ = −0.40: two continuation steps between the exact mode and the target; both branches reach it, and the U = 1.23 one is kept over U = 8.17.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v3 uses MAC differently: as a step-size control rather than a gate.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moves one parameter at a time; if a step fails or the shape changes too much, it halves the step and tries again.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the jump is still there after 32 sub-steps, it accepts it as a genuine snap and records how much refinement it took.</a:t>
            </a:r>
          </a:p>
          <a:p>
            <a:endParaRPr lang="en-US" dirty="0"/>
          </a:p>
          <a:p>
            <a:r>
              <a:rPr lang="en-US" dirty="0"/>
              <a:t>solve_with_adaptive_mac in CURRENTv3/script/main.py. Away from the snap the full step passes first time (r = 0). Near it, refinement shrinks the step until each sub-step stays on one branch. If the MAC still fails at a 1/32 step, the discontinuity is real, and the candidate is accepted with the refinement count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v3 sweeps the box one d layer at a time, from a single cold start.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Within a layer it always moves to a nearby point, so every warm start is about one grid step away.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And it fails loudly: if a warm start fails, the run stops and reports the point instead of quietly switching branch.</a:t>
            </a:r>
          </a:p>
          <a:p>
            <a:endParaRPr lang="en-US" dirty="0"/>
          </a:p>
          <a:p>
            <a:r>
              <a:rPr lang="en-US" dirty="0"/>
              <a:t>This ordering is what makes MAC meaningful: the reference shape is always a near neighbour, so a low MAC really means a branch switch and not just a long continuation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Because the snap is so sharp, v3 adds extra points where θ changes fastest.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estimates the gradient from neighbours, proposes midpoints, and keeps the top ten percent.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After three rounds the new points sit right on the snap surface instead of being spent in the smooth interior.</a:t>
            </a:r>
          </a:p>
          <a:p>
            <a:endParaRPr lang="en-US" dirty="0"/>
          </a:p>
          <a:p>
            <a:r>
              <a:rPr lang="en-US" dirty="0"/>
              <a:t>gradient_refinement_points in CURRENTv3/script/main.py. Because theta changes fastest across the snap, the refinement automatically spends new solves there and not in the smooth interior.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Flipping the rod end to end maps one half of the box onto the other.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we solve only half the points and fill in the rest with simple sign rules: fy flips, fx and the energy stay the same.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That's a straight factor of two saved, in both versions.</a:t>
            </a:r>
          </a:p>
          <a:p>
            <a:endParaRPr lang="en-US" dirty="0"/>
          </a:p>
          <a:p>
            <a:r>
              <a:rPr lang="en-US" dirty="0"/>
              <a:t>Both versions use this. The mirrored theta is obtained by reversing and negating the stored nodal values, so no extra solves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Here's the side-by-side summary of the two codes.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key difference is the role of MAC: a gate in v4, a step-size control in v3.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v4 is now the more robust of the two and gives ParaView-ready output; v3 resolves the snap more finely through refinement.</a:t>
            </a:r>
          </a:p>
          <a:p>
            <a:endParaRPr lang="en-US" dirty="0"/>
          </a:p>
          <a:p>
            <a:r>
              <a:rPr lang="en-US" dirty="0"/>
              <a:t>By file timestamps the CURRENTv3 scripts (Sep 25 to 26) are newer than CURRENTv4's (Sep 23 to 25), so CURRENTv3 is the more developed algorithm despite the folder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A few things to check before we fully trust the numbers.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v3 stores the wrong sign for the mirrored moment, which is a one-line fix.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Near d = 1 the rod is almost straight and the forces get huge; that's a mesh-resolution limit, not physics.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And MAC on raw θ could be sharpened by removing the end-angle ramp first.</a:t>
            </a:r>
          </a:p>
          <a:p>
            <a:endParaRPr lang="en-US" dirty="0"/>
          </a:p>
          <a:p>
            <a:r>
              <a:rPr lang="en-US" dirty="0"/>
              <a:t>The v3 sign issue is in build_result_arrays: base_moment for mirror nodes is set to -slopes[..., -1]. CURRENTv4 main.py uses right_moment without the minus sign, which matches the derivation. The continuation_candidates config key in v3 is also currently unused: only the last accepted solution is tried as a warm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Whatever kind of network we train, it has to know which equilibrium the rod is 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Inside the hysteresis zone one set of actuations gives two different shapes, so the branch has to be part of the input.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Choosing between a surrogate, an inverse model and a policy is the main decision that shapes the data we collect.</a:t>
            </a:r>
          </a:p>
          <a:p>
            <a:endParaRPr lang="en-US" dirty="0"/>
          </a:p>
          <a:p>
            <a:r>
              <a:rPr lang="en-US" dirty="0"/>
              <a:t>Whatever the network is, the data has to say which equilibrium each sample sits on. Across the fold the forward map from actuation to state is multi-valued: f_x roughly doubles across the snap surface, so averaging the two branches is meaningless. The choice between surrogate, inverse model and policy is the main decision that shapes the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 are five ways to run the campaign, from the simplest to the most ambitious.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is the existing code scaled up, B also captures both branches, and C tracks the folds exactly.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D spends solves where the network is unsure, and E records realistic actuation paths, snaps included.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They aren't exclusive; the plan we recommend combines several of them.</a:t>
            </a:r>
          </a:p>
          <a:p>
            <a:endParaRPr lang="en-US" dirty="0"/>
          </a:p>
          <a:p>
            <a:r>
              <a:rPr lang="en-US" dirty="0"/>
              <a:t>A is what the existing code already does, scaled up. B and E change what is recorded, C changes the numerics, D changes where the solves go. They combine: the recommended plan later in this section uses B, E and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Option A gives one equilibrium per point and needs essentially no new code.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Its weakness is that inside the hysteresis zone, the branch you get depends on the sweep path.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Option B fixes that by sweeping from several seeds in both directions and labelling each branch, including whether it's stable.</a:t>
            </a:r>
          </a:p>
          <a:p>
            <a:endParaRPr lang="en-US" dirty="0"/>
          </a:p>
          <a:p>
            <a:r>
              <a:rPr lang="en-US" dirty="0"/>
              <a:t>Option A cost: 60 d-layers × 145 × 145 phi values ≈ 1.26 M stored points. Measured throughput from file timestamps: v3 sol4 stored 155,526 points in 44 min (0.017 s/point); the v4 runs stored about 13 points per second (0.076 s/point). Stability in B: the smallest eigenvalue of the Hessian of the Lagrangian restricted to the tangent space of the two constraints; negative means the equilibrium is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Option C is the most rigorous view of the snap, but it's research-grade code.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D needs a first network to exist, so it naturally comes second.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 is closest to how a controller is really used: it sees the rod's history and every snap along the way.</a:t>
            </a:r>
          </a:p>
          <a:p>
            <a:endParaRPr lang="en-US" dirty="0"/>
          </a:p>
          <a:p>
            <a:r>
              <a:rPr lang="en-US" dirty="0"/>
              <a:t>C is the most rigorous view of the snap but the most code. D needs a first network to exist, so it is a second stage. E is the closest match to how a controller is actually used: it sees the rod's history and the snaps along realistic actuation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main grid is about 1.26 million points.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These timings come from older runs; with the one-thread fix v4 is now around 3 milliseconds a point, so treat this as conservative.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Each point is tiny, so the work splits naturally across cores: seed each block, then let it run on its own.</a:t>
            </a:r>
          </a:p>
          <a:p>
            <a:endParaRPr lang="en-US" dirty="0"/>
          </a:p>
          <a:p>
            <a:r>
              <a:rPr lang="en-US" dirty="0"/>
              <a:t>Throughput: v3 sol4 stored 155,526 points in 44 min; v4 sol1 stored 740,741 in 15.6 h and v4 sol2 98,120 in 2.1 h. These are wall-clock times per stored point including I/O and refinement, so treat them as a range. Option B multiplies the work by 2–4 and E adds whatever path budget is chosen; both parallelise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This is what we'd store for each equilibrium, rather than for each parameter point.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That way a point in the hysteresis zone simply gets two records with different branch labels.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Besides shape and forces we keep stability, closeness to a snap, and solver-quality flags, so we can filter later.</a:t>
            </a:r>
          </a:p>
          <a:p>
            <a:endParaRPr lang="en-US" dirty="0"/>
          </a:p>
          <a:p>
            <a:r>
              <a:rPr lang="en-US" dirty="0"/>
              <a:t>Storing one record per equilibrium (not per parameter point) is what makes the dataset branch-aware: a point inside the hysteresis zone gets two records with different branch_id. M_L is the clamp moment at s = L, which v4 already computes as right_moment.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We recommend going in phases: fix the known issues, then the branch-aware grid, then actuation paths, then active learning.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one decision we need from you is which kind of controller we're aiming for.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 surrogate for MPC pushes the budget towards the grid; a learned policy pushes it towards paths.</a:t>
            </a:r>
          </a:p>
          <a:p>
            <a:endParaRPr lang="en-US" dirty="0"/>
          </a:p>
          <a:p>
            <a:r>
              <a:rPr lang="en-US" dirty="0"/>
              <a:t>Phase 0 removes known errors before spending compute: the v3 mirrored-moment sign and the large f_x values near d → 1 in the v4 data. Phases 1 and 2 can run in parallel once the driver supports multiple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snap is a fold in the solution branch, and Newton happily converges on both sides of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the jump has to be caught from the shape, and MAC does that for the price of one dot product.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v4 uses it as a gate between neighbours; v3 uses it to control the step size.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Next: fix the moment sign, check mesh convergence near d = 1, and run the branch-aware production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Stacking those slices gives us the snap surface in three dimensions.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extracted it in ParaView from the v4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This slide shows why the cold start is exact rather than a guess.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With both clamp angles at zero the problem is symmetric, so the vertical force vanishes and we get the pendulum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Its solution is a Jacobi elliptic function, and the clamped ends force exactly four quarter-waves, which fixes the axial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distance then pins down the elliptic parameter, and for small bows it reduces to the familiar sine shape and the Euler buckling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are the practical gains from this round of work on v4.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biggest single fix was limiting PETSc to one thread, which made each tiny solve about 40 times faster.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 the test grid every point now solves, the run is about 78 times faster, and we need 2 extra cold starts instead of 47.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also recovers from solver errors, stops cleanly on Ctrl-C, and writes full-size output without running out of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Finally, how all this feeds the bigger goal: training a data-driven controller for the rod.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That needs a production-scale simulation campaign, and there are several ways to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 · CURRENTv3 &amp; CURRENTv4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notesSlide" Target="../notesSlides/notesSlide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5" Type="http://schemas.openxmlformats.org/officeDocument/2006/relationships/image" Target="../media/image230.png"/><Relationship Id="rId6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27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0.png"/><Relationship Id="rId4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Mapping the clamped elastica across its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MAC-guided step control in FEniCSx / PETSc — CURRENTv3 and CURRENTv4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baseline="-40000" dirty="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baseline="-40000" dirty="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the clamp moment M₀ and the bending energy U.</a:t>
            </a:r>
            <a:endParaRPr lang="en-US" sz="1600" dirty="0"/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0.9999;  Δd = 0.005 (v3), 0.01 (v4)</a:t>
            </a:r>
            <a:endParaRPr lang="en-US" sz="1400" dirty="0"/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v3: ±π/2, Δφ = π/144  ·  v4: ±2, Δφ = 0.01</a:t>
            </a:r>
            <a:endParaRPr lang="en-US" sz="1400" dirty="0"/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 — the box is symmetric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100 interval elements</a:t>
            </a:r>
            <a:endParaRPr lang="en-US" sz="1400" dirty="0"/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latex-outputs"/>
              <p:cNvSpPr txBox="1"/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Each parameter point is one Newton solve on 103 unknowns</a:t>
            </a:r>
            <a:endParaRPr lang="en-US" sz="3000" dirty="0"/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u = (θ₀ … θ₁₀₀, 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,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);  α</a:t>
            </a:r>
            <a:r>
              <a:rPr lang="en-US" sz="1500" baseline="-40000" dirty="0">
                <a:solidFill>
                  <a:schemeClr val="tx2"/>
                </a:solidFill>
              </a:rPr>
              <a:t>k</a:t>
            </a:r>
            <a:r>
              <a:rPr lang="en-US" sz="1500" dirty="0">
                <a:solidFill>
                  <a:schemeClr val="tx2"/>
                </a:solidFill>
              </a:rPr>
              <a:t> from cubic backtracking line search</a:t>
            </a:r>
            <a:endParaRPr lang="en-US" sz="1500" dirty="0"/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600" dirty="0"/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101 nodal angles + 2 multipliers</a:t>
            </a:r>
            <a:endParaRPr lang="en-US" sz="1200" dirty="0"/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/ 500</a:t>
            </a:r>
            <a:endParaRPr lang="en-US" sz="3600" dirty="0"/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max Newton its</a:t>
            </a:r>
            <a:endParaRPr lang="en-US" sz="1500" dirty="0"/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CURRENTv3 / CURRENTv4</a:t>
            </a:r>
            <a:endParaRPr lang="en-US" sz="1200" dirty="0"/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The Jacobian borders the θ-block with the constraint rows. At a fold of the solution branch it becomes singular — so the snap surface is exactly where Newton loses its footing, and where the continuation logic has to take over.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/tmp/claude-1000/-home-goraksh/bd4a8aa0-f932-4355-8328-b02b4cf010d1/scratchpad/deck/fig/sh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6035040" cy="3945988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0. Converged solutions on either side of the jump.</a:t>
            </a:r>
            <a:endParaRPr lang="en-US" sz="1100" dirty="0"/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MAC: a shape-similarity test that flags a branch switch</a:t>
            </a:r>
            <a:endParaRPr lang="en-US" sz="3000" dirty="0"/>
          </a:p>
        </p:txBody>
      </p:sp>
      <p:sp>
        <p:nvSpPr>
          <p:cNvPr id="3" name="card-96"/>
          <p:cNvSpPr/>
          <p:nvPr/>
        </p:nvSpPr>
        <p:spPr>
          <a:xfrm>
            <a:off x="548640" y="1417320"/>
            <a:ext cx="5760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mac"/>
              <p:cNvSpPr txBox="1"/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AC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  <m:sup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ma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mac-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5760720" cy="2057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θ pair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Identical shape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Smooth grid neighbours (Δφ = 0.01)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≈ 0.9999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Across the snap (d = 0.90, φ₂ = 0)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0.087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Threshold: CURRENTv3 / 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 /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-99"/>
          <p:cNvSpPr txBox="1"/>
          <p:nvPr/>
        </p:nvSpPr>
        <p:spPr>
          <a:xfrm>
            <a:off x="548640" y="50749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Scale-invariant: it compares shape, not amplitude, which is exactly what changes when the rod jumps branch.</a:t>
            </a:r>
            <a:endParaRPr lang="en-US" sz="1500" dirty="0"/>
          </a:p>
        </p:txBody>
      </p:sp>
      <p:pic>
        <p:nvPicPr>
          <p:cNvPr id="7" name="figure-100" descr="/tmp/claude-1000/-home-goraksh/bd4a8aa0-f932-4355-8328-b02b4cf010d1/scratchpad/deck/fig/linec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5029200" cy="40862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/tmp/claude-1000/-home-goraksh/bd4a8aa0-f932-4355-8328-b02b4cf010d1/scratchpad/deck/fig/fiel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412480" cy="3670900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CURRENTv3/sol4 run: d ∈ [0.90, 0.95], φ ∈ [−0.8, 0.8], Δφ = 0.01, 155,526 solved points. Slice at d = 0.90.</a:t>
            </a:r>
            <a:endParaRPr lang="en-US" sz="1100" dirty="0"/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1 − MAC ≈ 10⁻⁴</a:t>
            </a:r>
            <a:endParaRPr lang="en-US" sz="1300" dirty="0"/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goes 2.27 → 6.11 in a single 0.01 step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neighbour-MAC map alone traces the snap surface</a:t>
            </a:r>
            <a:endParaRPr lang="en-US" sz="3000" dirty="0"/>
          </a:p>
        </p:txBody>
      </p:sp>
      <p:pic>
        <p:nvPicPr>
          <p:cNvPr id="3" name="figure-101" descr="/tmp/claude-1000/-home-goraksh/bd4a8aa0-f932-4355-8328-b02b4cf010d1/scratchpad/deck/fig/mac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120640" cy="4389120"/>
          </a:xfrm>
          <a:prstGeom prst="rect">
            <a:avLst/>
          </a:prstGeom>
        </p:spPr>
      </p:pic>
      <p:pic>
        <p:nvPicPr>
          <p:cNvPr id="4" name="figure-102" descr="/tmp/claude-1000/-home-goraksh/bd4a8aa0-f932-4355-8328-b02b4cf010d1/scratchpad/deck/fig/snap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25880"/>
            <a:ext cx="5120640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 contour: MAC &lt; 0.90 between adjacent grid points. Nothing else in the slice gets close.</a:t>
            </a:r>
            <a:endParaRPr lang="en-US" sz="1100" dirty="0"/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surface moves inward: at φ₂ = 0 it sits at φ₁ ≈ −0.57 (d = 0.90) and −0.40 (d = 0.95).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 in 3D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The MAC indicator as an isosurface over (d, φ₁, φ₂), extracted and rendered in ParaView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Extracting the snap surface: a MAC isosurface</a:t>
            </a:r>
            <a:endParaRPr lang="en-US" sz="3000" dirty="0"/>
          </a:p>
        </p:txBody>
      </p:sp>
      <p:pic>
        <p:nvPicPr>
          <p:cNvPr id="101" name="figure-101" descr="ParaView isosurface of the neighbour-MAC indicator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590608" cy="4526280"/>
          </a:xfrm>
          <a:prstGeom prst="rect">
            <a:avLst/>
          </a:prstGeom>
        </p:spPr>
      </p:pic>
      <p:sp>
        <p:nvSpPr>
          <p:cNvPr id="102" name="caption-102"/>
          <p:cNvSpPr txBox="1"/>
          <p:nvPr/>
        </p:nvSpPr>
        <p:spPr>
          <a:xfrm>
            <a:off x="548640" y="5943600"/>
            <a:ext cx="5499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CURRENTv4 Δ = 0.02 run. d axis stretched ×8; colour = d. The surface is a shell about one mesh cell thick around the jump.</a:t>
            </a:r>
            <a:endParaRPr lang="en-US" sz="1100" dirty="0"/>
          </a:p>
        </p:txBody>
      </p:sp>
      <p:sp>
        <p:nvSpPr>
          <p:cNvPr id="103" name="badge-103"/>
          <p:cNvSpPr/>
          <p:nvPr/>
        </p:nvSpPr>
        <p:spPr>
          <a:xfrm>
            <a:off x="6459288" y="1463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" name="badge-label-104"/>
          <p:cNvSpPr txBox="1"/>
          <p:nvPr/>
        </p:nvSpPr>
        <p:spPr>
          <a:xfrm>
            <a:off x="645928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5" name="step-105"/>
          <p:cNvSpPr txBox="1"/>
          <p:nvPr/>
        </p:nvSpPr>
        <p:spPr>
          <a:xfrm>
            <a:off x="7007928" y="1435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Read θ from the VTU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98,120 points and 559,751 tets, with θ stored at 51 beam nodes per point.</a:t>
            </a:r>
            <a:endParaRPr lang="en-US" sz="1400" dirty="0"/>
          </a:p>
        </p:txBody>
      </p:sp>
      <p:sp>
        <p:nvSpPr>
          <p:cNvPr id="106" name="badge-106"/>
          <p:cNvSpPr/>
          <p:nvPr/>
        </p:nvSpPr>
        <p:spPr>
          <a:xfrm>
            <a:off x="6459288" y="2606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7" name="badge-label-107"/>
          <p:cNvSpPr txBox="1"/>
          <p:nvPr/>
        </p:nvSpPr>
        <p:spPr>
          <a:xfrm>
            <a:off x="645928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8" name="step-108"/>
          <p:cNvSpPr txBox="1"/>
          <p:nvPr/>
        </p:nvSpPr>
        <p:spPr>
          <a:xfrm>
            <a:off x="7007928" y="2578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MAC on every tet edge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675,318 edges; each node keeps the largest 1 − MAC among its edges.</a:t>
            </a:r>
            <a:endParaRPr lang="en-US" sz="1400" dirty="0"/>
          </a:p>
        </p:txBody>
      </p:sp>
      <p:sp>
        <p:nvSpPr>
          <p:cNvPr id="109" name="badge-109"/>
          <p:cNvSpPr/>
          <p:nvPr/>
        </p:nvSpPr>
        <p:spPr>
          <a:xfrm>
            <a:off x="6459288" y="3749039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0" name="badge-label-110"/>
          <p:cNvSpPr txBox="1"/>
          <p:nvPr/>
        </p:nvSpPr>
        <p:spPr>
          <a:xfrm>
            <a:off x="6459288" y="37490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1" name="step-111"/>
          <p:cNvSpPr txBox="1"/>
          <p:nvPr/>
        </p:nvSpPr>
        <p:spPr>
          <a:xfrm>
            <a:off x="7007928" y="3721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Contour in ParaView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Isosurface at 1 − MAC = 0.1, i.e. the deck's MAC = 0.90 threshold; then Smooth and Surface Normals.</a:t>
            </a:r>
            <a:endParaRPr lang="en-US" sz="1400" dirty="0"/>
          </a:p>
        </p:txBody>
      </p:sp>
      <p:sp>
        <p:nvSpPr>
          <p:cNvPr id="112" name="badge-112"/>
          <p:cNvSpPr/>
          <p:nvPr/>
        </p:nvSpPr>
        <p:spPr>
          <a:xfrm>
            <a:off x="6459288" y="4892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3" name="badge-label-113"/>
          <p:cNvSpPr txBox="1"/>
          <p:nvPr/>
        </p:nvSpPr>
        <p:spPr>
          <a:xfrm>
            <a:off x="6459288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4" name="step-114"/>
          <p:cNvSpPr txBox="1"/>
          <p:nvPr/>
        </p:nvSpPr>
        <p:spPr>
          <a:xfrm>
            <a:off x="7007928" y="4864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Cross-check with energy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88 % of edges with MAC &lt; 0.90 also jump in U by more than 0.5.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Seen down the d axis, the L-shaped locus closes in</a:t>
            </a:r>
            <a:endParaRPr lang="en-US" sz="3000" dirty="0"/>
          </a:p>
        </p:txBody>
      </p:sp>
      <p:pic>
        <p:nvPicPr>
          <p:cNvPr id="115" name="figure-115" descr="Snap surface seen down the d axis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824257" cy="4526280"/>
          </a:xfrm>
          <a:prstGeom prst="rect">
            <a:avLst/>
          </a:prstGeom>
        </p:spPr>
      </p:pic>
      <p:sp>
        <p:nvSpPr>
          <p:cNvPr id="116" name="caption-116"/>
          <p:cNvSpPr txBox="1"/>
          <p:nvPr/>
        </p:nvSpPr>
        <p:spPr>
          <a:xfrm>
            <a:off x="548640" y="5943600"/>
            <a:ext cx="5732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Same surface, looking straight down the d axis (parallel projection).</a:t>
            </a:r>
            <a:endParaRPr lang="en-US" sz="1100" dirty="0"/>
          </a:p>
        </p:txBody>
      </p:sp>
      <p:sp>
        <p:nvSpPr>
          <p:cNvPr id="117" name="card-117"/>
          <p:cNvSpPr/>
          <p:nvPr/>
        </p:nvSpPr>
        <p:spPr>
          <a:xfrm>
            <a:off x="6738657" y="146304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8" name="card-head-118"/>
          <p:cNvSpPr txBox="1"/>
          <p:nvPr/>
        </p:nvSpPr>
        <p:spPr>
          <a:xfrm>
            <a:off x="6967257" y="162763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2D L-shape, stacked</a:t>
            </a:r>
            <a:endParaRPr lang="en-US" sz="1600" dirty="0"/>
          </a:p>
        </p:txBody>
      </p:sp>
      <p:sp>
        <p:nvSpPr>
          <p:cNvPr id="119" name="card-body-119"/>
          <p:cNvSpPr txBox="1"/>
          <p:nvPr/>
        </p:nvSpPr>
        <p:spPr>
          <a:xfrm>
            <a:off x="6967257" y="201168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d-level of the sheet is the L-shaped locus from the 2D MAC map, coloured by d.</a:t>
            </a:r>
            <a:endParaRPr lang="en-US" sz="1400" dirty="0"/>
          </a:p>
        </p:txBody>
      </p:sp>
      <p:sp>
        <p:nvSpPr>
          <p:cNvPr id="120" name="card-120"/>
          <p:cNvSpPr/>
          <p:nvPr/>
        </p:nvSpPr>
        <p:spPr>
          <a:xfrm>
            <a:off x="6738657" y="297180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1" name="card-head-121"/>
          <p:cNvSpPr txBox="1"/>
          <p:nvPr/>
        </p:nvSpPr>
        <p:spPr>
          <a:xfrm>
            <a:off x="6967257" y="313639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codes agree</a:t>
            </a:r>
            <a:endParaRPr lang="en-US" sz="1600" dirty="0"/>
          </a:p>
        </p:txBody>
      </p:sp>
      <p:sp>
        <p:nvSpPr>
          <p:cNvPr id="122" name="card-body-122"/>
          <p:cNvSpPr txBox="1"/>
          <p:nvPr/>
        </p:nvSpPr>
        <p:spPr>
          <a:xfrm>
            <a:off x="6967257" y="352044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At d = 0.90, φ₂ = 0 the jump sits at φ₁ ≈ −0.55 in the v4 data and at −0.565 in the v3 run.</a:t>
            </a:r>
            <a:endParaRPr lang="en-US" sz="1400" dirty="0"/>
          </a:p>
        </p:txBody>
      </p:sp>
      <p:sp>
        <p:nvSpPr>
          <p:cNvPr id="123" name="card-123"/>
          <p:cNvSpPr/>
          <p:nvPr/>
        </p:nvSpPr>
        <p:spPr>
          <a:xfrm>
            <a:off x="6738657" y="448056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4" name="card-head-124"/>
          <p:cNvSpPr txBox="1"/>
          <p:nvPr/>
        </p:nvSpPr>
        <p:spPr>
          <a:xfrm>
            <a:off x="6967257" y="464515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Closing in as d → 1</a:t>
            </a:r>
            <a:endParaRPr lang="en-US" sz="1600" dirty="0"/>
          </a:p>
        </p:txBody>
      </p:sp>
      <p:sp>
        <p:nvSpPr>
          <p:cNvPr id="125" name="card-body-125"/>
          <p:cNvSpPr txBox="1"/>
          <p:nvPr/>
        </p:nvSpPr>
        <p:spPr>
          <a:xfrm>
            <a:off x="6967257" y="502920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Dark (d = 0.80) hugs the box edge; by d = 0.97 the jump at φ₂ = 0 has moved to φ₁ ≈ −0.31.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126" name="figure-126" descr="Snap surface clipped at d = 0.90 above a slice coloured by the axial force f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101502" cy="4526280"/>
          </a:xfrm>
          <a:prstGeom prst="rect">
            <a:avLst/>
          </a:prstGeom>
        </p:spPr>
      </p:pic>
      <p:sp>
        <p:nvSpPr>
          <p:cNvPr id="127" name="caption-127"/>
          <p:cNvSpPr txBox="1"/>
          <p:nvPr/>
        </p:nvSpPr>
        <p:spPr>
          <a:xfrm>
            <a:off x="548640" y="5943600"/>
            <a:ext cx="50100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Plane at d = 0.90 coloured by f</a:t>
            </a:r>
            <a:r>
              <a:rPr lang="en-US" sz="1100" i="1" baseline="-25000" dirty="0">
                <a:solidFill>
                  <a:schemeClr val="accent5"/>
                </a:solidFill>
              </a:rPr>
              <a:t>x</a:t>
            </a:r>
            <a:r>
              <a:rPr lang="en-US" sz="1100" i="1" dirty="0">
                <a:solidFill>
                  <a:schemeClr val="accent5"/>
                </a:solidFill>
              </a:rPr>
              <a:t>; the sheet above it is translucent.</a:t>
            </a:r>
            <a:endParaRPr lang="en-US" sz="1100" dirty="0"/>
          </a:p>
        </p:txBody>
      </p:sp>
      <p:sp>
        <p:nvSpPr>
          <p:cNvPr id="128" name="lead-128"/>
          <p:cNvSpPr txBox="1"/>
          <p:nvPr/>
        </p:nvSpPr>
        <p:spPr>
          <a:xfrm>
            <a:off x="6015902" y="1463040"/>
            <a:ext cx="56426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Across the line, f</a:t>
            </a:r>
            <a:r>
              <a:rPr lang="en-US" sz="1500" baseline="-25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roughly doubles at every d (φ₂ = 0):</a:t>
            </a:r>
            <a:endParaRPr lang="en-US" sz="1500" dirty="0"/>
          </a:p>
        </p:txBody>
      </p:sp>
      <p:sp>
        <p:nvSpPr>
          <p:cNvPr id="129" name="card-129"/>
          <p:cNvSpPr/>
          <p:nvPr/>
        </p:nvSpPr>
        <p:spPr>
          <a:xfrm>
            <a:off x="6015902" y="205740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0" name="stat-130"/>
          <p:cNvSpPr txBox="1"/>
          <p:nvPr/>
        </p:nvSpPr>
        <p:spPr>
          <a:xfrm>
            <a:off x="6244502" y="21671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28.9 → 58.0</a:t>
            </a:r>
            <a:endParaRPr lang="en-US" sz="2600" dirty="0"/>
          </a:p>
        </p:txBody>
      </p:sp>
      <p:sp>
        <p:nvSpPr>
          <p:cNvPr id="131" name="stat-label-131"/>
          <p:cNvSpPr txBox="1"/>
          <p:nvPr/>
        </p:nvSpPr>
        <p:spPr>
          <a:xfrm>
            <a:off x="8713382" y="216712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0.86, jump at φ₁ ≈ −0.67</a:t>
            </a:r>
            <a:endParaRPr lang="en-US" sz="1300" dirty="0"/>
          </a:p>
        </p:txBody>
      </p:sp>
      <p:sp>
        <p:nvSpPr>
          <p:cNvPr id="132" name="card-132"/>
          <p:cNvSpPr/>
          <p:nvPr/>
        </p:nvSpPr>
        <p:spPr>
          <a:xfrm>
            <a:off x="6015902" y="315468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3" name="stat-133"/>
          <p:cNvSpPr txBox="1"/>
          <p:nvPr/>
        </p:nvSpPr>
        <p:spPr>
          <a:xfrm>
            <a:off x="6244502" y="32644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27.3 → 57.0</a:t>
            </a:r>
            <a:endParaRPr lang="en-US" sz="2600" dirty="0"/>
          </a:p>
        </p:txBody>
      </p:sp>
      <p:sp>
        <p:nvSpPr>
          <p:cNvPr id="134" name="stat-label-134"/>
          <p:cNvSpPr txBox="1"/>
          <p:nvPr/>
        </p:nvSpPr>
        <p:spPr>
          <a:xfrm>
            <a:off x="8713382" y="326440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0.92, jump at φ₁ ≈ −0.52</a:t>
            </a:r>
            <a:endParaRPr lang="en-US" sz="1300" dirty="0"/>
          </a:p>
        </p:txBody>
      </p:sp>
      <p:sp>
        <p:nvSpPr>
          <p:cNvPr id="135" name="card-135"/>
          <p:cNvSpPr/>
          <p:nvPr/>
        </p:nvSpPr>
        <p:spPr>
          <a:xfrm>
            <a:off x="6015902" y="425196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6" name="stat-136"/>
          <p:cNvSpPr txBox="1"/>
          <p:nvPr/>
        </p:nvSpPr>
        <p:spPr>
          <a:xfrm>
            <a:off x="6244502" y="43616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26.6 → 53.7</a:t>
            </a:r>
            <a:endParaRPr lang="en-US" sz="2600" dirty="0"/>
          </a:p>
        </p:txBody>
      </p:sp>
      <p:sp>
        <p:nvSpPr>
          <p:cNvPr id="137" name="stat-label-137"/>
          <p:cNvSpPr txBox="1"/>
          <p:nvPr/>
        </p:nvSpPr>
        <p:spPr>
          <a:xfrm>
            <a:off x="8713382" y="436168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0.97, jump at φ₁ ≈ −0.31</a:t>
            </a:r>
            <a:endParaRPr lang="en-US" sz="1300" dirty="0"/>
          </a:p>
        </p:txBody>
      </p:sp>
      <p:sp>
        <p:nvSpPr>
          <p:cNvPr id="138" name="takeaway-138"/>
          <p:cNvSpPr txBox="1"/>
          <p:nvPr/>
        </p:nvSpPr>
        <p:spPr>
          <a:xfrm>
            <a:off x="6015902" y="5257800"/>
            <a:ext cx="564269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Built from θ alone, the surface still lands on the step the forces see, to within about one mesh cell.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Continuation strategies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each code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CURRENTv4: traverse the grid, accept or reject by MAC</a:t>
            </a:r>
            <a:endParaRPr lang="en-US" sz="3000" dirty="0"/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Cold-start once at φ₁ = φ₂ = 0, smallest d; visit nodes by grid distance from it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a solved grid neighbour, nearest first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at most 50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MAC(θ</a:t>
            </a:r>
            <a:r>
              <a:rPr lang="en-US" sz="1400" b="1" baseline="-40000" dirty="0">
                <a:solidFill>
                  <a:schemeClr val="bg1"/>
                </a:solidFill>
              </a:rPr>
              <a:t>new</a:t>
            </a:r>
            <a:r>
              <a:rPr lang="en-US" sz="1400" b="1" dirty="0">
                <a:solidFill>
                  <a:schemeClr val="bg1"/>
                </a:solidFill>
              </a:rPr>
              <a:t>, θ</a:t>
            </a:r>
            <a:r>
              <a:rPr lang="en-US" sz="1400" b="1" baseline="-40000" dirty="0">
                <a:solidFill>
                  <a:schemeClr val="bg1"/>
                </a:solidFill>
              </a:rPr>
              <a:t>warm</a:t>
            </a:r>
            <a:r>
              <a:rPr lang="en-US" sz="1400" b="1" dirty="0">
                <a:solidFill>
                  <a:schemeClr val="bg1"/>
                </a:solidFill>
              </a:rPr>
              <a:t>) ≥ 0.85 ?</a:t>
            </a:r>
            <a:endParaRPr lang="en-US" sz="1400" dirty="0"/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Reject, or Newton failed: try the next neighbour. Only when all have failed: cold start from the exact first mode, continuing the clamp angles (no MAC check).</a:t>
            </a:r>
            <a:endParaRPr lang="en-US" sz="1400" dirty="0"/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warm starts come from the 26 grid neighbours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+ VTU checkpoints, also on Ctrl-C; a resume reloads every stored θ as a warm-start source</a:t>
            </a:r>
            <a:endParaRPr lang="en-US" sz="1300" dirty="0"/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ct first mode der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Deriving the exact first mode used for the cold start</a:t>
            </a:r>
            <a:endParaRPr lang="en-US" sz="3000" dirty="0"/>
          </a:p>
        </p:txBody>
      </p:sp>
      <p:sp>
        <p:nvSpPr>
          <p:cNvPr id="3" name="step-card-1"/>
          <p:cNvSpPr/>
          <p:nvPr/>
        </p:nvSpPr>
        <p:spPr>
          <a:xfrm>
            <a:off x="548640" y="141732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tep-badge-1"/>
          <p:cNvSpPr/>
          <p:nvPr/>
        </p:nvSpPr>
        <p:spPr>
          <a:xfrm>
            <a:off x="777240" y="15819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step-text-1"/>
          <p:cNvSpPr txBox="1"/>
          <p:nvPr/>
        </p:nvSpPr>
        <p:spPr>
          <a:xfrm>
            <a:off x="1325880" y="145389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φ₁ = φ₂ = 0 is mirror-symmetric, so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= 0 and the elastica is a pendulum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latex-mode-1"/>
              <p:cNvSpPr txBox="1"/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6" name="latex-mode-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tep-card-2"/>
          <p:cNvSpPr/>
          <p:nvPr/>
        </p:nvSpPr>
        <p:spPr>
          <a:xfrm>
            <a:off x="548640" y="2221992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tep-badge-2"/>
          <p:cNvSpPr/>
          <p:nvPr/>
        </p:nvSpPr>
        <p:spPr>
          <a:xfrm>
            <a:off x="777240" y="2386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9" name="step-text-2"/>
          <p:cNvSpPr txBox="1"/>
          <p:nvPr/>
        </p:nvSpPr>
        <p:spPr>
          <a:xfrm>
            <a:off x="1325880" y="225856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Multiply by θ′ and integrate once; θ′ = 0 at the peak angle α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latex-mode-2"/>
              <p:cNvSpPr txBox="1"/>
              <p:nvPr/>
            </p:nvSpPr>
            <p:spPr>
              <a:xfrm>
                <a:off x="5532120" y="2258568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0" name="latex-mode-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2258568"/>
                <a:ext cx="589788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tep-card-3"/>
          <p:cNvSpPr/>
          <p:nvPr/>
        </p:nvSpPr>
        <p:spPr>
          <a:xfrm>
            <a:off x="548640" y="3026664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tep-badge-3"/>
          <p:cNvSpPr/>
          <p:nvPr/>
        </p:nvSpPr>
        <p:spPr>
          <a:xfrm>
            <a:off x="777240" y="3191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1325880" y="30632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Substituting sin(θ/2) = p sin ψ gives ψ′ = λ√(1 − m sin²ψ), so sin ψ = sn(λs | m)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latex-mode-3"/>
              <p:cNvSpPr txBox="1"/>
              <p:nvPr/>
            </p:nvSpPr>
            <p:spPr>
              <a:xfrm>
                <a:off x="5532120" y="3063240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arcsin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sn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 | 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" name="latex-mode-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063240"/>
                <a:ext cx="589788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tep-card-4"/>
          <p:cNvSpPr/>
          <p:nvPr/>
        </p:nvSpPr>
        <p:spPr>
          <a:xfrm>
            <a:off x="548640" y="3831336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tep-badge-4"/>
          <p:cNvSpPr/>
          <p:nvPr/>
        </p:nvSpPr>
        <p:spPr>
          <a:xfrm>
            <a:off x="77724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7" name="step-text-4"/>
          <p:cNvSpPr txBox="1"/>
          <p:nvPr/>
        </p:nvSpPr>
        <p:spPr>
          <a:xfrm>
            <a:off x="132588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θ(L) = 0 and ∫ sin θ ds = 0 need one full period of sn (4K): four quarter-waves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latex-mode-4"/>
              <p:cNvSpPr txBox="1"/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 ⇒ 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8" name="latex-mode-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tep-card-5"/>
          <p:cNvSpPr/>
          <p:nvPr/>
        </p:nvSpPr>
        <p:spPr>
          <a:xfrm>
            <a:off x="548640" y="4636008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tep-badge-5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1" name="step-text-5"/>
          <p:cNvSpPr txBox="1"/>
          <p:nvPr/>
        </p:nvSpPr>
        <p:spPr>
          <a:xfrm>
            <a:off x="1325880" y="4672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 distance fixes m; d/L falls monotonically in m, so a 1-D root-find is safe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latex-mode-5"/>
              <p:cNvSpPr txBox="1"/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2" name="latex-mode-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tep-card-6"/>
          <p:cNvSpPr/>
          <p:nvPr/>
        </p:nvSpPr>
        <p:spPr>
          <a:xfrm>
            <a:off x="548640" y="544068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tep-badge-6"/>
          <p:cNvSpPr/>
          <p:nvPr/>
        </p:nvSpPr>
        <p:spPr>
          <a:xfrm>
            <a:off x="777240" y="5605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5" name="step-text-6"/>
          <p:cNvSpPr txBox="1"/>
          <p:nvPr/>
        </p:nvSpPr>
        <p:spPr>
          <a:xfrm>
            <a:off x="1325880" y="547725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Small bow, m → 0: the old A sin(2πs/L) shape with A = 2√(1 − d/L), and the Euler load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latex-mode-6"/>
              <p:cNvSpPr txBox="1"/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" name="latex-mode-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 first-mode cold start, then continue the clamp angles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figure-135" descr="Rod shapes during the cold start at d = 0.90, φ1 = 0.60, φ2 = -0.40: exact first mode, two continuation steps, and the kept and discarded branch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Predictor for each continuation step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Exact at φ₁ = φ₂ = 0 for any d, with ∫ sin θ ds = 0: Newton converges in 2 iterations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Steps ≤ 0.25 rad, ≤ 15 Newton iterations each; a failed step halves, giving up below 0.02 rad (a fold)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Both hump signs are continued and the lower energy kept: 296 / 300 random points converge, vs 285 for sin(πs)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/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4 update 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CURRENTv4 update: faster solves, fewer failures</a:t>
            </a:r>
            <a:endParaRPr lang="en-US" sz="3000" dirty="0"/>
          </a:p>
        </p:txBody>
      </p:sp>
      <p:sp>
        <p:nvSpPr>
          <p:cNvPr id="274" name="card-274"/>
          <p:cNvSpPr/>
          <p:nvPr/>
        </p:nvSpPr>
        <p:spPr>
          <a:xfrm>
            <a:off x="54864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5" name="tile-big-275"/>
          <p:cNvSpPr txBox="1"/>
          <p:nvPr/>
        </p:nvSpPr>
        <p:spPr>
          <a:xfrm>
            <a:off x="74980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40×</a:t>
            </a:r>
            <a:endParaRPr lang="en-US" sz="3000" dirty="0"/>
          </a:p>
        </p:txBody>
      </p:sp>
      <p:sp>
        <p:nvSpPr>
          <p:cNvPr id="276" name="tile-label-276"/>
          <p:cNvSpPr txBox="1"/>
          <p:nvPr/>
        </p:nvSpPr>
        <p:spPr>
          <a:xfrm>
            <a:off x="74980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faster per solve</a:t>
            </a:r>
            <a:endParaRPr lang="en-US" sz="1400" dirty="0"/>
          </a:p>
        </p:txBody>
      </p:sp>
      <p:sp>
        <p:nvSpPr>
          <p:cNvPr id="277" name="tile-sub-277"/>
          <p:cNvSpPr txBox="1"/>
          <p:nvPr/>
        </p:nvSpPr>
        <p:spPr>
          <a:xfrm>
            <a:off x="74980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single-threaded: 62 → 1.6 ms</a:t>
            </a:r>
            <a:endParaRPr lang="en-US" sz="1150" dirty="0"/>
          </a:p>
        </p:txBody>
      </p:sp>
      <p:sp>
        <p:nvSpPr>
          <p:cNvPr id="278" name="card-278"/>
          <p:cNvSpPr/>
          <p:nvPr/>
        </p:nvSpPr>
        <p:spPr>
          <a:xfrm>
            <a:off x="338328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9" name="tile-big-279"/>
          <p:cNvSpPr txBox="1"/>
          <p:nvPr/>
        </p:nvSpPr>
        <p:spPr>
          <a:xfrm>
            <a:off x="358444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100 %</a:t>
            </a:r>
            <a:endParaRPr lang="en-US" sz="3000" dirty="0"/>
          </a:p>
        </p:txBody>
      </p:sp>
      <p:sp>
        <p:nvSpPr>
          <p:cNvPr id="280" name="tile-label-280"/>
          <p:cNvSpPr txBox="1"/>
          <p:nvPr/>
        </p:nvSpPr>
        <p:spPr>
          <a:xfrm>
            <a:off x="358444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of the test grid solved</a:t>
            </a:r>
            <a:endParaRPr lang="en-US" sz="1400" dirty="0"/>
          </a:p>
        </p:txBody>
      </p:sp>
      <p:sp>
        <p:nvSpPr>
          <p:cNvPr id="281" name="tile-sub-281"/>
          <p:cNvSpPr txBox="1"/>
          <p:nvPr/>
        </p:nvSpPr>
        <p:spPr>
          <a:xfrm>
            <a:off x="358444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was 98.2 % (1,299 of 1,323 points)</a:t>
            </a:r>
            <a:endParaRPr lang="en-US" sz="1150" dirty="0"/>
          </a:p>
        </p:txBody>
      </p:sp>
      <p:sp>
        <p:nvSpPr>
          <p:cNvPr id="282" name="card-282"/>
          <p:cNvSpPr/>
          <p:nvPr/>
        </p:nvSpPr>
        <p:spPr>
          <a:xfrm>
            <a:off x="621792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3" name="tile-big-283"/>
          <p:cNvSpPr txBox="1"/>
          <p:nvPr/>
        </p:nvSpPr>
        <p:spPr>
          <a:xfrm>
            <a:off x="641908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296 / 300</a:t>
            </a:r>
            <a:endParaRPr lang="en-US" sz="3000" dirty="0"/>
          </a:p>
        </p:txBody>
      </p:sp>
      <p:sp>
        <p:nvSpPr>
          <p:cNvPr id="284" name="tile-label-284"/>
          <p:cNvSpPr txBox="1"/>
          <p:nvPr/>
        </p:nvSpPr>
        <p:spPr>
          <a:xfrm>
            <a:off x="641908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cold starts converge</a:t>
            </a:r>
            <a:endParaRPr lang="en-US" sz="1400" dirty="0"/>
          </a:p>
        </p:txBody>
      </p:sp>
      <p:sp>
        <p:nvSpPr>
          <p:cNvPr id="285" name="tile-sub-285"/>
          <p:cNvSpPr txBox="1"/>
          <p:nvPr/>
        </p:nvSpPr>
        <p:spPr>
          <a:xfrm>
            <a:off x="641908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old sin(πs) guess: 285 / 300</a:t>
            </a:r>
            <a:endParaRPr lang="en-US" sz="1150" dirty="0"/>
          </a:p>
        </p:txBody>
      </p:sp>
      <p:sp>
        <p:nvSpPr>
          <p:cNvPr id="286" name="card-286"/>
          <p:cNvSpPr/>
          <p:nvPr/>
        </p:nvSpPr>
        <p:spPr>
          <a:xfrm>
            <a:off x="905256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7" name="tile-big-287"/>
          <p:cNvSpPr txBox="1"/>
          <p:nvPr/>
        </p:nvSpPr>
        <p:spPr>
          <a:xfrm>
            <a:off x="925372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78×</a:t>
            </a:r>
            <a:endParaRPr lang="en-US" sz="3000" dirty="0"/>
          </a:p>
        </p:txBody>
      </p:sp>
      <p:sp>
        <p:nvSpPr>
          <p:cNvPr id="288" name="tile-label-288"/>
          <p:cNvSpPr txBox="1"/>
          <p:nvPr/>
        </p:nvSpPr>
        <p:spPr>
          <a:xfrm>
            <a:off x="925372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faster test run</a:t>
            </a:r>
            <a:endParaRPr lang="en-US" sz="1400" dirty="0"/>
          </a:p>
        </p:txBody>
      </p:sp>
      <p:sp>
        <p:nvSpPr>
          <p:cNvPr id="289" name="tile-sub-289"/>
          <p:cNvSpPr txBox="1"/>
          <p:nvPr/>
        </p:nvSpPr>
        <p:spPr>
          <a:xfrm>
            <a:off x="925372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8 min 17 s → 6.4 s on 1,323 points</a:t>
            </a:r>
            <a:endParaRPr lang="en-US" sz="1150" dirty="0"/>
          </a:p>
        </p:txBody>
      </p:sp>
      <p:sp>
        <p:nvSpPr>
          <p:cNvPr id="290" name="card-290"/>
          <p:cNvSpPr/>
          <p:nvPr/>
        </p:nvSpPr>
        <p:spPr>
          <a:xfrm>
            <a:off x="548640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1" name="card-head-291"/>
          <p:cNvSpPr txBox="1"/>
          <p:nvPr/>
        </p:nvSpPr>
        <p:spPr>
          <a:xfrm>
            <a:off x="749808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Neighbour warm starts</a:t>
            </a:r>
            <a:endParaRPr lang="en-US" sz="1650" dirty="0"/>
          </a:p>
        </p:txBody>
      </p:sp>
      <p:sp>
        <p:nvSpPr>
          <p:cNvPr id="292" name="card-body-292"/>
          <p:cNvSpPr txBox="1"/>
          <p:nvPr/>
        </p:nvSpPr>
        <p:spPr>
          <a:xfrm>
            <a:off x="749808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Each node tries its solved grid neighbours, nearest first, and is cold-started only if all fail: 2 cold starts on the test grid, down from 47.</a:t>
            </a:r>
            <a:endParaRPr lang="en-US" sz="1350" dirty="0"/>
          </a:p>
        </p:txBody>
      </p:sp>
      <p:sp>
        <p:nvSpPr>
          <p:cNvPr id="293" name="card-293"/>
          <p:cNvSpPr/>
          <p:nvPr/>
        </p:nvSpPr>
        <p:spPr>
          <a:xfrm>
            <a:off x="4334255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4" name="card-head-294"/>
          <p:cNvSpPr txBox="1"/>
          <p:nvPr/>
        </p:nvSpPr>
        <p:spPr>
          <a:xfrm>
            <a:off x="4535423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Recovers from errors</a:t>
            </a:r>
            <a:endParaRPr lang="en-US" sz="1650" dirty="0"/>
          </a:p>
        </p:txBody>
      </p:sp>
      <p:sp>
        <p:nvSpPr>
          <p:cNvPr id="295" name="card-body-295"/>
          <p:cNvSpPr txBox="1"/>
          <p:nvPr/>
        </p:nvSpPr>
        <p:spPr>
          <a:xfrm>
            <a:off x="4535423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A PETSc error now rebuilds the solver instead of failing every later node; Ctrl-C stops after the current node and checkpoints.</a:t>
            </a:r>
            <a:endParaRPr lang="en-US" sz="1350" dirty="0"/>
          </a:p>
        </p:txBody>
      </p:sp>
      <p:sp>
        <p:nvSpPr>
          <p:cNvPr id="296" name="card-296"/>
          <p:cNvSpPr/>
          <p:nvPr/>
        </p:nvSpPr>
        <p:spPr>
          <a:xfrm>
            <a:off x="8119871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7" name="card-head-297"/>
          <p:cNvSpPr txBox="1"/>
          <p:nvPr/>
        </p:nvSpPr>
        <p:spPr>
          <a:xfrm>
            <a:off x="8321040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Streams large output</a:t>
            </a:r>
            <a:endParaRPr lang="en-US" sz="1650" dirty="0"/>
          </a:p>
        </p:txBody>
      </p:sp>
      <p:sp>
        <p:nvSpPr>
          <p:cNvPr id="298" name="card-body-298"/>
          <p:cNvSpPr txBox="1"/>
          <p:nvPr/>
        </p:nvSpPr>
        <p:spPr>
          <a:xfrm>
            <a:off x="8321040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VTU files are written in chunks with 64-bit headers, so θ on the full 5 M-node grid (about 4 GB) no longer exhausts memory.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CURRENTv3: MAC sets the step size of every move</a:t>
            </a:r>
            <a:endParaRPr lang="en-US" sz="3000" dirty="0"/>
          </a:p>
        </p:txBody>
      </p:sp>
      <p:sp>
        <p:nvSpPr>
          <p:cNvPr id="3" name="text-147"/>
          <p:cNvSpPr txBox="1"/>
          <p:nvPr/>
        </p:nvSpPr>
        <p:spPr>
          <a:xfrm>
            <a:off x="182880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p₀</a:t>
            </a:r>
            <a:endParaRPr lang="en-US" sz="1400" dirty="0"/>
          </a:p>
        </p:txBody>
      </p:sp>
      <p:sp>
        <p:nvSpPr>
          <p:cNvPr id="4" name="text-148"/>
          <p:cNvSpPr txBox="1"/>
          <p:nvPr/>
        </p:nvSpPr>
        <p:spPr>
          <a:xfrm>
            <a:off x="589788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</a:t>
            </a:r>
            <a:endParaRPr lang="en-US" sz="1400" dirty="0"/>
          </a:p>
        </p:txBody>
      </p:sp>
      <p:sp>
        <p:nvSpPr>
          <p:cNvPr id="5" name="text-149"/>
          <p:cNvSpPr txBox="1"/>
          <p:nvPr/>
        </p:nvSpPr>
        <p:spPr>
          <a:xfrm>
            <a:off x="548640" y="18470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0</a:t>
            </a:r>
            <a:endParaRPr lang="en-US" sz="1500" dirty="0"/>
          </a:p>
        </p:txBody>
      </p:sp>
      <p:sp>
        <p:nvSpPr>
          <p:cNvPr id="6" name="text-150"/>
          <p:cNvSpPr txBox="1"/>
          <p:nvPr/>
        </p:nvSpPr>
        <p:spPr>
          <a:xfrm>
            <a:off x="118872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 step</a:t>
            </a:r>
            <a:endParaRPr lang="en-US" sz="1200" dirty="0"/>
          </a:p>
        </p:txBody>
      </p:sp>
      <p:sp>
        <p:nvSpPr>
          <p:cNvPr id="7" name="substep-151"/>
          <p:cNvSpPr/>
          <p:nvPr/>
        </p:nvSpPr>
        <p:spPr>
          <a:xfrm>
            <a:off x="1965960" y="1828800"/>
            <a:ext cx="40782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152"/>
          <p:cNvSpPr txBox="1"/>
          <p:nvPr/>
        </p:nvSpPr>
        <p:spPr>
          <a:xfrm>
            <a:off x="548640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1</a:t>
            </a:r>
            <a:endParaRPr lang="en-US" sz="1500" dirty="0"/>
          </a:p>
        </p:txBody>
      </p:sp>
      <p:sp>
        <p:nvSpPr>
          <p:cNvPr id="9" name="text-153"/>
          <p:cNvSpPr txBox="1"/>
          <p:nvPr/>
        </p:nvSpPr>
        <p:spPr>
          <a:xfrm>
            <a:off x="1188720" y="26243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 steps</a:t>
            </a:r>
            <a:endParaRPr lang="en-US" sz="1200" dirty="0"/>
          </a:p>
        </p:txBody>
      </p:sp>
      <p:sp>
        <p:nvSpPr>
          <p:cNvPr id="10" name="substep-154"/>
          <p:cNvSpPr/>
          <p:nvPr/>
        </p:nvSpPr>
        <p:spPr>
          <a:xfrm>
            <a:off x="1965960" y="2578608"/>
            <a:ext cx="20208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ubstep-155"/>
          <p:cNvSpPr/>
          <p:nvPr/>
        </p:nvSpPr>
        <p:spPr>
          <a:xfrm>
            <a:off x="4023360" y="2578608"/>
            <a:ext cx="20208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156"/>
          <p:cNvSpPr txBox="1"/>
          <p:nvPr/>
        </p:nvSpPr>
        <p:spPr>
          <a:xfrm>
            <a:off x="548640" y="3346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2</a:t>
            </a:r>
            <a:endParaRPr lang="en-US" sz="1500" dirty="0"/>
          </a:p>
        </p:txBody>
      </p:sp>
      <p:sp>
        <p:nvSpPr>
          <p:cNvPr id="13" name="text-157"/>
          <p:cNvSpPr txBox="1"/>
          <p:nvPr/>
        </p:nvSpPr>
        <p:spPr>
          <a:xfrm>
            <a:off x="1188720" y="3374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4 steps</a:t>
            </a:r>
            <a:endParaRPr lang="en-US" sz="1200" dirty="0"/>
          </a:p>
        </p:txBody>
      </p:sp>
      <p:sp>
        <p:nvSpPr>
          <p:cNvPr id="14" name="substep-158"/>
          <p:cNvSpPr/>
          <p:nvPr/>
        </p:nvSpPr>
        <p:spPr>
          <a:xfrm>
            <a:off x="19659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ubstep-159"/>
          <p:cNvSpPr/>
          <p:nvPr/>
        </p:nvSpPr>
        <p:spPr>
          <a:xfrm>
            <a:off x="29946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ubstep-160"/>
          <p:cNvSpPr/>
          <p:nvPr/>
        </p:nvSpPr>
        <p:spPr>
          <a:xfrm>
            <a:off x="4023360" y="3328416"/>
            <a:ext cx="9921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ubstep-161"/>
          <p:cNvSpPr/>
          <p:nvPr/>
        </p:nvSpPr>
        <p:spPr>
          <a:xfrm>
            <a:off x="5052060" y="3328416"/>
            <a:ext cx="992124" cy="384048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-162"/>
          <p:cNvSpPr txBox="1"/>
          <p:nvPr/>
        </p:nvSpPr>
        <p:spPr>
          <a:xfrm>
            <a:off x="548640" y="40965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3</a:t>
            </a:r>
            <a:endParaRPr lang="en-US" sz="1500" dirty="0"/>
          </a:p>
        </p:txBody>
      </p:sp>
      <p:sp>
        <p:nvSpPr>
          <p:cNvPr id="19" name="text-163"/>
          <p:cNvSpPr txBox="1"/>
          <p:nvPr/>
        </p:nvSpPr>
        <p:spPr>
          <a:xfrm>
            <a:off x="1188720" y="41239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8 steps</a:t>
            </a:r>
            <a:endParaRPr lang="en-US" sz="1200" dirty="0"/>
          </a:p>
        </p:txBody>
      </p:sp>
      <p:sp>
        <p:nvSpPr>
          <p:cNvPr id="20" name="substep-164"/>
          <p:cNvSpPr/>
          <p:nvPr/>
        </p:nvSpPr>
        <p:spPr>
          <a:xfrm>
            <a:off x="19659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ubstep-165"/>
          <p:cNvSpPr/>
          <p:nvPr/>
        </p:nvSpPr>
        <p:spPr>
          <a:xfrm>
            <a:off x="24803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ubstep-166"/>
          <p:cNvSpPr/>
          <p:nvPr/>
        </p:nvSpPr>
        <p:spPr>
          <a:xfrm>
            <a:off x="29946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ubstep-167"/>
          <p:cNvSpPr/>
          <p:nvPr/>
        </p:nvSpPr>
        <p:spPr>
          <a:xfrm>
            <a:off x="35090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ubstep-168"/>
          <p:cNvSpPr/>
          <p:nvPr/>
        </p:nvSpPr>
        <p:spPr>
          <a:xfrm>
            <a:off x="40233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ubstep-169"/>
          <p:cNvSpPr/>
          <p:nvPr/>
        </p:nvSpPr>
        <p:spPr>
          <a:xfrm>
            <a:off x="45377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ubstep-170"/>
          <p:cNvSpPr/>
          <p:nvPr/>
        </p:nvSpPr>
        <p:spPr>
          <a:xfrm>
            <a:off x="50520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ubstep-171"/>
          <p:cNvSpPr/>
          <p:nvPr/>
        </p:nvSpPr>
        <p:spPr>
          <a:xfrm>
            <a:off x="55664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-172"/>
          <p:cNvSpPr txBox="1"/>
          <p:nvPr/>
        </p:nvSpPr>
        <p:spPr>
          <a:xfrm>
            <a:off x="548640" y="4846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… up to r = 5 (32 sub-steps) per axis</a:t>
            </a:r>
            <a:endParaRPr lang="en-US" sz="1400" dirty="0"/>
          </a:p>
        </p:txBody>
      </p:sp>
      <p:sp>
        <p:nvSpPr>
          <p:cNvPr id="29" name="legend-173"/>
          <p:cNvSpPr/>
          <p:nvPr/>
        </p:nvSpPr>
        <p:spPr>
          <a:xfrm>
            <a:off x="548640" y="5358384"/>
            <a:ext cx="274320" cy="18288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-174"/>
          <p:cNvSpPr txBox="1"/>
          <p:nvPr/>
        </p:nvSpPr>
        <p:spPr>
          <a:xfrm>
            <a:off x="960120" y="5303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converged and MAC ≥ 0.90</a:t>
            </a:r>
            <a:endParaRPr lang="en-US" sz="1200" dirty="0"/>
          </a:p>
        </p:txBody>
      </p:sp>
      <p:sp>
        <p:nvSpPr>
          <p:cNvPr id="31" name="legend-175"/>
          <p:cNvSpPr/>
          <p:nvPr/>
        </p:nvSpPr>
        <p:spPr>
          <a:xfrm>
            <a:off x="548640" y="5687568"/>
            <a:ext cx="274320" cy="182880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-176"/>
          <p:cNvSpPr txBox="1"/>
          <p:nvPr/>
        </p:nvSpPr>
        <p:spPr>
          <a:xfrm>
            <a:off x="960120" y="5632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SNES failed or MAC &lt; 0.90</a:t>
            </a:r>
            <a:endParaRPr lang="en-US" sz="1200" dirty="0"/>
          </a:p>
        </p:txBody>
      </p:sp>
      <p:sp>
        <p:nvSpPr>
          <p:cNvPr id="33" name="legend-177"/>
          <p:cNvSpPr/>
          <p:nvPr/>
        </p:nvSpPr>
        <p:spPr>
          <a:xfrm>
            <a:off x="548640" y="6016752"/>
            <a:ext cx="274320" cy="1828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-178"/>
          <p:cNvSpPr txBox="1"/>
          <p:nvPr/>
        </p:nvSpPr>
        <p:spPr>
          <a:xfrm>
            <a:off x="960120" y="5961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not attempted</a:t>
            </a:r>
            <a:endParaRPr lang="en-US" sz="1200" dirty="0"/>
          </a:p>
        </p:txBody>
      </p:sp>
      <p:sp>
        <p:nvSpPr>
          <p:cNvPr id="35" name="card-179"/>
          <p:cNvSpPr/>
          <p:nvPr/>
        </p:nvSpPr>
        <p:spPr>
          <a:xfrm>
            <a:off x="6492240" y="1417320"/>
            <a:ext cx="5120640" cy="8686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latex-substep"/>
              <p:cNvSpPr txBox="1"/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p>
                          <m:d>
                            <m:dPr>
                              <m:ctrlP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sSup>
                            <m:sSupPr>
                              <m:ctrlP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</m:den>
                      </m:f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sSup>
                        <m:sSupPr>
                          <m:ctrlP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=0,1,…,5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latex-subste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badge-181"/>
          <p:cNvSpPr/>
          <p:nvPr/>
        </p:nvSpPr>
        <p:spPr>
          <a:xfrm>
            <a:off x="6492240" y="2423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badge-label-182"/>
          <p:cNvSpPr txBox="1"/>
          <p:nvPr/>
        </p:nvSpPr>
        <p:spPr>
          <a:xfrm>
            <a:off x="64922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9" name="step-183"/>
          <p:cNvSpPr txBox="1"/>
          <p:nvPr/>
        </p:nvSpPr>
        <p:spPr>
          <a:xfrm>
            <a:off x="7040880" y="2395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Split by axis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Move the largest |Δpᵢ| first; each axis is its own sub-path.</a:t>
            </a:r>
            <a:endParaRPr lang="en-US" sz="1400" dirty="0"/>
          </a:p>
        </p:txBody>
      </p:sp>
      <p:sp>
        <p:nvSpPr>
          <p:cNvPr id="40" name="badge-184"/>
          <p:cNvSpPr/>
          <p:nvPr/>
        </p:nvSpPr>
        <p:spPr>
          <a:xfrm>
            <a:off x="649224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badge-label-185"/>
          <p:cNvSpPr txBox="1"/>
          <p:nvPr/>
        </p:nvSpPr>
        <p:spPr>
          <a:xfrm>
            <a:off x="64922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42" name="step-186"/>
          <p:cNvSpPr txBox="1"/>
          <p:nvPr/>
        </p:nvSpPr>
        <p:spPr>
          <a:xfrm>
            <a:off x="7040880" y="33558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Chain warm starts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Each sub-step starts from the last accepted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3" name="badge-187"/>
          <p:cNvSpPr/>
          <p:nvPr/>
        </p:nvSpPr>
        <p:spPr>
          <a:xfrm>
            <a:off x="6492240" y="4343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badge-label-188"/>
          <p:cNvSpPr txBox="1"/>
          <p:nvPr/>
        </p:nvSpPr>
        <p:spPr>
          <a:xfrm>
            <a:off x="64922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45" name="step-189"/>
          <p:cNvSpPr txBox="1"/>
          <p:nvPr/>
        </p:nvSpPr>
        <p:spPr>
          <a:xfrm>
            <a:off x="7040880" y="4315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Halve on failure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Double the sub-steps and redo the axis from its start.</a:t>
            </a:r>
            <a:endParaRPr lang="en-US" sz="1400" dirty="0"/>
          </a:p>
        </p:txBody>
      </p:sp>
      <p:sp>
        <p:nvSpPr>
          <p:cNvPr id="46" name="badge-190"/>
          <p:cNvSpPr/>
          <p:nvPr/>
        </p:nvSpPr>
        <p:spPr>
          <a:xfrm>
            <a:off x="6492240" y="5303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badge-label-191"/>
          <p:cNvSpPr txBox="1"/>
          <p:nvPr/>
        </p:nvSpPr>
        <p:spPr>
          <a:xfrm>
            <a:off x="649224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step-192"/>
          <p:cNvSpPr txBox="1"/>
          <p:nvPr/>
        </p:nvSpPr>
        <p:spPr>
          <a:xfrm>
            <a:off x="7040880" y="52760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Accept a real jump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After 5 halvings a converged candidate is kept anyway: the jump survives refinement, so it is physical.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 sweeps d layer by layer with one cold start</a:t>
            </a:r>
            <a:endParaRPr lang="en-US" sz="3000" dirty="0"/>
          </a:p>
        </p:txBody>
      </p:sp>
      <p:pic>
        <p:nvPicPr>
          <p:cNvPr id="3" name="figure-193" descr="/tmp/claude-1000/-home-goraksh/bd4a8aa0-f932-4355-8328-b02b4cf010d1/scratchpad/deck/fig/wa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434840" cy="4434840"/>
          </a:xfrm>
          <a:prstGeom prst="rect">
            <a:avLst/>
          </a:prstGeom>
        </p:spPr>
      </p:pic>
      <p:sp>
        <p:nvSpPr>
          <p:cNvPr id="4" name="text-194"/>
          <p:cNvSpPr txBox="1"/>
          <p:nvPr/>
        </p:nvSpPr>
        <p:spPr>
          <a:xfrm>
            <a:off x="548640" y="5806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Toy 13 × 13 half grid. Dashed red: jumps where the walk's 32-neighbour pool is exhausted (8 of 90 moves).</a:t>
            </a:r>
            <a:endParaRPr lang="en-US" sz="1100" dirty="0"/>
          </a:p>
        </p:txBody>
      </p:sp>
      <p:sp>
        <p:nvSpPr>
          <p:cNvPr id="5" name="badge-195"/>
          <p:cNvSpPr/>
          <p:nvPr/>
        </p:nvSpPr>
        <p:spPr>
          <a:xfrm>
            <a:off x="544068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label-196"/>
          <p:cNvSpPr txBox="1"/>
          <p:nvPr/>
        </p:nvSpPr>
        <p:spPr>
          <a:xfrm>
            <a:off x="54406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197"/>
          <p:cNvSpPr txBox="1"/>
          <p:nvPr/>
        </p:nvSpPr>
        <p:spPr>
          <a:xfrm>
            <a:off x="5989320" y="1435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Single cold start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(d, φ₁, φ₂) = (0.70, −0.70, 0.70), the first point of the study.</a:t>
            </a:r>
            <a:endParaRPr lang="en-US" sz="1500" dirty="0"/>
          </a:p>
        </p:txBody>
      </p:sp>
      <p:sp>
        <p:nvSpPr>
          <p:cNvPr id="8" name="badge-198"/>
          <p:cNvSpPr/>
          <p:nvPr/>
        </p:nvSpPr>
        <p:spPr>
          <a:xfrm>
            <a:off x="54406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99"/>
          <p:cNvSpPr txBox="1"/>
          <p:nvPr/>
        </p:nvSpPr>
        <p:spPr>
          <a:xfrm>
            <a:off x="54406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200"/>
          <p:cNvSpPr txBox="1"/>
          <p:nvPr/>
        </p:nvSpPr>
        <p:spPr>
          <a:xfrm>
            <a:off x="5989320" y="2578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Nearest-neighbour walk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Within a d layer, a greedy KD-tree walk over the φ₁ + φ₂ ≥ 0 half keeps every warm start one grid step away.</a:t>
            </a:r>
            <a:endParaRPr lang="en-US" sz="1500" dirty="0"/>
          </a:p>
        </p:txBody>
      </p:sp>
      <p:sp>
        <p:nvSpPr>
          <p:cNvPr id="11" name="badge-201"/>
          <p:cNvSpPr/>
          <p:nvPr/>
        </p:nvSpPr>
        <p:spPr>
          <a:xfrm>
            <a:off x="5440680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02"/>
          <p:cNvSpPr txBox="1"/>
          <p:nvPr/>
        </p:nvSpPr>
        <p:spPr>
          <a:xfrm>
            <a:off x="54406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203"/>
          <p:cNvSpPr txBox="1"/>
          <p:nvPr/>
        </p:nvSpPr>
        <p:spPr>
          <a:xfrm>
            <a:off x="5989320" y="3721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Layer-to-layer seeding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Each new d layer starts from the last solution of the previous one.</a:t>
            </a:r>
            <a:endParaRPr lang="en-US" sz="1500" dirty="0"/>
          </a:p>
        </p:txBody>
      </p:sp>
      <p:sp>
        <p:nvSpPr>
          <p:cNvPr id="14" name="badge-204"/>
          <p:cNvSpPr/>
          <p:nvPr/>
        </p:nvSpPr>
        <p:spPr>
          <a:xfrm>
            <a:off x="5440680" y="4892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05"/>
          <p:cNvSpPr txBox="1"/>
          <p:nvPr/>
        </p:nvSpPr>
        <p:spPr>
          <a:xfrm>
            <a:off x="544068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206"/>
          <p:cNvSpPr txBox="1"/>
          <p:nvPr/>
        </p:nvSpPr>
        <p:spPr>
          <a:xfrm>
            <a:off x="5989320" y="4864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Fail loudly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 second cold start: a failed warm start stops the run and reports the point, instead of silently changing branch.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Gradient refinement packs points onto the snap surface</a:t>
            </a:r>
            <a:endParaRPr lang="en-US" sz="3000" dirty="0"/>
          </a:p>
        </p:txBody>
      </p:sp>
      <p:pic>
        <p:nvPicPr>
          <p:cNvPr id="3" name="figure-207" descr="/tmp/claude-1000/-home-goraksh/bd4a8aa0-f932-4355-8328-b02b4cf010d1/scratchpad/deck/fig/grad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029200" cy="4310743"/>
          </a:xfrm>
          <a:prstGeom prst="rect">
            <a:avLst/>
          </a:prstGeom>
        </p:spPr>
      </p:pic>
      <p:sp>
        <p:nvSpPr>
          <p:cNvPr id="4" name="text-208"/>
          <p:cNvSpPr txBox="1"/>
          <p:nvPr/>
        </p:nvSpPr>
        <p:spPr>
          <a:xfrm>
            <a:off x="548640" y="5715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Grid finite-difference estimate from the sol4 data. White contour: top 10 % of scores.</a:t>
            </a:r>
            <a:endParaRPr lang="en-US" sz="1100" dirty="0"/>
          </a:p>
        </p:txBody>
      </p:sp>
      <p:sp>
        <p:nvSpPr>
          <p:cNvPr id="5" name="card-209"/>
          <p:cNvSpPr/>
          <p:nvPr/>
        </p:nvSpPr>
        <p:spPr>
          <a:xfrm>
            <a:off x="5852160" y="1417320"/>
            <a:ext cx="5760720" cy="9601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grad"/>
              <p:cNvSpPr txBox="1"/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ΔΘ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ΔΦ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mean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sSub>
                            <m:sSub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latex-gra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badge-211"/>
          <p:cNvSpPr/>
          <p:nvPr/>
        </p:nvSpPr>
        <p:spPr>
          <a:xfrm>
            <a:off x="585216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12"/>
          <p:cNvSpPr txBox="1"/>
          <p:nvPr/>
        </p:nvSpPr>
        <p:spPr>
          <a:xfrm>
            <a:off x="58521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-213"/>
          <p:cNvSpPr txBox="1"/>
          <p:nvPr/>
        </p:nvSpPr>
        <p:spPr>
          <a:xfrm>
            <a:off x="6400800" y="244144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Estimate ∂θ/∂φ at each point from the best-conditioned pair of its 7 nearest neighbours</a:t>
            </a:r>
            <a:endParaRPr lang="en-US" sz="1500" dirty="0"/>
          </a:p>
        </p:txBody>
      </p:sp>
      <p:sp>
        <p:nvSpPr>
          <p:cNvPr id="10" name="badge-214"/>
          <p:cNvSpPr/>
          <p:nvPr/>
        </p:nvSpPr>
        <p:spPr>
          <a:xfrm>
            <a:off x="5852160" y="3337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label-215"/>
          <p:cNvSpPr txBox="1"/>
          <p:nvPr/>
        </p:nvSpPr>
        <p:spPr>
          <a:xfrm>
            <a:off x="585216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-216"/>
          <p:cNvSpPr txBox="1"/>
          <p:nvPr/>
        </p:nvSpPr>
        <p:spPr>
          <a:xfrm>
            <a:off x="6400800" y="331012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Propose midpoints of φ₁- and φ₂-aligned edges, scored by RMS gradient</a:t>
            </a:r>
            <a:endParaRPr lang="en-US" sz="1500" dirty="0"/>
          </a:p>
        </p:txBody>
      </p:sp>
      <p:sp>
        <p:nvSpPr>
          <p:cNvPr id="13" name="badge-217"/>
          <p:cNvSpPr/>
          <p:nvPr/>
        </p:nvSpPr>
        <p:spPr>
          <a:xfrm>
            <a:off x="5852160" y="4206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label-218"/>
          <p:cNvSpPr txBox="1"/>
          <p:nvPr/>
        </p:nvSpPr>
        <p:spPr>
          <a:xfrm>
            <a:off x="585216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-219"/>
          <p:cNvSpPr txBox="1"/>
          <p:nvPr/>
        </p:nvSpPr>
        <p:spPr>
          <a:xfrm>
            <a:off x="6400800" y="41788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top 10 % (≤ 256 per axis) above a minimum spacing that grows each level</a:t>
            </a:r>
            <a:endParaRPr lang="en-US" sz="1500" dirty="0"/>
          </a:p>
        </p:txBody>
      </p:sp>
      <p:sp>
        <p:nvSpPr>
          <p:cNvPr id="16" name="badge-220"/>
          <p:cNvSpPr/>
          <p:nvPr/>
        </p:nvSpPr>
        <p:spPr>
          <a:xfrm>
            <a:off x="5852160" y="5074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221"/>
          <p:cNvSpPr txBox="1"/>
          <p:nvPr/>
        </p:nvSpPr>
        <p:spPr>
          <a:xfrm>
            <a:off x="585216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-222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Solve them with the same MAC-guarded continuation; repeat for 3 levels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Optimization: Mirror symmetry halves the number of solves</a:t>
            </a:r>
            <a:endParaRPr lang="en-US" sz="3000" dirty="0"/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sym"/>
              <p:cNvSpPr txBox="1"/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: </m:t>
                      </m:r>
                      <m:acc>
                        <m:accPr>
                          <m:chr m:val="˜"/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blipFill>
                <a:blip r:embed="rId3"/>
                <a:stretch>
                  <a:fillRect t="-2985" b="-19403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figure-225" descr="/tmp/claude-1000/-home-goraksh/bd4a8aa0-f932-4355-8328-b02b4cf010d1/scratchpad/deck/fig/symmet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423160"/>
            <a:ext cx="7680960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and U carry over,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new left moment is θ′(L)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by side: CURRENTv4 and CURRENTv3</a:t>
            </a:r>
            <a:endParaRPr lang="en-US" sz="3000" dirty="0"/>
          </a:p>
        </p:txBody>
      </p:sp>
      <p:graphicFrame>
        <p:nvGraphicFramePr>
          <p:cNvPr id="19" name="comparison-table-2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CURRENTv3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Parameter grid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Rectilinear, 6 tets per cell, Δ = 0.01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Uniform grid plus adaptive midpoints, Δφ = π/144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Visit order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By grid distance from the cold-start node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 layers; nearest-neighbour walk in (φ₁, φ₂)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Warm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solved grid neighbour, nearest first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Last accepted sub-step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Role of 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Accept/reject gate, threshold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Step-size control, threshold 0.90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On rejection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 the next neighbour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Halve step, up to 5 times (32 sub-steps)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Cold starts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 φ = 0, smallest d; then only if all fail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Exactly one, at the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Snap resolution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by grid spacing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levels of θ-gradient refinement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Outputs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+ VTU for ParaView; checkpoint and resume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with refinement counts; live checkpoints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Open issues worth checking</a:t>
            </a:r>
            <a:endParaRPr lang="en-US" sz="3000" dirty="0"/>
          </a:p>
        </p:txBody>
      </p:sp>
      <p:sp>
        <p:nvSpPr>
          <p:cNvPr id="3" name="card-236"/>
          <p:cNvSpPr/>
          <p:nvPr/>
        </p:nvSpPr>
        <p:spPr>
          <a:xfrm>
            <a:off x="548640" y="141732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badge-237"/>
          <p:cNvSpPr/>
          <p:nvPr/>
        </p:nvSpPr>
        <p:spPr>
          <a:xfrm>
            <a:off x="777240" y="164592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badge-label-238"/>
          <p:cNvSpPr txBox="1"/>
          <p:nvPr/>
        </p:nvSpPr>
        <p:spPr>
          <a:xfrm>
            <a:off x="7772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-239"/>
          <p:cNvSpPr txBox="1"/>
          <p:nvPr/>
        </p:nvSpPr>
        <p:spPr>
          <a:xfrm>
            <a:off x="1325880" y="1673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Mirrored moment sign (v3)</a:t>
            </a:r>
            <a:endParaRPr lang="en-US" sz="1700" dirty="0"/>
          </a:p>
        </p:txBody>
      </p:sp>
      <p:sp>
        <p:nvSpPr>
          <p:cNvPr id="7" name="text-240"/>
          <p:cNvSpPr txBox="1"/>
          <p:nvPr/>
        </p:nvSpPr>
        <p:spPr>
          <a:xfrm>
            <a:off x="77724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build_result_arrays stores −θ′(L) for mirrored points. Differentiating θ̃(s) = −θ(L − s) gives θ̃′(0) = +θ′(L), which is what v4 stores.</a:t>
            </a:r>
            <a:endParaRPr lang="en-US" sz="1500" dirty="0"/>
          </a:p>
        </p:txBody>
      </p:sp>
      <p:sp>
        <p:nvSpPr>
          <p:cNvPr id="8" name="card-241"/>
          <p:cNvSpPr/>
          <p:nvPr/>
        </p:nvSpPr>
        <p:spPr>
          <a:xfrm>
            <a:off x="6217920" y="141732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242"/>
          <p:cNvSpPr/>
          <p:nvPr/>
        </p:nvSpPr>
        <p:spPr>
          <a:xfrm>
            <a:off x="6446520" y="16459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43"/>
          <p:cNvSpPr txBox="1"/>
          <p:nvPr/>
        </p:nvSpPr>
        <p:spPr>
          <a:xfrm>
            <a:off x="6446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-244"/>
          <p:cNvSpPr txBox="1"/>
          <p:nvPr/>
        </p:nvSpPr>
        <p:spPr>
          <a:xfrm>
            <a:off x="6995160" y="1673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Taut top layer, d = 0.9999 (v4)</a:t>
            </a:r>
            <a:endParaRPr lang="en-US" sz="1700" dirty="0"/>
          </a:p>
        </p:txBody>
      </p:sp>
      <p:sp>
        <p:nvSpPr>
          <p:cNvPr id="12" name="text-245"/>
          <p:cNvSpPr txBox="1"/>
          <p:nvPr/>
        </p:nvSpPr>
        <p:spPr>
          <a:xfrm>
            <a:off x="644652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Every failed node in a 90 s run of the production grid had d = 0.9999. With 10⁻⁴ of slack the clamps force a boundary layer about 10⁻³ thick, a tenth of an element. Cap d near 0.995 or refine the beam.</a:t>
            </a:r>
            <a:endParaRPr lang="en-US" sz="1500" dirty="0"/>
          </a:p>
        </p:txBody>
      </p:sp>
      <p:sp>
        <p:nvSpPr>
          <p:cNvPr id="13" name="card-246"/>
          <p:cNvSpPr/>
          <p:nvPr/>
        </p:nvSpPr>
        <p:spPr>
          <a:xfrm>
            <a:off x="548640" y="38862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247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48"/>
          <p:cNvSpPr txBox="1"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text-249"/>
          <p:cNvSpPr txBox="1"/>
          <p:nvPr/>
        </p:nvSpPr>
        <p:spPr>
          <a:xfrm>
            <a:off x="132588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Near-straight limit d → 1</a:t>
            </a:r>
            <a:endParaRPr lang="en-US" sz="1700" dirty="0"/>
          </a:p>
        </p:txBody>
      </p:sp>
      <p:sp>
        <p:nvSpPr>
          <p:cNvPr id="17" name="text-250"/>
          <p:cNvSpPr txBox="1"/>
          <p:nvPr/>
        </p:nvSpPr>
        <p:spPr>
          <a:xfrm>
            <a:off x="77724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In the v4 Δ = 0.02 run, 4,597 of 21,829 points with d ≥ 0.95 have f</a:t>
            </a:r>
            <a:r>
              <a:rPr lang="en-US" sz="1500" baseline="-40000" dirty="0">
                <a:solidFill>
                  <a:schemeClr val="tx1"/>
                </a:solidFill>
              </a:rPr>
              <a:t>x</a:t>
            </a:r>
            <a:r>
              <a:rPr lang="en-US" sz="1500" dirty="0">
                <a:solidFill>
                  <a:schemeClr val="tx1"/>
                </a:solidFill>
              </a:rPr>
              <a:t> &lt; −50 (min −1,100), against a minimum of −35 below. Likely tension boundary layers at the clamps; check mesh convergence (that run used 50 elements).</a:t>
            </a:r>
            <a:endParaRPr lang="en-US" sz="1500" dirty="0"/>
          </a:p>
        </p:txBody>
      </p:sp>
      <p:sp>
        <p:nvSpPr>
          <p:cNvPr id="18" name="card-251"/>
          <p:cNvSpPr/>
          <p:nvPr/>
        </p:nvSpPr>
        <p:spPr>
          <a:xfrm>
            <a:off x="6217920" y="38862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252"/>
          <p:cNvSpPr/>
          <p:nvPr/>
        </p:nvSpPr>
        <p:spPr>
          <a:xfrm>
            <a:off x="6446520" y="4114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badge-label-253"/>
          <p:cNvSpPr txBox="1"/>
          <p:nvPr/>
        </p:nvSpPr>
        <p:spPr>
          <a:xfrm>
            <a:off x="644652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-254"/>
          <p:cNvSpPr txBox="1"/>
          <p:nvPr/>
        </p:nvSpPr>
        <p:spPr>
          <a:xfrm>
            <a:off x="6995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MAC on raw θ</a:t>
            </a:r>
            <a:endParaRPr lang="en-US" sz="1700" dirty="0"/>
          </a:p>
        </p:txBody>
      </p:sp>
      <p:sp>
        <p:nvSpPr>
          <p:cNvPr id="22" name="text-255"/>
          <p:cNvSpPr txBox="1"/>
          <p:nvPr/>
        </p:nvSpPr>
        <p:spPr>
          <a:xfrm>
            <a:off x="644652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θ includes the φ₁ → φ₂ ramp, which can dominate the shape term, and MAC is noisy near θ ≈ 0. A mean-removed or curvature-based MAC would be sharper. Limit-accepted jumps are only visible via refinement_count.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Towards a data-driven controller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to run the production simulation that trains it, and the options for doing so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A controller needs branch-aware data</a:t>
            </a:r>
            <a:endParaRPr lang="en-US" sz="3000" dirty="0"/>
          </a:p>
        </p:txBody>
      </p:sp>
      <p:sp>
        <p:nvSpPr>
          <p:cNvPr id="201" name="card-20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2" name="flow-202"/>
          <p:cNvSpPr txBox="1"/>
          <p:nvPr/>
        </p:nvSpPr>
        <p:spPr>
          <a:xfrm>
            <a:off x="685800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Actuation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d, φ₁, φ₂</a:t>
            </a:r>
            <a:endParaRPr lang="en-US" sz="1200" dirty="0"/>
          </a:p>
        </p:txBody>
      </p:sp>
      <p:sp>
        <p:nvSpPr>
          <p:cNvPr id="203" name="flow-arrow-203"/>
          <p:cNvSpPr/>
          <p:nvPr/>
        </p:nvSpPr>
        <p:spPr>
          <a:xfrm>
            <a:off x="3090672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4" name="card-204"/>
          <p:cNvSpPr/>
          <p:nvPr/>
        </p:nvSpPr>
        <p:spPr>
          <a:xfrm>
            <a:off x="3401568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5" name="flow-205"/>
          <p:cNvSpPr txBox="1"/>
          <p:nvPr/>
        </p:nvSpPr>
        <p:spPr>
          <a:xfrm>
            <a:off x="3538728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+ branch / history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which equilibrium the rod is on</a:t>
            </a:r>
            <a:endParaRPr lang="en-US" sz="1200" dirty="0"/>
          </a:p>
        </p:txBody>
      </p:sp>
      <p:sp>
        <p:nvSpPr>
          <p:cNvPr id="206" name="flow-arrow-206"/>
          <p:cNvSpPr/>
          <p:nvPr/>
        </p:nvSpPr>
        <p:spPr>
          <a:xfrm>
            <a:off x="5943600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7" name="card-207"/>
          <p:cNvSpPr/>
          <p:nvPr/>
        </p:nvSpPr>
        <p:spPr>
          <a:xfrm>
            <a:off x="6254496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8" name="flow-208"/>
          <p:cNvSpPr txBox="1"/>
          <p:nvPr/>
        </p:nvSpPr>
        <p:spPr>
          <a:xfrm>
            <a:off x="6391656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Neural network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surrogate, inverse model or policy</a:t>
            </a:r>
            <a:endParaRPr lang="en-US" sz="1200" dirty="0"/>
          </a:p>
        </p:txBody>
      </p:sp>
      <p:sp>
        <p:nvSpPr>
          <p:cNvPr id="209" name="flow-arrow-209"/>
          <p:cNvSpPr/>
          <p:nvPr/>
        </p:nvSpPr>
        <p:spPr>
          <a:xfrm>
            <a:off x="8796528" y="194310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0" name="card-210"/>
          <p:cNvSpPr/>
          <p:nvPr/>
        </p:nvSpPr>
        <p:spPr>
          <a:xfrm>
            <a:off x="9107424" y="1417320"/>
            <a:ext cx="2514600" cy="105156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1" name="flow-211"/>
          <p:cNvSpPr txBox="1"/>
          <p:nvPr/>
        </p:nvSpPr>
        <p:spPr>
          <a:xfrm>
            <a:off x="9244584" y="1481328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Predicted state</a:t>
            </a:r>
            <a:endParaRPr lang="en-US" sz="1600" dirty="0"/>
          </a:p>
          <a:p>
            <a:pPr marL="0" indent="0" algn="ctr">
              <a:spcAft>
                <a:spcPts val="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θ(s), f</a:t>
            </a:r>
            <a:r>
              <a:rPr lang="en-US" sz="1200" baseline="-25000" dirty="0">
                <a:solidFill>
                  <a:schemeClr val="accent5"/>
                </a:solidFill>
              </a:rPr>
              <a:t>x</a:t>
            </a:r>
            <a:r>
              <a:rPr lang="en-US" sz="1200" dirty="0">
                <a:solidFill>
                  <a:schemeClr val="accent5"/>
                </a:solidFill>
              </a:rPr>
              <a:t>, f</a:t>
            </a:r>
            <a:r>
              <a:rPr lang="en-US" sz="1200" baseline="-25000" dirty="0">
                <a:solidFill>
                  <a:schemeClr val="accent5"/>
                </a:solidFill>
              </a:rPr>
              <a:t>y</a:t>
            </a:r>
            <a:r>
              <a:rPr lang="en-US" sz="1200" dirty="0">
                <a:solidFill>
                  <a:schemeClr val="accent5"/>
                </a:solidFill>
              </a:rPr>
              <a:t>, M₀, snap risk</a:t>
            </a:r>
            <a:endParaRPr lang="en-US" sz="1200" dirty="0"/>
          </a:p>
        </p:txBody>
      </p:sp>
      <p:sp>
        <p:nvSpPr>
          <p:cNvPr id="212" name="card-212"/>
          <p:cNvSpPr/>
          <p:nvPr/>
        </p:nvSpPr>
        <p:spPr>
          <a:xfrm>
            <a:off x="548640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3" name="card-head-213"/>
          <p:cNvSpPr txBox="1"/>
          <p:nvPr/>
        </p:nvSpPr>
        <p:spPr>
          <a:xfrm>
            <a:off x="749808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Forward surrogate (MPC)</a:t>
            </a:r>
            <a:endParaRPr lang="en-US" sz="1650" dirty="0"/>
          </a:p>
        </p:txBody>
      </p:sp>
      <p:sp>
        <p:nvSpPr>
          <p:cNvPr id="214" name="card-body-214"/>
          <p:cNvSpPr txBox="1"/>
          <p:nvPr/>
        </p:nvSpPr>
        <p:spPr>
          <a:xfrm>
            <a:off x="749808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(d, φ₁, φ₂, branch) → shape and forces. An optimiser searches actuations online, with the network standing in for the FE solve.</a:t>
            </a:r>
            <a:endParaRPr lang="en-US" sz="1350" dirty="0"/>
          </a:p>
        </p:txBody>
      </p:sp>
      <p:sp>
        <p:nvSpPr>
          <p:cNvPr id="215" name="card-215"/>
          <p:cNvSpPr/>
          <p:nvPr/>
        </p:nvSpPr>
        <p:spPr>
          <a:xfrm>
            <a:off x="4334255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6" name="card-head-216"/>
          <p:cNvSpPr txBox="1"/>
          <p:nvPr/>
        </p:nvSpPr>
        <p:spPr>
          <a:xfrm>
            <a:off x="4535423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Inverse model</a:t>
            </a:r>
            <a:endParaRPr lang="en-US" sz="1650" dirty="0"/>
          </a:p>
        </p:txBody>
      </p:sp>
      <p:sp>
        <p:nvSpPr>
          <p:cNvPr id="217" name="card-body-217"/>
          <p:cNvSpPr txBox="1"/>
          <p:nvPr/>
        </p:nvSpPr>
        <p:spPr>
          <a:xfrm>
            <a:off x="4535423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target shape or force → actuation. Ill-posed where two branches overlap, so the branch has to be an input.</a:t>
            </a:r>
            <a:endParaRPr lang="en-US" sz="1350" dirty="0"/>
          </a:p>
        </p:txBody>
      </p:sp>
      <p:sp>
        <p:nvSpPr>
          <p:cNvPr id="218" name="card-218"/>
          <p:cNvSpPr/>
          <p:nvPr/>
        </p:nvSpPr>
        <p:spPr>
          <a:xfrm>
            <a:off x="8119871" y="2743200"/>
            <a:ext cx="3502152" cy="21488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19" name="card-head-219"/>
          <p:cNvSpPr txBox="1"/>
          <p:nvPr/>
        </p:nvSpPr>
        <p:spPr>
          <a:xfrm>
            <a:off x="8321040" y="29077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Policy (RL or imitation)</a:t>
            </a:r>
            <a:endParaRPr lang="en-US" sz="1650" dirty="0"/>
          </a:p>
        </p:txBody>
      </p:sp>
      <p:sp>
        <p:nvSpPr>
          <p:cNvPr id="220" name="card-body-220"/>
          <p:cNvSpPr txBox="1"/>
          <p:nvPr/>
        </p:nvSpPr>
        <p:spPr>
          <a:xfrm>
            <a:off x="8321040" y="3310128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Learns state → next actuation inside a surrogate environment. Needs transitions, including the snaps.</a:t>
            </a:r>
            <a:endParaRPr lang="en-US" sz="1350" dirty="0"/>
          </a:p>
        </p:txBody>
      </p:sp>
      <p:sp>
        <p:nvSpPr>
          <p:cNvPr id="221" name="card-221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22" name="badge-222"/>
          <p:cNvSpPr/>
          <p:nvPr/>
        </p:nvSpPr>
        <p:spPr>
          <a:xfrm>
            <a:off x="777240" y="5458968"/>
            <a:ext cx="411480" cy="4114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3" name="badge-label-223"/>
          <p:cNvSpPr txBox="1"/>
          <p:nvPr/>
        </p:nvSpPr>
        <p:spPr>
          <a:xfrm>
            <a:off x="777240" y="5458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!</a:t>
            </a:r>
            <a:endParaRPr lang="en-US" sz="1500" dirty="0"/>
          </a:p>
        </p:txBody>
      </p:sp>
      <p:sp>
        <p:nvSpPr>
          <p:cNvPr id="224" name="callout-224"/>
          <p:cNvSpPr txBox="1"/>
          <p:nvPr/>
        </p:nvSpPr>
        <p:spPr>
          <a:xfrm>
            <a:off x="1417320" y="5212080"/>
            <a:ext cx="10012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Inside the hysteresis zone one actuation has two equilibria. The current studies keep whichever branch the continuation reached first, so a dataset built the same way would teach the network a path-dependent artefact.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Five ways to run the production campaign</a:t>
            </a:r>
            <a:endParaRPr lang="en-US" sz="3000" dirty="0"/>
          </a:p>
        </p:txBody>
      </p:sp>
      <p:graphicFrame>
        <p:nvGraphicFramePr>
          <p:cNvPr id="225" name="table-225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How it runs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What it adds for the controller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Cost and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A  Scaled-up grid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The v3 driver at production resolution over the full box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One equilibrium per point; the snap surface located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1× (7–28 h on one core); no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B  Branch-aware sweeps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Sweep compression and release from several seeds; keep every distinct equilibrium; add a stability eigenvalue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Both branches in the hysteresis zone, labelled stable or unstable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2–4×; multi-seed driver and a small eigen-solve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C  Fold tracking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Pseudo-arclength continuation through the folds; solve for the fold surface directly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The exact snap boundary and the unstable branch between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≈ A per point; substantial new code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D  Active learning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Train an ensemble on a coarse set; solve next where the ensemble disagrees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Samples where the network needs them, mostly near the snap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Fewest solves; needs the ML loop in place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E  Actuation paths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March random quasi-static actuation paths with MAC-guided continuation; log every snap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Sequences with history: (state, action) → next state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Scales with number × length of paths; one path per core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Options A and B: grid sweeps</a:t>
            </a:r>
            <a:endParaRPr lang="en-US" sz="3000" dirty="0"/>
          </a:p>
        </p:txBody>
      </p:sp>
      <p:sp>
        <p:nvSpPr>
          <p:cNvPr id="226" name="card-226"/>
          <p:cNvSpPr/>
          <p:nvPr/>
        </p:nvSpPr>
        <p:spPr>
          <a:xfrm>
            <a:off x="548640" y="1371600"/>
            <a:ext cx="5394960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7" name="badge-227"/>
          <p:cNvSpPr/>
          <p:nvPr/>
        </p:nvSpPr>
        <p:spPr>
          <a:xfrm>
            <a:off x="777240" y="153619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8" name="badge-label-228"/>
          <p:cNvSpPr txBox="1"/>
          <p:nvPr/>
        </p:nvSpPr>
        <p:spPr>
          <a:xfrm>
            <a:off x="77724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A</a:t>
            </a:r>
            <a:endParaRPr lang="en-US" sz="1700" dirty="0"/>
          </a:p>
        </p:txBody>
      </p:sp>
      <p:sp>
        <p:nvSpPr>
          <p:cNvPr id="229" name="detail-head-229"/>
          <p:cNvSpPr txBox="1"/>
          <p:nvPr/>
        </p:nvSpPr>
        <p:spPr>
          <a:xfrm>
            <a:off x="137160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Scaled-up grid sweep</a:t>
            </a:r>
            <a:endParaRPr lang="en-US" sz="1800" dirty="0"/>
          </a:p>
        </p:txBody>
      </p:sp>
      <p:sp>
        <p:nvSpPr>
          <p:cNvPr id="230" name="detail-label-230"/>
          <p:cNvSpPr txBox="1"/>
          <p:nvPr/>
        </p:nvSpPr>
        <p:spPr>
          <a:xfrm>
            <a:off x="777240" y="21945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How</a:t>
            </a:r>
            <a:endParaRPr lang="en-US" sz="1300" dirty="0"/>
          </a:p>
        </p:txBody>
      </p:sp>
      <p:sp>
        <p:nvSpPr>
          <p:cNvPr id="231" name="detail-text-231"/>
          <p:cNvSpPr txBox="1"/>
          <p:nvPr/>
        </p:nvSpPr>
        <p:spPr>
          <a:xfrm>
            <a:off x="1920240" y="21945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The v3 driver on its config grid: d 0.70–0.9999 (Δ 0.005), φ ±π/2 (Δ π/144). About 1.26 M points, half solved via symmetry, plus gradient refinement.</a:t>
            </a:r>
            <a:endParaRPr lang="en-US" sz="1300" dirty="0"/>
          </a:p>
        </p:txBody>
      </p:sp>
      <p:sp>
        <p:nvSpPr>
          <p:cNvPr id="232" name="detail-label-232"/>
          <p:cNvSpPr txBox="1"/>
          <p:nvPr/>
        </p:nvSpPr>
        <p:spPr>
          <a:xfrm>
            <a:off x="777240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Gives</a:t>
            </a:r>
            <a:endParaRPr lang="en-US" sz="1300" dirty="0"/>
          </a:p>
        </p:txBody>
      </p:sp>
      <p:sp>
        <p:nvSpPr>
          <p:cNvPr id="233" name="detail-text-233"/>
          <p:cNvSpPr txBox="1"/>
          <p:nvPr/>
        </p:nvSpPr>
        <p:spPr>
          <a:xfrm>
            <a:off x="1920240" y="32004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One equilibrium with all outputs per point; the snap surface falls out of the MAC jumps.</a:t>
            </a:r>
            <a:endParaRPr lang="en-US" sz="1300" dirty="0"/>
          </a:p>
        </p:txBody>
      </p:sp>
      <p:sp>
        <p:nvSpPr>
          <p:cNvPr id="234" name="detail-label-234"/>
          <p:cNvSpPr txBox="1"/>
          <p:nvPr/>
        </p:nvSpPr>
        <p:spPr>
          <a:xfrm>
            <a:off x="777240" y="4206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</a:t>
            </a:r>
            <a:endParaRPr lang="en-US" sz="1300" dirty="0"/>
          </a:p>
        </p:txBody>
      </p:sp>
      <p:sp>
        <p:nvSpPr>
          <p:cNvPr id="235" name="detail-text-235"/>
          <p:cNvSpPr txBox="1"/>
          <p:nvPr/>
        </p:nvSpPr>
        <p:spPr>
          <a:xfrm>
            <a:off x="1920240" y="4206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7–28 h on one core at the measured 0.02–0.08 s per point; about 0.6 GB of float32 data.</a:t>
            </a:r>
            <a:endParaRPr lang="en-US" sz="1300" dirty="0"/>
          </a:p>
        </p:txBody>
      </p:sp>
      <p:sp>
        <p:nvSpPr>
          <p:cNvPr id="236" name="detail-label-236"/>
          <p:cNvSpPr txBox="1"/>
          <p:nvPr/>
        </p:nvSpPr>
        <p:spPr>
          <a:xfrm>
            <a:off x="77724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Watch out</a:t>
            </a:r>
            <a:endParaRPr lang="en-US" sz="1300" dirty="0"/>
          </a:p>
        </p:txBody>
      </p:sp>
      <p:sp>
        <p:nvSpPr>
          <p:cNvPr id="237" name="detail-text-237"/>
          <p:cNvSpPr txBox="1"/>
          <p:nvPr/>
        </p:nvSpPr>
        <p:spPr>
          <a:xfrm>
            <a:off x="1920240" y="52120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In the hysteresis zone the stored branch depends on the sweep path.</a:t>
            </a:r>
            <a:endParaRPr lang="en-US" sz="1300" dirty="0"/>
          </a:p>
        </p:txBody>
      </p:sp>
      <p:sp>
        <p:nvSpPr>
          <p:cNvPr id="238" name="card-238"/>
          <p:cNvSpPr/>
          <p:nvPr/>
        </p:nvSpPr>
        <p:spPr>
          <a:xfrm>
            <a:off x="6217920" y="1371600"/>
            <a:ext cx="5394960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39" name="badge-239"/>
          <p:cNvSpPr/>
          <p:nvPr/>
        </p:nvSpPr>
        <p:spPr>
          <a:xfrm>
            <a:off x="6446520" y="153619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40" name="badge-label-240"/>
          <p:cNvSpPr txBox="1"/>
          <p:nvPr/>
        </p:nvSpPr>
        <p:spPr>
          <a:xfrm>
            <a:off x="644652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</a:t>
            </a:r>
            <a:endParaRPr lang="en-US" sz="1700" dirty="0"/>
          </a:p>
        </p:txBody>
      </p:sp>
      <p:sp>
        <p:nvSpPr>
          <p:cNvPr id="241" name="detail-head-241"/>
          <p:cNvSpPr txBox="1"/>
          <p:nvPr/>
        </p:nvSpPr>
        <p:spPr>
          <a:xfrm>
            <a:off x="7040880" y="1572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Branch-aware sweeps</a:t>
            </a:r>
            <a:endParaRPr lang="en-US" sz="1800" dirty="0"/>
          </a:p>
        </p:txBody>
      </p:sp>
      <p:sp>
        <p:nvSpPr>
          <p:cNvPr id="242" name="detail-label-242"/>
          <p:cNvSpPr txBox="1"/>
          <p:nvPr/>
        </p:nvSpPr>
        <p:spPr>
          <a:xfrm>
            <a:off x="6446520" y="21945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How</a:t>
            </a:r>
            <a:endParaRPr lang="en-US" sz="1300" dirty="0"/>
          </a:p>
        </p:txBody>
      </p:sp>
      <p:sp>
        <p:nvSpPr>
          <p:cNvPr id="243" name="detail-text-243"/>
          <p:cNvSpPr txBox="1"/>
          <p:nvPr/>
        </p:nvSpPr>
        <p:spPr>
          <a:xfrm>
            <a:off x="7589520" y="21945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Repeat the sweep with d rising and falling, from 2–4 seeds across (φ₁, φ₂). Merge the results: MAC &gt; 0.99 means the same equilibrium.</a:t>
            </a:r>
            <a:endParaRPr lang="en-US" sz="1300" dirty="0"/>
          </a:p>
        </p:txBody>
      </p:sp>
      <p:sp>
        <p:nvSpPr>
          <p:cNvPr id="244" name="detail-label-244"/>
          <p:cNvSpPr txBox="1"/>
          <p:nvPr/>
        </p:nvSpPr>
        <p:spPr>
          <a:xfrm>
            <a:off x="6446520" y="32004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Gives</a:t>
            </a:r>
            <a:endParaRPr lang="en-US" sz="1300" dirty="0"/>
          </a:p>
        </p:txBody>
      </p:sp>
      <p:sp>
        <p:nvSpPr>
          <p:cNvPr id="245" name="detail-text-245"/>
          <p:cNvSpPr txBox="1"/>
          <p:nvPr/>
        </p:nvSpPr>
        <p:spPr>
          <a:xfrm>
            <a:off x="7589520" y="32004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Every equilibrium continuation reaches, a branch id, and λ</a:t>
            </a:r>
            <a:r>
              <a:rPr lang="en-US" sz="1300" baseline="-25000" dirty="0">
                <a:solidFill>
                  <a:schemeClr val="tx1"/>
                </a:solidFill>
              </a:rPr>
              <a:t>min</a:t>
            </a:r>
            <a:r>
              <a:rPr lang="en-US" sz="1300" dirty="0">
                <a:solidFill>
                  <a:schemeClr val="tx1"/>
                </a:solidFill>
              </a:rPr>
              <a:t> of the constrained Hessian (stable or not).</a:t>
            </a:r>
            <a:endParaRPr lang="en-US" sz="1300" dirty="0"/>
          </a:p>
        </p:txBody>
      </p:sp>
      <p:sp>
        <p:nvSpPr>
          <p:cNvPr id="246" name="detail-label-246"/>
          <p:cNvSpPr txBox="1"/>
          <p:nvPr/>
        </p:nvSpPr>
        <p:spPr>
          <a:xfrm>
            <a:off x="6446520" y="4206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</a:t>
            </a:r>
            <a:endParaRPr lang="en-US" sz="1300" dirty="0"/>
          </a:p>
        </p:txBody>
      </p:sp>
      <p:sp>
        <p:nvSpPr>
          <p:cNvPr id="247" name="detail-text-247"/>
          <p:cNvSpPr txBox="1"/>
          <p:nvPr/>
        </p:nvSpPr>
        <p:spPr>
          <a:xfrm>
            <a:off x="7589520" y="42062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2–4× option A. The ~100 × 100 dense eigen-solve per point is small next to the Newton solve.</a:t>
            </a:r>
            <a:endParaRPr lang="en-US" sz="1300" dirty="0"/>
          </a:p>
        </p:txBody>
      </p:sp>
      <p:sp>
        <p:nvSpPr>
          <p:cNvPr id="248" name="detail-label-248"/>
          <p:cNvSpPr txBox="1"/>
          <p:nvPr/>
        </p:nvSpPr>
        <p:spPr>
          <a:xfrm>
            <a:off x="64465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Watch out</a:t>
            </a:r>
            <a:endParaRPr lang="en-US" sz="1300" dirty="0"/>
          </a:p>
        </p:txBody>
      </p:sp>
      <p:sp>
        <p:nvSpPr>
          <p:cNvPr id="249" name="detail-text-249"/>
          <p:cNvSpPr txBox="1"/>
          <p:nvPr/>
        </p:nvSpPr>
        <p:spPr>
          <a:xfrm>
            <a:off x="7589520" y="52120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Keeping branch labels consistent across the box, and choosing the merge threshold.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Options C–E: change the numerics, sampling or data</a:t>
            </a:r>
            <a:endParaRPr lang="en-US" sz="3000" dirty="0"/>
          </a:p>
        </p:txBody>
      </p:sp>
      <p:sp>
        <p:nvSpPr>
          <p:cNvPr id="250" name="card-250"/>
          <p:cNvSpPr/>
          <p:nvPr/>
        </p:nvSpPr>
        <p:spPr>
          <a:xfrm>
            <a:off x="548640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1" name="badge-251"/>
          <p:cNvSpPr/>
          <p:nvPr/>
        </p:nvSpPr>
        <p:spPr>
          <a:xfrm>
            <a:off x="749808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2" name="badge-label-252"/>
          <p:cNvSpPr txBox="1"/>
          <p:nvPr/>
        </p:nvSpPr>
        <p:spPr>
          <a:xfrm>
            <a:off x="749808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</a:t>
            </a:r>
            <a:endParaRPr lang="en-US" sz="1700" dirty="0"/>
          </a:p>
        </p:txBody>
      </p:sp>
      <p:sp>
        <p:nvSpPr>
          <p:cNvPr id="253" name="detail-head-253"/>
          <p:cNvSpPr txBox="1"/>
          <p:nvPr/>
        </p:nvSpPr>
        <p:spPr>
          <a:xfrm>
            <a:off x="1325880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Fold tracking</a:t>
            </a:r>
            <a:endParaRPr lang="en-US" sz="1700" dirty="0"/>
          </a:p>
        </p:txBody>
      </p:sp>
      <p:sp>
        <p:nvSpPr>
          <p:cNvPr id="254" name="detail-text-254"/>
          <p:cNvSpPr txBox="1"/>
          <p:nvPr/>
        </p:nvSpPr>
        <p:spPr>
          <a:xfrm>
            <a:off x="749808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Pseudo-arclength continuation that passes through folds; a bordered system pins the fold where J is singular.</a:t>
            </a:r>
            <a:endParaRPr lang="en-US" sz="1250" dirty="0"/>
          </a:p>
        </p:txBody>
      </p:sp>
      <p:sp>
        <p:nvSpPr>
          <p:cNvPr id="255" name="detail-text-255"/>
          <p:cNvSpPr txBox="1"/>
          <p:nvPr/>
        </p:nvSpPr>
        <p:spPr>
          <a:xfrm>
            <a:off x="749808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fold surface itself, plus the unstable branch linking the two stable ones.</a:t>
            </a:r>
            <a:endParaRPr lang="en-US" sz="1250" dirty="0"/>
          </a:p>
        </p:txBody>
      </p:sp>
      <p:sp>
        <p:nvSpPr>
          <p:cNvPr id="256" name="detail-text-256"/>
          <p:cNvSpPr txBox="1"/>
          <p:nvPr/>
        </p:nvSpPr>
        <p:spPr>
          <a:xfrm>
            <a:off x="749808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Similar per point, but significant development.</a:t>
            </a:r>
            <a:endParaRPr lang="en-US" sz="1250" dirty="0"/>
          </a:p>
        </p:txBody>
      </p:sp>
      <p:sp>
        <p:nvSpPr>
          <p:cNvPr id="257" name="detail-text-257"/>
          <p:cNvSpPr txBox="1"/>
          <p:nvPr/>
        </p:nvSpPr>
        <p:spPr>
          <a:xfrm>
            <a:off x="749808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Two-parameter fold continuation is research-grade code.</a:t>
            </a:r>
            <a:endParaRPr lang="en-US" sz="1250" dirty="0"/>
          </a:p>
        </p:txBody>
      </p:sp>
      <p:sp>
        <p:nvSpPr>
          <p:cNvPr id="258" name="card-258"/>
          <p:cNvSpPr/>
          <p:nvPr/>
        </p:nvSpPr>
        <p:spPr>
          <a:xfrm>
            <a:off x="4334255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9" name="badge-259"/>
          <p:cNvSpPr/>
          <p:nvPr/>
        </p:nvSpPr>
        <p:spPr>
          <a:xfrm>
            <a:off x="4535423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0" name="badge-label-260"/>
          <p:cNvSpPr txBox="1"/>
          <p:nvPr/>
        </p:nvSpPr>
        <p:spPr>
          <a:xfrm>
            <a:off x="4535423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</a:t>
            </a:r>
            <a:endParaRPr lang="en-US" sz="1700" dirty="0"/>
          </a:p>
        </p:txBody>
      </p:sp>
      <p:sp>
        <p:nvSpPr>
          <p:cNvPr id="261" name="detail-head-261"/>
          <p:cNvSpPr txBox="1"/>
          <p:nvPr/>
        </p:nvSpPr>
        <p:spPr>
          <a:xfrm>
            <a:off x="5111495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Active learning</a:t>
            </a:r>
            <a:endParaRPr lang="en-US" sz="1700" dirty="0"/>
          </a:p>
        </p:txBody>
      </p:sp>
      <p:sp>
        <p:nvSpPr>
          <p:cNvPr id="262" name="detail-text-262"/>
          <p:cNvSpPr txBox="1"/>
          <p:nvPr/>
        </p:nvSpPr>
        <p:spPr>
          <a:xfrm>
            <a:off x="4535423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Train an ensemble on a coarse option-A grid; solve next where the ensemble disagrees most.</a:t>
            </a:r>
            <a:endParaRPr lang="en-US" sz="1250" dirty="0"/>
          </a:p>
        </p:txBody>
      </p:sp>
      <p:sp>
        <p:nvSpPr>
          <p:cNvPr id="263" name="detail-text-263"/>
          <p:cNvSpPr txBox="1"/>
          <p:nvPr/>
        </p:nvSpPr>
        <p:spPr>
          <a:xfrm>
            <a:off x="4535423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Samples concentrated near the snap surface, where the network errs.</a:t>
            </a:r>
            <a:endParaRPr lang="en-US" sz="1250" dirty="0"/>
          </a:p>
        </p:txBody>
      </p:sp>
      <p:sp>
        <p:nvSpPr>
          <p:cNvPr id="264" name="detail-text-264"/>
          <p:cNvSpPr txBox="1"/>
          <p:nvPr/>
        </p:nvSpPr>
        <p:spPr>
          <a:xfrm>
            <a:off x="4535423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Fewest solves for a target accuracy; training runs between batches.</a:t>
            </a:r>
            <a:endParaRPr lang="en-US" sz="1250" dirty="0"/>
          </a:p>
        </p:txBody>
      </p:sp>
      <p:sp>
        <p:nvSpPr>
          <p:cNvPr id="265" name="detail-text-265"/>
          <p:cNvSpPr txBox="1"/>
          <p:nvPr/>
        </p:nvSpPr>
        <p:spPr>
          <a:xfrm>
            <a:off x="4535423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Needs the network design fixed first; keep an untouched test set.</a:t>
            </a:r>
            <a:endParaRPr lang="en-US" sz="1250" dirty="0"/>
          </a:p>
        </p:txBody>
      </p:sp>
      <p:sp>
        <p:nvSpPr>
          <p:cNvPr id="266" name="card-266"/>
          <p:cNvSpPr/>
          <p:nvPr/>
        </p:nvSpPr>
        <p:spPr>
          <a:xfrm>
            <a:off x="8119871" y="1371600"/>
            <a:ext cx="3502152" cy="48463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7" name="badge-267"/>
          <p:cNvSpPr/>
          <p:nvPr/>
        </p:nvSpPr>
        <p:spPr>
          <a:xfrm>
            <a:off x="8321040" y="151790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8" name="badge-label-268"/>
          <p:cNvSpPr txBox="1"/>
          <p:nvPr/>
        </p:nvSpPr>
        <p:spPr>
          <a:xfrm>
            <a:off x="8321040" y="1517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</a:t>
            </a:r>
            <a:endParaRPr lang="en-US" sz="1700" dirty="0"/>
          </a:p>
        </p:txBody>
      </p:sp>
      <p:sp>
        <p:nvSpPr>
          <p:cNvPr id="269" name="detail-head-269"/>
          <p:cNvSpPr txBox="1"/>
          <p:nvPr/>
        </p:nvSpPr>
        <p:spPr>
          <a:xfrm>
            <a:off x="8897111" y="1554480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Actuation paths</a:t>
            </a:r>
            <a:endParaRPr lang="en-US" sz="1700" dirty="0"/>
          </a:p>
        </p:txBody>
      </p:sp>
      <p:sp>
        <p:nvSpPr>
          <p:cNvPr id="270" name="detail-text-270"/>
          <p:cNvSpPr txBox="1"/>
          <p:nvPr/>
        </p:nvSpPr>
        <p:spPr>
          <a:xfrm>
            <a:off x="8321040" y="214884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How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Draw smooth random paths in (d, φ₁, φ₂) and march along each with MAC-guided continuation.</a:t>
            </a:r>
            <a:endParaRPr lang="en-US" sz="1250" dirty="0"/>
          </a:p>
        </p:txBody>
      </p:sp>
      <p:sp>
        <p:nvSpPr>
          <p:cNvPr id="271" name="detail-text-271"/>
          <p:cNvSpPr txBox="1"/>
          <p:nvPr/>
        </p:nvSpPr>
        <p:spPr>
          <a:xfrm>
            <a:off x="8321040" y="315468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Gives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(state, action) → next state, snaps included: direct data for a policy or MPC.</a:t>
            </a:r>
            <a:endParaRPr lang="en-US" sz="1250" dirty="0"/>
          </a:p>
        </p:txBody>
      </p:sp>
      <p:sp>
        <p:nvSpPr>
          <p:cNvPr id="272" name="detail-text-272"/>
          <p:cNvSpPr txBox="1"/>
          <p:nvPr/>
        </p:nvSpPr>
        <p:spPr>
          <a:xfrm>
            <a:off x="8321040" y="41605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Cost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Proportional to number × length of paths; one path per core.</a:t>
            </a:r>
            <a:endParaRPr lang="en-US" sz="1250" dirty="0"/>
          </a:p>
        </p:txBody>
      </p:sp>
      <p:sp>
        <p:nvSpPr>
          <p:cNvPr id="273" name="detail-text-273"/>
          <p:cNvSpPr txBox="1"/>
          <p:nvPr/>
        </p:nvSpPr>
        <p:spPr>
          <a:xfrm>
            <a:off x="8321040" y="516636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Watch out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Coverage needs many paths; quasi-static only, no snap dynamics.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Scale: a day on one core, hours on a workstation</a:t>
            </a:r>
            <a:endParaRPr lang="en-US" sz="3000" dirty="0"/>
          </a:p>
        </p:txBody>
      </p:sp>
      <p:sp>
        <p:nvSpPr>
          <p:cNvPr id="274" name="card-274"/>
          <p:cNvSpPr/>
          <p:nvPr/>
        </p:nvSpPr>
        <p:spPr>
          <a:xfrm>
            <a:off x="54864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5" name="tile-big-275"/>
          <p:cNvSpPr txBox="1"/>
          <p:nvPr/>
        </p:nvSpPr>
        <p:spPr>
          <a:xfrm>
            <a:off x="74980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1.26 M</a:t>
            </a:r>
            <a:endParaRPr lang="en-US" sz="3000" dirty="0"/>
          </a:p>
        </p:txBody>
      </p:sp>
      <p:sp>
        <p:nvSpPr>
          <p:cNvPr id="276" name="tile-label-276"/>
          <p:cNvSpPr txBox="1"/>
          <p:nvPr/>
        </p:nvSpPr>
        <p:spPr>
          <a:xfrm>
            <a:off x="74980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grid points</a:t>
            </a:r>
            <a:endParaRPr lang="en-US" sz="1400" dirty="0"/>
          </a:p>
        </p:txBody>
      </p:sp>
      <p:sp>
        <p:nvSpPr>
          <p:cNvPr id="277" name="tile-sub-277"/>
          <p:cNvSpPr txBox="1"/>
          <p:nvPr/>
        </p:nvSpPr>
        <p:spPr>
          <a:xfrm>
            <a:off x="74980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v3 config: 60 × 145 × 145</a:t>
            </a:r>
            <a:endParaRPr lang="en-US" sz="1150" dirty="0"/>
          </a:p>
        </p:txBody>
      </p:sp>
      <p:sp>
        <p:nvSpPr>
          <p:cNvPr id="278" name="card-278"/>
          <p:cNvSpPr/>
          <p:nvPr/>
        </p:nvSpPr>
        <p:spPr>
          <a:xfrm>
            <a:off x="338328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79" name="tile-big-279"/>
          <p:cNvSpPr txBox="1"/>
          <p:nvPr/>
        </p:nvSpPr>
        <p:spPr>
          <a:xfrm>
            <a:off x="358444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0.02–0.08 s</a:t>
            </a:r>
            <a:endParaRPr lang="en-US" sz="3000" dirty="0"/>
          </a:p>
        </p:txBody>
      </p:sp>
      <p:sp>
        <p:nvSpPr>
          <p:cNvPr id="280" name="tile-label-280"/>
          <p:cNvSpPr txBox="1"/>
          <p:nvPr/>
        </p:nvSpPr>
        <p:spPr>
          <a:xfrm>
            <a:off x="358444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per point, one core</a:t>
            </a:r>
            <a:endParaRPr lang="en-US" sz="1400" dirty="0"/>
          </a:p>
        </p:txBody>
      </p:sp>
      <p:sp>
        <p:nvSpPr>
          <p:cNvPr id="281" name="tile-sub-281"/>
          <p:cNvSpPr txBox="1"/>
          <p:nvPr/>
        </p:nvSpPr>
        <p:spPr>
          <a:xfrm>
            <a:off x="358444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v3 sol4 and v4 timestamps, before the one-thread fix (v4 now ≈ 3 ms)</a:t>
            </a:r>
            <a:endParaRPr lang="en-US" sz="1150" dirty="0"/>
          </a:p>
        </p:txBody>
      </p:sp>
      <p:sp>
        <p:nvSpPr>
          <p:cNvPr id="282" name="card-282"/>
          <p:cNvSpPr/>
          <p:nvPr/>
        </p:nvSpPr>
        <p:spPr>
          <a:xfrm>
            <a:off x="621792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3" name="tile-big-283"/>
          <p:cNvSpPr txBox="1"/>
          <p:nvPr/>
        </p:nvSpPr>
        <p:spPr>
          <a:xfrm>
            <a:off x="641908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7–28 h</a:t>
            </a:r>
            <a:endParaRPr lang="en-US" sz="3000" dirty="0"/>
          </a:p>
        </p:txBody>
      </p:sp>
      <p:sp>
        <p:nvSpPr>
          <p:cNvPr id="284" name="tile-label-284"/>
          <p:cNvSpPr txBox="1"/>
          <p:nvPr/>
        </p:nvSpPr>
        <p:spPr>
          <a:xfrm>
            <a:off x="641908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serial, option A</a:t>
            </a:r>
            <a:endParaRPr lang="en-US" sz="1400" dirty="0"/>
          </a:p>
        </p:txBody>
      </p:sp>
      <p:sp>
        <p:nvSpPr>
          <p:cNvPr id="285" name="tile-sub-285"/>
          <p:cNvSpPr txBox="1"/>
          <p:nvPr/>
        </p:nvSpPr>
        <p:spPr>
          <a:xfrm>
            <a:off x="641908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before any parallelism</a:t>
            </a:r>
            <a:endParaRPr lang="en-US" sz="1150" dirty="0"/>
          </a:p>
        </p:txBody>
      </p:sp>
      <p:sp>
        <p:nvSpPr>
          <p:cNvPr id="286" name="card-286"/>
          <p:cNvSpPr/>
          <p:nvPr/>
        </p:nvSpPr>
        <p:spPr>
          <a:xfrm>
            <a:off x="9052560" y="1371600"/>
            <a:ext cx="2560320" cy="17830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87" name="tile-big-287"/>
          <p:cNvSpPr txBox="1"/>
          <p:nvPr/>
        </p:nvSpPr>
        <p:spPr>
          <a:xfrm>
            <a:off x="9253728" y="1481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0.6 GB</a:t>
            </a:r>
            <a:endParaRPr lang="en-US" sz="3000" dirty="0"/>
          </a:p>
        </p:txBody>
      </p:sp>
      <p:sp>
        <p:nvSpPr>
          <p:cNvPr id="288" name="tile-label-288"/>
          <p:cNvSpPr txBox="1"/>
          <p:nvPr/>
        </p:nvSpPr>
        <p:spPr>
          <a:xfrm>
            <a:off x="9253728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per 1.26 M points</a:t>
            </a:r>
            <a:endParaRPr lang="en-US" sz="1400" dirty="0"/>
          </a:p>
        </p:txBody>
      </p:sp>
      <p:sp>
        <p:nvSpPr>
          <p:cNvPr id="289" name="tile-sub-289"/>
          <p:cNvSpPr txBox="1"/>
          <p:nvPr/>
        </p:nvSpPr>
        <p:spPr>
          <a:xfrm>
            <a:off x="9253728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θ in float32 plus scalar outputs</a:t>
            </a:r>
            <a:endParaRPr lang="en-US" sz="1150" dirty="0"/>
          </a:p>
        </p:txBody>
      </p:sp>
      <p:sp>
        <p:nvSpPr>
          <p:cNvPr id="290" name="card-290"/>
          <p:cNvSpPr/>
          <p:nvPr/>
        </p:nvSpPr>
        <p:spPr>
          <a:xfrm>
            <a:off x="548640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1" name="card-head-291"/>
          <p:cNvSpPr txBox="1"/>
          <p:nvPr/>
        </p:nvSpPr>
        <p:spPr>
          <a:xfrm>
            <a:off x="749808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Seed, then fan out</a:t>
            </a:r>
            <a:endParaRPr lang="en-US" sz="1650" dirty="0"/>
          </a:p>
        </p:txBody>
      </p:sp>
      <p:sp>
        <p:nvSpPr>
          <p:cNvPr id="292" name="card-body-292"/>
          <p:cNvSpPr txBox="1"/>
          <p:nvPr/>
        </p:nvSpPr>
        <p:spPr>
          <a:xfrm>
            <a:off x="749808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A coarse serial pass gives one converged solution per block of d-layers or per path; each block then continues on its own.</a:t>
            </a:r>
            <a:endParaRPr lang="en-US" sz="1350" dirty="0"/>
          </a:p>
        </p:txBody>
      </p:sp>
      <p:sp>
        <p:nvSpPr>
          <p:cNvPr id="293" name="card-293"/>
          <p:cNvSpPr/>
          <p:nvPr/>
        </p:nvSpPr>
        <p:spPr>
          <a:xfrm>
            <a:off x="4334255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4" name="card-head-294"/>
          <p:cNvSpPr txBox="1"/>
          <p:nvPr/>
        </p:nvSpPr>
        <p:spPr>
          <a:xfrm>
            <a:off x="4535423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One rank per block</a:t>
            </a:r>
            <a:endParaRPr lang="en-US" sz="1650" dirty="0"/>
          </a:p>
        </p:txBody>
      </p:sp>
      <p:sp>
        <p:nvSpPr>
          <p:cNvPr id="295" name="card-body-295"/>
          <p:cNvSpPr txBox="1"/>
          <p:nvPr/>
        </p:nvSpPr>
        <p:spPr>
          <a:xfrm>
            <a:off x="4535423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Each MPI rank builds its own 100-element beam problem on COMM_SELF. The problem is tiny, so throughput scales with core count.</a:t>
            </a:r>
            <a:endParaRPr lang="en-US" sz="1350" dirty="0"/>
          </a:p>
        </p:txBody>
      </p:sp>
      <p:sp>
        <p:nvSpPr>
          <p:cNvPr id="296" name="card-296"/>
          <p:cNvSpPr/>
          <p:nvPr/>
        </p:nvSpPr>
        <p:spPr>
          <a:xfrm>
            <a:off x="8119871" y="3429000"/>
            <a:ext cx="35021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97" name="card-head-297"/>
          <p:cNvSpPr txBox="1"/>
          <p:nvPr/>
        </p:nvSpPr>
        <p:spPr>
          <a:xfrm>
            <a:off x="8321040" y="359359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50" b="1" dirty="0">
                <a:solidFill>
                  <a:schemeClr val="accent1"/>
                </a:solidFill>
              </a:rPr>
              <a:t>Restart and audit</a:t>
            </a:r>
            <a:endParaRPr lang="en-US" sz="1650" dirty="0"/>
          </a:p>
        </p:txBody>
      </p:sp>
      <p:sp>
        <p:nvSpPr>
          <p:cNvPr id="298" name="card-body-298"/>
          <p:cNvSpPr txBox="1"/>
          <p:nvPr/>
        </p:nvSpPr>
        <p:spPr>
          <a:xfrm>
            <a:off x="8321040" y="399592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Checkpoint per block (v3 and v4 already do), keep solver metadata, and re-solve a random 1 % at 200 elements as a convergence audit.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record per equilibrium: what to store</a:t>
            </a:r>
            <a:endParaRPr lang="en-US" sz="3000" dirty="0"/>
          </a:p>
        </p:txBody>
      </p:sp>
      <p:graphicFrame>
        <p:nvGraphicFramePr>
          <p:cNvPr id="299" name="table-299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Field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Why the controller needs it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d, φ₁, φ₂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Actuation: the network's inputs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branch_id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 (int)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Separates the two equilibria inside the hysteresis zone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θ(s)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Shape; compress with POD before training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f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x</a:t>
                      </a: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, f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y</a:t>
                      </a: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, M₀, M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Forces and moments at both clamps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U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Energy; also a check on the branch label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λ</a:t>
                      </a:r>
                      <a:r>
                        <a:rPr lang="en-US" sz="1300" b="1" baseline="-25000" dirty="0">
                          <a:solidFill>
                            <a:schemeClr val="accent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Stability: negative means an unstable equilibrium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MAC to source, refinement count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Flags samples right next to a snap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path_id, step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Sequence context for option E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Newton iterations, residual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Data quality; filter suspicious solves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Recommended plan: fix, sweep both branches, then add paths</a:t>
            </a:r>
            <a:endParaRPr lang="en-US" sz="3000" dirty="0"/>
          </a:p>
        </p:txBody>
      </p:sp>
      <p:sp>
        <p:nvSpPr>
          <p:cNvPr id="300" name="card-300"/>
          <p:cNvSpPr/>
          <p:nvPr/>
        </p:nvSpPr>
        <p:spPr>
          <a:xfrm>
            <a:off x="548640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1" name="badge-301"/>
          <p:cNvSpPr/>
          <p:nvPr/>
        </p:nvSpPr>
        <p:spPr>
          <a:xfrm>
            <a:off x="749808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2" name="badge-label-302"/>
          <p:cNvSpPr txBox="1"/>
          <p:nvPr/>
        </p:nvSpPr>
        <p:spPr>
          <a:xfrm>
            <a:off x="749808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303" name="phase-head-303"/>
          <p:cNvSpPr txBox="1"/>
          <p:nvPr/>
        </p:nvSpPr>
        <p:spPr>
          <a:xfrm>
            <a:off x="749808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Fix and verify</a:t>
            </a:r>
            <a:endParaRPr lang="en-US" sz="1600" dirty="0"/>
          </a:p>
        </p:txBody>
      </p:sp>
      <p:sp>
        <p:nvSpPr>
          <p:cNvPr id="304" name="phase-body-304"/>
          <p:cNvSpPr txBox="1"/>
          <p:nvPr/>
        </p:nvSpPr>
        <p:spPr>
          <a:xfrm>
            <a:off x="749808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Mirrored-moment sign; mesh convergence near d → 1; add the stability eigenvalue.</a:t>
            </a:r>
            <a:endParaRPr lang="en-US" sz="1350" dirty="0"/>
          </a:p>
        </p:txBody>
      </p:sp>
      <p:sp>
        <p:nvSpPr>
          <p:cNvPr id="305" name="flow-arrow-305"/>
          <p:cNvSpPr/>
          <p:nvPr/>
        </p:nvSpPr>
        <p:spPr>
          <a:xfrm>
            <a:off x="3090672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06" name="card-306"/>
          <p:cNvSpPr/>
          <p:nvPr/>
        </p:nvSpPr>
        <p:spPr>
          <a:xfrm>
            <a:off x="3401568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7" name="badge-307"/>
          <p:cNvSpPr/>
          <p:nvPr/>
        </p:nvSpPr>
        <p:spPr>
          <a:xfrm>
            <a:off x="3602736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08" name="badge-label-308"/>
          <p:cNvSpPr txBox="1"/>
          <p:nvPr/>
        </p:nvSpPr>
        <p:spPr>
          <a:xfrm>
            <a:off x="3602736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309" name="phase-head-309"/>
          <p:cNvSpPr txBox="1"/>
          <p:nvPr/>
        </p:nvSpPr>
        <p:spPr>
          <a:xfrm>
            <a:off x="3602736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Branch-aware grid (B)</a:t>
            </a:r>
            <a:endParaRPr lang="en-US" sz="1600" dirty="0"/>
          </a:p>
        </p:txBody>
      </p:sp>
      <p:sp>
        <p:nvSpPr>
          <p:cNvPr id="310" name="phase-body-310"/>
          <p:cNvSpPr txBox="1"/>
          <p:nvPr/>
        </p:nvSpPr>
        <p:spPr>
          <a:xfrm>
            <a:off x="3602736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Production run on the v3 driver: the main training set.</a:t>
            </a:r>
            <a:endParaRPr lang="en-US" sz="1350" dirty="0"/>
          </a:p>
        </p:txBody>
      </p:sp>
      <p:sp>
        <p:nvSpPr>
          <p:cNvPr id="311" name="flow-arrow-311"/>
          <p:cNvSpPr/>
          <p:nvPr/>
        </p:nvSpPr>
        <p:spPr>
          <a:xfrm>
            <a:off x="5943600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2" name="card-312"/>
          <p:cNvSpPr/>
          <p:nvPr/>
        </p:nvSpPr>
        <p:spPr>
          <a:xfrm>
            <a:off x="6254496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3" name="badge-313"/>
          <p:cNvSpPr/>
          <p:nvPr/>
        </p:nvSpPr>
        <p:spPr>
          <a:xfrm>
            <a:off x="6455664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4" name="badge-label-314"/>
          <p:cNvSpPr txBox="1"/>
          <p:nvPr/>
        </p:nvSpPr>
        <p:spPr>
          <a:xfrm>
            <a:off x="6455664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315" name="phase-head-315"/>
          <p:cNvSpPr txBox="1"/>
          <p:nvPr/>
        </p:nvSpPr>
        <p:spPr>
          <a:xfrm>
            <a:off x="6455664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Actuation paths (E)</a:t>
            </a:r>
            <a:endParaRPr lang="en-US" sz="1600" dirty="0"/>
          </a:p>
        </p:txBody>
      </p:sp>
      <p:sp>
        <p:nvSpPr>
          <p:cNvPr id="316" name="phase-body-316"/>
          <p:cNvSpPr txBox="1"/>
          <p:nvPr/>
        </p:nvSpPr>
        <p:spPr>
          <a:xfrm>
            <a:off x="6455664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Sequence data for a policy or MPC, plus an independent test set.</a:t>
            </a:r>
            <a:endParaRPr lang="en-US" sz="1350" dirty="0"/>
          </a:p>
        </p:txBody>
      </p:sp>
      <p:sp>
        <p:nvSpPr>
          <p:cNvPr id="317" name="flow-arrow-317"/>
          <p:cNvSpPr/>
          <p:nvPr/>
        </p:nvSpPr>
        <p:spPr>
          <a:xfrm>
            <a:off x="8796528" y="2674620"/>
            <a:ext cx="283464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18" name="card-318"/>
          <p:cNvSpPr/>
          <p:nvPr/>
        </p:nvSpPr>
        <p:spPr>
          <a:xfrm>
            <a:off x="9107424" y="1417320"/>
            <a:ext cx="2514600" cy="2514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19" name="badge-319"/>
          <p:cNvSpPr/>
          <p:nvPr/>
        </p:nvSpPr>
        <p:spPr>
          <a:xfrm>
            <a:off x="9308592" y="157276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0" name="badge-label-320"/>
          <p:cNvSpPr txBox="1"/>
          <p:nvPr/>
        </p:nvSpPr>
        <p:spPr>
          <a:xfrm>
            <a:off x="9308592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321" name="phase-head-321"/>
          <p:cNvSpPr txBox="1"/>
          <p:nvPr/>
        </p:nvSpPr>
        <p:spPr>
          <a:xfrm>
            <a:off x="9308592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learning (D)</a:t>
            </a:r>
            <a:endParaRPr lang="en-US" sz="1600" dirty="0"/>
          </a:p>
        </p:txBody>
      </p:sp>
      <p:sp>
        <p:nvSpPr>
          <p:cNvPr id="322" name="phase-body-322"/>
          <p:cNvSpPr txBox="1"/>
          <p:nvPr/>
        </p:nvSpPr>
        <p:spPr>
          <a:xfrm>
            <a:off x="9308592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Once a first network exists, top up where it is least certain.</a:t>
            </a:r>
            <a:endParaRPr lang="en-US" sz="1350" dirty="0"/>
          </a:p>
        </p:txBody>
      </p:sp>
      <p:sp>
        <p:nvSpPr>
          <p:cNvPr id="323" name="card-323"/>
          <p:cNvSpPr/>
          <p:nvPr/>
        </p:nvSpPr>
        <p:spPr>
          <a:xfrm>
            <a:off x="548640" y="4206240"/>
            <a:ext cx="6400800" cy="1371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4" name="card-head-324"/>
          <p:cNvSpPr txBox="1"/>
          <p:nvPr/>
        </p:nvSpPr>
        <p:spPr>
          <a:xfrm>
            <a:off x="749808" y="4370831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Decision needed: which controller?</a:t>
            </a:r>
            <a:endParaRPr lang="en-US" sz="1700" dirty="0"/>
          </a:p>
        </p:txBody>
      </p:sp>
      <p:sp>
        <p:nvSpPr>
          <p:cNvPr id="325" name="card-body-325"/>
          <p:cNvSpPr txBox="1"/>
          <p:nvPr/>
        </p:nvSpPr>
        <p:spPr>
          <a:xfrm>
            <a:off x="749808" y="4773168"/>
            <a:ext cx="5998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forward surrogate for MPC leans the plan towards B. A learned policy leans it towards E. The choice sets how the budget is split between phases 1 and 2.</a:t>
            </a:r>
            <a:endParaRPr lang="en-US" sz="1400" dirty="0"/>
          </a:p>
        </p:txBody>
      </p:sp>
      <p:sp>
        <p:nvSpPr>
          <p:cNvPr id="326" name="card-326"/>
          <p:cNvSpPr/>
          <p:nvPr/>
        </p:nvSpPr>
        <p:spPr>
          <a:xfrm>
            <a:off x="7223760" y="4206240"/>
            <a:ext cx="4389120" cy="13716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7" name="card-head-327"/>
          <p:cNvSpPr txBox="1"/>
          <p:nvPr/>
        </p:nvSpPr>
        <p:spPr>
          <a:xfrm>
            <a:off x="7424928" y="4370831"/>
            <a:ext cx="3986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Where C fits</a:t>
            </a:r>
            <a:endParaRPr lang="en-US" sz="1700" dirty="0"/>
          </a:p>
        </p:txBody>
      </p:sp>
      <p:sp>
        <p:nvSpPr>
          <p:cNvPr id="328" name="card-body-328"/>
          <p:cNvSpPr txBox="1"/>
          <p:nvPr/>
        </p:nvSpPr>
        <p:spPr>
          <a:xfrm>
            <a:off x="7424928" y="4773168"/>
            <a:ext cx="39867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Only if the controller must work right at the fold boundary, where the exact snap surface matters.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Takeaways</a:t>
            </a:r>
            <a:endParaRPr lang="en-US" sz="3600" dirty="0"/>
          </a:p>
        </p:txBody>
      </p:sp>
      <p:sp>
        <p:nvSpPr>
          <p:cNvPr id="3" name="badge-256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badge-label-257"/>
          <p:cNvSpPr txBox="1"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258"/>
          <p:cNvSpPr txBox="1"/>
          <p:nvPr/>
        </p:nvSpPr>
        <p:spPr>
          <a:xfrm>
            <a:off x="54864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The snap is a fold</a:t>
            </a:r>
            <a:endParaRPr lang="en-US" sz="2000" dirty="0"/>
          </a:p>
        </p:txBody>
      </p:sp>
      <p:sp>
        <p:nvSpPr>
          <p:cNvPr id="6" name="text-259"/>
          <p:cNvSpPr txBox="1"/>
          <p:nvPr/>
        </p:nvSpPr>
        <p:spPr>
          <a:xfrm>
            <a:off x="548640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Newton converges on both sides of it, so the jump has to be detected from the shape, not the residual.</a:t>
            </a:r>
            <a:endParaRPr lang="en-US" sz="1600" dirty="0"/>
          </a:p>
        </p:txBody>
      </p:sp>
      <p:sp>
        <p:nvSpPr>
          <p:cNvPr id="7" name="badge-260"/>
          <p:cNvSpPr/>
          <p:nvPr/>
        </p:nvSpPr>
        <p:spPr>
          <a:xfrm>
            <a:off x="4334256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61"/>
          <p:cNvSpPr txBox="1"/>
          <p:nvPr/>
        </p:nvSpPr>
        <p:spPr>
          <a:xfrm>
            <a:off x="4334256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-262"/>
          <p:cNvSpPr txBox="1"/>
          <p:nvPr/>
        </p:nvSpPr>
        <p:spPr>
          <a:xfrm>
            <a:off x="4334256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MAC makes it cheap</a:t>
            </a:r>
            <a:endParaRPr lang="en-US" sz="2000" dirty="0"/>
          </a:p>
        </p:txBody>
      </p:sp>
      <p:sp>
        <p:nvSpPr>
          <p:cNvPr id="10" name="text-263"/>
          <p:cNvSpPr txBox="1"/>
          <p:nvPr/>
        </p:nvSpPr>
        <p:spPr>
          <a:xfrm>
            <a:off x="4334256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≈ 0.9999 between smooth neighbours and below 0.1 across the jump: one dot product per solve.</a:t>
            </a:r>
            <a:endParaRPr lang="en-US" sz="1600" dirty="0"/>
          </a:p>
        </p:txBody>
      </p:sp>
      <p:sp>
        <p:nvSpPr>
          <p:cNvPr id="11" name="badge-264"/>
          <p:cNvSpPr/>
          <p:nvPr/>
        </p:nvSpPr>
        <p:spPr>
          <a:xfrm>
            <a:off x="8119872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65"/>
          <p:cNvSpPr txBox="1"/>
          <p:nvPr/>
        </p:nvSpPr>
        <p:spPr>
          <a:xfrm>
            <a:off x="811987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-266"/>
          <p:cNvSpPr txBox="1"/>
          <p:nvPr/>
        </p:nvSpPr>
        <p:spPr>
          <a:xfrm>
            <a:off x="8119872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Two ways to use it</a:t>
            </a:r>
            <a:endParaRPr lang="en-US" sz="2000" dirty="0"/>
          </a:p>
        </p:txBody>
      </p:sp>
      <p:sp>
        <p:nvSpPr>
          <p:cNvPr id="14" name="text-267"/>
          <p:cNvSpPr txBox="1"/>
          <p:nvPr/>
        </p:nvSpPr>
        <p:spPr>
          <a:xfrm>
            <a:off x="8119872" y="30175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v4 gates each neighbour's warm start with it and cold-starts only when all fail. v3 drives step halving with it and accepts a jump only once it survives 32 sub-steps.</a:t>
            </a:r>
            <a:endParaRPr lang="en-US" sz="1600" dirty="0"/>
          </a:p>
        </p:txBody>
      </p:sp>
      <p:sp>
        <p:nvSpPr>
          <p:cNvPr id="15" name="text-268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1"/>
                </a:solidFill>
              </a:rPr>
              <a:t>Next: fix the mirrored-moment sign · mesh-convergence check near d → 1 · branch-aware production run for the controller dataset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5793</Words>
  <Application>Microsoft Office PowerPoint</Application>
  <PresentationFormat>Widescreen</PresentationFormat>
  <Paragraphs>553</Paragraphs>
  <Slides>34</Slides>
  <Notes>30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103 unknowns</vt:lpstr>
      <vt:lpstr>The snap surface</vt:lpstr>
      <vt:lpstr>Two equilibria 0.01 rad apart: the rod has snapped</vt:lpstr>
      <vt:lpstr>MAC: a shape-similarity test that flags a branch switch</vt:lpstr>
      <vt:lpstr>Smooth fields, then a jump across an L-shaped surface</vt:lpstr>
      <vt:lpstr>The neighbour-MAC map alone traces the snap surface</vt:lpstr>
      <vt:lpstr>The snap surface in 3D</vt:lpstr>
      <vt:lpstr>Extracting the snap surface: a MAC isosurface</vt:lpstr>
      <vt:lpstr>Seen down the d axis, the L-shaped locus closes in</vt:lpstr>
      <vt:lpstr>The sheet rises from the step in axial force</vt:lpstr>
      <vt:lpstr>Continuation strategies</vt:lpstr>
      <vt:lpstr>CURRENTv4: traverse the grid, accept or reject by MAC</vt:lpstr>
      <vt:lpstr>Deriving the exact first mode used for the cold start</vt:lpstr>
      <vt:lpstr>Exact first-mode cold start, then continue the clamp angles</vt:lpstr>
      <vt:lpstr>CURRENTv4 update: faster solves, fewer failures</vt:lpstr>
      <vt:lpstr>CURRENTv3: MAC sets the step size of every move</vt:lpstr>
      <vt:lpstr>CURRENTv3 sweeps d layer by layer with one cold start</vt:lpstr>
      <vt:lpstr>Gradient refinement packs points onto the snap surface</vt:lpstr>
      <vt:lpstr>Optimization: Mirror symmetry halves the number of solves</vt:lpstr>
      <vt:lpstr>Side by side: CURRENTv4 and CURRENTv3</vt:lpstr>
      <vt:lpstr>Open issues worth checking</vt:lpstr>
      <vt:lpstr>Towards a data-driven controller</vt:lpstr>
      <vt:lpstr>A controller needs branch-aware data</vt:lpstr>
      <vt:lpstr>Five ways to run the production campaign</vt:lpstr>
      <vt:lpstr>Options A and B: grid sweeps</vt:lpstr>
      <vt:lpstr>Options C–E: change the numerics, sampling or data</vt:lpstr>
      <vt:lpstr>Scale: a day on one core, hours on a workstation</vt:lpstr>
      <vt:lpstr>One record per equilibrium: what to store</vt:lpstr>
      <vt:lpstr>Recommended plan: fix, sweep both branches, then add paths</vt:lpstr>
      <vt:lpstr>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5</cp:revision>
  <dcterms:created xsi:type="dcterms:W3CDTF">2026-10-09T14:15:45Z</dcterms:created>
  <dcterms:modified xsi:type="dcterms:W3CDTF">2026-10-10T06:54:30Z</dcterms:modified>
</cp:coreProperties>
</file>