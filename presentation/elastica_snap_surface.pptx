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77" r:id="rId12"/>
    <p:sldId id="278" r:id="rId13"/>
    <p:sldId id="279" r:id="rId14"/>
    <p:sldId id="266" r:id="rId15"/>
    <p:sldId id="267" r:id="rId16"/>
    <p:sldId id="289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and governing math" id="{C37E3601-C24F-C817-9963-7F95C32A3C61}">
          <p14:sldIdLst>
            <p14:sldId id="256"/>
            <p14:sldId id="257"/>
            <p14:sldId id="258"/>
            <p14:sldId id="259"/>
            <p14:sldId id="260"/>
          </p14:sldIdLst>
        </p14:section>
        <p14:section name="Snap Surface (MAC)" id="{8EC7598D-7973-6D1C-AB16-2878DA9877AD}">
          <p14:sldIdLst>
            <p14:sldId id="261"/>
            <p14:sldId id="263"/>
            <p14:sldId id="264"/>
            <p14:sldId id="262"/>
            <p14:sldId id="265"/>
            <p14:sldId id="277"/>
            <p14:sldId id="278"/>
            <p14:sldId id="279"/>
          </p14:sldIdLst>
        </p14:section>
        <p14:section name="Continuation strategies" id="{95CDCF11-1B6B-B936-99DA-258805DCA0FC}">
          <p14:sldIdLst>
            <p14:sldId id="266"/>
            <p14:sldId id="267"/>
            <p14:sldId id="289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88429" autoAdjust="0"/>
  </p:normalViewPr>
  <p:slideViewPr>
    <p:cSldViewPr snapToGrid="0" snapToObjects="1">
      <p:cViewPr varScale="1">
        <p:scale>
          <a:sx n="109" d="100"/>
          <a:sy n="109" d="100"/>
        </p:scale>
        <p:origin x="888" y="10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892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Today I'll walk through how we map every equilibrium of a clamped rod as we change its end distance and its two clamp angles.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hard part is the snap: at some settings the rod suddenly jumps to a different shape, and the solver has to notice that.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We'll go through the math, the snap surface itself, how the two solver versions cope with it, and what it means for training a controller.</a:t>
            </a:r>
          </a:p>
          <a:p>
            <a:endParaRPr lang="en-US" dirty="0"/>
          </a:p>
          <a:p>
            <a:r>
              <a:rPr lang="en-US" dirty="0"/>
              <a:t>This deck walks through the two elastica solvers in CURRENTv3 and CURRENTv4: the governing math, how a single equilibrium is computed, and especially how each code behaves near the snap surface where the equilibrium jumps from one branch to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Picture a thin rod of unit length, clamped at both ends.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control three things: how far apart the clamps are, d, and the angle of each clamp, φ₁ and φ₂.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For every combination we solve for the rod's shape and the end forces, then record the clamp moment and the bending energy.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the result is a 3D map with one equilibrium per point of the (d, φ₁, φ₂) box.</a:t>
            </a:r>
          </a:p>
          <a:p>
            <a:endParaRPr lang="en-US" dirty="0"/>
          </a:p>
          <a:p>
            <a:r>
              <a:rPr lang="en-US" dirty="0"/>
              <a:t>The rod has unit length and is clamped at both ends. d is the horizontal distance between the clamps; phi1 and phi2 are the clamp angles. Ranges are the ones in each version's config.json. The results shown later come from the CURRENTv3/sol4 run (d 0.90 to 0.95, phi in [-0.8, 0.8], step 0.01).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 rod settles where its bending energy is stationary, with its ends held where we put them.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describe the shape by the tangent angle θ along the rod, which keeps the length fixed automatically.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positions come in through two Lagrange multipliers, fx and fy, and those turn out to be the reaction forces at the clamp.</a:t>
            </a:r>
          </a:p>
          <a:p>
            <a:endParaRPr lang="en-US" dirty="0"/>
          </a:p>
          <a:p>
            <a:r>
              <a:rPr lang="en-US" dirty="0"/>
              <a:t>Arc-length parametrisation makes inextensibility automatic: x' = cos(theta), y' = sin(theta). The end-position constraints become two integral constraints, handled with scalar multipliers f_x and f_y.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Setting the variation of the Lagrangian to zero gives the classic elastica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In FEniCSx we solve it in weak form: θ on 100 linear elements, plus one global unknown each for fx and fy.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clamp angles are just fixed values of θ at the two ends.</a:t>
            </a:r>
          </a:p>
          <a:p>
            <a:endParaRPr lang="en-US" dirty="0"/>
          </a:p>
          <a:p>
            <a:r>
              <a:rPr lang="en-US" dirty="0"/>
              <a:t>F0 is the weak form of the elastica ODE; F1 and F2 tested against constants enforce the integral constraints. The three blocks are passed to dolfinx NonlinearProblem as a block system [theta, fx, 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Each point of the map is a single Newton solve on only 103 unknowns, so one solve is very cheap.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use a direct LU solve and a backtracking line search, with tight tolerances.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catch is the fold: there the Jacobian goes singular, which is exactly where the snap happens and where Newton needs help.</a:t>
            </a:r>
          </a:p>
          <a:p>
            <a:endParaRPr lang="en-US" dirty="0"/>
          </a:p>
          <a:p>
            <a:r>
              <a:rPr lang="en-US" dirty="0"/>
              <a:t>One ElasticaSolver object is built once and reused for every parameter point: only the constants d, phi1, phi2 and the initial guess change between solves.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Now let's look at what the snap actually looks like in the data.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This is the feature that makes the whole problem interesting, and hard.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two converged shapes are only a hundredth of a radian apart in clamp angle, yet they look completely different.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branch the rod was on simply ends, so it jumps to another one.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solutions meet the tolerance, so convergence alone can't tell you that a jump happened.</a:t>
            </a:r>
          </a:p>
          <a:p>
            <a:endParaRPr lang="en-US" dirty="0"/>
          </a:p>
          <a:p>
            <a:r>
              <a:rPr lang="en-US" dirty="0"/>
              <a:t>The S-shaped (green) and the reversed-hump (orange) configurations are both legitimate equilibria. A Newton solve that converges is not enough: you need to check the shape against where you came from. That is the job of the MAC.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 catch a jump we compare shapes, using the Modal Assurance Criterion from vibration analysis.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It's essentially the squared cosine between two θ vectors: 1 means the same shape, near 0 means unrelated shapes.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Neighbours on the same branch score about 0.9999; across the snap it drops to 0.087, so the signal is very clear.</a:t>
            </a:r>
          </a:p>
          <a:p>
            <a:endParaRPr lang="en-US" dirty="0"/>
          </a:p>
          <a:p>
            <a:r>
              <a:rPr lang="en-US" dirty="0"/>
              <a:t>MAC is borrowed from modal analysis: the squared cosine of the angle between two discrete theta vectors. Along a line cut through the snap it stays at 1 everywhere except the single grid interval that crosses the surface, where it collapses to 0.087.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These are the solution fields on one slice, at d = 0.90.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Everything is smooth inside, then there's a sharp L-shaped edge where all the fields jump together.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energy, for example, more than doubles in a single grid step.</a:t>
            </a:r>
          </a:p>
          <a:p>
            <a:endParaRPr lang="en-US" dirty="0"/>
          </a:p>
          <a:p>
            <a:r>
              <a:rPr lang="en-US" dirty="0"/>
              <a:t>Every field (U, fx, fy, M0) shows the same L-shaped discontinuity. Inside it the rod sits on one branch; outside, on another. The rest of the deck is about how the code handles this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If we just compute MAC between neighbouring grid points, the snap surface pops right out.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red contour is where MAC drops below 0.9, and nothing else in the slice comes close to that.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As the rod gets closer to straight, d towards 1, the surface moves inward.</a:t>
            </a:r>
          </a:p>
          <a:p>
            <a:endParaRPr lang="en-US" dirty="0"/>
          </a:p>
          <a:p>
            <a:r>
              <a:rPr lang="en-US" dirty="0"/>
              <a:t>Computed directly from the stored theta fields: for each grid point, the minimum MAC to its four neighbours. The 0.90 contour is the snap surface. Its two arms are mirror images under (phi1, phi2) -&gt; (-phi2, -phi1).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To build the surface we compute MAC along every edge of the tetrahedral mesh and keep the worst value at each node.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ParaView then draws the isosurface at MAC = 0.9 and smooths it.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As a sanity check, nearly 90 percent of the flagged edges also show a large jump in energy.</a:t>
            </a:r>
          </a:p>
          <a:p>
            <a:endParaRPr lang="en-US" dirty="0"/>
          </a:p>
          <a:p>
            <a:r>
              <a:rPr lang="en-US" dirty="0"/>
              <a:t>The indicator is computed from the theta field stored in solution_space_results.vtu of the CURRENTv4 0.02 run (make_mac_vtu.py); ParaView does the contouring, smoothing and rendering (render_snap.py, state saved as snap_surface.pvsm). Why MAC and not energy: a relative energy-jump indicator on the denser 0.01 run also picked up steep but smooth regions near d -&gt; 1 and produced a false sheet at the top of the box. 1 - MAC has a clear gap between smooth edges (below 0.03) and jump edges (above 0.3).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Looking straight down the d axis, every level of the sheet is the same L shape we saw in 2D.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Reassuringly, v3 and v4 put the jump in almost the same place, around φ₁ = −0.55 at d = 0.90.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And you can see the surface closing in as d approaches 1.</a:t>
            </a:r>
          </a:p>
          <a:p>
            <a:endParaRPr lang="en-US" dirty="0"/>
          </a:p>
          <a:p>
            <a:r>
              <a:rPr lang="en-US" dirty="0"/>
              <a:t>Looking down the d axis turns the sheet back into the family of L-shaped curves from the 2D slides. The v4 run (irregular tet mesh, distance-ordered traversal) and the v3 run (structured grid, adaptive MAC continuation) put the jump in the same place at d = 0.90, which is a useful independent check on both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 the floor is coloured by the axial force fx, and the sheet sits right on the step in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fx roughly doubles across the line at every d we checked.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a surface built purely from shape agrees with what the forces see, to within about one mesh cell.</a:t>
            </a:r>
          </a:p>
          <a:p>
            <a:endParaRPr lang="en-US" dirty="0"/>
          </a:p>
          <a:p>
            <a:r>
              <a:rPr lang="en-US" dirty="0"/>
              <a:t>Cut-away at d = 0.90: the plane is the volume data sliced at d = 0.90 and coloured by f_x on a fixed 0-70 scale; the MAC isosurface is clipped to d &gt;= 0.90 and drawn translucent, so its base line and the f_x step can be compared directly. The values on the right are the largest f_x step along phi2 = 0 at three d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Next: how each solver version walks through the parameter space without being fooled by the snap.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Both use MAC, but in quite different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v4 starts with a single cold start at zero clamp angles and the smallest d, where we know the answer exactly.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then works outward, warm-starting each node from a neighbour that's already solved.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If Newton fails or the shape doesn't match by MAC, it simply tries the next neighbour.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Only if every neighbour fails does it cold-start again, and mirror symmetry means we solve only half the box.</a:t>
            </a:r>
          </a:p>
          <a:p>
            <a:endParaRPr lang="en-US" dirty="0"/>
          </a:p>
          <a:p>
            <a:r>
              <a:rPr lang="en-US" dirty="0"/>
              <a:t>CURRENTv4 uses MAC as a gate. The only planned cold start is at φ₁ = φ₂ = 0 at the smallest d. Every other node tries its solved grid neighbours, nearest first: a warm start capped at 50 Newton iterations, then a MAC comparison against that neighbour's field. Below 0.85, or if Newton fails, the next neighbour is tried. Only when all have failed is the node cold-started: continuation from the exact first clamped mode, from both hump directions, keeping the lower-energy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This slide shows why the cold start is exact rather than a guess.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With both clamp angles at zero the problem is symmetric, so the vertical force vanishes and we get the pendulum equation.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Its solution is a Jacobi elliptic function, and the clamped ends force exactly four quarter-waves, which fixes the axial force.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end distance then pins down the elliptic parameter, and for small bows it reduces to the familiar sine shape and the Euler buckling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When we need a cold start at non-zero angles, we begin from that exact mode and gently turn the clamps to their targets.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Each step starts from the previous solution; if a step fails we halve it, and giving up means we've hit a fold.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We do this for the hump-up and the hump-down shape and keep the lower-energy one; the dotted curve is the one we discard.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converges more often than the old sine guess: 296 of 300 random points against 285.</a:t>
            </a:r>
          </a:p>
          <a:p>
            <a:endParaRPr lang="en-US" dirty="0"/>
          </a:p>
          <a:p>
            <a:r>
              <a:rPr lang="en-US" dirty="0"/>
              <a:t>CURRENTv3 still uses the old guess, ramp + A sin(πs/L), which is not admissible: its integral of θ is 2AL/π, so the end starts off the axis. The exact mode is θ = 2 asin(√m sn(4Ks/L | m)) with d/L = 2E/K − 1 and fx = (4K/L)². The figure shows rod shapes, x = ∫cos θ ds and y = ∫sin θ ds, from the real cold start at d = 0.90, φ₁ = 0.60, φ₂ = −0.40: two continuation steps between the exact mode and the target; both branches reach it, and the U = 1.23 one is kept over U = 8.17.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v3 uses MAC differently: as a step-size control rather than a gate.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moves one parameter at a time; if a step fails or the shape changes too much, it halves the step and tries again.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If the jump is still there after 32 sub-steps, it accepts it as a genuine snap and records how much refinement it took.</a:t>
            </a:r>
          </a:p>
          <a:p>
            <a:endParaRPr lang="en-US" dirty="0"/>
          </a:p>
          <a:p>
            <a:r>
              <a:rPr lang="en-US" dirty="0"/>
              <a:t>solve_with_adaptive_mac in CURRENTv3/script/main.py. Away from the snap the full step passes first time (r = 0). Near it, refinement shrinks the step until each sub-step stays on one branch. If the MAC still fails at a 1/32 step, the discontinuity is real, and the candidate is accepted with the refinement count recorded.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v3 sweeps the box one d layer at a time, from a single cold start.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Within a layer it always moves to a nearby point, so every warm start is about one grid step away.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And it fails loudly: if a warm start fails, the run stops and reports the point instead of quietly switching branch.</a:t>
            </a:r>
          </a:p>
          <a:p>
            <a:endParaRPr lang="en-US" dirty="0"/>
          </a:p>
          <a:p>
            <a:r>
              <a:rPr lang="en-US" dirty="0"/>
              <a:t>This ordering is what makes MAC meaningful: the reference shape is always a near neighbour, so a low MAC really means a branch switch and not just a long continuation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Because the snap is so sharp, v3 adds extra points where θ changes fastest.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It estimates the gradient from neighbours, proposes midpoints, and keeps the top ten percent.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After three rounds the new points sit right on the snap surface instead of being spent in the smooth interior.</a:t>
            </a:r>
          </a:p>
          <a:p>
            <a:endParaRPr lang="en-US" dirty="0"/>
          </a:p>
          <a:p>
            <a:r>
              <a:rPr lang="en-US" dirty="0"/>
              <a:t>gradient_refinement_points in CURRENTv3/script/main.py. Because theta changes fastest across the snap, the refinement automatically spends new solves there and not in the smooth interior.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Flipping the rod end to end maps one half of the box onto the other.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So we solve only half the points and fill in the rest with simple sign rules: fy flips, fx and the energy stay the same.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That's a straight factor of two saved, in both versions.</a:t>
            </a:r>
          </a:p>
          <a:p>
            <a:endParaRPr lang="en-US" dirty="0"/>
          </a:p>
          <a:p>
            <a:r>
              <a:rPr lang="en-US" dirty="0"/>
              <a:t>Both versions use this. The mirrored theta is obtained by reversing and negating the stored nodal values, so no extra solves are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Arial"/>
              <a:buChar char="•"/>
            </a:pPr>
            <a:r>
              <a:rPr lang="en-US" dirty="0"/>
              <a:t>Here's the side-by-side summary of the two codes.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The key difference is the role of MAC: a gate in v4, a step-size control in v3.</a:t>
            </a:r>
          </a:p>
          <a:p>
            <a:pPr marL="228600" indent="-228600">
              <a:buFont typeface="Arial"/>
              <a:buChar char="•"/>
            </a:pPr>
            <a:r>
              <a:rPr lang="en-US" dirty="0"/>
              <a:t>v4 is now the more robust of the two and gives ParaView-ready output; v3 resolves the snap more finely through refinement.</a:t>
            </a:r>
          </a:p>
          <a:p>
            <a:endParaRPr lang="en-US" dirty="0"/>
          </a:p>
          <a:p>
            <a:r>
              <a:rPr lang="en-US" dirty="0"/>
              <a:t>By file timestamps the CURRENTv3 scripts (Sep 25 to 26) are newer than CURRENTv4's (Sep 23 to 25), so CURRENTv3 is the more developed algorithm despite the folder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Elastica snap-surface study · CURRENTv3 &amp; CURRENTv4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720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1.png"/><Relationship Id="rId5" Type="http://schemas.openxmlformats.org/officeDocument/2006/relationships/image" Target="../media/image2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554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Mapping the clamped elastica across its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Continuation with MAC-guided step control in FEniCSx / PETSc — CURRENTv3 and CURRENTv4</a:t>
            </a:r>
            <a:endParaRPr lang="en-US" sz="1800" dirty="0"/>
          </a:p>
        </p:txBody>
      </p:sp>
      <p:pic>
        <p:nvPicPr>
          <p:cNvPr id="4" name="figure-1" descr="/tmp/claude-1000/-home-goraksh/bd4a8aa0-f932-4355-8328-b02b4cf010d1/scratchpad/deck/fig/family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92040"/>
            <a:ext cx="4480560" cy="12517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One rod, three parameters, a map of equilibria</a:t>
            </a:r>
            <a:endParaRPr lang="en-US" sz="3000" dirty="0"/>
          </a:p>
        </p:txBody>
      </p:sp>
      <p:pic>
        <p:nvPicPr>
          <p:cNvPr id="3" name="figure-2" descr="/tmp/claude-1000/-home-goraksh/bd4a8aa0-f932-4355-8328-b02b4cf010d1/scratchpad/deck/fig/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217920" cy="346477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548640" y="506497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For every point (d, φ₁, φ₂) solve for the tangent angle θ(s) and the end forces f</a:t>
            </a:r>
            <a:r>
              <a:rPr lang="en-US" sz="1600" baseline="-40000" dirty="0">
                <a:solidFill>
                  <a:schemeClr val="tx1"/>
                </a:solidFill>
              </a:rPr>
              <a:t>x</a:t>
            </a:r>
            <a:r>
              <a:rPr lang="en-US" sz="1600" dirty="0">
                <a:solidFill>
                  <a:schemeClr val="tx1"/>
                </a:solidFill>
              </a:rPr>
              <a:t>, f</a:t>
            </a:r>
            <a:r>
              <a:rPr lang="en-US" sz="1600" baseline="-40000" dirty="0">
                <a:solidFill>
                  <a:schemeClr val="tx1"/>
                </a:solidFill>
              </a:rPr>
              <a:t>y</a:t>
            </a:r>
            <a:r>
              <a:rPr lang="en-US" sz="1600" dirty="0">
                <a:solidFill>
                  <a:schemeClr val="tx1"/>
                </a:solidFill>
              </a:rPr>
              <a:t>; record the clamp moment M₀ and the bending energy U.</a:t>
            </a:r>
            <a:endParaRPr lang="en-US" sz="1600" dirty="0"/>
          </a:p>
        </p:txBody>
      </p:sp>
      <p:sp>
        <p:nvSpPr>
          <p:cNvPr id="5" name="card-4"/>
          <p:cNvSpPr/>
          <p:nvPr/>
        </p:nvSpPr>
        <p:spPr>
          <a:xfrm>
            <a:off x="6949440" y="14630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5"/>
          <p:cNvSpPr/>
          <p:nvPr/>
        </p:nvSpPr>
        <p:spPr>
          <a:xfrm>
            <a:off x="7178040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6"/>
          <p:cNvSpPr txBox="1"/>
          <p:nvPr/>
        </p:nvSpPr>
        <p:spPr>
          <a:xfrm>
            <a:off x="71780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8" name="text-7"/>
          <p:cNvSpPr txBox="1"/>
          <p:nvPr/>
        </p:nvSpPr>
        <p:spPr>
          <a:xfrm>
            <a:off x="8046720" y="1691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End-to-end distance (L = 1)</a:t>
            </a:r>
            <a:endParaRPr lang="en-US" sz="1700" dirty="0"/>
          </a:p>
        </p:txBody>
      </p:sp>
      <p:sp>
        <p:nvSpPr>
          <p:cNvPr id="9" name="text-8"/>
          <p:cNvSpPr txBox="1"/>
          <p:nvPr/>
        </p:nvSpPr>
        <p:spPr>
          <a:xfrm>
            <a:off x="8046720" y="21031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0.70 – 0.9999;  Δd = 0.005 (v3), 0.01 (v4)</a:t>
            </a:r>
            <a:endParaRPr lang="en-US" sz="1400" dirty="0"/>
          </a:p>
        </p:txBody>
      </p:sp>
      <p:sp>
        <p:nvSpPr>
          <p:cNvPr id="10" name="card-9"/>
          <p:cNvSpPr/>
          <p:nvPr/>
        </p:nvSpPr>
        <p:spPr>
          <a:xfrm>
            <a:off x="6949440" y="30632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10"/>
          <p:cNvSpPr/>
          <p:nvPr/>
        </p:nvSpPr>
        <p:spPr>
          <a:xfrm>
            <a:off x="7178040" y="34290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1"/>
          <p:cNvSpPr txBox="1"/>
          <p:nvPr/>
        </p:nvSpPr>
        <p:spPr>
          <a:xfrm>
            <a:off x="71780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φ₁</a:t>
            </a:r>
            <a:endParaRPr lang="en-US" sz="1800" dirty="0"/>
          </a:p>
        </p:txBody>
      </p:sp>
      <p:sp>
        <p:nvSpPr>
          <p:cNvPr id="13" name="text-12"/>
          <p:cNvSpPr txBox="1"/>
          <p:nvPr/>
        </p:nvSpPr>
        <p:spPr>
          <a:xfrm>
            <a:off x="804672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0</a:t>
            </a:r>
            <a:endParaRPr lang="en-US" sz="1700" dirty="0"/>
          </a:p>
        </p:txBody>
      </p:sp>
      <p:sp>
        <p:nvSpPr>
          <p:cNvPr id="14" name="text-13"/>
          <p:cNvSpPr txBox="1"/>
          <p:nvPr/>
        </p:nvSpPr>
        <p:spPr>
          <a:xfrm>
            <a:off x="8046720" y="37033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v3: ±π/2, Δφ = π/144  ·  v4: ±2, Δφ = 0.01</a:t>
            </a:r>
            <a:endParaRPr lang="en-US" sz="1400" dirty="0"/>
          </a:p>
        </p:txBody>
      </p:sp>
      <p:sp>
        <p:nvSpPr>
          <p:cNvPr id="15" name="card-14"/>
          <p:cNvSpPr/>
          <p:nvPr/>
        </p:nvSpPr>
        <p:spPr>
          <a:xfrm>
            <a:off x="6949440" y="4663440"/>
            <a:ext cx="46634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15"/>
          <p:cNvSpPr/>
          <p:nvPr/>
        </p:nvSpPr>
        <p:spPr>
          <a:xfrm>
            <a:off x="7178040" y="50292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16"/>
          <p:cNvSpPr txBox="1"/>
          <p:nvPr/>
        </p:nvSpPr>
        <p:spPr>
          <a:xfrm>
            <a:off x="7178040" y="5029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φ₂</a:t>
            </a:r>
            <a:endParaRPr lang="en-US" sz="1800" dirty="0"/>
          </a:p>
        </p:txBody>
      </p:sp>
      <p:sp>
        <p:nvSpPr>
          <p:cNvPr id="18" name="text-17"/>
          <p:cNvSpPr txBox="1"/>
          <p:nvPr/>
        </p:nvSpPr>
        <p:spPr>
          <a:xfrm>
            <a:off x="8046720" y="4892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Clamp angle at s = L</a:t>
            </a:r>
            <a:endParaRPr lang="en-US" sz="1700" dirty="0"/>
          </a:p>
        </p:txBody>
      </p:sp>
      <p:sp>
        <p:nvSpPr>
          <p:cNvPr id="19" name="text-18"/>
          <p:cNvSpPr txBox="1"/>
          <p:nvPr/>
        </p:nvSpPr>
        <p:spPr>
          <a:xfrm>
            <a:off x="8046720" y="5303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Same range as φ₁ — the box is symmetric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Equilibria are stationary points of the bending energy</a:t>
            </a:r>
            <a:endParaRPr lang="en-US" sz="3000" dirty="0"/>
          </a:p>
        </p:txBody>
      </p:sp>
      <p:sp>
        <p:nvSpPr>
          <p:cNvPr id="3" name="card-19"/>
          <p:cNvSpPr/>
          <p:nvPr/>
        </p:nvSpPr>
        <p:spPr>
          <a:xfrm>
            <a:off x="548640" y="141732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20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Bending energy</a:t>
            </a:r>
            <a:endParaRPr lang="en-US" sz="1800" dirty="0"/>
          </a:p>
        </p:txBody>
      </p:sp>
      <p:sp>
        <p:nvSpPr>
          <p:cNvPr id="5" name="text-21"/>
          <p:cNvSpPr txBox="1"/>
          <p:nvPr/>
        </p:nvSpPr>
        <p:spPr>
          <a:xfrm>
            <a:off x="77724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Inextensible Euler–Bernoulli rod, EI = 1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energy"/>
              <p:cNvSpPr txBox="1"/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energy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1599286"/>
                <a:ext cx="8229600" cy="7790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rd-23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24"/>
          <p:cNvSpPr txBox="1"/>
          <p:nvPr/>
        </p:nvSpPr>
        <p:spPr>
          <a:xfrm>
            <a:off x="7772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Constraints</a:t>
            </a:r>
            <a:endParaRPr lang="en-US" sz="1800" dirty="0"/>
          </a:p>
        </p:txBody>
      </p:sp>
      <p:sp>
        <p:nvSpPr>
          <p:cNvPr id="9" name="text-25"/>
          <p:cNvSpPr txBox="1"/>
          <p:nvPr/>
        </p:nvSpPr>
        <p:spPr>
          <a:xfrm>
            <a:off x="7772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End position fixed, both ends clamped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constraints"/>
              <p:cNvSpPr txBox="1"/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nary>
                        <m:naryPr>
                          <m:limLoc m:val="subSup"/>
                          <m:ctrlP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constrain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2925166"/>
                <a:ext cx="8229600" cy="779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rd-27"/>
          <p:cNvSpPr/>
          <p:nvPr/>
        </p:nvSpPr>
        <p:spPr>
          <a:xfrm>
            <a:off x="548640" y="406908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28"/>
          <p:cNvSpPr txBox="1"/>
          <p:nvPr/>
        </p:nvSpPr>
        <p:spPr>
          <a:xfrm>
            <a:off x="7772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Lagrangian</a:t>
            </a:r>
            <a:endParaRPr lang="en-US" sz="1800" dirty="0"/>
          </a:p>
        </p:txBody>
      </p:sp>
      <p:sp>
        <p:nvSpPr>
          <p:cNvPr id="13" name="text-29"/>
          <p:cNvSpPr txBox="1"/>
          <p:nvPr/>
        </p:nvSpPr>
        <p:spPr>
          <a:xfrm>
            <a:off x="777240" y="4709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f</a:t>
            </a:r>
            <a:r>
              <a:rPr lang="en-US" sz="1100" baseline="-40000" dirty="0">
                <a:solidFill>
                  <a:schemeClr val="accent5"/>
                </a:solidFill>
              </a:rPr>
              <a:t>x</a:t>
            </a:r>
            <a:r>
              <a:rPr lang="en-US" sz="1100" dirty="0">
                <a:solidFill>
                  <a:schemeClr val="accent5"/>
                </a:solidFill>
              </a:rPr>
              <a:t>, f</a:t>
            </a:r>
            <a:r>
              <a:rPr lang="en-US" sz="1100" baseline="-40000" dirty="0">
                <a:solidFill>
                  <a:schemeClr val="accent5"/>
                </a:solidFill>
              </a:rPr>
              <a:t>y</a:t>
            </a:r>
            <a:r>
              <a:rPr lang="en-US" sz="1100" dirty="0">
                <a:solidFill>
                  <a:schemeClr val="accent5"/>
                </a:solidFill>
              </a:rPr>
              <a:t> enforce the two end-position integrals</a:t>
            </a:r>
            <a:endParaRPr lang="en-US"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lagrangian"/>
              <p:cNvSpPr txBox="1"/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subSup"/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nary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𝑑𝑠</m:t>
                          </m:r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lagrangia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0" y="4251046"/>
                <a:ext cx="8229600" cy="7790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-31"/>
          <p:cNvSpPr txBox="1"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f</a:t>
            </a:r>
            <a:r>
              <a:rPr lang="en-US" sz="1500" baseline="-40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and f</a:t>
            </a:r>
            <a:r>
              <a:rPr lang="en-US" sz="1500" baseline="-40000" dirty="0">
                <a:solidFill>
                  <a:schemeClr val="tx2"/>
                </a:solidFill>
              </a:rPr>
              <a:t>y</a:t>
            </a:r>
            <a:r>
              <a:rPr lang="en-US" sz="1500" dirty="0">
                <a:solidFill>
                  <a:schemeClr val="tx2"/>
                </a:solidFill>
              </a:rPr>
              <a:t> are the Lagrange multipliers of the end-position constraints — physically, the reaction forces at the right clamp. The study maps every stationary point of ℒ the continuation reaches over the (d, φ₁, φ₂) box.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Stationarity gives the elastica equation and a mixed weak form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417320"/>
            <a:ext cx="4206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33"/>
          <p:cNvSpPr txBox="1"/>
          <p:nvPr/>
        </p:nvSpPr>
        <p:spPr>
          <a:xfrm>
            <a:off x="77724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Euler–Lagrange equation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-strong"/>
              <p:cNvSpPr txBox="1"/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" name="latex-strong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2103120"/>
                <a:ext cx="3794760" cy="411480"/>
              </a:xfrm>
              <a:prstGeom prst="rect">
                <a:avLst/>
              </a:prstGeom>
              <a:blipFill>
                <a:blip r:embed="rId3"/>
                <a:stretch>
                  <a:fillRect l="-1929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-35"/>
          <p:cNvSpPr txBox="1"/>
          <p:nvPr/>
        </p:nvSpPr>
        <p:spPr>
          <a:xfrm>
            <a:off x="777240" y="26060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θ(0) = φ₁,  θ(L) = φ₂</a:t>
            </a:r>
            <a:endParaRPr lang="en-US" sz="1500" dirty="0"/>
          </a:p>
        </p:txBody>
      </p:sp>
      <p:sp>
        <p:nvSpPr>
          <p:cNvPr id="7" name="card-36"/>
          <p:cNvSpPr/>
          <p:nvPr/>
        </p:nvSpPr>
        <p:spPr>
          <a:xfrm>
            <a:off x="5029200" y="1417320"/>
            <a:ext cx="6583680" cy="3566160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37"/>
          <p:cNvSpPr txBox="1"/>
          <p:nvPr/>
        </p:nvSpPr>
        <p:spPr>
          <a:xfrm>
            <a:off x="5257800" y="15544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Residuals assembled by FEniCSx (solver.py)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latex-w0"/>
              <p:cNvSpPr txBox="1"/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nary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=0 ∀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latex-w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057400"/>
                <a:ext cx="6172200" cy="7595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w1"/>
              <p:cNvSpPr txBox="1"/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w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2926080"/>
                <a:ext cx="6172200" cy="7595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latex-w2"/>
              <p:cNvSpPr txBox="1"/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" name="latex-w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3794760"/>
                <a:ext cx="6172200" cy="75959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badge-41"/>
          <p:cNvSpPr/>
          <p:nvPr/>
        </p:nvSpPr>
        <p:spPr>
          <a:xfrm>
            <a:off x="548640" y="34290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42"/>
          <p:cNvSpPr txBox="1"/>
          <p:nvPr/>
        </p:nvSpPr>
        <p:spPr>
          <a:xfrm>
            <a:off x="54864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4" name="text-43"/>
          <p:cNvSpPr txBox="1"/>
          <p:nvPr/>
        </p:nvSpPr>
        <p:spPr>
          <a:xfrm>
            <a:off x="1097280" y="340156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 ∈ P1 Lagrange on 100 interval elements</a:t>
            </a:r>
            <a:endParaRPr lang="en-US" sz="1400" dirty="0"/>
          </a:p>
        </p:txBody>
      </p:sp>
      <p:sp>
        <p:nvSpPr>
          <p:cNvPr id="15" name="badge-44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badge-label-45"/>
          <p:cNvSpPr txBox="1"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-46"/>
          <p:cNvSpPr txBox="1"/>
          <p:nvPr/>
        </p:nvSpPr>
        <p:spPr>
          <a:xfrm>
            <a:off x="1097280" y="39319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∈ “Real” space: one global DOF each</a:t>
            </a:r>
            <a:endParaRPr lang="en-US" sz="1400" dirty="0"/>
          </a:p>
        </p:txBody>
      </p:sp>
      <p:sp>
        <p:nvSpPr>
          <p:cNvPr id="18" name="badge-47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badge-label-48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49"/>
          <p:cNvSpPr txBox="1"/>
          <p:nvPr/>
        </p:nvSpPr>
        <p:spPr>
          <a:xfrm>
            <a:off x="1097280" y="446227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Clamp angles imposed as Dirichlet BCs on θ</a:t>
            </a:r>
            <a:endParaRPr lang="en-US" sz="1400" dirty="0"/>
          </a:p>
        </p:txBody>
      </p:sp>
      <p:sp>
        <p:nvSpPr>
          <p:cNvPr id="21" name="card-50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-51"/>
          <p:cNvSpPr txBox="1"/>
          <p:nvPr/>
        </p:nvSpPr>
        <p:spPr>
          <a:xfrm>
            <a:off x="777240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Post-processed per point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latex-outputs"/>
              <p:cNvSpPr txBox="1"/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ℎ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nary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3" name="latex-output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364419"/>
                <a:ext cx="7772400" cy="70116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Each parameter point is one Newton solve on 101 unknowns</a:t>
            </a:r>
            <a:endParaRPr lang="en-US" sz="3000" dirty="0"/>
          </a:p>
        </p:txBody>
      </p:sp>
      <p:sp>
        <p:nvSpPr>
          <p:cNvPr id="3" name="card-53"/>
          <p:cNvSpPr/>
          <p:nvPr/>
        </p:nvSpPr>
        <p:spPr>
          <a:xfrm>
            <a:off x="548640" y="1417320"/>
            <a:ext cx="11064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newton"/>
              <p:cNvSpPr txBox="1"/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𝐅</m:t>
                      </m:r>
                      <m:d>
                        <m:dPr>
                          <m:ctrlPr>
                            <a:rPr lang="en-US" sz="16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1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p>
                              <m:r>
                                <a:rPr lang="en-US" sz="16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6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p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16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6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1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newt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8760"/>
                <a:ext cx="5440680" cy="822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-55"/>
          <p:cNvSpPr txBox="1"/>
          <p:nvPr/>
        </p:nvSpPr>
        <p:spPr>
          <a:xfrm>
            <a:off x="6400800" y="18059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u = (θ₀ … θ₁₀₀,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, f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);  (0 &lt; α</a:t>
            </a:r>
            <a:r>
              <a:rPr lang="en-US" sz="1500" baseline="-40000" dirty="0">
                <a:solidFill>
                  <a:schemeClr val="accent6">
                    <a:lumMod val="75000"/>
                  </a:schemeClr>
                </a:solidFill>
              </a:rPr>
              <a:t>k</a:t>
            </a:r>
            <a:r>
              <a:rPr lang="en-US" sz="1500" dirty="0">
                <a:solidFill>
                  <a:schemeClr val="accent6">
                    <a:lumMod val="75000"/>
                  </a:schemeClr>
                </a:solidFill>
              </a:rPr>
              <a:t> &lt; 1) from cubic backtracking line search</a:t>
            </a:r>
          </a:p>
        </p:txBody>
      </p:sp>
      <p:sp>
        <p:nvSpPr>
          <p:cNvPr id="6" name="card-56"/>
          <p:cNvSpPr/>
          <p:nvPr/>
        </p:nvSpPr>
        <p:spPr>
          <a:xfrm>
            <a:off x="54864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57"/>
          <p:cNvSpPr txBox="1"/>
          <p:nvPr/>
        </p:nvSpPr>
        <p:spPr>
          <a:xfrm>
            <a:off x="77724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600" dirty="0"/>
          </a:p>
        </p:txBody>
      </p:sp>
      <p:sp>
        <p:nvSpPr>
          <p:cNvPr id="8" name="text-58"/>
          <p:cNvSpPr txBox="1"/>
          <p:nvPr/>
        </p:nvSpPr>
        <p:spPr>
          <a:xfrm>
            <a:off x="77724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unknowns per point</a:t>
            </a:r>
            <a:endParaRPr lang="en-US" sz="1500" dirty="0"/>
          </a:p>
        </p:txBody>
      </p:sp>
      <p:sp>
        <p:nvSpPr>
          <p:cNvPr id="9" name="text-59"/>
          <p:cNvSpPr txBox="1"/>
          <p:nvPr/>
        </p:nvSpPr>
        <p:spPr>
          <a:xfrm>
            <a:off x="77724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101 nodal angles + 2 multipliers</a:t>
            </a:r>
            <a:endParaRPr lang="en-US" sz="1200" dirty="0"/>
          </a:p>
        </p:txBody>
      </p:sp>
      <p:sp>
        <p:nvSpPr>
          <p:cNvPr id="10" name="card-60"/>
          <p:cNvSpPr/>
          <p:nvPr/>
        </p:nvSpPr>
        <p:spPr>
          <a:xfrm>
            <a:off x="338328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-61"/>
          <p:cNvSpPr txBox="1"/>
          <p:nvPr/>
        </p:nvSpPr>
        <p:spPr>
          <a:xfrm>
            <a:off x="361188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</a:t>
            </a:r>
            <a:endParaRPr lang="en-US" sz="3600" dirty="0"/>
          </a:p>
        </p:txBody>
      </p:sp>
      <p:sp>
        <p:nvSpPr>
          <p:cNvPr id="12" name="text-62"/>
          <p:cNvSpPr txBox="1"/>
          <p:nvPr/>
        </p:nvSpPr>
        <p:spPr>
          <a:xfrm>
            <a:off x="361188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MUMPS direct solve</a:t>
            </a:r>
            <a:endParaRPr lang="en-US" sz="1500" dirty="0"/>
          </a:p>
        </p:txBody>
      </p:sp>
      <p:sp>
        <p:nvSpPr>
          <p:cNvPr id="13" name="text-63"/>
          <p:cNvSpPr txBox="1"/>
          <p:nvPr/>
        </p:nvSpPr>
        <p:spPr>
          <a:xfrm>
            <a:off x="361188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KSP preonly: exact linear steps</a:t>
            </a:r>
            <a:endParaRPr lang="en-US" sz="1200" dirty="0"/>
          </a:p>
        </p:txBody>
      </p:sp>
      <p:sp>
        <p:nvSpPr>
          <p:cNvPr id="14" name="card-64"/>
          <p:cNvSpPr/>
          <p:nvPr/>
        </p:nvSpPr>
        <p:spPr>
          <a:xfrm>
            <a:off x="621792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-65"/>
          <p:cNvSpPr txBox="1"/>
          <p:nvPr/>
        </p:nvSpPr>
        <p:spPr>
          <a:xfrm>
            <a:off x="644652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10⁻¹⁰</a:t>
            </a:r>
            <a:endParaRPr lang="en-US" sz="3600" dirty="0"/>
          </a:p>
        </p:txBody>
      </p:sp>
      <p:sp>
        <p:nvSpPr>
          <p:cNvPr id="16" name="text-66"/>
          <p:cNvSpPr txBox="1"/>
          <p:nvPr/>
        </p:nvSpPr>
        <p:spPr>
          <a:xfrm>
            <a:off x="644652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relative tolerance</a:t>
            </a:r>
            <a:endParaRPr lang="en-US" sz="1500" dirty="0"/>
          </a:p>
        </p:txBody>
      </p:sp>
      <p:sp>
        <p:nvSpPr>
          <p:cNvPr id="17" name="text-67"/>
          <p:cNvSpPr txBox="1"/>
          <p:nvPr/>
        </p:nvSpPr>
        <p:spPr>
          <a:xfrm>
            <a:off x="644652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absolute 10⁻¹²</a:t>
            </a:r>
            <a:endParaRPr lang="en-US" sz="1200" dirty="0"/>
          </a:p>
        </p:txBody>
      </p:sp>
      <p:sp>
        <p:nvSpPr>
          <p:cNvPr id="18" name="card-68"/>
          <p:cNvSpPr/>
          <p:nvPr/>
        </p:nvSpPr>
        <p:spPr>
          <a:xfrm>
            <a:off x="9052560" y="2697480"/>
            <a:ext cx="256032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-69"/>
          <p:cNvSpPr txBox="1"/>
          <p:nvPr/>
        </p:nvSpPr>
        <p:spPr>
          <a:xfrm>
            <a:off x="9281160" y="28346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600" dirty="0"/>
          </a:p>
        </p:txBody>
      </p:sp>
      <p:sp>
        <p:nvSpPr>
          <p:cNvPr id="20" name="text-70"/>
          <p:cNvSpPr txBox="1"/>
          <p:nvPr/>
        </p:nvSpPr>
        <p:spPr>
          <a:xfrm>
            <a:off x="9281160" y="3611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max Newton its</a:t>
            </a:r>
            <a:endParaRPr lang="en-US" sz="1500" dirty="0"/>
          </a:p>
        </p:txBody>
      </p:sp>
      <p:sp>
        <p:nvSpPr>
          <p:cNvPr id="21" name="text-71"/>
          <p:cNvSpPr txBox="1"/>
          <p:nvPr/>
        </p:nvSpPr>
        <p:spPr>
          <a:xfrm>
            <a:off x="9281160" y="39776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indent="0">
              <a:buNone/>
              <a:defRPr sz="1200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v3/v4</a:t>
            </a:r>
          </a:p>
        </p:txBody>
      </p:sp>
      <p:sp>
        <p:nvSpPr>
          <p:cNvPr id="22" name="text-72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At a fold of the solution branch, the Jacobian becomes singular, so the snap surface is exactly where Newton solver fails, and where the continuation logic has to take over.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The snap surface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Where the equilibrium jumps from one branch to another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Two equilibria 0.01 rad apart: the rod has snapped</a:t>
            </a:r>
            <a:endParaRPr lang="en-US" sz="3000" dirty="0"/>
          </a:p>
        </p:txBody>
      </p:sp>
      <p:pic>
        <p:nvPicPr>
          <p:cNvPr id="3" name="figure-84" descr="/tmp/claude-1000/-home-goraksh/bd4a8aa0-f932-4355-8328-b02b4cf010d1/scratchpad/deck/fig/sh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325880"/>
            <a:ext cx="6035040" cy="3945988"/>
          </a:xfrm>
          <a:prstGeom prst="rect">
            <a:avLst/>
          </a:prstGeom>
        </p:spPr>
      </p:pic>
      <p:sp>
        <p:nvSpPr>
          <p:cNvPr id="4" name="text-85"/>
          <p:cNvSpPr txBox="1"/>
          <p:nvPr/>
        </p:nvSpPr>
        <p:spPr>
          <a:xfrm>
            <a:off x="548640" y="5394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 = 0.90, φ₂ = 0. Converged solutions on either side of the jump.</a:t>
            </a:r>
            <a:endParaRPr lang="en-US" sz="1100" dirty="0"/>
          </a:p>
        </p:txBody>
      </p:sp>
      <p:sp>
        <p:nvSpPr>
          <p:cNvPr id="5" name="text-86"/>
          <p:cNvSpPr txBox="1"/>
          <p:nvPr/>
        </p:nvSpPr>
        <p:spPr>
          <a:xfrm>
            <a:off x="6766560" y="1463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Why Newton struggles here</a:t>
            </a:r>
            <a:endParaRPr lang="en-US" sz="1900" dirty="0"/>
          </a:p>
        </p:txBody>
      </p:sp>
      <p:sp>
        <p:nvSpPr>
          <p:cNvPr id="6" name="badge-87"/>
          <p:cNvSpPr/>
          <p:nvPr/>
        </p:nvSpPr>
        <p:spPr>
          <a:xfrm>
            <a:off x="6766560" y="21488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88"/>
          <p:cNvSpPr txBox="1"/>
          <p:nvPr/>
        </p:nvSpPr>
        <p:spPr>
          <a:xfrm>
            <a:off x="67665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step-89"/>
          <p:cNvSpPr txBox="1"/>
          <p:nvPr/>
        </p:nvSpPr>
        <p:spPr>
          <a:xfrm>
            <a:off x="7315200" y="212140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Fold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branch ends; the Jacobian goes singular and Newton steps blow up.</a:t>
            </a:r>
            <a:endParaRPr lang="en-US" sz="1500" dirty="0"/>
          </a:p>
        </p:txBody>
      </p:sp>
      <p:sp>
        <p:nvSpPr>
          <p:cNvPr id="9" name="badge-90"/>
          <p:cNvSpPr/>
          <p:nvPr/>
        </p:nvSpPr>
        <p:spPr>
          <a:xfrm>
            <a:off x="676656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91"/>
          <p:cNvSpPr txBox="1"/>
          <p:nvPr/>
        </p:nvSpPr>
        <p:spPr>
          <a:xfrm>
            <a:off x="676656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step-92"/>
          <p:cNvSpPr txBox="1"/>
          <p:nvPr/>
        </p:nvSpPr>
        <p:spPr>
          <a:xfrm>
            <a:off x="7315200" y="335584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Silent branch switch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warm start from one side converges, but to the other branch.</a:t>
            </a:r>
            <a:endParaRPr lang="en-US" sz="1500" dirty="0"/>
          </a:p>
        </p:txBody>
      </p:sp>
      <p:sp>
        <p:nvSpPr>
          <p:cNvPr id="12" name="badge-93"/>
          <p:cNvSpPr/>
          <p:nvPr/>
        </p:nvSpPr>
        <p:spPr>
          <a:xfrm>
            <a:off x="6766560" y="4617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94"/>
          <p:cNvSpPr txBox="1"/>
          <p:nvPr/>
        </p:nvSpPr>
        <p:spPr>
          <a:xfrm>
            <a:off x="67665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-95"/>
          <p:cNvSpPr txBox="1"/>
          <p:nvPr/>
        </p:nvSpPr>
        <p:spPr>
          <a:xfrm>
            <a:off x="7315200" y="4590288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Residual can't tell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Both sides meet 10⁻¹⁰, so convergence alone says nothing about which branch you are 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MAC: a shape-similarity test that flags a branch switch</a:t>
            </a:r>
            <a:endParaRPr lang="en-US" sz="3000" dirty="0"/>
          </a:p>
        </p:txBody>
      </p:sp>
      <p:sp>
        <p:nvSpPr>
          <p:cNvPr id="3" name="card-96"/>
          <p:cNvSpPr/>
          <p:nvPr/>
        </p:nvSpPr>
        <p:spPr>
          <a:xfrm>
            <a:off x="548640" y="1417320"/>
            <a:ext cx="576072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mac"/>
              <p:cNvSpPr txBox="1"/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160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m:rPr>
                          <m:sty m:val="p"/>
                        </m:rP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AC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  <m:sup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  <m:sup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latex-mac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700784"/>
                <a:ext cx="5349240" cy="6217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mac-table-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5760720" cy="2057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θ pair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Identical shape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Smooth grid neighbours (Δφ = 0.01)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≈ 0.9999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Across the snap (d = 0.90, φ₂ = 0)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0.087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Threshold: CURRENTv3 / 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0.90 /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-99"/>
          <p:cNvSpPr txBox="1"/>
          <p:nvPr/>
        </p:nvSpPr>
        <p:spPr>
          <a:xfrm>
            <a:off x="548640" y="50749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2"/>
                </a:solidFill>
              </a:rPr>
              <a:t>Scale-invariant: it compares shape, not amplitude, which is exactly what changes when the rod jumps branch.</a:t>
            </a:r>
            <a:endParaRPr lang="en-US" sz="1500" dirty="0"/>
          </a:p>
        </p:txBody>
      </p:sp>
      <p:pic>
        <p:nvPicPr>
          <p:cNvPr id="7" name="figure-100" descr="/tmp/claude-1000/-home-goraksh/bd4a8aa0-f932-4355-8328-b02b4cf010d1/scratchpad/deck/fig/linec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371600"/>
            <a:ext cx="5029200" cy="408622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Smooth fields, then a jump across an L-shaped surface</a:t>
            </a:r>
            <a:endParaRPr lang="en-US" sz="3000" dirty="0"/>
          </a:p>
        </p:txBody>
      </p:sp>
      <p:pic>
        <p:nvPicPr>
          <p:cNvPr id="3" name="figure-73" descr="/tmp/claude-1000/-home-goraksh/bd4a8aa0-f932-4355-8328-b02b4cf010d1/scratchpad/deck/fig/fiel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412480" cy="3670900"/>
          </a:xfrm>
          <a:prstGeom prst="rect">
            <a:avLst/>
          </a:prstGeom>
        </p:spPr>
      </p:pic>
      <p:sp>
        <p:nvSpPr>
          <p:cNvPr id="4" name="text-74"/>
          <p:cNvSpPr txBox="1"/>
          <p:nvPr/>
        </p:nvSpPr>
        <p:spPr>
          <a:xfrm>
            <a:off x="548640" y="5166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CURRENTv3/sol4 run: d ∈ [0.90, 0.95], φ ∈ [−0.8, 0.8], Δφ = 0.01, 155,526 solved points. Slice at d = 0.90.</a:t>
            </a:r>
            <a:endParaRPr lang="en-US" sz="1100" dirty="0"/>
          </a:p>
        </p:txBody>
      </p:sp>
      <p:sp>
        <p:nvSpPr>
          <p:cNvPr id="5" name="card-75"/>
          <p:cNvSpPr/>
          <p:nvPr/>
        </p:nvSpPr>
        <p:spPr>
          <a:xfrm>
            <a:off x="9098280" y="146304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-76"/>
          <p:cNvSpPr txBox="1"/>
          <p:nvPr/>
        </p:nvSpPr>
        <p:spPr>
          <a:xfrm>
            <a:off x="928116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Smooth interior</a:t>
            </a:r>
            <a:endParaRPr lang="en-US" sz="1500" dirty="0"/>
          </a:p>
        </p:txBody>
      </p:sp>
      <p:sp>
        <p:nvSpPr>
          <p:cNvPr id="7" name="text-77"/>
          <p:cNvSpPr txBox="1"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Grid neighbours differ by 1 − MAC ≈ 10⁻⁴</a:t>
            </a:r>
            <a:endParaRPr lang="en-US" sz="1300" dirty="0"/>
          </a:p>
        </p:txBody>
      </p:sp>
      <p:sp>
        <p:nvSpPr>
          <p:cNvPr id="8" name="card-78"/>
          <p:cNvSpPr/>
          <p:nvPr/>
        </p:nvSpPr>
        <p:spPr>
          <a:xfrm>
            <a:off x="9098280" y="278892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-79"/>
          <p:cNvSpPr txBox="1"/>
          <p:nvPr/>
        </p:nvSpPr>
        <p:spPr>
          <a:xfrm>
            <a:off x="92811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Sharp edge</a:t>
            </a:r>
            <a:endParaRPr lang="en-US" sz="1500" dirty="0"/>
          </a:p>
        </p:txBody>
      </p:sp>
      <p:sp>
        <p:nvSpPr>
          <p:cNvPr id="10" name="text-80"/>
          <p:cNvSpPr txBox="1"/>
          <p:nvPr/>
        </p:nvSpPr>
        <p:spPr>
          <a:xfrm>
            <a:off x="9281160" y="32461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Jump at φ₁ ≈ −0.57 and, by symmetry, φ₂ ≈ +0.57</a:t>
            </a:r>
            <a:endParaRPr lang="en-US" sz="1300" dirty="0"/>
          </a:p>
        </p:txBody>
      </p:sp>
      <p:sp>
        <p:nvSpPr>
          <p:cNvPr id="11" name="card-81"/>
          <p:cNvSpPr/>
          <p:nvPr/>
        </p:nvSpPr>
        <p:spPr>
          <a:xfrm>
            <a:off x="9098280" y="4114800"/>
            <a:ext cx="2514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82"/>
          <p:cNvSpPr txBox="1"/>
          <p:nvPr/>
        </p:nvSpPr>
        <p:spPr>
          <a:xfrm>
            <a:off x="9281160" y="4251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Large jump</a:t>
            </a:r>
            <a:endParaRPr lang="en-US" sz="1500" dirty="0"/>
          </a:p>
        </p:txBody>
      </p:sp>
      <p:sp>
        <p:nvSpPr>
          <p:cNvPr id="13" name="text-83"/>
          <p:cNvSpPr txBox="1"/>
          <p:nvPr/>
        </p:nvSpPr>
        <p:spPr>
          <a:xfrm>
            <a:off x="928116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U goes 2.27 → 6.11 in a single 0.01 step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neighbour-MAC map alone traces the snap surface</a:t>
            </a:r>
            <a:endParaRPr lang="en-US" sz="3000" dirty="0"/>
          </a:p>
        </p:txBody>
      </p:sp>
      <p:pic>
        <p:nvPicPr>
          <p:cNvPr id="3" name="figure-101" descr="/tmp/claude-1000/-home-goraksh/bd4a8aa0-f932-4355-8328-b02b4cf010d1/scratchpad/deck/fig/mac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120640" cy="4389120"/>
          </a:xfrm>
          <a:prstGeom prst="rect">
            <a:avLst/>
          </a:prstGeom>
        </p:spPr>
      </p:pic>
      <p:pic>
        <p:nvPicPr>
          <p:cNvPr id="4" name="figure-102" descr="/tmp/claude-1000/-home-goraksh/bd4a8aa0-f932-4355-8328-b02b4cf010d1/scratchpad/deck/fig/snap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25880"/>
            <a:ext cx="5120640" cy="4389120"/>
          </a:xfrm>
          <a:prstGeom prst="rect">
            <a:avLst/>
          </a:prstGeom>
        </p:spPr>
      </p:pic>
      <p:sp>
        <p:nvSpPr>
          <p:cNvPr id="5" name="text-103"/>
          <p:cNvSpPr txBox="1"/>
          <p:nvPr/>
        </p:nvSpPr>
        <p:spPr>
          <a:xfrm>
            <a:off x="5486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Red contour: MAC &lt; 0.90 between adjacent grid points. Nothing else in the slice gets close.</a:t>
            </a:r>
            <a:endParaRPr lang="en-US" sz="1100" dirty="0"/>
          </a:p>
        </p:txBody>
      </p:sp>
      <p:sp>
        <p:nvSpPr>
          <p:cNvPr id="6" name="text-104"/>
          <p:cNvSpPr txBox="1"/>
          <p:nvPr/>
        </p:nvSpPr>
        <p:spPr>
          <a:xfrm>
            <a:off x="6492240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As d → 1 the surface moves inward: at φ₂ = 0 it sits at φ₁ ≈ −0.57 (d = 0.90) and −0.40 (d = 0.95).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Extracting the snap surface: a MAC isosurface</a:t>
            </a:r>
            <a:endParaRPr lang="en-US" sz="3000" dirty="0"/>
          </a:p>
        </p:txBody>
      </p:sp>
      <p:pic>
        <p:nvPicPr>
          <p:cNvPr id="101" name="figure-101" descr="ParaView isosurface of the neighbour-MAC indicator over (phi1, phi2, d)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590608" cy="4526280"/>
          </a:xfrm>
          <a:prstGeom prst="rect">
            <a:avLst/>
          </a:prstGeom>
        </p:spPr>
      </p:pic>
      <p:sp>
        <p:nvSpPr>
          <p:cNvPr id="102" name="caption-102"/>
          <p:cNvSpPr txBox="1"/>
          <p:nvPr/>
        </p:nvSpPr>
        <p:spPr>
          <a:xfrm>
            <a:off x="548640" y="5943600"/>
            <a:ext cx="5499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CURRENTv4 Δ = 0.02 run. d axis stretched ×8; colour = d. The surface is a shell about one mesh cell thick around the jump.</a:t>
            </a:r>
            <a:endParaRPr lang="en-US" sz="1100" dirty="0"/>
          </a:p>
        </p:txBody>
      </p:sp>
      <p:sp>
        <p:nvSpPr>
          <p:cNvPr id="103" name="badge-103"/>
          <p:cNvSpPr/>
          <p:nvPr/>
        </p:nvSpPr>
        <p:spPr>
          <a:xfrm>
            <a:off x="6459288" y="1463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4" name="badge-label-104"/>
          <p:cNvSpPr txBox="1"/>
          <p:nvPr/>
        </p:nvSpPr>
        <p:spPr>
          <a:xfrm>
            <a:off x="6459288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5" name="step-105"/>
          <p:cNvSpPr txBox="1"/>
          <p:nvPr/>
        </p:nvSpPr>
        <p:spPr>
          <a:xfrm>
            <a:off x="7007928" y="1435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Read θ from the VTU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98,120 points and 559,751 tets, with θ stored at 51 beam nodes per point.</a:t>
            </a:r>
            <a:endParaRPr lang="en-US" sz="1400" dirty="0"/>
          </a:p>
        </p:txBody>
      </p:sp>
      <p:sp>
        <p:nvSpPr>
          <p:cNvPr id="106" name="badge-106"/>
          <p:cNvSpPr/>
          <p:nvPr/>
        </p:nvSpPr>
        <p:spPr>
          <a:xfrm>
            <a:off x="6459288" y="2606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7" name="badge-label-107"/>
          <p:cNvSpPr txBox="1"/>
          <p:nvPr/>
        </p:nvSpPr>
        <p:spPr>
          <a:xfrm>
            <a:off x="6459288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8" name="step-108"/>
          <p:cNvSpPr txBox="1"/>
          <p:nvPr/>
        </p:nvSpPr>
        <p:spPr>
          <a:xfrm>
            <a:off x="7007928" y="2578608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MAC on every tet edge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675,318 edges; each node keeps the largest 1 − MAC among its edges.</a:t>
            </a:r>
            <a:endParaRPr lang="en-US" sz="1400" dirty="0"/>
          </a:p>
        </p:txBody>
      </p:sp>
      <p:sp>
        <p:nvSpPr>
          <p:cNvPr id="109" name="badge-109"/>
          <p:cNvSpPr/>
          <p:nvPr/>
        </p:nvSpPr>
        <p:spPr>
          <a:xfrm>
            <a:off x="6459288" y="3749039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0" name="badge-label-110"/>
          <p:cNvSpPr txBox="1"/>
          <p:nvPr/>
        </p:nvSpPr>
        <p:spPr>
          <a:xfrm>
            <a:off x="6459288" y="37490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1" name="step-111"/>
          <p:cNvSpPr txBox="1"/>
          <p:nvPr/>
        </p:nvSpPr>
        <p:spPr>
          <a:xfrm>
            <a:off x="7007928" y="3721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Contour in ParaView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Isosurface at 1 − MAC = 0.1, i.e. the deck's MAC = 0.90 threshold; then Smooth and Surface Normals.</a:t>
            </a:r>
            <a:endParaRPr lang="en-US" sz="1400" dirty="0"/>
          </a:p>
        </p:txBody>
      </p:sp>
      <p:sp>
        <p:nvSpPr>
          <p:cNvPr id="112" name="badge-112"/>
          <p:cNvSpPr/>
          <p:nvPr/>
        </p:nvSpPr>
        <p:spPr>
          <a:xfrm>
            <a:off x="6459288" y="4892040"/>
            <a:ext cx="384048" cy="38404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3" name="badge-label-113"/>
          <p:cNvSpPr txBox="1"/>
          <p:nvPr/>
        </p:nvSpPr>
        <p:spPr>
          <a:xfrm>
            <a:off x="6459288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4" name="step-114"/>
          <p:cNvSpPr txBox="1"/>
          <p:nvPr/>
        </p:nvSpPr>
        <p:spPr>
          <a:xfrm>
            <a:off x="7007928" y="4864607"/>
            <a:ext cx="4650671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Cross-check with energy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88 % of edges with MAC &lt; 0.90 also jump in U by more than 0.5.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Seen down the d axis, the L-shaped locus closes in</a:t>
            </a:r>
            <a:endParaRPr lang="en-US" sz="3000" dirty="0"/>
          </a:p>
        </p:txBody>
      </p:sp>
      <p:pic>
        <p:nvPicPr>
          <p:cNvPr id="115" name="figure-115" descr="Snap surface seen down the d axis, coloured by 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824257" cy="4526280"/>
          </a:xfrm>
          <a:prstGeom prst="rect">
            <a:avLst/>
          </a:prstGeom>
        </p:spPr>
      </p:pic>
      <p:sp>
        <p:nvSpPr>
          <p:cNvPr id="116" name="caption-116"/>
          <p:cNvSpPr txBox="1"/>
          <p:nvPr/>
        </p:nvSpPr>
        <p:spPr>
          <a:xfrm>
            <a:off x="548640" y="5943600"/>
            <a:ext cx="5732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Same surface, looking straight down the d axis (parallel projection).</a:t>
            </a:r>
            <a:endParaRPr lang="en-US" sz="1100" dirty="0"/>
          </a:p>
        </p:txBody>
      </p:sp>
      <p:sp>
        <p:nvSpPr>
          <p:cNvPr id="117" name="card-117"/>
          <p:cNvSpPr/>
          <p:nvPr/>
        </p:nvSpPr>
        <p:spPr>
          <a:xfrm>
            <a:off x="6738657" y="146304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8" name="card-head-118"/>
          <p:cNvSpPr txBox="1"/>
          <p:nvPr/>
        </p:nvSpPr>
        <p:spPr>
          <a:xfrm>
            <a:off x="6967257" y="162763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2D L-shape, stacked</a:t>
            </a:r>
            <a:endParaRPr lang="en-US" sz="1600" dirty="0"/>
          </a:p>
        </p:txBody>
      </p:sp>
      <p:sp>
        <p:nvSpPr>
          <p:cNvPr id="119" name="card-body-119"/>
          <p:cNvSpPr txBox="1"/>
          <p:nvPr/>
        </p:nvSpPr>
        <p:spPr>
          <a:xfrm>
            <a:off x="6967257" y="201168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d-level of the sheet is the L-shaped locus from the 2D MAC map, coloured by d.</a:t>
            </a:r>
            <a:endParaRPr lang="en-US" sz="1400" dirty="0"/>
          </a:p>
        </p:txBody>
      </p:sp>
      <p:sp>
        <p:nvSpPr>
          <p:cNvPr id="120" name="card-120"/>
          <p:cNvSpPr/>
          <p:nvPr/>
        </p:nvSpPr>
        <p:spPr>
          <a:xfrm>
            <a:off x="6738657" y="297180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1" name="card-head-121"/>
          <p:cNvSpPr txBox="1"/>
          <p:nvPr/>
        </p:nvSpPr>
        <p:spPr>
          <a:xfrm>
            <a:off x="6967257" y="313639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Two codes agree</a:t>
            </a:r>
            <a:endParaRPr lang="en-US" sz="1600" dirty="0"/>
          </a:p>
        </p:txBody>
      </p:sp>
      <p:sp>
        <p:nvSpPr>
          <p:cNvPr id="122" name="card-body-122"/>
          <p:cNvSpPr txBox="1"/>
          <p:nvPr/>
        </p:nvSpPr>
        <p:spPr>
          <a:xfrm>
            <a:off x="6967257" y="352044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At d = 0.90, φ₂ = 0 the jump sits at φ₁ ≈ −0.55 in the v4 data and at −0.565 in the v3 run.</a:t>
            </a:r>
            <a:endParaRPr lang="en-US" sz="1400" dirty="0"/>
          </a:p>
        </p:txBody>
      </p:sp>
      <p:sp>
        <p:nvSpPr>
          <p:cNvPr id="123" name="card-123"/>
          <p:cNvSpPr/>
          <p:nvPr/>
        </p:nvSpPr>
        <p:spPr>
          <a:xfrm>
            <a:off x="6738657" y="4480560"/>
            <a:ext cx="4919942" cy="132588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4" name="card-head-124"/>
          <p:cNvSpPr txBox="1"/>
          <p:nvPr/>
        </p:nvSpPr>
        <p:spPr>
          <a:xfrm>
            <a:off x="6967257" y="4645152"/>
            <a:ext cx="4462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Closing in as d → 1</a:t>
            </a:r>
            <a:endParaRPr lang="en-US" sz="1600" dirty="0"/>
          </a:p>
        </p:txBody>
      </p:sp>
      <p:sp>
        <p:nvSpPr>
          <p:cNvPr id="125" name="card-body-125"/>
          <p:cNvSpPr txBox="1"/>
          <p:nvPr/>
        </p:nvSpPr>
        <p:spPr>
          <a:xfrm>
            <a:off x="6967257" y="5029200"/>
            <a:ext cx="44627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Dark (d = 0.80) hugs the box edge; by d = 0.97 the jump at φ₂ = 0 has moved to φ₁ ≈ −0.31.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sheet rises from the step in axial force</a:t>
            </a:r>
            <a:endParaRPr lang="en-US" sz="3000" dirty="0"/>
          </a:p>
        </p:txBody>
      </p:sp>
      <p:pic>
        <p:nvPicPr>
          <p:cNvPr id="126" name="figure-126" descr="Snap surface clipped at d = 0.90 above a slice coloured by the axial force f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101502" cy="4526280"/>
          </a:xfrm>
          <a:prstGeom prst="rect">
            <a:avLst/>
          </a:prstGeom>
        </p:spPr>
      </p:pic>
      <p:sp>
        <p:nvSpPr>
          <p:cNvPr id="127" name="caption-127"/>
          <p:cNvSpPr txBox="1"/>
          <p:nvPr/>
        </p:nvSpPr>
        <p:spPr>
          <a:xfrm>
            <a:off x="548640" y="5943600"/>
            <a:ext cx="50100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5"/>
                </a:solidFill>
              </a:rPr>
              <a:t>Plane at d = 0.90 coloured by f</a:t>
            </a:r>
            <a:r>
              <a:rPr lang="en-US" sz="1100" i="1" baseline="-25000" dirty="0">
                <a:solidFill>
                  <a:schemeClr val="accent5"/>
                </a:solidFill>
              </a:rPr>
              <a:t>x</a:t>
            </a:r>
            <a:r>
              <a:rPr lang="en-US" sz="1100" i="1" dirty="0">
                <a:solidFill>
                  <a:schemeClr val="accent5"/>
                </a:solidFill>
              </a:rPr>
              <a:t>; the sheet above it is translucent.</a:t>
            </a:r>
            <a:endParaRPr lang="en-US" sz="1100" dirty="0"/>
          </a:p>
        </p:txBody>
      </p:sp>
      <p:sp>
        <p:nvSpPr>
          <p:cNvPr id="128" name="lead-128"/>
          <p:cNvSpPr txBox="1"/>
          <p:nvPr/>
        </p:nvSpPr>
        <p:spPr>
          <a:xfrm>
            <a:off x="6015902" y="1463040"/>
            <a:ext cx="56426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Across the line, f</a:t>
            </a:r>
            <a:r>
              <a:rPr lang="en-US" sz="1500" baseline="-25000" dirty="0">
                <a:solidFill>
                  <a:schemeClr val="tx2"/>
                </a:solidFill>
              </a:rPr>
              <a:t>x</a:t>
            </a:r>
            <a:r>
              <a:rPr lang="en-US" sz="1500" dirty="0">
                <a:solidFill>
                  <a:schemeClr val="tx2"/>
                </a:solidFill>
              </a:rPr>
              <a:t> roughly doubles at every d (φ₂ = 0):</a:t>
            </a:r>
            <a:endParaRPr lang="en-US" sz="1500" dirty="0"/>
          </a:p>
        </p:txBody>
      </p:sp>
      <p:sp>
        <p:nvSpPr>
          <p:cNvPr id="129" name="card-129"/>
          <p:cNvSpPr/>
          <p:nvPr/>
        </p:nvSpPr>
        <p:spPr>
          <a:xfrm>
            <a:off x="6015902" y="205740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0" name="stat-130"/>
          <p:cNvSpPr txBox="1"/>
          <p:nvPr/>
        </p:nvSpPr>
        <p:spPr>
          <a:xfrm>
            <a:off x="6244502" y="21671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28.9 → 58.0</a:t>
            </a:r>
            <a:endParaRPr lang="en-US" sz="2600" dirty="0"/>
          </a:p>
        </p:txBody>
      </p:sp>
      <p:sp>
        <p:nvSpPr>
          <p:cNvPr id="131" name="stat-label-131"/>
          <p:cNvSpPr txBox="1"/>
          <p:nvPr/>
        </p:nvSpPr>
        <p:spPr>
          <a:xfrm>
            <a:off x="8713382" y="216712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0.86, jump at φ₁ ≈ −0.67</a:t>
            </a:r>
            <a:endParaRPr lang="en-US" sz="1300" dirty="0"/>
          </a:p>
        </p:txBody>
      </p:sp>
      <p:sp>
        <p:nvSpPr>
          <p:cNvPr id="132" name="card-132"/>
          <p:cNvSpPr/>
          <p:nvPr/>
        </p:nvSpPr>
        <p:spPr>
          <a:xfrm>
            <a:off x="6015902" y="315468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3" name="stat-133"/>
          <p:cNvSpPr txBox="1"/>
          <p:nvPr/>
        </p:nvSpPr>
        <p:spPr>
          <a:xfrm>
            <a:off x="6244502" y="326440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27.3 → 57.0</a:t>
            </a:r>
            <a:endParaRPr lang="en-US" sz="2600" dirty="0"/>
          </a:p>
        </p:txBody>
      </p:sp>
      <p:sp>
        <p:nvSpPr>
          <p:cNvPr id="134" name="stat-label-134"/>
          <p:cNvSpPr txBox="1"/>
          <p:nvPr/>
        </p:nvSpPr>
        <p:spPr>
          <a:xfrm>
            <a:off x="8713382" y="326440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0.92, jump at φ₁ ≈ −0.52</a:t>
            </a:r>
            <a:endParaRPr lang="en-US" sz="1300" dirty="0"/>
          </a:p>
        </p:txBody>
      </p:sp>
      <p:sp>
        <p:nvSpPr>
          <p:cNvPr id="135" name="card-135"/>
          <p:cNvSpPr/>
          <p:nvPr/>
        </p:nvSpPr>
        <p:spPr>
          <a:xfrm>
            <a:off x="6015902" y="4251960"/>
            <a:ext cx="5642697" cy="9144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6" name="stat-136"/>
          <p:cNvSpPr txBox="1"/>
          <p:nvPr/>
        </p:nvSpPr>
        <p:spPr>
          <a:xfrm>
            <a:off x="6244502" y="43616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26.6 → 53.7</a:t>
            </a:r>
            <a:endParaRPr lang="en-US" sz="2600" dirty="0"/>
          </a:p>
        </p:txBody>
      </p:sp>
      <p:sp>
        <p:nvSpPr>
          <p:cNvPr id="137" name="stat-label-137"/>
          <p:cNvSpPr txBox="1"/>
          <p:nvPr/>
        </p:nvSpPr>
        <p:spPr>
          <a:xfrm>
            <a:off x="8713382" y="4361688"/>
            <a:ext cx="276233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d = 0.97, jump at φ₁ ≈ −0.31</a:t>
            </a:r>
            <a:endParaRPr lang="en-US" sz="1300" dirty="0"/>
          </a:p>
        </p:txBody>
      </p:sp>
      <p:sp>
        <p:nvSpPr>
          <p:cNvPr id="138" name="takeaway-138"/>
          <p:cNvSpPr txBox="1"/>
          <p:nvPr/>
        </p:nvSpPr>
        <p:spPr>
          <a:xfrm>
            <a:off x="6015902" y="5257800"/>
            <a:ext cx="564269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Built from θ alone, the surface still lands on the step the forces see, to within about one mesh cell.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Continuation strategies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2296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How each code walks the parameter space and guards against branch switches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Traverse the grid, accept or reject by MAC</a:t>
            </a:r>
            <a:r>
              <a:rPr lang="en-US" sz="1600" dirty="0"/>
              <a:t>(v4)</a:t>
            </a:r>
            <a:endParaRPr lang="en-US" sz="3000" dirty="0"/>
          </a:p>
        </p:txBody>
      </p:sp>
      <p:sp>
        <p:nvSpPr>
          <p:cNvPr id="3" name="flow-box-105"/>
          <p:cNvSpPr/>
          <p:nvPr/>
        </p:nvSpPr>
        <p:spPr>
          <a:xfrm>
            <a:off x="548640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-106"/>
          <p:cNvSpPr txBox="1"/>
          <p:nvPr/>
        </p:nvSpPr>
        <p:spPr>
          <a:xfrm>
            <a:off x="685800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Cold-start once at φ₁ = φ₂ = 0, smallest d; visit nodes by grid distance from it</a:t>
            </a:r>
            <a:endParaRPr lang="en-US" sz="1400" dirty="0"/>
          </a:p>
        </p:txBody>
      </p:sp>
      <p:sp>
        <p:nvSpPr>
          <p:cNvPr id="5" name="flow-arrow-107"/>
          <p:cNvSpPr/>
          <p:nvPr/>
        </p:nvSpPr>
        <p:spPr>
          <a:xfrm>
            <a:off x="2542032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6" name="flow-box-108"/>
          <p:cNvSpPr/>
          <p:nvPr/>
        </p:nvSpPr>
        <p:spPr>
          <a:xfrm>
            <a:off x="2825496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-109"/>
          <p:cNvSpPr txBox="1"/>
          <p:nvPr/>
        </p:nvSpPr>
        <p:spPr>
          <a:xfrm>
            <a:off x="2962656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Warm-start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from a solved grid neighbour, nearest first</a:t>
            </a:r>
            <a:endParaRPr lang="en-US" sz="1400" dirty="0"/>
          </a:p>
        </p:txBody>
      </p:sp>
      <p:sp>
        <p:nvSpPr>
          <p:cNvPr id="8" name="flow-arrow-110"/>
          <p:cNvSpPr/>
          <p:nvPr/>
        </p:nvSpPr>
        <p:spPr>
          <a:xfrm>
            <a:off x="4818888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9" name="flow-box-111"/>
          <p:cNvSpPr/>
          <p:nvPr/>
        </p:nvSpPr>
        <p:spPr>
          <a:xfrm>
            <a:off x="5102352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-112"/>
          <p:cNvSpPr txBox="1"/>
          <p:nvPr/>
        </p:nvSpPr>
        <p:spPr>
          <a:xfrm>
            <a:off x="5239512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Newton solve (SNES, at most 50 iterations)</a:t>
            </a:r>
            <a:endParaRPr lang="en-US" sz="1400" dirty="0"/>
          </a:p>
        </p:txBody>
      </p:sp>
      <p:sp>
        <p:nvSpPr>
          <p:cNvPr id="11" name="flow-arrow-113"/>
          <p:cNvSpPr/>
          <p:nvPr/>
        </p:nvSpPr>
        <p:spPr>
          <a:xfrm>
            <a:off x="7095744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2" name="flow-box-114"/>
          <p:cNvSpPr/>
          <p:nvPr/>
        </p:nvSpPr>
        <p:spPr>
          <a:xfrm>
            <a:off x="7379208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-115"/>
          <p:cNvSpPr txBox="1"/>
          <p:nvPr/>
        </p:nvSpPr>
        <p:spPr>
          <a:xfrm>
            <a:off x="7516368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MAC(θ</a:t>
            </a:r>
            <a:r>
              <a:rPr lang="en-US" sz="1400" b="1" baseline="-40000" dirty="0">
                <a:solidFill>
                  <a:schemeClr val="bg1"/>
                </a:solidFill>
              </a:rPr>
              <a:t>new</a:t>
            </a:r>
            <a:r>
              <a:rPr lang="en-US" sz="1400" b="1" dirty="0">
                <a:solidFill>
                  <a:schemeClr val="bg1"/>
                </a:solidFill>
              </a:rPr>
              <a:t>, θ</a:t>
            </a:r>
            <a:r>
              <a:rPr lang="en-US" sz="1400" b="1" baseline="-40000" dirty="0">
                <a:solidFill>
                  <a:schemeClr val="bg1"/>
                </a:solidFill>
              </a:rPr>
              <a:t>warm</a:t>
            </a:r>
            <a:r>
              <a:rPr lang="en-US" sz="1400" b="1" dirty="0">
                <a:solidFill>
                  <a:schemeClr val="bg1"/>
                </a:solidFill>
              </a:rPr>
              <a:t>) ≥ 0.85 ?</a:t>
            </a:r>
            <a:endParaRPr lang="en-US" sz="1400" dirty="0"/>
          </a:p>
        </p:txBody>
      </p:sp>
      <p:sp>
        <p:nvSpPr>
          <p:cNvPr id="14" name="flow-arrow-116"/>
          <p:cNvSpPr/>
          <p:nvPr/>
        </p:nvSpPr>
        <p:spPr>
          <a:xfrm>
            <a:off x="9372600" y="2171700"/>
            <a:ext cx="25603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5" name="flow-box-117"/>
          <p:cNvSpPr/>
          <p:nvPr/>
        </p:nvSpPr>
        <p:spPr>
          <a:xfrm>
            <a:off x="9656064" y="1508760"/>
            <a:ext cx="196596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-118"/>
          <p:cNvSpPr txBox="1"/>
          <p:nvPr/>
        </p:nvSpPr>
        <p:spPr>
          <a:xfrm>
            <a:off x="9793224" y="1600200"/>
            <a:ext cx="1691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Accept, store, and write the mirror point</a:t>
            </a:r>
            <a:endParaRPr lang="en-US" sz="1400" dirty="0"/>
          </a:p>
        </p:txBody>
      </p:sp>
      <p:sp>
        <p:nvSpPr>
          <p:cNvPr id="17" name="text-119"/>
          <p:cNvSpPr txBox="1"/>
          <p:nvPr/>
        </p:nvSpPr>
        <p:spPr>
          <a:xfrm>
            <a:off x="9345168" y="180594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accent2"/>
                </a:solidFill>
              </a:rPr>
              <a:t>yes</a:t>
            </a:r>
            <a:endParaRPr lang="en-US" sz="1200" dirty="0"/>
          </a:p>
        </p:txBody>
      </p:sp>
      <p:sp>
        <p:nvSpPr>
          <p:cNvPr id="18" name="flow-arrow-120"/>
          <p:cNvSpPr/>
          <p:nvPr/>
        </p:nvSpPr>
        <p:spPr>
          <a:xfrm>
            <a:off x="8362188" y="2862072"/>
            <a:ext cx="0" cy="5486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-121"/>
          <p:cNvSpPr txBox="1"/>
          <p:nvPr/>
        </p:nvSpPr>
        <p:spPr>
          <a:xfrm>
            <a:off x="8453628" y="29443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no</a:t>
            </a:r>
            <a:endParaRPr lang="en-US" sz="1200" dirty="0"/>
          </a:p>
        </p:txBody>
      </p:sp>
      <p:sp>
        <p:nvSpPr>
          <p:cNvPr id="20" name="flow-box-122"/>
          <p:cNvSpPr/>
          <p:nvPr/>
        </p:nvSpPr>
        <p:spPr>
          <a:xfrm>
            <a:off x="5618988" y="3429000"/>
            <a:ext cx="420624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-123"/>
          <p:cNvSpPr txBox="1"/>
          <p:nvPr/>
        </p:nvSpPr>
        <p:spPr>
          <a:xfrm>
            <a:off x="5756148" y="347472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Reject, or Newton failed: try the next neighbour. Only when all have failed: cold start from the exact first mode, continuing the clamp angles (no MAC check).</a:t>
            </a:r>
            <a:endParaRPr lang="en-US" sz="1400" dirty="0"/>
          </a:p>
        </p:txBody>
      </p:sp>
      <p:sp>
        <p:nvSpPr>
          <p:cNvPr id="22" name="card-124"/>
          <p:cNvSpPr/>
          <p:nvPr/>
        </p:nvSpPr>
        <p:spPr>
          <a:xfrm>
            <a:off x="548640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-125"/>
          <p:cNvSpPr txBox="1"/>
          <p:nvPr/>
        </p:nvSpPr>
        <p:spPr>
          <a:xfrm>
            <a:off x="731520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Grid</a:t>
            </a:r>
            <a:endParaRPr lang="en-US" sz="1500" dirty="0"/>
          </a:p>
        </p:txBody>
      </p:sp>
      <p:sp>
        <p:nvSpPr>
          <p:cNvPr id="24" name="text-126"/>
          <p:cNvSpPr txBox="1"/>
          <p:nvPr/>
        </p:nvSpPr>
        <p:spPr>
          <a:xfrm>
            <a:off x="731520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Rectilinear (d, φ₁, φ₂) grid split into 6 tetrahedra per cell; warm starts come from the 26 grid neighbours</a:t>
            </a:r>
            <a:endParaRPr lang="en-US" sz="1300" dirty="0"/>
          </a:p>
        </p:txBody>
      </p:sp>
      <p:sp>
        <p:nvSpPr>
          <p:cNvPr id="25" name="card-127"/>
          <p:cNvSpPr/>
          <p:nvPr/>
        </p:nvSpPr>
        <p:spPr>
          <a:xfrm>
            <a:off x="4334256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-128"/>
          <p:cNvSpPr txBox="1"/>
          <p:nvPr/>
        </p:nvSpPr>
        <p:spPr>
          <a:xfrm>
            <a:off x="4517136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Restartable</a:t>
            </a:r>
            <a:endParaRPr lang="en-US" sz="1500" dirty="0"/>
          </a:p>
        </p:txBody>
      </p:sp>
      <p:sp>
        <p:nvSpPr>
          <p:cNvPr id="27" name="text-129"/>
          <p:cNvSpPr txBox="1"/>
          <p:nvPr/>
        </p:nvSpPr>
        <p:spPr>
          <a:xfrm>
            <a:off x="4517136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Live NPZ + VTU checkpoints, also on Ctrl-C; a resume reloads every stored θ as a warm-start source</a:t>
            </a:r>
            <a:endParaRPr lang="en-US" sz="1300" dirty="0"/>
          </a:p>
        </p:txBody>
      </p:sp>
      <p:sp>
        <p:nvSpPr>
          <p:cNvPr id="28" name="card-130"/>
          <p:cNvSpPr/>
          <p:nvPr/>
        </p:nvSpPr>
        <p:spPr>
          <a:xfrm>
            <a:off x="8119872" y="4663440"/>
            <a:ext cx="3493008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-131"/>
          <p:cNvSpPr txBox="1"/>
          <p:nvPr/>
        </p:nvSpPr>
        <p:spPr>
          <a:xfrm>
            <a:off x="8302752" y="47731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Half domain</a:t>
            </a:r>
            <a:endParaRPr lang="en-US" sz="1500" dirty="0"/>
          </a:p>
        </p:txBody>
      </p:sp>
      <p:sp>
        <p:nvSpPr>
          <p:cNvPr id="30" name="text-132"/>
          <p:cNvSpPr txBox="1"/>
          <p:nvPr/>
        </p:nvSpPr>
        <p:spPr>
          <a:xfrm>
            <a:off x="8302752" y="512064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Only φ₁ + φ₂ ≥ 0 is solved; a precomputed mirror index fills the other half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ct first mode deriv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Deriving the exact first mode used for the cold start</a:t>
            </a:r>
            <a:endParaRPr lang="en-US" sz="3000" dirty="0"/>
          </a:p>
        </p:txBody>
      </p:sp>
      <p:sp>
        <p:nvSpPr>
          <p:cNvPr id="3" name="step-card-1"/>
          <p:cNvSpPr/>
          <p:nvPr/>
        </p:nvSpPr>
        <p:spPr>
          <a:xfrm>
            <a:off x="548640" y="141732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tep-badge-1"/>
          <p:cNvSpPr/>
          <p:nvPr/>
        </p:nvSpPr>
        <p:spPr>
          <a:xfrm>
            <a:off x="777240" y="15819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5" name="step-text-1"/>
          <p:cNvSpPr txBox="1"/>
          <p:nvPr/>
        </p:nvSpPr>
        <p:spPr>
          <a:xfrm>
            <a:off x="1325880" y="145389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φ₁ = φ₂ = 0 is mirror-symmetric, so f</a:t>
            </a:r>
            <a:r>
              <a:rPr lang="en-US" sz="1400" baseline="-25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= 0 and the elastica is a pendulum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mode-1"/>
              <p:cNvSpPr txBox="1"/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′′+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=0, </m:t>
                      </m:r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60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latex-mode-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1453896"/>
                <a:ext cx="589788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tep-card-2"/>
          <p:cNvSpPr/>
          <p:nvPr/>
        </p:nvSpPr>
        <p:spPr>
          <a:xfrm>
            <a:off x="548640" y="2221992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tep-badge-2"/>
          <p:cNvSpPr/>
          <p:nvPr/>
        </p:nvSpPr>
        <p:spPr>
          <a:xfrm>
            <a:off x="777240" y="2386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9" name="step-text-2"/>
          <p:cNvSpPr txBox="1"/>
          <p:nvPr/>
        </p:nvSpPr>
        <p:spPr>
          <a:xfrm>
            <a:off x="1325880" y="2258568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Multiply by θ′ and integrate once; θ′ = 0 at the peak angle α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latex-mode-2"/>
              <p:cNvSpPr txBox="1"/>
              <p:nvPr/>
            </p:nvSpPr>
            <p:spPr>
              <a:xfrm>
                <a:off x="5532120" y="2258568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sSup>
                        <m:sSup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latex-mode-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2258568"/>
                <a:ext cx="5897880" cy="640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tep-card-3"/>
          <p:cNvSpPr/>
          <p:nvPr/>
        </p:nvSpPr>
        <p:spPr>
          <a:xfrm>
            <a:off x="548640" y="3026664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tep-badge-3"/>
          <p:cNvSpPr/>
          <p:nvPr/>
        </p:nvSpPr>
        <p:spPr>
          <a:xfrm>
            <a:off x="777240" y="31912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1325880" y="30632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Substituting sin(θ/2) = p sin ψ gives ψ′ = λ√(1 − m sin²ψ), so sin ψ = sn(λs | m)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latex-mode-3"/>
              <p:cNvSpPr txBox="1"/>
              <p:nvPr/>
            </p:nvSpPr>
            <p:spPr>
              <a:xfrm>
                <a:off x="5532120" y="3063240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arcsin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 </m:t>
                              </m:r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sn</m:t>
                              </m:r>
                              <m:d>
                                <m:dPr>
                                  <m:ctrlP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 | 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4" name="latex-mode-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3063240"/>
                <a:ext cx="5897880" cy="6400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tep-card-4"/>
          <p:cNvSpPr/>
          <p:nvPr/>
        </p:nvSpPr>
        <p:spPr>
          <a:xfrm>
            <a:off x="548640" y="3831336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tep-badge-4"/>
          <p:cNvSpPr/>
          <p:nvPr/>
        </p:nvSpPr>
        <p:spPr>
          <a:xfrm>
            <a:off x="777240" y="39959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17" name="step-text-4"/>
          <p:cNvSpPr txBox="1"/>
          <p:nvPr/>
        </p:nvSpPr>
        <p:spPr>
          <a:xfrm>
            <a:off x="1325880" y="3867912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θ(L) = 0 and ∫ sin θ ds = 0 need one full period of sn (4K): four quarter-waves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4"/>
              <p:cNvSpPr txBox="1"/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 ⇒ 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d>
                                    <m:dPr>
                                      <m:ctrlP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16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3867912"/>
                <a:ext cx="589788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tep-card-5"/>
          <p:cNvSpPr/>
          <p:nvPr/>
        </p:nvSpPr>
        <p:spPr>
          <a:xfrm>
            <a:off x="548640" y="4636008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tep-badge-5"/>
          <p:cNvSpPr/>
          <p:nvPr/>
        </p:nvSpPr>
        <p:spPr>
          <a:xfrm>
            <a:off x="77724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21" name="step-text-5"/>
          <p:cNvSpPr txBox="1"/>
          <p:nvPr/>
        </p:nvSpPr>
        <p:spPr>
          <a:xfrm>
            <a:off x="1325880" y="4672584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 end distance fixes m; d/L falls monotonically in m, so a 1-D root-find is safe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latex-mode-5"/>
              <p:cNvSpPr txBox="1"/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func>
                            <m:func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nary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𝑑𝑠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latex-mode-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4672584"/>
                <a:ext cx="5897880" cy="6400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tep-card-6"/>
          <p:cNvSpPr/>
          <p:nvPr/>
        </p:nvSpPr>
        <p:spPr>
          <a:xfrm>
            <a:off x="548640" y="5440680"/>
            <a:ext cx="11064240" cy="713232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tep-badge-6"/>
          <p:cNvSpPr/>
          <p:nvPr/>
        </p:nvSpPr>
        <p:spPr>
          <a:xfrm>
            <a:off x="777240" y="560527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25" name="step-text-6"/>
          <p:cNvSpPr txBox="1"/>
          <p:nvPr/>
        </p:nvSpPr>
        <p:spPr>
          <a:xfrm>
            <a:off x="1325880" y="5477256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Small bow, m → 0: the old A sin(2πs/L) shape with A = 2√(1 − d/L), and the Euler load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latex-mode-6"/>
              <p:cNvSpPr txBox="1"/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latex-mode-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120" y="5477256"/>
                <a:ext cx="5897880" cy="640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/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105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f>
                            <m:fPr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GB" sz="1050" i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func>
                                    <m:funcPr>
                                      <m:ctrlP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e>
                                        <m:sup>
                                          <m:r>
                                            <a:rPr lang="en-GB" sz="1050" i="0">
                                              <a:solidFill>
                                                <a:schemeClr val="bg1">
                                                  <a:lumMod val="6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r>
                                        <a:rPr lang="en-GB" sz="1050" i="1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𝜓</m:t>
                                      </m:r>
                                    </m:e>
                                  </m:func>
                                </m:e>
                              </m:rad>
                            </m:den>
                          </m:f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GB" sz="105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GB" sz="105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/2</m:t>
                          </m:r>
                        </m:sup>
                        <m:e>
                          <m:rad>
                            <m:radPr>
                              <m:degHide m:val="on"/>
                              <m:ctrlP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GB" sz="1050" i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GB" sz="1050" i="1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GB" sz="1050" i="0">
                                          <a:solidFill>
                                            <a:schemeClr val="bg1">
                                              <a:lumMod val="6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GB" sz="1050" i="1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</m:func>
                            </m:e>
                          </m:rad>
                        </m:e>
                      </m:nary>
                      <m:r>
                        <a:rPr lang="en-GB" sz="105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 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105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GB" sz="1050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96FF2F9-779B-490F-DB57-7E5494C00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8123" y="6272086"/>
                <a:ext cx="4460789" cy="492699"/>
              </a:xfrm>
              <a:prstGeom prst="rect">
                <a:avLst/>
              </a:prstGeom>
              <a:blipFill>
                <a:blip r:embed="rId9"/>
                <a:stretch>
                  <a:fillRect t="-124691" b="-1827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Exact first-mode cold start, then continue the clamp angles</a:t>
            </a:r>
            <a:endParaRPr lang="en-US" sz="3000" dirty="0"/>
          </a:p>
        </p:txBody>
      </p:sp>
      <p:sp>
        <p:nvSpPr>
          <p:cNvPr id="3" name="card-133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figure-135" descr="Rod shapes during the cold start at d = 0.90, φ1 = 0.60, φ2 = -0.40: exact first mode, two continuation steps, and the kept and discarded branch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60320"/>
            <a:ext cx="5394960" cy="3596640"/>
          </a:xfrm>
          <a:prstGeom prst="rect">
            <a:avLst/>
          </a:prstGeom>
        </p:spPr>
      </p:pic>
      <p:sp>
        <p:nvSpPr>
          <p:cNvPr id="6" name="text-136"/>
          <p:cNvSpPr txBox="1"/>
          <p:nvPr/>
        </p:nvSpPr>
        <p:spPr>
          <a:xfrm>
            <a:off x="6217920" y="26060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Predictor for each continuation step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latex-amp"/>
              <p:cNvSpPr txBox="1"/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sup>
                      </m:sSup>
                      <m:d>
                        <m:d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𝛥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latex-am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7920" y="3017520"/>
                <a:ext cx="5425135" cy="6622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badge-138"/>
          <p:cNvSpPr/>
          <p:nvPr/>
        </p:nvSpPr>
        <p:spPr>
          <a:xfrm>
            <a:off x="6217920" y="38862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39"/>
          <p:cNvSpPr txBox="1"/>
          <p:nvPr/>
        </p:nvSpPr>
        <p:spPr>
          <a:xfrm>
            <a:off x="621792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-140"/>
          <p:cNvSpPr txBox="1"/>
          <p:nvPr/>
        </p:nvSpPr>
        <p:spPr>
          <a:xfrm>
            <a:off x="6766560" y="385876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Exact at φ₁ = φ₂ = 0 for any d, with ∫ sin θ ds = 0: Newton converges in 2 iterations</a:t>
            </a:r>
            <a:endParaRPr lang="en-US" sz="1400" dirty="0"/>
          </a:p>
        </p:txBody>
      </p:sp>
      <p:sp>
        <p:nvSpPr>
          <p:cNvPr id="11" name="badge-141"/>
          <p:cNvSpPr/>
          <p:nvPr/>
        </p:nvSpPr>
        <p:spPr>
          <a:xfrm>
            <a:off x="6217920" y="46634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142"/>
          <p:cNvSpPr txBox="1"/>
          <p:nvPr/>
        </p:nvSpPr>
        <p:spPr>
          <a:xfrm>
            <a:off x="621792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-143"/>
          <p:cNvSpPr txBox="1"/>
          <p:nvPr/>
        </p:nvSpPr>
        <p:spPr>
          <a:xfrm>
            <a:off x="6766560" y="46360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Steps ≤ 0.25 rad, ≤ 15 Newton iterations each; a failed step halves, giving up below 0.02 rad (a fold)</a:t>
            </a:r>
            <a:endParaRPr lang="en-US" sz="1400" dirty="0"/>
          </a:p>
        </p:txBody>
      </p:sp>
      <p:sp>
        <p:nvSpPr>
          <p:cNvPr id="14" name="badge-144"/>
          <p:cNvSpPr/>
          <p:nvPr/>
        </p:nvSpPr>
        <p:spPr>
          <a:xfrm>
            <a:off x="6217920" y="5440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145"/>
          <p:cNvSpPr txBox="1"/>
          <p:nvPr/>
        </p:nvSpPr>
        <p:spPr>
          <a:xfrm>
            <a:off x="621792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146"/>
          <p:cNvSpPr txBox="1"/>
          <p:nvPr/>
        </p:nvSpPr>
        <p:spPr>
          <a:xfrm>
            <a:off x="6766560" y="54132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Both hump signs are continued and the lower energy kept: 296 / 300 random points converge, vs 285 for sin(πs)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/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≈2</m:t>
                      </m:r>
                      <m:rad>
                        <m:radPr>
                          <m:degHide m:val="on"/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rad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func>
                        <m:func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f>
                            <m:fPr>
                              <m:ctrlP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func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6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≈1−</m:t>
                      </m:r>
                      <m:f>
                        <m:f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6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8" name="latex-mode-6">
                <a:extLst>
                  <a:ext uri="{FF2B5EF4-FFF2-40B4-BE49-F238E27FC236}">
                    <a16:creationId xmlns:a16="http://schemas.microsoft.com/office/drawing/2014/main" id="{905E2A91-4C29-9579-8B30-63193110E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4616" y="1549123"/>
                <a:ext cx="8635087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MAC sets the step size of every move </a:t>
            </a:r>
            <a:r>
              <a:rPr lang="en-US" sz="1600" b="1" dirty="0">
                <a:solidFill>
                  <a:schemeClr val="tx1"/>
                </a:solidFill>
              </a:rPr>
              <a:t>(v3)</a:t>
            </a:r>
            <a:endParaRPr lang="en-US" sz="3000" dirty="0"/>
          </a:p>
        </p:txBody>
      </p:sp>
      <p:sp>
        <p:nvSpPr>
          <p:cNvPr id="3" name="text-147"/>
          <p:cNvSpPr txBox="1"/>
          <p:nvPr/>
        </p:nvSpPr>
        <p:spPr>
          <a:xfrm>
            <a:off x="182880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p₀</a:t>
            </a:r>
            <a:endParaRPr lang="en-US" sz="1400" dirty="0"/>
          </a:p>
        </p:txBody>
      </p:sp>
      <p:sp>
        <p:nvSpPr>
          <p:cNvPr id="4" name="text-148"/>
          <p:cNvSpPr txBox="1"/>
          <p:nvPr/>
        </p:nvSpPr>
        <p:spPr>
          <a:xfrm>
            <a:off x="5897880" y="1417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</a:t>
            </a:r>
            <a:endParaRPr lang="en-US" sz="1400" dirty="0"/>
          </a:p>
        </p:txBody>
      </p:sp>
      <p:sp>
        <p:nvSpPr>
          <p:cNvPr id="5" name="text-149"/>
          <p:cNvSpPr txBox="1"/>
          <p:nvPr/>
        </p:nvSpPr>
        <p:spPr>
          <a:xfrm>
            <a:off x="548640" y="18470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0</a:t>
            </a:r>
            <a:endParaRPr lang="en-US" sz="1500" dirty="0"/>
          </a:p>
        </p:txBody>
      </p:sp>
      <p:sp>
        <p:nvSpPr>
          <p:cNvPr id="6" name="text-150"/>
          <p:cNvSpPr txBox="1"/>
          <p:nvPr/>
        </p:nvSpPr>
        <p:spPr>
          <a:xfrm>
            <a:off x="1188720" y="1874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1 step</a:t>
            </a:r>
            <a:endParaRPr lang="en-US" sz="1200" dirty="0"/>
          </a:p>
        </p:txBody>
      </p:sp>
      <p:sp>
        <p:nvSpPr>
          <p:cNvPr id="7" name="substep-151"/>
          <p:cNvSpPr/>
          <p:nvPr/>
        </p:nvSpPr>
        <p:spPr>
          <a:xfrm>
            <a:off x="1965960" y="1828800"/>
            <a:ext cx="40782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-152"/>
          <p:cNvSpPr txBox="1"/>
          <p:nvPr/>
        </p:nvSpPr>
        <p:spPr>
          <a:xfrm>
            <a:off x="548640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1</a:t>
            </a:r>
            <a:endParaRPr lang="en-US" sz="1500" dirty="0"/>
          </a:p>
        </p:txBody>
      </p:sp>
      <p:sp>
        <p:nvSpPr>
          <p:cNvPr id="9" name="text-153"/>
          <p:cNvSpPr txBox="1"/>
          <p:nvPr/>
        </p:nvSpPr>
        <p:spPr>
          <a:xfrm>
            <a:off x="1188720" y="26243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2 steps</a:t>
            </a:r>
            <a:endParaRPr lang="en-US" sz="1200" dirty="0"/>
          </a:p>
        </p:txBody>
      </p:sp>
      <p:sp>
        <p:nvSpPr>
          <p:cNvPr id="10" name="substep-154"/>
          <p:cNvSpPr/>
          <p:nvPr/>
        </p:nvSpPr>
        <p:spPr>
          <a:xfrm>
            <a:off x="1965960" y="2578608"/>
            <a:ext cx="20208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ubstep-155"/>
          <p:cNvSpPr/>
          <p:nvPr/>
        </p:nvSpPr>
        <p:spPr>
          <a:xfrm>
            <a:off x="4023360" y="2578608"/>
            <a:ext cx="20208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-156"/>
          <p:cNvSpPr txBox="1"/>
          <p:nvPr/>
        </p:nvSpPr>
        <p:spPr>
          <a:xfrm>
            <a:off x="548640" y="3346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2</a:t>
            </a:r>
            <a:endParaRPr lang="en-US" sz="1500" dirty="0"/>
          </a:p>
        </p:txBody>
      </p:sp>
      <p:sp>
        <p:nvSpPr>
          <p:cNvPr id="13" name="text-157"/>
          <p:cNvSpPr txBox="1"/>
          <p:nvPr/>
        </p:nvSpPr>
        <p:spPr>
          <a:xfrm>
            <a:off x="1188720" y="3374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4 steps</a:t>
            </a:r>
            <a:endParaRPr lang="en-US" sz="1200" dirty="0"/>
          </a:p>
        </p:txBody>
      </p:sp>
      <p:sp>
        <p:nvSpPr>
          <p:cNvPr id="14" name="substep-158"/>
          <p:cNvSpPr/>
          <p:nvPr/>
        </p:nvSpPr>
        <p:spPr>
          <a:xfrm>
            <a:off x="19659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ubstep-159"/>
          <p:cNvSpPr/>
          <p:nvPr/>
        </p:nvSpPr>
        <p:spPr>
          <a:xfrm>
            <a:off x="2994660" y="3328416"/>
            <a:ext cx="99212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ubstep-160"/>
          <p:cNvSpPr/>
          <p:nvPr/>
        </p:nvSpPr>
        <p:spPr>
          <a:xfrm>
            <a:off x="4023360" y="3328416"/>
            <a:ext cx="992124" cy="384048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ubstep-161"/>
          <p:cNvSpPr/>
          <p:nvPr/>
        </p:nvSpPr>
        <p:spPr>
          <a:xfrm>
            <a:off x="5052060" y="3328416"/>
            <a:ext cx="992124" cy="384048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-162"/>
          <p:cNvSpPr txBox="1"/>
          <p:nvPr/>
        </p:nvSpPr>
        <p:spPr>
          <a:xfrm>
            <a:off x="548640" y="40965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 = 3</a:t>
            </a:r>
            <a:endParaRPr lang="en-US" sz="1500" dirty="0"/>
          </a:p>
        </p:txBody>
      </p:sp>
      <p:sp>
        <p:nvSpPr>
          <p:cNvPr id="19" name="text-163"/>
          <p:cNvSpPr txBox="1"/>
          <p:nvPr/>
        </p:nvSpPr>
        <p:spPr>
          <a:xfrm>
            <a:off x="1188720" y="41239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8 steps</a:t>
            </a:r>
            <a:endParaRPr lang="en-US" sz="1200" dirty="0"/>
          </a:p>
        </p:txBody>
      </p:sp>
      <p:sp>
        <p:nvSpPr>
          <p:cNvPr id="20" name="substep-164"/>
          <p:cNvSpPr/>
          <p:nvPr/>
        </p:nvSpPr>
        <p:spPr>
          <a:xfrm>
            <a:off x="19659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ubstep-165"/>
          <p:cNvSpPr/>
          <p:nvPr/>
        </p:nvSpPr>
        <p:spPr>
          <a:xfrm>
            <a:off x="24803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ubstep-166"/>
          <p:cNvSpPr/>
          <p:nvPr/>
        </p:nvSpPr>
        <p:spPr>
          <a:xfrm>
            <a:off x="29946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ubstep-167"/>
          <p:cNvSpPr/>
          <p:nvPr/>
        </p:nvSpPr>
        <p:spPr>
          <a:xfrm>
            <a:off x="35090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ubstep-168"/>
          <p:cNvSpPr/>
          <p:nvPr/>
        </p:nvSpPr>
        <p:spPr>
          <a:xfrm>
            <a:off x="40233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ubstep-169"/>
          <p:cNvSpPr/>
          <p:nvPr/>
        </p:nvSpPr>
        <p:spPr>
          <a:xfrm>
            <a:off x="45377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ubstep-170"/>
          <p:cNvSpPr/>
          <p:nvPr/>
        </p:nvSpPr>
        <p:spPr>
          <a:xfrm>
            <a:off x="505206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ubstep-171"/>
          <p:cNvSpPr/>
          <p:nvPr/>
        </p:nvSpPr>
        <p:spPr>
          <a:xfrm>
            <a:off x="5566410" y="4078224"/>
            <a:ext cx="477774" cy="384048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-172"/>
          <p:cNvSpPr txBox="1"/>
          <p:nvPr/>
        </p:nvSpPr>
        <p:spPr>
          <a:xfrm>
            <a:off x="548640" y="4846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… up to r = 5 (32 sub-steps) per axis</a:t>
            </a:r>
            <a:endParaRPr lang="en-US" sz="1400" dirty="0"/>
          </a:p>
        </p:txBody>
      </p:sp>
      <p:sp>
        <p:nvSpPr>
          <p:cNvPr id="29" name="legend-173"/>
          <p:cNvSpPr/>
          <p:nvPr/>
        </p:nvSpPr>
        <p:spPr>
          <a:xfrm>
            <a:off x="548640" y="5358384"/>
            <a:ext cx="274320" cy="182880"/>
          </a:xfrm>
          <a:prstGeom prst="rect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-174"/>
          <p:cNvSpPr txBox="1"/>
          <p:nvPr/>
        </p:nvSpPr>
        <p:spPr>
          <a:xfrm>
            <a:off x="960120" y="5303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converged and MAC ≥ 0.90</a:t>
            </a:r>
            <a:endParaRPr lang="en-US" sz="1200" dirty="0"/>
          </a:p>
        </p:txBody>
      </p:sp>
      <p:sp>
        <p:nvSpPr>
          <p:cNvPr id="31" name="legend-175"/>
          <p:cNvSpPr/>
          <p:nvPr/>
        </p:nvSpPr>
        <p:spPr>
          <a:xfrm>
            <a:off x="548640" y="5687568"/>
            <a:ext cx="274320" cy="182880"/>
          </a:xfrm>
          <a:prstGeom prst="rect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-176"/>
          <p:cNvSpPr txBox="1"/>
          <p:nvPr/>
        </p:nvSpPr>
        <p:spPr>
          <a:xfrm>
            <a:off x="960120" y="56327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SNES failed or MAC &lt; 0.90</a:t>
            </a:r>
            <a:endParaRPr lang="en-US" sz="1200" dirty="0"/>
          </a:p>
        </p:txBody>
      </p:sp>
      <p:sp>
        <p:nvSpPr>
          <p:cNvPr id="33" name="legend-177"/>
          <p:cNvSpPr/>
          <p:nvPr/>
        </p:nvSpPr>
        <p:spPr>
          <a:xfrm>
            <a:off x="548640" y="6016752"/>
            <a:ext cx="274320" cy="1828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-178"/>
          <p:cNvSpPr txBox="1"/>
          <p:nvPr/>
        </p:nvSpPr>
        <p:spPr>
          <a:xfrm>
            <a:off x="960120" y="5961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not attempted</a:t>
            </a:r>
            <a:endParaRPr lang="en-US" sz="1200" dirty="0"/>
          </a:p>
        </p:txBody>
      </p:sp>
      <p:sp>
        <p:nvSpPr>
          <p:cNvPr id="35" name="card-179"/>
          <p:cNvSpPr/>
          <p:nvPr/>
        </p:nvSpPr>
        <p:spPr>
          <a:xfrm>
            <a:off x="6492240" y="1417320"/>
            <a:ext cx="5120640" cy="8686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latex-substep"/>
              <p:cNvSpPr txBox="1"/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p>
                          <m:d>
                            <m:dPr>
                              <m:ctrlP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sSup>
                            <m:sSupPr>
                              <m:ctrlP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1400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p>
                        </m:den>
                      </m:f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sSub>
                        <m:sSubPr>
                          <m:ctrlP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𝐞</m:t>
                          </m:r>
                        </m:e>
                        <m:sub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sSup>
                        <m:sSupPr>
                          <m:ctrlP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US" sz="1400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400" b="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=0,1,…,5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6" name="latex-substep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490472"/>
                <a:ext cx="4754880" cy="7223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badge-181"/>
          <p:cNvSpPr/>
          <p:nvPr/>
        </p:nvSpPr>
        <p:spPr>
          <a:xfrm>
            <a:off x="6492240" y="24231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badge-label-182"/>
          <p:cNvSpPr txBox="1"/>
          <p:nvPr/>
        </p:nvSpPr>
        <p:spPr>
          <a:xfrm>
            <a:off x="64922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39" name="step-183"/>
          <p:cNvSpPr txBox="1"/>
          <p:nvPr/>
        </p:nvSpPr>
        <p:spPr>
          <a:xfrm>
            <a:off x="7040880" y="2395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Split by axis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Move the largest |Δpᵢ| first; each axis is its own sub-path.</a:t>
            </a:r>
            <a:endParaRPr lang="en-US" sz="1400" dirty="0"/>
          </a:p>
        </p:txBody>
      </p:sp>
      <p:sp>
        <p:nvSpPr>
          <p:cNvPr id="40" name="badge-184"/>
          <p:cNvSpPr/>
          <p:nvPr/>
        </p:nvSpPr>
        <p:spPr>
          <a:xfrm>
            <a:off x="6492240" y="33832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badge-label-185"/>
          <p:cNvSpPr txBox="1"/>
          <p:nvPr/>
        </p:nvSpPr>
        <p:spPr>
          <a:xfrm>
            <a:off x="649224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42" name="step-186"/>
          <p:cNvSpPr txBox="1"/>
          <p:nvPr/>
        </p:nvSpPr>
        <p:spPr>
          <a:xfrm>
            <a:off x="7040880" y="335584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Chain warm starts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Each sub-step starts from the last accepted θ, 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43" name="badge-187"/>
          <p:cNvSpPr/>
          <p:nvPr/>
        </p:nvSpPr>
        <p:spPr>
          <a:xfrm>
            <a:off x="6492240" y="4343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badge-label-188"/>
          <p:cNvSpPr txBox="1"/>
          <p:nvPr/>
        </p:nvSpPr>
        <p:spPr>
          <a:xfrm>
            <a:off x="64922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45" name="step-189"/>
          <p:cNvSpPr txBox="1"/>
          <p:nvPr/>
        </p:nvSpPr>
        <p:spPr>
          <a:xfrm>
            <a:off x="7040880" y="431596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Halve on failure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Double the sub-steps and redo the axis from its start.</a:t>
            </a:r>
            <a:endParaRPr lang="en-US" sz="1400" dirty="0"/>
          </a:p>
        </p:txBody>
      </p:sp>
      <p:sp>
        <p:nvSpPr>
          <p:cNvPr id="46" name="badge-190"/>
          <p:cNvSpPr/>
          <p:nvPr/>
        </p:nvSpPr>
        <p:spPr>
          <a:xfrm>
            <a:off x="6492240" y="53035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badge-label-191"/>
          <p:cNvSpPr txBox="1"/>
          <p:nvPr/>
        </p:nvSpPr>
        <p:spPr>
          <a:xfrm>
            <a:off x="6492240" y="5303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step-192"/>
          <p:cNvSpPr txBox="1"/>
          <p:nvPr/>
        </p:nvSpPr>
        <p:spPr>
          <a:xfrm>
            <a:off x="7040880" y="52760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Accept a real jump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After 5 halvings a converged candidate is kept anyway: the jump survives refinement, so it is physical.</a:t>
            </a:r>
            <a:endParaRPr lang="en-US" sz="140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CURRENTv3 sweeps d layer by layer with one cold start</a:t>
            </a:r>
            <a:endParaRPr lang="en-US" sz="3000" dirty="0"/>
          </a:p>
        </p:txBody>
      </p:sp>
      <p:pic>
        <p:nvPicPr>
          <p:cNvPr id="3" name="figure-193" descr="/tmp/claude-1000/-home-goraksh/bd4a8aa0-f932-4355-8328-b02b4cf010d1/scratchpad/deck/fig/wa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4434840" cy="4434840"/>
          </a:xfrm>
          <a:prstGeom prst="rect">
            <a:avLst/>
          </a:prstGeom>
        </p:spPr>
      </p:pic>
      <p:sp>
        <p:nvSpPr>
          <p:cNvPr id="4" name="text-194"/>
          <p:cNvSpPr txBox="1"/>
          <p:nvPr/>
        </p:nvSpPr>
        <p:spPr>
          <a:xfrm>
            <a:off x="548640" y="58064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Toy 13 × 13 half grid. Dashed red: jumps where the walk's 32-neighbour pool is exhausted (8 of 90 moves).</a:t>
            </a:r>
            <a:endParaRPr lang="en-US" sz="1100" dirty="0"/>
          </a:p>
        </p:txBody>
      </p:sp>
      <p:sp>
        <p:nvSpPr>
          <p:cNvPr id="5" name="badge-195"/>
          <p:cNvSpPr/>
          <p:nvPr/>
        </p:nvSpPr>
        <p:spPr>
          <a:xfrm>
            <a:off x="5440680" y="1463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badge-label-196"/>
          <p:cNvSpPr txBox="1"/>
          <p:nvPr/>
        </p:nvSpPr>
        <p:spPr>
          <a:xfrm>
            <a:off x="54406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-197"/>
          <p:cNvSpPr txBox="1"/>
          <p:nvPr/>
        </p:nvSpPr>
        <p:spPr>
          <a:xfrm>
            <a:off x="5989320" y="1435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Single cold start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 (d, φ₁, φ₂) = (0.70, −0.70, 0.70), the first point of the study.</a:t>
            </a:r>
            <a:endParaRPr lang="en-US" sz="1500" dirty="0"/>
          </a:p>
        </p:txBody>
      </p:sp>
      <p:sp>
        <p:nvSpPr>
          <p:cNvPr id="8" name="badge-198"/>
          <p:cNvSpPr/>
          <p:nvPr/>
        </p:nvSpPr>
        <p:spPr>
          <a:xfrm>
            <a:off x="54406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badge-label-199"/>
          <p:cNvSpPr txBox="1"/>
          <p:nvPr/>
        </p:nvSpPr>
        <p:spPr>
          <a:xfrm>
            <a:off x="54406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-200"/>
          <p:cNvSpPr txBox="1"/>
          <p:nvPr/>
        </p:nvSpPr>
        <p:spPr>
          <a:xfrm>
            <a:off x="5989320" y="2578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Nearest-neighbour walk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Within a d layer, a greedy KD-tree walk over the φ₁ + φ₂ ≥ 0 half keeps every warm start one grid step away.</a:t>
            </a:r>
            <a:endParaRPr lang="en-US" sz="1500" dirty="0"/>
          </a:p>
        </p:txBody>
      </p:sp>
      <p:sp>
        <p:nvSpPr>
          <p:cNvPr id="11" name="badge-201"/>
          <p:cNvSpPr/>
          <p:nvPr/>
        </p:nvSpPr>
        <p:spPr>
          <a:xfrm>
            <a:off x="5440680" y="3749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badge-label-202"/>
          <p:cNvSpPr txBox="1"/>
          <p:nvPr/>
        </p:nvSpPr>
        <p:spPr>
          <a:xfrm>
            <a:off x="544068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-203"/>
          <p:cNvSpPr txBox="1"/>
          <p:nvPr/>
        </p:nvSpPr>
        <p:spPr>
          <a:xfrm>
            <a:off x="5989320" y="3721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Layer-to-layer seeding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Each new d layer starts from the last solution of the previous one.</a:t>
            </a:r>
            <a:endParaRPr lang="en-US" sz="1500" dirty="0"/>
          </a:p>
        </p:txBody>
      </p:sp>
      <p:sp>
        <p:nvSpPr>
          <p:cNvPr id="14" name="badge-204"/>
          <p:cNvSpPr/>
          <p:nvPr/>
        </p:nvSpPr>
        <p:spPr>
          <a:xfrm>
            <a:off x="5440680" y="4892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badge-label-205"/>
          <p:cNvSpPr txBox="1"/>
          <p:nvPr/>
        </p:nvSpPr>
        <p:spPr>
          <a:xfrm>
            <a:off x="544068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-206"/>
          <p:cNvSpPr txBox="1"/>
          <p:nvPr/>
        </p:nvSpPr>
        <p:spPr>
          <a:xfrm>
            <a:off x="5989320" y="4864608"/>
            <a:ext cx="5623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Fail loudly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 second cold start: a failed warm start stops the run and reports the point, instead of silently changing branch.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Gradient refinement packs points onto the snap surface</a:t>
            </a:r>
            <a:endParaRPr lang="en-US" sz="3000" dirty="0"/>
          </a:p>
        </p:txBody>
      </p:sp>
      <p:pic>
        <p:nvPicPr>
          <p:cNvPr id="3" name="figure-207" descr="/tmp/claude-1000/-home-goraksh/bd4a8aa0-f932-4355-8328-b02b4cf010d1/scratchpad/deck/fig/grad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5029200" cy="4310743"/>
          </a:xfrm>
          <a:prstGeom prst="rect">
            <a:avLst/>
          </a:prstGeom>
        </p:spPr>
      </p:pic>
      <p:sp>
        <p:nvSpPr>
          <p:cNvPr id="4" name="text-208"/>
          <p:cNvSpPr txBox="1"/>
          <p:nvPr/>
        </p:nvSpPr>
        <p:spPr>
          <a:xfrm>
            <a:off x="548640" y="571500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Grid finite-difference estimate from the sol4 data. White contour: top 10 % of scores.</a:t>
            </a:r>
            <a:endParaRPr lang="en-US" sz="1100" dirty="0"/>
          </a:p>
        </p:txBody>
      </p:sp>
      <p:sp>
        <p:nvSpPr>
          <p:cNvPr id="5" name="card-209"/>
          <p:cNvSpPr/>
          <p:nvPr/>
        </p:nvSpPr>
        <p:spPr>
          <a:xfrm>
            <a:off x="5852160" y="1417320"/>
            <a:ext cx="5760720" cy="96012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latex-grad"/>
              <p:cNvSpPr txBox="1"/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Φ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 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ΔΘ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r>
                        <m:rPr>
                          <m:sty m:val="p"/>
                        </m:rP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ΔΦ</m:t>
                      </m:r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2×2</m:t>
                          </m:r>
                        </m:sup>
                      </m:sSup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mean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r>
                            <a:rPr lang="en-US" sz="1400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 </m:t>
                          </m:r>
                          <m:sSub>
                            <m:sSub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latex-grad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1490472"/>
                <a:ext cx="5577840" cy="8138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badge-211"/>
          <p:cNvSpPr/>
          <p:nvPr/>
        </p:nvSpPr>
        <p:spPr>
          <a:xfrm>
            <a:off x="5852160" y="24688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badge-label-212"/>
          <p:cNvSpPr txBox="1"/>
          <p:nvPr/>
        </p:nvSpPr>
        <p:spPr>
          <a:xfrm>
            <a:off x="585216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-213"/>
          <p:cNvSpPr txBox="1"/>
          <p:nvPr/>
        </p:nvSpPr>
        <p:spPr>
          <a:xfrm>
            <a:off x="6400800" y="244144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Estimate ∂θ/∂φ at each point from the best-conditioned pair of its 7 nearest neighbours</a:t>
            </a:r>
            <a:endParaRPr lang="en-US" sz="1500" dirty="0"/>
          </a:p>
        </p:txBody>
      </p:sp>
      <p:sp>
        <p:nvSpPr>
          <p:cNvPr id="10" name="badge-214"/>
          <p:cNvSpPr/>
          <p:nvPr/>
        </p:nvSpPr>
        <p:spPr>
          <a:xfrm>
            <a:off x="5852160" y="3337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badge-label-215"/>
          <p:cNvSpPr txBox="1"/>
          <p:nvPr/>
        </p:nvSpPr>
        <p:spPr>
          <a:xfrm>
            <a:off x="585216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-216"/>
          <p:cNvSpPr txBox="1"/>
          <p:nvPr/>
        </p:nvSpPr>
        <p:spPr>
          <a:xfrm>
            <a:off x="6400800" y="331012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Propose midpoints of φ₁- and φ₂-aligned edges, scored by RMS gradient</a:t>
            </a:r>
            <a:endParaRPr lang="en-US" sz="1500" dirty="0"/>
          </a:p>
        </p:txBody>
      </p:sp>
      <p:sp>
        <p:nvSpPr>
          <p:cNvPr id="13" name="badge-217"/>
          <p:cNvSpPr/>
          <p:nvPr/>
        </p:nvSpPr>
        <p:spPr>
          <a:xfrm>
            <a:off x="5852160" y="4206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badge-label-218"/>
          <p:cNvSpPr txBox="1"/>
          <p:nvPr/>
        </p:nvSpPr>
        <p:spPr>
          <a:xfrm>
            <a:off x="585216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-219"/>
          <p:cNvSpPr txBox="1"/>
          <p:nvPr/>
        </p:nvSpPr>
        <p:spPr>
          <a:xfrm>
            <a:off x="6400800" y="417880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Keep the top 10 % (≤ 256 per axis) above a minimum spacing that grows each level</a:t>
            </a:r>
            <a:endParaRPr lang="en-US" sz="1500" dirty="0"/>
          </a:p>
        </p:txBody>
      </p:sp>
      <p:sp>
        <p:nvSpPr>
          <p:cNvPr id="16" name="badge-220"/>
          <p:cNvSpPr/>
          <p:nvPr/>
        </p:nvSpPr>
        <p:spPr>
          <a:xfrm>
            <a:off x="5852160" y="50749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badge-label-221"/>
          <p:cNvSpPr txBox="1"/>
          <p:nvPr/>
        </p:nvSpPr>
        <p:spPr>
          <a:xfrm>
            <a:off x="585216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-222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Solve them with the same MAC-guarded continuation; repeat for 3 levels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Optimization: Mirror symmetry halves the number of solves</a:t>
            </a:r>
            <a:endParaRPr lang="en-US" sz="3000" dirty="0"/>
          </a:p>
        </p:txBody>
      </p:sp>
      <p:sp>
        <p:nvSpPr>
          <p:cNvPr id="3" name="card-223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latex-sym"/>
              <p:cNvSpPr txBox="1"/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: </m:t>
                      </m:r>
                      <m:acc>
                        <m:accPr>
                          <m:chr m:val="˜"/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acc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, </m:t>
                      </m:r>
                      <m:sSub>
                        <m:sSub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˜"/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acc>
                        </m:e>
                        <m:sub>
                          <m:r>
                            <a:rPr lang="en-US" i="0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latex-sym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1602943"/>
                <a:ext cx="10652760" cy="411480"/>
              </a:xfrm>
              <a:prstGeom prst="rect">
                <a:avLst/>
              </a:prstGeom>
              <a:blipFill>
                <a:blip r:embed="rId3"/>
                <a:stretch>
                  <a:fillRect t="-2985" b="-19403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figure-225" descr="/tmp/claude-1000/-home-goraksh/bd4a8aa0-f932-4355-8328-b02b4cf010d1/scratchpad/deck/fig/symmet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423160"/>
            <a:ext cx="7680960" cy="3226003"/>
          </a:xfrm>
          <a:prstGeom prst="rect">
            <a:avLst/>
          </a:prstGeom>
        </p:spPr>
      </p:pic>
      <p:sp>
        <p:nvSpPr>
          <p:cNvPr id="6" name="badge-226"/>
          <p:cNvSpPr/>
          <p:nvPr/>
        </p:nvSpPr>
        <p:spPr>
          <a:xfrm>
            <a:off x="8412480" y="26060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badge-label-227"/>
          <p:cNvSpPr txBox="1"/>
          <p:nvPr/>
        </p:nvSpPr>
        <p:spPr>
          <a:xfrm>
            <a:off x="841248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-228"/>
          <p:cNvSpPr txBox="1"/>
          <p:nvPr/>
        </p:nvSpPr>
        <p:spPr>
          <a:xfrm>
            <a:off x="8961120" y="257860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Reflecting the rod about mid-span maps (φ₁, φ₂) to (−φ₂, −φ₁)</a:t>
            </a:r>
            <a:endParaRPr lang="en-US" sz="1400" dirty="0"/>
          </a:p>
        </p:txBody>
      </p:sp>
      <p:sp>
        <p:nvSpPr>
          <p:cNvPr id="9" name="badge-229"/>
          <p:cNvSpPr/>
          <p:nvPr/>
        </p:nvSpPr>
        <p:spPr>
          <a:xfrm>
            <a:off x="8412480" y="37033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badge-label-230"/>
          <p:cNvSpPr txBox="1"/>
          <p:nvPr/>
        </p:nvSpPr>
        <p:spPr>
          <a:xfrm>
            <a:off x="841248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231"/>
          <p:cNvSpPr txBox="1"/>
          <p:nvPr/>
        </p:nvSpPr>
        <p:spPr>
          <a:xfrm>
            <a:off x="8961120" y="367588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Only φ₁ + φ₂ ≥ 0 is solved; points on the anti-diagonal are solved once</a:t>
            </a:r>
            <a:endParaRPr lang="en-US" sz="1400" dirty="0"/>
          </a:p>
        </p:txBody>
      </p:sp>
      <p:sp>
        <p:nvSpPr>
          <p:cNvPr id="12" name="badge-232"/>
          <p:cNvSpPr/>
          <p:nvPr/>
        </p:nvSpPr>
        <p:spPr>
          <a:xfrm>
            <a:off x="8412480" y="4800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badge-label-233"/>
          <p:cNvSpPr txBox="1"/>
          <p:nvPr/>
        </p:nvSpPr>
        <p:spPr>
          <a:xfrm>
            <a:off x="84124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-234"/>
          <p:cNvSpPr txBox="1"/>
          <p:nvPr/>
        </p:nvSpPr>
        <p:spPr>
          <a:xfrm>
            <a:off x="8961120" y="4773168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f</a:t>
            </a:r>
            <a:r>
              <a:rPr lang="en-US" sz="1400" baseline="-40000" dirty="0">
                <a:solidFill>
                  <a:schemeClr val="tx1"/>
                </a:solidFill>
              </a:rPr>
              <a:t>x</a:t>
            </a:r>
            <a:r>
              <a:rPr lang="en-US" sz="1400" dirty="0">
                <a:solidFill>
                  <a:schemeClr val="tx1"/>
                </a:solidFill>
              </a:rPr>
              <a:t> and U carry over, f</a:t>
            </a:r>
            <a:r>
              <a:rPr lang="en-US" sz="1400" baseline="-40000" dirty="0">
                <a:solidFill>
                  <a:schemeClr val="tx1"/>
                </a:solidFill>
              </a:rPr>
              <a:t>y</a:t>
            </a:r>
            <a:r>
              <a:rPr lang="en-US" sz="1400" dirty="0">
                <a:solidFill>
                  <a:schemeClr val="tx1"/>
                </a:solidFill>
              </a:rPr>
              <a:t> flips sign, and the new left moment is θ′(L)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Side by side: CURRENTv4 and CURRENTv3</a:t>
            </a:r>
            <a:endParaRPr lang="en-US" sz="3000" dirty="0"/>
          </a:p>
        </p:txBody>
      </p:sp>
      <p:graphicFrame>
        <p:nvGraphicFramePr>
          <p:cNvPr id="19" name="comparison-table-2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460857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CURRENTv3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Parameter grid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Rectilinear, 6 tets per cell, Δ = 0.01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Uniform grid plus adaptive midpoints, Δφ = π/144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Visit order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By grid distance from the cold-start node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 layers; nearest-neighbour walk in (φ₁, φ₂)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Warm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solved grid neighbour, nearest first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Last accepted sub-step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Role of MAC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Accept/reject gate, threshold 0.85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Step-size control, threshold 0.90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On rejection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Try the next neighbour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Halve step, up to 5 times (32 sub-steps)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Cold starts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At φ = 0, smallest d; then only if all fail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Exactly one, at the start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Snap resolution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Fixed by grid spacing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levels of θ-gradient refinement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Outputs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+ VTU for ParaView; checkpoint and resume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NPZ with refinement counts; live checkpoints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astica">
  <a:themeElements>
    <a:clrScheme name="Elastica">
      <a:dk1>
        <a:srgbClr val="16222E"/>
      </a:dk1>
      <a:lt1>
        <a:srgbClr val="FFFFFF"/>
      </a:lt1>
      <a:dk2>
        <a:srgbClr val="2E4A5C"/>
      </a:dk2>
      <a:lt2>
        <a:srgbClr val="EEF2F4"/>
      </a:lt2>
      <a:accent1>
        <a:srgbClr val="D9822B"/>
      </a:accent1>
      <a:accent2>
        <a:srgbClr val="2A9D8F"/>
      </a:accent2>
      <a:accent3>
        <a:srgbClr val="C8553D"/>
      </a:accent3>
      <a:accent4>
        <a:srgbClr val="E9C46A"/>
      </a:accent4>
      <a:accent5>
        <a:srgbClr val="5C6B7A"/>
      </a:accent5>
      <a:accent6>
        <a:srgbClr val="8A96A3"/>
      </a:accent6>
      <a:hlink>
        <a:srgbClr val="2A9D8F"/>
      </a:hlink>
      <a:folHlink>
        <a:srgbClr val="5C6B7A"/>
      </a:folHlink>
    </a:clrScheme>
    <a:fontScheme name="Elastic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4886</Words>
  <Application>Microsoft Office PowerPoint</Application>
  <PresentationFormat>Widescreen</PresentationFormat>
  <Paragraphs>408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Cambria</vt:lpstr>
      <vt:lpstr>Cambria Math</vt:lpstr>
      <vt:lpstr>Elastica</vt:lpstr>
      <vt:lpstr>Mapping the clamped elastica across its snap surface</vt:lpstr>
      <vt:lpstr>One rod, three parameters, a map of equilibria</vt:lpstr>
      <vt:lpstr>Equilibria are stationary points of the bending energy</vt:lpstr>
      <vt:lpstr>Stationarity gives the elastica equation and a mixed weak form</vt:lpstr>
      <vt:lpstr>Each parameter point is one Newton solve on 101 unknowns</vt:lpstr>
      <vt:lpstr>The snap surface</vt:lpstr>
      <vt:lpstr>Two equilibria 0.01 rad apart: the rod has snapped</vt:lpstr>
      <vt:lpstr>MAC: a shape-similarity test that flags a branch switch</vt:lpstr>
      <vt:lpstr>Smooth fields, then a jump across an L-shaped surface</vt:lpstr>
      <vt:lpstr>The neighbour-MAC map alone traces the snap surface</vt:lpstr>
      <vt:lpstr>Extracting the snap surface: a MAC isosurface</vt:lpstr>
      <vt:lpstr>Seen down the d axis, the L-shaped locus closes in</vt:lpstr>
      <vt:lpstr>The sheet rises from the step in axial force</vt:lpstr>
      <vt:lpstr>Continuation strategies</vt:lpstr>
      <vt:lpstr>Traverse the grid, accept or reject by MAC(v4)</vt:lpstr>
      <vt:lpstr>Deriving the exact first mode used for the cold start</vt:lpstr>
      <vt:lpstr>Exact first-mode cold start, then continue the clamp angles</vt:lpstr>
      <vt:lpstr>MAC sets the step size of every move (v3)</vt:lpstr>
      <vt:lpstr>CURRENTv3 sweeps d layer by layer with one cold start</vt:lpstr>
      <vt:lpstr>Gradient refinement packs points onto the snap surface</vt:lpstr>
      <vt:lpstr>Optimization: Mirror symmetry halves the number of solves</vt:lpstr>
      <vt:lpstr>Side by side: CURRENTv4 and CURRENTv3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Mapping the clamped elastica across its snap surface</dc:title>
  <dc:subject>PptxGenJS Presentation</dc:subject>
  <dc:creator>PptxGenJS</dc:creator>
  <cp:lastModifiedBy>Bendale Goraksh Manish</cp:lastModifiedBy>
  <cp:revision>11</cp:revision>
  <dcterms:created xsi:type="dcterms:W3CDTF">2026-10-09T14:15:45Z</dcterms:created>
  <dcterms:modified xsi:type="dcterms:W3CDTF">2026-10-12T04:29:58Z</dcterms:modified>
</cp:coreProperties>
</file>